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4" roundtripDataSignature="AMtx7mhmWQdoFhqfzWFf0fIphB+rWkWn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E9D324-D316-4DB0-855F-E823BECC0667}">
  <a:tblStyle styleId="{D6E9D324-D316-4DB0-855F-E823BECC066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3655390-9795-4219-9927-A877AED6230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Discrete Random Variables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Experiment: IPL powerplay over</a:t>
            </a:r>
            <a:endParaRPr/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311700" y="1152475"/>
            <a:ext cx="3730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Outcome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happens with each ball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Was it a legal delivery?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Runs, wickets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Lots of detail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Numerical values of interest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runs in the over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actual deliveries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wickets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boundaries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dot balls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etc….</a:t>
            </a:r>
            <a:endParaRPr/>
          </a:p>
        </p:txBody>
      </p:sp>
      <p:graphicFrame>
        <p:nvGraphicFramePr>
          <p:cNvPr id="61" name="Google Shape;61;p2"/>
          <p:cNvGraphicFramePr/>
          <p:nvPr/>
        </p:nvGraphicFramePr>
        <p:xfrm>
          <a:off x="4194300" y="11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{D6E9D324-D316-4DB0-855F-E823BECC0667}</a:tableStyleId>
              </a:tblPr>
              <a:tblGrid>
                <a:gridCol w="686625"/>
                <a:gridCol w="581025"/>
                <a:gridCol w="581025"/>
                <a:gridCol w="581025"/>
                <a:gridCol w="581025"/>
                <a:gridCol w="581025"/>
                <a:gridCol w="581025"/>
                <a:gridCol w="581025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team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0.1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0.2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0.3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0.4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0.5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0.6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</a:rPr>
                        <a:t>0.7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KKR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RCB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CSK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KXIP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" name="Google Shape;62;p2"/>
          <p:cNvSpPr txBox="1"/>
          <p:nvPr/>
        </p:nvSpPr>
        <p:spPr>
          <a:xfrm>
            <a:off x="4141300" y="3699575"/>
            <a:ext cx="4753800" cy="67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variables</a:t>
            </a:r>
            <a: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numerical values computed from the outcomes of the experiment.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Random variables</a:t>
            </a:r>
            <a:endParaRPr/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311700" y="2571750"/>
            <a:ext cx="8520600" cy="19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Toss a coin, Sample space = { H, T }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 variable X: X(H) = 0,  X(T) = 1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 variable Y: Y(H) = -10, Y(T) = 200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 variable Z: Z(H) = √2, Z(T) = π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 variable U: U(H) = 0, U(T) = 0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While all of the above are valid random variables, usually meaningful functions are considered!</a:t>
            </a:r>
            <a:endParaRPr/>
          </a:p>
        </p:txBody>
      </p:sp>
      <p:sp>
        <p:nvSpPr>
          <p:cNvPr id="69" name="Google Shape;69;p3"/>
          <p:cNvSpPr txBox="1"/>
          <p:nvPr/>
        </p:nvSpPr>
        <p:spPr>
          <a:xfrm>
            <a:off x="323275" y="1096825"/>
            <a:ext cx="8508900" cy="1253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variable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A random variable is a function with domain as the sample space of an experiment and range as the real numbers, i.e. a function from the sample space to the real line. There is a technical condition that the function needs to satisfy, and we will describe that soon.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Example: Throw a die</a:t>
            </a:r>
            <a:endParaRPr/>
          </a:p>
        </p:txBody>
      </p:sp>
      <p:sp>
        <p:nvSpPr>
          <p:cNvPr id="75" name="Google Shape;75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Sample space = { 1, 2, 3, 4, 5, 6 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 random variable X can be defined as follows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Pick any 6 real numbers x</a:t>
            </a:r>
            <a:r>
              <a:rPr baseline="-25000" lang="en"/>
              <a:t>1</a:t>
            </a:r>
            <a:r>
              <a:rPr lang="en"/>
              <a:t>, x</a:t>
            </a:r>
            <a:r>
              <a:rPr baseline="-25000" lang="en"/>
              <a:t>2</a:t>
            </a:r>
            <a:r>
              <a:rPr lang="en"/>
              <a:t>, x</a:t>
            </a:r>
            <a:r>
              <a:rPr baseline="-25000" lang="en"/>
              <a:t>3</a:t>
            </a:r>
            <a:r>
              <a:rPr lang="en"/>
              <a:t>, x</a:t>
            </a:r>
            <a:r>
              <a:rPr baseline="-25000" lang="en"/>
              <a:t>4</a:t>
            </a:r>
            <a:r>
              <a:rPr lang="en"/>
              <a:t>, x</a:t>
            </a:r>
            <a:r>
              <a:rPr baseline="-25000" lang="en"/>
              <a:t>5</a:t>
            </a:r>
            <a:r>
              <a:rPr lang="en"/>
              <a:t>, x</a:t>
            </a:r>
            <a:r>
              <a:rPr baseline="-25000" lang="en"/>
              <a:t>6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X(1) = x</a:t>
            </a:r>
            <a:r>
              <a:rPr baseline="-25000" lang="en"/>
              <a:t>1</a:t>
            </a:r>
            <a:r>
              <a:rPr lang="en"/>
              <a:t>, X(2) = x</a:t>
            </a:r>
            <a:r>
              <a:rPr baseline="-25000" lang="en"/>
              <a:t>2</a:t>
            </a:r>
            <a:r>
              <a:rPr lang="en"/>
              <a:t>, X(3) = x</a:t>
            </a:r>
            <a:r>
              <a:rPr baseline="-25000" lang="en"/>
              <a:t>3</a:t>
            </a:r>
            <a:r>
              <a:rPr lang="en"/>
              <a:t>, X(4) = x</a:t>
            </a:r>
            <a:r>
              <a:rPr baseline="-25000" lang="en"/>
              <a:t>4</a:t>
            </a:r>
            <a:r>
              <a:rPr lang="en"/>
              <a:t>, X(5) = x</a:t>
            </a:r>
            <a:r>
              <a:rPr baseline="-25000" lang="en"/>
              <a:t>5</a:t>
            </a:r>
            <a:r>
              <a:rPr lang="en"/>
              <a:t>, X(6) = x</a:t>
            </a:r>
            <a:r>
              <a:rPr baseline="-25000" lang="en"/>
              <a:t>6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What values for x</a:t>
            </a:r>
            <a:r>
              <a:rPr baseline="-25000" lang="en"/>
              <a:t>1</a:t>
            </a:r>
            <a:r>
              <a:rPr lang="en"/>
              <a:t>, x</a:t>
            </a:r>
            <a:r>
              <a:rPr baseline="-25000" lang="en"/>
              <a:t>2</a:t>
            </a:r>
            <a:r>
              <a:rPr lang="en"/>
              <a:t>, x</a:t>
            </a:r>
            <a:r>
              <a:rPr baseline="-25000" lang="en"/>
              <a:t>3</a:t>
            </a:r>
            <a:r>
              <a:rPr lang="en"/>
              <a:t>, x</a:t>
            </a:r>
            <a:r>
              <a:rPr baseline="-25000" lang="en"/>
              <a:t>4</a:t>
            </a:r>
            <a:r>
              <a:rPr lang="en"/>
              <a:t>, x</a:t>
            </a:r>
            <a:r>
              <a:rPr baseline="-25000" lang="en"/>
              <a:t>5</a:t>
            </a:r>
            <a:r>
              <a:rPr lang="en"/>
              <a:t>, x</a:t>
            </a:r>
            <a:r>
              <a:rPr baseline="-25000" lang="en"/>
              <a:t>6</a:t>
            </a:r>
            <a:r>
              <a:rPr lang="en"/>
              <a:t>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x</a:t>
            </a:r>
            <a:r>
              <a:rPr baseline="-25000" lang="en"/>
              <a:t>i</a:t>
            </a:r>
            <a:r>
              <a:rPr lang="en"/>
              <a:t>’s are distinct, random variable is a one-to-one function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Essentially, same as sample space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x</a:t>
            </a:r>
            <a:r>
              <a:rPr baseline="-25000" lang="en"/>
              <a:t>i</a:t>
            </a:r>
            <a:r>
              <a:rPr lang="en"/>
              <a:t>’s need not be distinct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 variable E: E(2) = E(4) = E(6) = 1, E(1) = E(3) = E(5) = 0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Random variables and events</a:t>
            </a:r>
            <a:endParaRPr/>
          </a:p>
        </p:txBody>
      </p:sp>
      <p:sp>
        <p:nvSpPr>
          <p:cNvPr id="81" name="Google Shape;81;p5"/>
          <p:cNvSpPr txBox="1"/>
          <p:nvPr>
            <p:ph idx="1" type="body"/>
          </p:nvPr>
        </p:nvSpPr>
        <p:spPr>
          <a:xfrm>
            <a:off x="311700" y="2884275"/>
            <a:ext cx="8520600" cy="19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Throw a die, Sample space = { 1, 2, 3, 4, 5, 6 }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X(1) = 1, X(2) = 2, X(3) = 3, X(4) = 4, X(5) = 5, X(6) = 6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X = 1: die shows 1, X &lt; 4: event {1, 2, 3}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event can be expressed in terms of X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Event {2, 5}: (X=2) ⋂ (X=5)</a:t>
            </a:r>
            <a:endParaRPr/>
          </a:p>
        </p:txBody>
      </p:sp>
      <p:sp>
        <p:nvSpPr>
          <p:cNvPr id="82" name="Google Shape;82;p5"/>
          <p:cNvSpPr txBox="1"/>
          <p:nvPr/>
        </p:nvSpPr>
        <p:spPr>
          <a:xfrm>
            <a:off x="1024125" y="1218550"/>
            <a:ext cx="7070700" cy="1464900"/>
          </a:xfrm>
          <a:prstGeom prst="rect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 X is a random variable, 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(X &lt; x) = {s ∊ S: X(s) &lt; x} is an event for all real x.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So, (X &gt; x)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(X = x), (X ≤ x), (X ≥ x) are all events. 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056775" y="2683450"/>
            <a:ext cx="171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highlight>
                  <a:srgbClr val="999999"/>
                </a:highlight>
                <a:latin typeface="Arial"/>
                <a:ea typeface="Arial"/>
                <a:cs typeface="Arial"/>
                <a:sym typeface="Arial"/>
              </a:rPr>
              <a:t>Technical condition mentioned earlier</a:t>
            </a:r>
            <a:endParaRPr b="0" i="0" sz="1200" u="none" cap="none" strike="noStrike">
              <a:solidFill>
                <a:schemeClr val="dk1"/>
              </a:solidFill>
              <a:highlight>
                <a:srgbClr val="999999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89" name="Google Shape;89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Throw a die, Sample space = { 1, 2, 3, 4, 5, 6 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Random variable E: E(2) = E(4) = E(6) = 1, E(1) = E(3) = E(5) = 0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 = 0: event {1, 3, 5}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 = 1: event {2, 4, 6}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 &lt; 0: null event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 ≤ 1: { 1, 2, 3, 4, 5, 6 }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Note: not all events can be written in terms of 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Why random variables?</a:t>
            </a:r>
            <a:endParaRPr/>
          </a:p>
        </p:txBody>
      </p:sp>
      <p:sp>
        <p:nvSpPr>
          <p:cNvPr id="95" name="Google Shape;95;p7"/>
          <p:cNvSpPr txBox="1"/>
          <p:nvPr>
            <p:ph idx="1" type="body"/>
          </p:nvPr>
        </p:nvSpPr>
        <p:spPr>
          <a:xfrm>
            <a:off x="311700" y="1152475"/>
            <a:ext cx="8202900" cy="3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IPL powerplay over: Several random variables can be defined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runs in the over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actual deliveries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wickets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boundaries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dot balls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Etc….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trying to assign probabilities to the entire outcome, we will usually study random variables and assign probabilities to events defined through them.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reduces the detail in the outcome to something simpler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Using limited data, only such random variables can be studied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/>
          <p:nvPr>
            <p:ph type="title"/>
          </p:nvPr>
        </p:nvSpPr>
        <p:spPr>
          <a:xfrm>
            <a:off x="311700" y="1769850"/>
            <a:ext cx="85206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Discrete random variables and </a:t>
            </a:r>
            <a:br>
              <a:rPr lang="en"/>
            </a:br>
            <a:r>
              <a:rPr lang="en"/>
              <a:t>their distributions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Range of a random variable</a:t>
            </a:r>
            <a:endParaRPr/>
          </a:p>
        </p:txBody>
      </p:sp>
      <p:sp>
        <p:nvSpPr>
          <p:cNvPr id="106" name="Google Shape;106;p9"/>
          <p:cNvSpPr txBox="1"/>
          <p:nvPr>
            <p:ph idx="1" type="body"/>
          </p:nvPr>
        </p:nvSpPr>
        <p:spPr>
          <a:xfrm>
            <a:off x="311700" y="2153775"/>
            <a:ext cx="8520600" cy="24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Given the definition of a random variable, the first task is to find its range.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Throw a die, X = number shown on die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Range = { 1, 2, 3, 4, 5, 6 } (same as sample space)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Throw a die, E = 0 if number is odd, E = 1 if number is even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Range = { 0, 1 }</a:t>
            </a:r>
            <a:endParaRPr/>
          </a:p>
        </p:txBody>
      </p:sp>
      <p:sp>
        <p:nvSpPr>
          <p:cNvPr id="107" name="Google Shape;107;p9"/>
          <p:cNvSpPr txBox="1"/>
          <p:nvPr/>
        </p:nvSpPr>
        <p:spPr>
          <a:xfrm>
            <a:off x="323275" y="1096825"/>
            <a:ext cx="8508900" cy="80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Range of a random variable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The range of a random variable is the set of values taken by it. Range is a subset of the real line.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Example: IPL powerplay over</a:t>
            </a:r>
            <a:endParaRPr/>
          </a:p>
        </p:txBody>
      </p:sp>
      <p:sp>
        <p:nvSpPr>
          <p:cNvPr id="113" name="Google Shape;113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actual deliveries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Range: 6, 7, 8, 9, ….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runs in the over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Range: 0, 1, 2, 3, 4, …..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wickets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Range: 0, 1, 2, 3, 4, 5, 6, 7, 8, 9, 10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boundaries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Range: 0, 1, 2, 3, ….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dot balls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Range: 0, 1, 2, 3, 4, 5, 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Discrete random variable</a:t>
            </a:r>
            <a:endParaRPr/>
          </a:p>
        </p:txBody>
      </p:sp>
      <p:sp>
        <p:nvSpPr>
          <p:cNvPr id="119" name="Google Shape;119;p11"/>
          <p:cNvSpPr txBox="1"/>
          <p:nvPr>
            <p:ph idx="1" type="body"/>
          </p:nvPr>
        </p:nvSpPr>
        <p:spPr>
          <a:xfrm>
            <a:off x="311700" y="2058700"/>
            <a:ext cx="8520600" cy="25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sets are discrete?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finite subsets of the real line are discrete.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Integers are discrete.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Set of all integer multiples of a real number is discrete.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subset of a discrete set is discrete.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sets are not discrete?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interval is not discrete, i.e. (a,b) is not discrete for a &lt; b.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Any subset that contains a non-discrete set is not discrete.</a:t>
            </a:r>
            <a:endParaRPr/>
          </a:p>
        </p:txBody>
      </p:sp>
      <p:sp>
        <p:nvSpPr>
          <p:cNvPr id="120" name="Google Shape;120;p11"/>
          <p:cNvSpPr txBox="1"/>
          <p:nvPr/>
        </p:nvSpPr>
        <p:spPr>
          <a:xfrm>
            <a:off x="323275" y="1096825"/>
            <a:ext cx="8508900" cy="801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Discrete random variable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A random variable is said to be discrete if its range is a discrete set.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 txBox="1"/>
          <p:nvPr>
            <p:ph type="title"/>
          </p:nvPr>
        </p:nvSpPr>
        <p:spPr>
          <a:xfrm>
            <a:off x="311700" y="445025"/>
            <a:ext cx="85206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Distribution of a discrete r.v.: Probability Mass Function (PMF)</a:t>
            </a:r>
            <a:endParaRPr sz="2320"/>
          </a:p>
        </p:txBody>
      </p:sp>
      <p:sp>
        <p:nvSpPr>
          <p:cNvPr id="126" name="Google Shape;126;p12"/>
          <p:cNvSpPr txBox="1"/>
          <p:nvPr>
            <p:ph idx="1" type="body"/>
          </p:nvPr>
        </p:nvSpPr>
        <p:spPr>
          <a:xfrm>
            <a:off x="311700" y="2461450"/>
            <a:ext cx="8520600" cy="21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(X = t) is an event.</a:t>
            </a:r>
            <a:br>
              <a:rPr lang="en"/>
            </a:br>
            <a:r>
              <a:rPr lang="en"/>
              <a:t>		P(X = t) = P(all outcomes that result in X taking value t)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 B be a subset of T. Consider the event (X ∈ B).</a:t>
            </a:r>
            <a:br>
              <a:rPr lang="en"/>
            </a:br>
            <a:r>
              <a:rPr lang="en"/>
              <a:t>		P(X ∈ B) = P(all outcomes that result in X taking values in B)</a:t>
            </a:r>
            <a:br>
              <a:rPr lang="en"/>
            </a:br>
            <a:r>
              <a:rPr lang="en"/>
              <a:t>				= ∑</a:t>
            </a:r>
            <a:r>
              <a:rPr baseline="-25000" lang="en"/>
              <a:t>t∈B</a:t>
            </a:r>
            <a:r>
              <a:rPr lang="en"/>
              <a:t> P(X = t)</a:t>
            </a:r>
            <a:br>
              <a:rPr lang="en"/>
            </a:br>
            <a:r>
              <a:rPr lang="en"/>
              <a:t>				= ∑</a:t>
            </a:r>
            <a:r>
              <a:rPr baseline="-25000" lang="en"/>
              <a:t>t∈B</a:t>
            </a:r>
            <a:r>
              <a:rPr lang="en"/>
              <a:t> f</a:t>
            </a:r>
            <a:r>
              <a:rPr baseline="-25000" lang="en"/>
              <a:t>X</a:t>
            </a:r>
            <a:r>
              <a:rPr lang="en"/>
              <a:t>(t)</a:t>
            </a:r>
            <a:endParaRPr/>
          </a:p>
        </p:txBody>
      </p:sp>
      <p:sp>
        <p:nvSpPr>
          <p:cNvPr id="127" name="Google Shape;127;p12"/>
          <p:cNvSpPr txBox="1"/>
          <p:nvPr/>
        </p:nvSpPr>
        <p:spPr>
          <a:xfrm>
            <a:off x="323275" y="1096825"/>
            <a:ext cx="8508900" cy="1039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PMF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The probability mass function (PMF) of a discrete random variable (r.v.) X with range set T is the function f</a:t>
            </a:r>
            <a:r>
              <a:rPr b="0" baseline="-2500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 → [0, 1] defined as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0" baseline="-2500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(t) = P(X = t) for t ∈ 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Example: 3 coin tosses</a:t>
            </a:r>
            <a:endParaRPr/>
          </a:p>
        </p:txBody>
      </p:sp>
      <p:sp>
        <p:nvSpPr>
          <p:cNvPr id="133" name="Google Shape;133;p13"/>
          <p:cNvSpPr txBox="1"/>
          <p:nvPr>
            <p:ph idx="1" type="body"/>
          </p:nvPr>
        </p:nvSpPr>
        <p:spPr>
          <a:xfrm>
            <a:off x="311700" y="1152475"/>
            <a:ext cx="8520600" cy="13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Suppose a fair coin is flipped 3 times.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lphaLcParenBoth"/>
            </a:pPr>
            <a:r>
              <a:rPr lang="en"/>
              <a:t>How many heads will appear?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en"/>
              <a:t>Which will be the first flip (if any) that shows heads?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Example: 3-digit lottery</a:t>
            </a:r>
            <a:endParaRPr/>
          </a:p>
        </p:txBody>
      </p:sp>
      <p:sp>
        <p:nvSpPr>
          <p:cNvPr id="139" name="Google Shape;139;p14"/>
          <p:cNvSpPr txBox="1"/>
          <p:nvPr>
            <p:ph idx="1" type="body"/>
          </p:nvPr>
        </p:nvSpPr>
        <p:spPr>
          <a:xfrm>
            <a:off x="311700" y="1152475"/>
            <a:ext cx="85206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For a certain lottery, a three-digit number is randomly selected (from 000 to 999). If a ticket matches the number exactly, it is worth Rs. 2 lakhs. If the ticket matches exactly two of the three digits, it is worth Rs. 20000. Otherwise it is worth nothing. Let X be the value of the ticket. Find the distribution of X.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Random variable, Range and PMF</a:t>
            </a:r>
            <a:endParaRPr/>
          </a:p>
        </p:txBody>
      </p:sp>
      <p:sp>
        <p:nvSpPr>
          <p:cNvPr id="145" name="Google Shape;145;p15"/>
          <p:cNvSpPr txBox="1"/>
          <p:nvPr>
            <p:ph idx="1" type="body"/>
          </p:nvPr>
        </p:nvSpPr>
        <p:spPr>
          <a:xfrm>
            <a:off x="387900" y="2873625"/>
            <a:ext cx="8157600" cy="19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Properties of PMF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0 ≤ f</a:t>
            </a:r>
            <a:r>
              <a:rPr baseline="-25000" lang="en"/>
              <a:t>X</a:t>
            </a:r>
            <a:r>
              <a:rPr lang="en"/>
              <a:t>(t) ≤ 1     (why? f</a:t>
            </a:r>
            <a:r>
              <a:rPr baseline="-25000" lang="en"/>
              <a:t>X</a:t>
            </a:r>
            <a:r>
              <a:rPr lang="en"/>
              <a:t>(t) = P(X = t) is a probability)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∑</a:t>
            </a:r>
            <a:r>
              <a:rPr baseline="-25000" lang="en"/>
              <a:t>t∈T</a:t>
            </a:r>
            <a:r>
              <a:rPr lang="en"/>
              <a:t> f</a:t>
            </a:r>
            <a:r>
              <a:rPr baseline="-25000" lang="en"/>
              <a:t>X</a:t>
            </a:r>
            <a:r>
              <a:rPr lang="en"/>
              <a:t>(t) = 1    (why? P(X ∈ T) = 1)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Often, random variables and their PMFs are studied without much mention of experiment or sample space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Events are defined using random variables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Probabilities evaluated using PMF</a:t>
            </a:r>
            <a:endParaRPr/>
          </a:p>
        </p:txBody>
      </p:sp>
      <p:graphicFrame>
        <p:nvGraphicFramePr>
          <p:cNvPr id="146" name="Google Shape;146;p15"/>
          <p:cNvGraphicFramePr/>
          <p:nvPr/>
        </p:nvGraphicFramePr>
        <p:xfrm>
          <a:off x="2061325" y="184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{03655390-9795-4219-9927-A877AED62309}</a:tableStyleId>
              </a:tblPr>
              <a:tblGrid>
                <a:gridCol w="577000"/>
                <a:gridCol w="751175"/>
                <a:gridCol w="727925"/>
                <a:gridCol w="1825150"/>
                <a:gridCol w="7838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t</a:t>
                      </a:r>
                      <a:r>
                        <a:rPr baseline="-25000" lang="e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t</a:t>
                      </a:r>
                      <a:r>
                        <a:rPr baseline="-25000" lang="en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….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t</a:t>
                      </a:r>
                      <a:r>
                        <a:rPr baseline="-25000" lang="en" sz="1800" u="none" cap="none" strike="noStrike">
                          <a:solidFill>
                            <a:schemeClr val="dk1"/>
                          </a:solidFill>
                        </a:rPr>
                        <a:t>k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r>
                        <a:rPr baseline="-25000" lang="en" sz="180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(t)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r>
                        <a:rPr baseline="-25000" lang="en" sz="180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(t</a:t>
                      </a:r>
                      <a:r>
                        <a:rPr baseline="-25000" lang="e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r>
                        <a:rPr baseline="-25000" lang="en" sz="180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(t</a:t>
                      </a:r>
                      <a:r>
                        <a:rPr baseline="-25000" lang="en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r>
                        <a:rPr baseline="-25000" lang="en" sz="180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(t</a:t>
                      </a:r>
                      <a:r>
                        <a:rPr baseline="-25000" lang="en" sz="1800" u="none" cap="none" strike="noStrike">
                          <a:solidFill>
                            <a:schemeClr val="dk1"/>
                          </a:solidFill>
                        </a:rPr>
                        <a:t>k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394450" y="1170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variable X with range T = { t</a:t>
            </a:r>
            <a:r>
              <a:rPr baseline="-25000" lang="en"/>
              <a:t>1</a:t>
            </a:r>
            <a:r>
              <a:rPr lang="en"/>
              <a:t>, t</a:t>
            </a:r>
            <a:r>
              <a:rPr baseline="-25000" lang="en"/>
              <a:t>2</a:t>
            </a:r>
            <a:r>
              <a:rPr lang="en"/>
              <a:t>, …., t</a:t>
            </a:r>
            <a:r>
              <a:rPr baseline="-25000" lang="en"/>
              <a:t>k</a:t>
            </a:r>
            <a:r>
              <a:rPr lang="en"/>
              <a:t> }, PMF f</a:t>
            </a:r>
            <a:r>
              <a:rPr baseline="-25000" lang="en"/>
              <a:t>X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Example: Working with PMF 1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311700" y="1152475"/>
            <a:ext cx="85206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PMF of a random variable X is given partially in the following table. </a:t>
            </a:r>
            <a:endParaRPr/>
          </a:p>
        </p:txBody>
      </p:sp>
      <p:graphicFrame>
        <p:nvGraphicFramePr>
          <p:cNvPr id="154" name="Google Shape;154;p16"/>
          <p:cNvGraphicFramePr/>
          <p:nvPr/>
        </p:nvGraphicFramePr>
        <p:xfrm>
          <a:off x="2061325" y="184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{03655390-9795-4219-9927-A877AED62309}</a:tableStyleId>
              </a:tblPr>
              <a:tblGrid>
                <a:gridCol w="577000"/>
                <a:gridCol w="751175"/>
                <a:gridCol w="727925"/>
                <a:gridCol w="776000"/>
                <a:gridCol w="7507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t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-1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r>
                        <a:rPr baseline="-25000" lang="en" sz="180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(t)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0.5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0.25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0.125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311700" y="2905075"/>
            <a:ext cx="85206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Find f</a:t>
            </a:r>
            <a:r>
              <a:rPr baseline="-25000" lang="en"/>
              <a:t>X</a:t>
            </a:r>
            <a:r>
              <a:rPr lang="en"/>
              <a:t>(4). Find the range of X. Find P(X&gt;3). Find P(X&lt;3/2).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Example: Working with PMF 2</a:t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311700" y="1152475"/>
            <a:ext cx="8520600" cy="15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The PMF of a random variable X is given below: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				f</a:t>
            </a:r>
            <a:r>
              <a:rPr baseline="-25000" lang="en"/>
              <a:t>X</a:t>
            </a:r>
            <a:r>
              <a:rPr lang="en"/>
              <a:t>(k) =   c / 3</a:t>
            </a:r>
            <a:r>
              <a:rPr baseline="30000" lang="en"/>
              <a:t>k</a:t>
            </a:r>
            <a:r>
              <a:rPr lang="en"/>
              <a:t> for k = 1,2,3,...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Find c. Find P(X&gt;10). Find P(X&gt;10 | X &gt; 5).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Common Distributions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Uniform random variable</a:t>
            </a:r>
            <a:endParaRPr/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X ~ Uniform(T), where T is some finite set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Range: Finite set T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PMF: f</a:t>
            </a:r>
            <a:r>
              <a:rPr baseline="-25000" lang="en"/>
              <a:t>X</a:t>
            </a:r>
            <a:r>
              <a:rPr lang="en"/>
              <a:t>(t) = 1/|T| for all t ∈ 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Toss a fair coin, X ~ Uniform({ 0, 1 }), where 0 - heads, 1 - tails.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Throw a fair die, X ~ Uniform({ 1, 2, 3, 4, 5, 6 })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Bernoulli random variable</a:t>
            </a:r>
            <a:endParaRPr/>
          </a:p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X ~ Bernoulli(p), where 0 ≤ p ≤ 1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Range: { 0, 1 }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PMF: f</a:t>
            </a:r>
            <a:r>
              <a:rPr baseline="-25000" lang="en"/>
              <a:t>X</a:t>
            </a:r>
            <a:r>
              <a:rPr lang="en"/>
              <a:t>(0) = 1 - p, f</a:t>
            </a:r>
            <a:r>
              <a:rPr baseline="-25000" lang="en"/>
              <a:t>X</a:t>
            </a:r>
            <a:r>
              <a:rPr lang="en"/>
              <a:t>(1) = 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Bernoulli trial, p = prob of success, X ~ Bernoulli(p)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Binomial random variable</a:t>
            </a:r>
            <a:endParaRPr/>
          </a:p>
        </p:txBody>
      </p:sp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X ~ Binomial(n, p), where n: positive integer, 0 ≤ p ≤ 1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Range: { 0, 1, 2, …., n }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PMF: f</a:t>
            </a:r>
            <a:r>
              <a:rPr baseline="-25000" lang="en"/>
              <a:t>X</a:t>
            </a:r>
            <a:r>
              <a:rPr lang="en"/>
              <a:t>(k) = nC</a:t>
            </a:r>
            <a:r>
              <a:rPr baseline="-25000" lang="en"/>
              <a:t>k </a:t>
            </a:r>
            <a:r>
              <a:rPr lang="en"/>
              <a:t>p</a:t>
            </a:r>
            <a:r>
              <a:rPr baseline="30000" lang="en"/>
              <a:t>k</a:t>
            </a:r>
            <a:r>
              <a:rPr lang="en"/>
              <a:t> (1-p)</a:t>
            </a:r>
            <a:r>
              <a:rPr baseline="30000" lang="en"/>
              <a:t>n-k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successes in n independent Bernoulli(p) trials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 that the above PMF is valid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nC</a:t>
            </a:r>
            <a:r>
              <a:rPr baseline="-25000" lang="en"/>
              <a:t>k</a:t>
            </a:r>
            <a:r>
              <a:rPr lang="en"/>
              <a:t> p</a:t>
            </a:r>
            <a:r>
              <a:rPr baseline="30000" lang="en"/>
              <a:t>k</a:t>
            </a:r>
            <a:r>
              <a:rPr lang="en"/>
              <a:t> (1-p)</a:t>
            </a:r>
            <a:r>
              <a:rPr baseline="30000" lang="en"/>
              <a:t>n-k</a:t>
            </a:r>
            <a:r>
              <a:rPr lang="en"/>
              <a:t> ≥ 0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∑</a:t>
            </a:r>
            <a:r>
              <a:rPr baseline="-25000" lang="en"/>
              <a:t>k</a:t>
            </a:r>
            <a:r>
              <a:rPr lang="en"/>
              <a:t> nC</a:t>
            </a:r>
            <a:r>
              <a:rPr baseline="-25000" lang="en"/>
              <a:t>k</a:t>
            </a:r>
            <a:r>
              <a:rPr lang="en"/>
              <a:t> p</a:t>
            </a:r>
            <a:r>
              <a:rPr baseline="30000" lang="en"/>
              <a:t>k</a:t>
            </a:r>
            <a:r>
              <a:rPr lang="en"/>
              <a:t> (1-p)</a:t>
            </a:r>
            <a:r>
              <a:rPr baseline="30000" lang="en"/>
              <a:t>n-k</a:t>
            </a:r>
            <a:r>
              <a:rPr lang="en"/>
              <a:t> = 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Geometric random variable</a:t>
            </a:r>
            <a:endParaRPr/>
          </a:p>
        </p:txBody>
      </p:sp>
      <p:sp>
        <p:nvSpPr>
          <p:cNvPr id="190" name="Google Shape;19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X ~ Geometric(p), where 0 &lt; p ≤ 1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Range: { 1, 2, 3, …. }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PMF: f</a:t>
            </a:r>
            <a:r>
              <a:rPr baseline="-25000" lang="en"/>
              <a:t>X</a:t>
            </a:r>
            <a:r>
              <a:rPr lang="en"/>
              <a:t>(k) = (1-p)</a:t>
            </a:r>
            <a:r>
              <a:rPr baseline="30000" lang="en"/>
              <a:t>k-1</a:t>
            </a:r>
            <a:r>
              <a:rPr lang="en"/>
              <a:t> p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trials for first success in repeated independent Bernoulli(p) trials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 that the above PMF is valid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a geometric progression formula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 at 0: Some use range as { 0, 1, 2, 3, …. } and f</a:t>
            </a:r>
            <a:r>
              <a:rPr baseline="-25000" lang="en"/>
              <a:t>X</a:t>
            </a:r>
            <a:r>
              <a:rPr lang="en"/>
              <a:t>(k) = (1-p)</a:t>
            </a:r>
            <a:r>
              <a:rPr baseline="30000" lang="en"/>
              <a:t>k</a:t>
            </a:r>
            <a:r>
              <a:rPr lang="en"/>
              <a:t>p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Negative Binomial random variable</a:t>
            </a:r>
            <a:endParaRPr/>
          </a:p>
        </p:txBody>
      </p:sp>
      <p:sp>
        <p:nvSpPr>
          <p:cNvPr id="196" name="Google Shape;19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X ~ Negative Binomial(r, p), where r: positive integer, 0 &lt; p ≤ 1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Range: { r, r+1, r+2, …. }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PMF: f</a:t>
            </a:r>
            <a:r>
              <a:rPr baseline="-25000" lang="en"/>
              <a:t>X</a:t>
            </a:r>
            <a:r>
              <a:rPr lang="en"/>
              <a:t>(k) = (k-1)C</a:t>
            </a:r>
            <a:r>
              <a:rPr baseline="-25000" lang="en"/>
              <a:t>r-1</a:t>
            </a:r>
            <a:r>
              <a:rPr lang="en"/>
              <a:t> (1-p)</a:t>
            </a:r>
            <a:r>
              <a:rPr baseline="30000" lang="en"/>
              <a:t>k-r</a:t>
            </a:r>
            <a:r>
              <a:rPr lang="en"/>
              <a:t> p</a:t>
            </a:r>
            <a:r>
              <a:rPr baseline="30000" lang="en"/>
              <a:t>r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Example: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 of trials for r success in repeated independent Bernoulli(p) trials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 = 1: geometric random variable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 that the above PMF is valid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bit more complicated…..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Poisson random variable</a:t>
            </a:r>
            <a:endParaRPr/>
          </a:p>
        </p:txBody>
      </p:sp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311700" y="1152475"/>
            <a:ext cx="8520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X ~ Poisson(λ), where λ &gt; 0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Range: { 0, 1, 2, 3, …. }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PMF: f</a:t>
            </a:r>
            <a:r>
              <a:rPr baseline="-25000" lang="en"/>
              <a:t>X</a:t>
            </a:r>
            <a:r>
              <a:rPr lang="en"/>
              <a:t>(k) = e</a:t>
            </a:r>
            <a:r>
              <a:rPr baseline="30000" lang="en"/>
              <a:t>-λ</a:t>
            </a:r>
            <a:r>
              <a:rPr lang="en"/>
              <a:t> λ</a:t>
            </a:r>
            <a:r>
              <a:rPr baseline="30000" lang="en"/>
              <a:t>k</a:t>
            </a:r>
            <a:r>
              <a:rPr lang="en"/>
              <a:t> / k!</a:t>
            </a:r>
            <a:endParaRPr/>
          </a:p>
        </p:txBody>
      </p:sp>
      <p:graphicFrame>
        <p:nvGraphicFramePr>
          <p:cNvPr id="203" name="Google Shape;203;p24"/>
          <p:cNvGraphicFramePr/>
          <p:nvPr/>
        </p:nvGraphicFramePr>
        <p:xfrm>
          <a:off x="1410875" y="2836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{03655390-9795-4219-9927-A877AED62309}</a:tableStyleId>
              </a:tblPr>
              <a:tblGrid>
                <a:gridCol w="668075"/>
                <a:gridCol w="468925"/>
                <a:gridCol w="600925"/>
                <a:gridCol w="993700"/>
                <a:gridCol w="921325"/>
                <a:gridCol w="997525"/>
                <a:gridCol w="1494250"/>
              </a:tblGrid>
              <a:tr h="48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k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0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….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f</a:t>
                      </a:r>
                      <a:r>
                        <a:rPr baseline="-25000" lang="en" sz="1800" u="none" cap="none" strike="noStrike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(k)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r>
                        <a:rPr baseline="30000" lang="en" sz="1800" u="none" cap="none" strike="noStrike">
                          <a:solidFill>
                            <a:schemeClr val="dk1"/>
                          </a:solidFill>
                        </a:rPr>
                        <a:t>-λ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r>
                        <a:rPr baseline="30000" lang="en" sz="1800" u="none" cap="none" strike="noStrike">
                          <a:solidFill>
                            <a:schemeClr val="dk1"/>
                          </a:solidFill>
                        </a:rPr>
                        <a:t>-λ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λ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r>
                        <a:rPr baseline="30000" lang="en" sz="1800" u="none" cap="none" strike="noStrike">
                          <a:solidFill>
                            <a:schemeClr val="dk1"/>
                          </a:solidFill>
                        </a:rPr>
                        <a:t>-λ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λ</a:t>
                      </a:r>
                      <a:r>
                        <a:rPr baseline="30000" lang="en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/2!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r>
                        <a:rPr baseline="30000" lang="en" sz="1800" u="none" cap="none" strike="noStrike">
                          <a:solidFill>
                            <a:schemeClr val="dk1"/>
                          </a:solidFill>
                        </a:rPr>
                        <a:t>-λ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λ</a:t>
                      </a:r>
                      <a:r>
                        <a:rPr baseline="30000" lang="en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/3!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e</a:t>
                      </a:r>
                      <a:r>
                        <a:rPr baseline="30000" lang="en" sz="1800" u="none" cap="none" strike="noStrike">
                          <a:solidFill>
                            <a:schemeClr val="dk1"/>
                          </a:solidFill>
                        </a:rPr>
                        <a:t>-λ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λ</a:t>
                      </a:r>
                      <a:r>
                        <a:rPr baseline="30000" lang="en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lang="en" sz="1800" u="none" cap="none" strike="noStrike">
                          <a:solidFill>
                            <a:schemeClr val="dk1"/>
                          </a:solidFill>
                        </a:rPr>
                        <a:t>/4!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24"/>
          <p:cNvSpPr txBox="1"/>
          <p:nvPr>
            <p:ph idx="1" type="body"/>
          </p:nvPr>
        </p:nvSpPr>
        <p:spPr>
          <a:xfrm>
            <a:off x="311700" y="3972350"/>
            <a:ext cx="85206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 PMF is valid: use expansion for e</a:t>
            </a:r>
            <a:r>
              <a:rPr baseline="30000" lang="en"/>
              <a:t>λ</a:t>
            </a:r>
            <a:r>
              <a:rPr lang="en"/>
              <a:t> = 1 + λ + λ</a:t>
            </a:r>
            <a:r>
              <a:rPr baseline="30000" lang="en"/>
              <a:t>2</a:t>
            </a:r>
            <a:r>
              <a:rPr lang="en"/>
              <a:t>/2! + λ</a:t>
            </a:r>
            <a:r>
              <a:rPr baseline="30000" lang="en"/>
              <a:t>3</a:t>
            </a:r>
            <a:r>
              <a:rPr lang="en"/>
              <a:t>/3! + λ</a:t>
            </a:r>
            <a:r>
              <a:rPr baseline="30000" lang="en"/>
              <a:t>4</a:t>
            </a:r>
            <a:r>
              <a:rPr lang="en"/>
              <a:t>/4! + ….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Sketch of Poisson PMF</a:t>
            </a:r>
            <a:endParaRPr/>
          </a:p>
        </p:txBody>
      </p:sp>
      <p:pic>
        <p:nvPicPr>
          <p:cNvPr id="210" name="Google Shape;21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0813" y="1092825"/>
            <a:ext cx="5382370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5"/>
          <p:cNvSpPr txBox="1"/>
          <p:nvPr/>
        </p:nvSpPr>
        <p:spPr>
          <a:xfrm>
            <a:off x="3092200" y="1557125"/>
            <a:ext cx="77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λ = 0.5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5839800" y="1557125"/>
            <a:ext cx="77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λ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5"/>
          <p:cNvSpPr txBox="1"/>
          <p:nvPr/>
        </p:nvSpPr>
        <p:spPr>
          <a:xfrm>
            <a:off x="3671950" y="3211450"/>
            <a:ext cx="77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λ =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5066700" y="3211450"/>
            <a:ext cx="77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λ =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Hypergeometric random variable</a:t>
            </a:r>
            <a:endParaRPr/>
          </a:p>
        </p:txBody>
      </p:sp>
      <p:sp>
        <p:nvSpPr>
          <p:cNvPr id="220" name="Google Shape;220;p26"/>
          <p:cNvSpPr txBox="1"/>
          <p:nvPr>
            <p:ph idx="1" type="body"/>
          </p:nvPr>
        </p:nvSpPr>
        <p:spPr>
          <a:xfrm>
            <a:off x="311700" y="1152475"/>
            <a:ext cx="8520600" cy="3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X ~ HyperGeo(N, r, m), where N, r, m: positive integers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a population of ‘N’ persons with ‘r’ of Type 1 and ‘N - r’ of Type 2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‘m’ persons uniformly at random without replacement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 = number of persons of Type 1 selected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Range of X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= 100, r = 50, m = 20 =&gt; X ∈ 0, 1, 2, …, 20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= 100, r = 10, m = 20 =&gt; X ∈ 0, 1, 2, …, 10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 = 100, r = 90, m = 20 =&gt; X ∈ 10, 11, 12, …, 20</a:t>
            </a:r>
            <a:endParaRPr/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X ∈ max(0, m - (N-r)), …, min(r, m)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PMF of Hypergeometric random variable</a:t>
            </a:r>
            <a:endParaRPr/>
          </a:p>
        </p:txBody>
      </p:sp>
      <p:sp>
        <p:nvSpPr>
          <p:cNvPr id="226" name="Google Shape;22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X ~ HyperGeo(N, r, m), where N, r, m: positive integers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Range: {max(0, m - (N-r)), …, min(r, m)}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PMF: f</a:t>
            </a:r>
            <a:r>
              <a:rPr baseline="-25000" lang="en"/>
              <a:t>X</a:t>
            </a:r>
            <a:r>
              <a:rPr lang="en"/>
              <a:t>(k) = rC</a:t>
            </a:r>
            <a:r>
              <a:rPr baseline="-25000" lang="en"/>
              <a:t>k </a:t>
            </a:r>
            <a:r>
              <a:rPr lang="en"/>
              <a:t>(N-r)C</a:t>
            </a:r>
            <a:r>
              <a:rPr baseline="-25000" lang="en"/>
              <a:t>m-k</a:t>
            </a:r>
            <a:r>
              <a:rPr lang="en"/>
              <a:t> / NC</a:t>
            </a:r>
            <a:r>
              <a:rPr baseline="-25000" lang="en"/>
              <a:t>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Arises in sampling for trials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ankur</dc:creator>
</cp:coreProperties>
</file>