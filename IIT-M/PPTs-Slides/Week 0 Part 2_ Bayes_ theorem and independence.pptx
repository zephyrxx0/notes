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63" roundtripDataSignature="AMtx7mhSMkDaU3Y3mZkCPCP60aXUf7En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FD712DF-908B-4167-9FC3-DF2FE832D0A1}">
  <a:tblStyle styleId="{EFD712DF-908B-4167-9FC3-DF2FE832D0A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3" Type="http://customschemas.google.com/relationships/presentationmetadata" Target="meta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 name="Google Shape;69;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4" name="Google Shape;154;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9" name="Google Shape;15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2" name="Google Shape;272;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0" name="Google Shape;320;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7" name="Google Shape;32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7" name="Google Shape;347;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2" name="Google Shape;35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3" name="Google Shape;363;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1" name="Google Shape;381;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5" name="Google Shape;405;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0" name="Google Shape;410;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6" name="Google Shape;416;p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9" name="Google Shape;429;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8" name="Google Shape;448;p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p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4" name="Google Shape;454;p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6" name="Google Shape;466;p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2" name="Google Shape;472;p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4" name="Google Shape;484;p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9" name="Google Shape;489;p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5" name="Google Shape;495;p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p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7" name="Google Shape;507;p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7" name="Google Shape;517;p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3" name="Google Shape;523;p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9" name="Google Shape;529;p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58"/>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58"/>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5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5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6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1"/>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1"/>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63"/>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63"/>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64"/>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65"/>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65"/>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65"/>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65"/>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dk1"/>
              </a:buClr>
              <a:buSzPts val="1800"/>
              <a:buChar char="●"/>
              <a:defRPr>
                <a:solidFill>
                  <a:schemeClr val="dk1"/>
                </a:solidFill>
              </a:defRPr>
            </a:lvl1pPr>
            <a:lvl2pPr indent="-317500" lvl="1" marL="914400" algn="l">
              <a:lnSpc>
                <a:spcPct val="115000"/>
              </a:lnSpc>
              <a:spcBef>
                <a:spcPts val="0"/>
              </a:spcBef>
              <a:spcAft>
                <a:spcPts val="0"/>
              </a:spcAft>
              <a:buClr>
                <a:schemeClr val="dk1"/>
              </a:buClr>
              <a:buSzPts val="1400"/>
              <a:buChar char="○"/>
              <a:defRPr>
                <a:solidFill>
                  <a:schemeClr val="dk1"/>
                </a:solidFill>
              </a:defRPr>
            </a:lvl2pPr>
            <a:lvl3pPr indent="-317500" lvl="2" marL="1371600" algn="l">
              <a:lnSpc>
                <a:spcPct val="115000"/>
              </a:lnSpc>
              <a:spcBef>
                <a:spcPts val="0"/>
              </a:spcBef>
              <a:spcAft>
                <a:spcPts val="0"/>
              </a:spcAft>
              <a:buClr>
                <a:schemeClr val="dk1"/>
              </a:buClr>
              <a:buSzPts val="1400"/>
              <a:buChar char="■"/>
              <a:defRPr>
                <a:solidFill>
                  <a:schemeClr val="dk1"/>
                </a:solidFill>
              </a:defRPr>
            </a:lvl3pPr>
            <a:lvl4pPr indent="-317500" lvl="3" marL="1828800" algn="l">
              <a:lnSpc>
                <a:spcPct val="115000"/>
              </a:lnSpc>
              <a:spcBef>
                <a:spcPts val="0"/>
              </a:spcBef>
              <a:spcAft>
                <a:spcPts val="0"/>
              </a:spcAft>
              <a:buClr>
                <a:schemeClr val="dk1"/>
              </a:buClr>
              <a:buSzPts val="1400"/>
              <a:buChar char="●"/>
              <a:defRPr>
                <a:solidFill>
                  <a:schemeClr val="dk1"/>
                </a:solidFill>
              </a:defRPr>
            </a:lvl4pPr>
            <a:lvl5pPr indent="-317500" lvl="4" marL="2286000" algn="l">
              <a:lnSpc>
                <a:spcPct val="115000"/>
              </a:lnSpc>
              <a:spcBef>
                <a:spcPts val="0"/>
              </a:spcBef>
              <a:spcAft>
                <a:spcPts val="0"/>
              </a:spcAft>
              <a:buClr>
                <a:schemeClr val="dk1"/>
              </a:buClr>
              <a:buSzPts val="1400"/>
              <a:buChar char="○"/>
              <a:defRPr>
                <a:solidFill>
                  <a:schemeClr val="dk1"/>
                </a:solidFill>
              </a:defRPr>
            </a:lvl5pPr>
            <a:lvl6pPr indent="-317500" lvl="5" marL="2743200" algn="l">
              <a:lnSpc>
                <a:spcPct val="115000"/>
              </a:lnSpc>
              <a:spcBef>
                <a:spcPts val="0"/>
              </a:spcBef>
              <a:spcAft>
                <a:spcPts val="0"/>
              </a:spcAft>
              <a:buClr>
                <a:schemeClr val="dk1"/>
              </a:buClr>
              <a:buSzPts val="1400"/>
              <a:buChar char="■"/>
              <a:defRPr>
                <a:solidFill>
                  <a:schemeClr val="dk1"/>
                </a:solidFill>
              </a:defRPr>
            </a:lvl6pPr>
            <a:lvl7pPr indent="-317500" lvl="6" marL="3200400" algn="l">
              <a:lnSpc>
                <a:spcPct val="115000"/>
              </a:lnSpc>
              <a:spcBef>
                <a:spcPts val="0"/>
              </a:spcBef>
              <a:spcAft>
                <a:spcPts val="0"/>
              </a:spcAft>
              <a:buClr>
                <a:schemeClr val="dk1"/>
              </a:buClr>
              <a:buSzPts val="1400"/>
              <a:buChar char="●"/>
              <a:defRPr>
                <a:solidFill>
                  <a:schemeClr val="dk1"/>
                </a:solidFill>
              </a:defRPr>
            </a:lvl7pPr>
            <a:lvl8pPr indent="-317500" lvl="7" marL="3657600" algn="l">
              <a:lnSpc>
                <a:spcPct val="115000"/>
              </a:lnSpc>
              <a:spcBef>
                <a:spcPts val="0"/>
              </a:spcBef>
              <a:spcAft>
                <a:spcPts val="0"/>
              </a:spcAft>
              <a:buClr>
                <a:schemeClr val="dk1"/>
              </a:buClr>
              <a:buSzPts val="1400"/>
              <a:buChar char="○"/>
              <a:defRPr>
                <a:solidFill>
                  <a:schemeClr val="dk1"/>
                </a:solidFill>
              </a:defRPr>
            </a:lvl8pPr>
            <a:lvl9pPr indent="-317500" lvl="8" marL="4114800" algn="l">
              <a:lnSpc>
                <a:spcPct val="115000"/>
              </a:lnSpc>
              <a:spcBef>
                <a:spcPts val="0"/>
              </a:spcBef>
              <a:spcAft>
                <a:spcPts val="0"/>
              </a:spcAft>
              <a:buClr>
                <a:schemeClr val="dk1"/>
              </a:buClr>
              <a:buSzPts val="1400"/>
              <a:buChar char="■"/>
              <a:defRPr>
                <a:solidFill>
                  <a:schemeClr val="dk1"/>
                </a:solidFill>
              </a:defRPr>
            </a:lvl9pPr>
          </a:lstStyle>
          <a:p/>
        </p:txBody>
      </p:sp>
      <p:sp>
        <p:nvSpPr>
          <p:cNvPr id="40" name="Google Shape;40;p6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66"/>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67"/>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67"/>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6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5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5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lt2"/>
              </a:buClr>
              <a:buSzPts val="1800"/>
              <a:buFont typeface="Arial"/>
              <a:buChar char="●"/>
              <a:defRPr b="0" i="0" sz="1800" u="none" cap="none" strike="noStrike">
                <a:solidFill>
                  <a:schemeClr val="lt2"/>
                </a:solidFill>
                <a:latin typeface="Arial"/>
                <a:ea typeface="Arial"/>
                <a:cs typeface="Arial"/>
                <a:sym typeface="Arial"/>
              </a:defRPr>
            </a:lvl1pPr>
            <a:lvl2pPr indent="-317500" lvl="1" marL="914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2pPr>
            <a:lvl3pPr indent="-317500" lvl="2" marL="1371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3pPr>
            <a:lvl4pPr indent="-317500" lvl="3" marL="1828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4pPr>
            <a:lvl5pPr indent="-317500" lvl="4" marL="22860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5pPr>
            <a:lvl6pPr indent="-317500" lvl="5" marL="27432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6pPr>
            <a:lvl7pPr indent="-317500" lvl="6" marL="32004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7pPr>
            <a:lvl8pPr indent="-317500" lvl="7" marL="36576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8pPr>
            <a:lvl9pPr indent="-317500" lvl="8" marL="4114800" marR="0" rtl="0" algn="l">
              <a:lnSpc>
                <a:spcPct val="115000"/>
              </a:lnSpc>
              <a:spcBef>
                <a:spcPts val="0"/>
              </a:spcBef>
              <a:spcAft>
                <a:spcPts val="0"/>
              </a:spcAft>
              <a:buClr>
                <a:schemeClr val="lt2"/>
              </a:buClr>
              <a:buSzPts val="1400"/>
              <a:buFont typeface="Arial"/>
              <a:buChar char="■"/>
              <a:defRPr b="0" i="0" sz="1400" u="none" cap="none" strike="noStrike">
                <a:solidFill>
                  <a:schemeClr val="lt2"/>
                </a:solidFill>
                <a:latin typeface="Arial"/>
                <a:ea typeface="Arial"/>
                <a:cs typeface="Arial"/>
                <a:sym typeface="Arial"/>
              </a:defRPr>
            </a:lvl9pPr>
          </a:lstStyle>
          <a:p/>
        </p:txBody>
      </p:sp>
      <p:sp>
        <p:nvSpPr>
          <p:cNvPr id="8" name="Google Shape;8;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5.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6.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Bayes’ theorem and independence </a:t>
            </a:r>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Recap</a:t>
            </a:r>
            <a:endParaRPr/>
          </a:p>
        </p:txBody>
      </p:sp>
      <p:sp>
        <p:nvSpPr>
          <p:cNvPr id="61" name="Google Shape;61;p2"/>
          <p:cNvSpPr txBox="1"/>
          <p:nvPr>
            <p:ph idx="1" type="body"/>
          </p:nvPr>
        </p:nvSpPr>
        <p:spPr>
          <a:xfrm>
            <a:off x="311700" y="1152475"/>
            <a:ext cx="8520600" cy="38202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Probability space</a:t>
            </a:r>
            <a:endParaRPr/>
          </a:p>
          <a:p>
            <a:pPr indent="-317500" lvl="1" marL="914400" rtl="0" algn="l">
              <a:lnSpc>
                <a:spcPct val="115000"/>
              </a:lnSpc>
              <a:spcBef>
                <a:spcPts val="0"/>
              </a:spcBef>
              <a:spcAft>
                <a:spcPts val="0"/>
              </a:spcAft>
              <a:buSzPts val="1400"/>
              <a:buChar char="○"/>
            </a:pPr>
            <a:r>
              <a:rPr lang="en"/>
              <a:t>Sample space </a:t>
            </a:r>
            <a:r>
              <a:rPr i="1" lang="en"/>
              <a:t>S</a:t>
            </a:r>
            <a:r>
              <a:rPr lang="en"/>
              <a:t> - set of outcomes</a:t>
            </a:r>
            <a:endParaRPr/>
          </a:p>
          <a:p>
            <a:pPr indent="-317500" lvl="1" marL="914400" rtl="0" algn="l">
              <a:lnSpc>
                <a:spcPct val="115000"/>
              </a:lnSpc>
              <a:spcBef>
                <a:spcPts val="0"/>
              </a:spcBef>
              <a:spcAft>
                <a:spcPts val="0"/>
              </a:spcAft>
              <a:buSzPts val="1400"/>
              <a:buChar char="○"/>
            </a:pPr>
            <a:r>
              <a:rPr lang="en"/>
              <a:t>Events - subsets of sample space (technical condition)</a:t>
            </a:r>
            <a:endParaRPr/>
          </a:p>
          <a:p>
            <a:pPr indent="-317500" lvl="1" marL="914400" rtl="0" algn="l">
              <a:lnSpc>
                <a:spcPct val="115000"/>
              </a:lnSpc>
              <a:spcBef>
                <a:spcPts val="0"/>
              </a:spcBef>
              <a:spcAft>
                <a:spcPts val="0"/>
              </a:spcAft>
              <a:buSzPts val="1400"/>
              <a:buChar char="○"/>
            </a:pPr>
            <a:r>
              <a:rPr lang="en"/>
              <a:t>Probability P - function from events to the closed interval [0,1] </a:t>
            </a:r>
            <a:endParaRPr/>
          </a:p>
          <a:p>
            <a:pPr indent="-317500" lvl="1" marL="914400" rtl="0" algn="l">
              <a:lnSpc>
                <a:spcPct val="115000"/>
              </a:lnSpc>
              <a:spcBef>
                <a:spcPts val="0"/>
              </a:spcBef>
              <a:spcAft>
                <a:spcPts val="0"/>
              </a:spcAft>
              <a:buSzPts val="1400"/>
              <a:buChar char="○"/>
            </a:pPr>
            <a:r>
              <a:rPr lang="en"/>
              <a:t>Axioms</a:t>
            </a:r>
            <a:endParaRPr/>
          </a:p>
          <a:p>
            <a:pPr indent="-317500" lvl="2" marL="1371600" rtl="0" algn="l">
              <a:lnSpc>
                <a:spcPct val="115000"/>
              </a:lnSpc>
              <a:spcBef>
                <a:spcPts val="0"/>
              </a:spcBef>
              <a:spcAft>
                <a:spcPts val="0"/>
              </a:spcAft>
              <a:buSzPts val="1400"/>
              <a:buChar char="■"/>
            </a:pPr>
            <a:r>
              <a:rPr lang="en"/>
              <a:t>P(</a:t>
            </a:r>
            <a:r>
              <a:rPr i="1" lang="en"/>
              <a:t>S</a:t>
            </a:r>
            <a:r>
              <a:rPr lang="en"/>
              <a:t>) = 1</a:t>
            </a:r>
            <a:endParaRPr/>
          </a:p>
          <a:p>
            <a:pPr indent="-317500" lvl="2" marL="1371600" rtl="0" algn="l">
              <a:lnSpc>
                <a:spcPct val="115000"/>
              </a:lnSpc>
              <a:spcBef>
                <a:spcPts val="0"/>
              </a:spcBef>
              <a:spcAft>
                <a:spcPts val="0"/>
              </a:spcAft>
              <a:buSzPts val="1400"/>
              <a:buChar char="■"/>
            </a:pPr>
            <a:r>
              <a:rPr lang="en"/>
              <a:t>E</a:t>
            </a:r>
            <a:r>
              <a:rPr baseline="-25000" lang="en"/>
              <a:t>1</a:t>
            </a:r>
            <a:r>
              <a:rPr lang="en"/>
              <a:t>, E</a:t>
            </a:r>
            <a:r>
              <a:rPr baseline="-25000" lang="en"/>
              <a:t>2</a:t>
            </a:r>
            <a:r>
              <a:rPr lang="en"/>
              <a:t>, …. disjoint: P(E</a:t>
            </a:r>
            <a:r>
              <a:rPr baseline="-25000" lang="en"/>
              <a:t>1</a:t>
            </a:r>
            <a:r>
              <a:rPr lang="en"/>
              <a:t> ∪ E</a:t>
            </a:r>
            <a:r>
              <a:rPr baseline="-25000" lang="en"/>
              <a:t>2</a:t>
            </a:r>
            <a:r>
              <a:rPr lang="en"/>
              <a:t> ∪ … ) = P(E</a:t>
            </a:r>
            <a:r>
              <a:rPr baseline="-25000" lang="en"/>
              <a:t>1</a:t>
            </a:r>
            <a:r>
              <a:rPr lang="en"/>
              <a:t>) + P(E</a:t>
            </a:r>
            <a:r>
              <a:rPr baseline="-25000" lang="en"/>
              <a:t>2</a:t>
            </a:r>
            <a:r>
              <a:rPr lang="en"/>
              <a:t>) + …</a:t>
            </a:r>
            <a:endParaRPr/>
          </a:p>
          <a:p>
            <a:pPr indent="-317500" lvl="1" marL="914400" rtl="0" algn="l">
              <a:lnSpc>
                <a:spcPct val="115000"/>
              </a:lnSpc>
              <a:spcBef>
                <a:spcPts val="0"/>
              </a:spcBef>
              <a:spcAft>
                <a:spcPts val="0"/>
              </a:spcAft>
              <a:buSzPts val="1400"/>
              <a:buChar char="○"/>
            </a:pPr>
            <a:r>
              <a:rPr lang="en"/>
              <a:t>Properties</a:t>
            </a:r>
            <a:endParaRPr/>
          </a:p>
          <a:p>
            <a:pPr indent="-317500" lvl="2" marL="1371600" rtl="0" algn="l">
              <a:lnSpc>
                <a:spcPct val="115000"/>
              </a:lnSpc>
              <a:spcBef>
                <a:spcPts val="0"/>
              </a:spcBef>
              <a:spcAft>
                <a:spcPts val="0"/>
              </a:spcAft>
              <a:buSzPts val="1400"/>
              <a:buChar char="■"/>
            </a:pPr>
            <a:r>
              <a:rPr lang="en"/>
              <a:t>P(Φ)=0, P(E</a:t>
            </a:r>
            <a:r>
              <a:rPr baseline="30000" lang="en"/>
              <a:t>c</a:t>
            </a:r>
            <a:r>
              <a:rPr lang="en"/>
              <a:t>) = 1 - P(E), P(E) = P(E ⋂ F) + P(E \ F), P(E ∪ F) = P(E) + P(F) - P(E ⋂ F)</a:t>
            </a:r>
            <a:endParaRPr/>
          </a:p>
          <a:p>
            <a:pPr indent="-342900" lvl="0" marL="457200" rtl="0" algn="l">
              <a:lnSpc>
                <a:spcPct val="115000"/>
              </a:lnSpc>
              <a:spcBef>
                <a:spcPts val="0"/>
              </a:spcBef>
              <a:spcAft>
                <a:spcPts val="0"/>
              </a:spcAft>
              <a:buSzPts val="1800"/>
              <a:buChar char="●"/>
            </a:pPr>
            <a:r>
              <a:rPr lang="en"/>
              <a:t>Conditional probability - given event B has occurred</a:t>
            </a:r>
            <a:endParaRPr/>
          </a:p>
          <a:p>
            <a:pPr indent="-317500" lvl="1" marL="914400" rtl="0" algn="l">
              <a:lnSpc>
                <a:spcPct val="115000"/>
              </a:lnSpc>
              <a:spcBef>
                <a:spcPts val="0"/>
              </a:spcBef>
              <a:spcAft>
                <a:spcPts val="0"/>
              </a:spcAft>
              <a:buSzPts val="1400"/>
              <a:buChar char="○"/>
            </a:pPr>
            <a:r>
              <a:rPr lang="en"/>
              <a:t>P(A | B) = P(A ⋂ B) / P(B) or P(A ⋂ B) = P(B) P(A | B)</a:t>
            </a:r>
            <a:endParaRPr/>
          </a:p>
          <a:p>
            <a:pPr indent="-342900" lvl="0" marL="457200" rtl="0" algn="l">
              <a:lnSpc>
                <a:spcPct val="115000"/>
              </a:lnSpc>
              <a:spcBef>
                <a:spcPts val="0"/>
              </a:spcBef>
              <a:spcAft>
                <a:spcPts val="0"/>
              </a:spcAft>
              <a:buSzPts val="1800"/>
              <a:buChar char="●"/>
            </a:pPr>
            <a:r>
              <a:rPr lang="en"/>
              <a:t>Next set of lectures</a:t>
            </a:r>
            <a:endParaRPr/>
          </a:p>
          <a:p>
            <a:pPr indent="-317500" lvl="1" marL="914400" rtl="0" algn="l">
              <a:lnSpc>
                <a:spcPct val="115000"/>
              </a:lnSpc>
              <a:spcBef>
                <a:spcPts val="0"/>
              </a:spcBef>
              <a:spcAft>
                <a:spcPts val="0"/>
              </a:spcAft>
              <a:buSzPts val="1400"/>
              <a:buChar char="○"/>
            </a:pPr>
            <a:r>
              <a:rPr lang="en"/>
              <a:t>More with conditional probability - Law of total probability and Bayes’ theorem</a:t>
            </a:r>
            <a:endParaRPr/>
          </a:p>
          <a:p>
            <a:pPr indent="-317500" lvl="1" marL="914400" rtl="0" algn="l">
              <a:lnSpc>
                <a:spcPct val="115000"/>
              </a:lnSpc>
              <a:spcBef>
                <a:spcPts val="0"/>
              </a:spcBef>
              <a:spcAft>
                <a:spcPts val="0"/>
              </a:spcAft>
              <a:buSzPts val="1400"/>
              <a:buChar char="○"/>
            </a:pPr>
            <a:r>
              <a:rPr lang="en"/>
              <a:t>Independence and repeated trials of an experiment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Law of total probability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Law of total probability</a:t>
            </a:r>
            <a:endParaRPr/>
          </a:p>
        </p:txBody>
      </p:sp>
      <p:sp>
        <p:nvSpPr>
          <p:cNvPr id="72" name="Google Shape;72;p4"/>
          <p:cNvSpPr txBox="1"/>
          <p:nvPr>
            <p:ph idx="1" type="body"/>
          </p:nvPr>
        </p:nvSpPr>
        <p:spPr>
          <a:xfrm>
            <a:off x="311700" y="2219000"/>
            <a:ext cx="5093400" cy="2349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Proof</a:t>
            </a:r>
            <a:endParaRPr/>
          </a:p>
          <a:p>
            <a:pPr indent="-342900" lvl="0" marL="457200" rtl="0" algn="l">
              <a:lnSpc>
                <a:spcPct val="115000"/>
              </a:lnSpc>
              <a:spcBef>
                <a:spcPts val="1200"/>
              </a:spcBef>
              <a:spcAft>
                <a:spcPts val="0"/>
              </a:spcAft>
              <a:buSzPts val="1800"/>
              <a:buChar char="●"/>
            </a:pPr>
            <a:r>
              <a:rPr lang="en"/>
              <a:t>A: disjoint union of A ⋂ B and A ⋂ B</a:t>
            </a:r>
            <a:r>
              <a:rPr baseline="30000" lang="en"/>
              <a:t>c</a:t>
            </a:r>
            <a:endParaRPr/>
          </a:p>
          <a:p>
            <a:pPr indent="-342900" lvl="0" marL="457200" rtl="0" algn="l">
              <a:lnSpc>
                <a:spcPct val="115000"/>
              </a:lnSpc>
              <a:spcBef>
                <a:spcPts val="0"/>
              </a:spcBef>
              <a:spcAft>
                <a:spcPts val="0"/>
              </a:spcAft>
              <a:buSzPts val="1800"/>
              <a:buChar char="●"/>
            </a:pPr>
            <a:r>
              <a:rPr lang="en"/>
              <a:t>By Axiom 2, P(A) = P(A ⋂ B) + P(A ⋂ B</a:t>
            </a:r>
            <a:r>
              <a:rPr baseline="30000" lang="en"/>
              <a:t>c</a:t>
            </a:r>
            <a:r>
              <a:rPr lang="en"/>
              <a:t>)</a:t>
            </a:r>
            <a:endParaRPr/>
          </a:p>
          <a:p>
            <a:pPr indent="-342900" lvl="0" marL="457200" rtl="0" algn="l">
              <a:lnSpc>
                <a:spcPct val="115000"/>
              </a:lnSpc>
              <a:spcBef>
                <a:spcPts val="0"/>
              </a:spcBef>
              <a:spcAft>
                <a:spcPts val="0"/>
              </a:spcAft>
              <a:buSzPts val="1800"/>
              <a:buChar char="●"/>
            </a:pPr>
            <a:r>
              <a:rPr lang="en"/>
              <a:t>Using conditional probability on each term above, we get the result</a:t>
            </a:r>
            <a:endParaRPr/>
          </a:p>
        </p:txBody>
      </p:sp>
      <p:sp>
        <p:nvSpPr>
          <p:cNvPr id="73" name="Google Shape;73;p4"/>
          <p:cNvSpPr txBox="1"/>
          <p:nvPr/>
        </p:nvSpPr>
        <p:spPr>
          <a:xfrm>
            <a:off x="1024125" y="1218550"/>
            <a:ext cx="6725100" cy="572700"/>
          </a:xfrm>
          <a:prstGeom prst="rect">
            <a:avLst/>
          </a:prstGeom>
          <a:noFill/>
          <a:ln cap="flat" cmpd="sng" w="381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P(A) = P(A ⋂ B) + P(</a:t>
            </a:r>
            <a:r>
              <a:rPr b="0" i="0" lang="en" sz="1800" u="none" cap="none" strike="noStrike">
                <a:solidFill>
                  <a:schemeClr val="dk1"/>
                </a:solidFill>
                <a:latin typeface="Arial"/>
                <a:ea typeface="Arial"/>
                <a:cs typeface="Arial"/>
                <a:sym typeface="Arial"/>
              </a:rPr>
              <a:t>A ⋂ B</a:t>
            </a:r>
            <a:r>
              <a:rPr b="0" baseline="30000" i="0" lang="en" sz="1800" u="none" cap="none" strike="noStrike">
                <a:solidFill>
                  <a:schemeClr val="dk1"/>
                </a:solidFill>
                <a:latin typeface="Arial"/>
                <a:ea typeface="Arial"/>
                <a:cs typeface="Arial"/>
                <a:sym typeface="Arial"/>
              </a:rPr>
              <a:t>c</a:t>
            </a:r>
            <a:r>
              <a:rPr b="0" i="0" lang="en" sz="1800" u="none" cap="none" strike="noStrike">
                <a:solidFill>
                  <a:schemeClr val="dk1"/>
                </a:solidFill>
                <a:latin typeface="Arial"/>
                <a:ea typeface="Arial"/>
                <a:cs typeface="Arial"/>
                <a:sym typeface="Arial"/>
              </a:rPr>
              <a:t>) = P(A | B) P(B) + P(A | B</a:t>
            </a:r>
            <a:r>
              <a:rPr b="0" baseline="30000" i="0" lang="en" sz="1800" u="none" cap="none" strike="noStrike">
                <a:solidFill>
                  <a:schemeClr val="dk1"/>
                </a:solidFill>
                <a:latin typeface="Arial"/>
                <a:ea typeface="Arial"/>
                <a:cs typeface="Arial"/>
                <a:sym typeface="Arial"/>
              </a:rPr>
              <a:t>c</a:t>
            </a:r>
            <a:r>
              <a:rPr b="0" i="0" lang="en" sz="1800" u="none" cap="none" strike="noStrike">
                <a:solidFill>
                  <a:schemeClr val="dk1"/>
                </a:solidFill>
                <a:latin typeface="Arial"/>
                <a:ea typeface="Arial"/>
                <a:cs typeface="Arial"/>
                <a:sym typeface="Arial"/>
              </a:rPr>
              <a:t>) P(B</a:t>
            </a:r>
            <a:r>
              <a:rPr b="0" baseline="30000" i="0" lang="en" sz="1800" u="none" cap="none" strike="noStrike">
                <a:solidFill>
                  <a:schemeClr val="dk1"/>
                </a:solidFill>
                <a:latin typeface="Arial"/>
                <a:ea typeface="Arial"/>
                <a:cs typeface="Arial"/>
                <a:sym typeface="Arial"/>
              </a:rPr>
              <a:t>c</a:t>
            </a:r>
            <a:r>
              <a:rPr b="0" i="0" lang="en" sz="1800" u="none" cap="none" strike="noStrike">
                <a:solidFill>
                  <a:schemeClr val="dk1"/>
                </a:solidFill>
                <a:latin typeface="Arial"/>
                <a:ea typeface="Arial"/>
                <a:cs typeface="Arial"/>
                <a:sym typeface="Arial"/>
              </a:rPr>
              <a:t>)</a:t>
            </a:r>
            <a:endParaRPr b="0" i="0" sz="1800" u="none" cap="none" strike="noStrike">
              <a:solidFill>
                <a:srgbClr val="FFFFFF"/>
              </a:solidFill>
              <a:latin typeface="Arial"/>
              <a:ea typeface="Arial"/>
              <a:cs typeface="Arial"/>
              <a:sym typeface="Arial"/>
            </a:endParaRPr>
          </a:p>
        </p:txBody>
      </p:sp>
      <p:sp>
        <p:nvSpPr>
          <p:cNvPr id="74" name="Google Shape;74;p4"/>
          <p:cNvSpPr/>
          <p:nvPr/>
        </p:nvSpPr>
        <p:spPr>
          <a:xfrm>
            <a:off x="6611450" y="2264500"/>
            <a:ext cx="1968600" cy="259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4"/>
          <p:cNvSpPr txBox="1"/>
          <p:nvPr/>
        </p:nvSpPr>
        <p:spPr>
          <a:xfrm>
            <a:off x="7949750" y="2067600"/>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S</a:t>
            </a:r>
            <a:endParaRPr b="0" i="1" sz="1400" u="none" cap="none" strike="noStrike">
              <a:solidFill>
                <a:schemeClr val="dk1"/>
              </a:solidFill>
              <a:latin typeface="Arial"/>
              <a:ea typeface="Arial"/>
              <a:cs typeface="Arial"/>
              <a:sym typeface="Arial"/>
            </a:endParaRPr>
          </a:p>
        </p:txBody>
      </p:sp>
      <p:cxnSp>
        <p:nvCxnSpPr>
          <p:cNvPr id="76" name="Google Shape;76;p4"/>
          <p:cNvCxnSpPr>
            <a:stCxn id="74" idx="1"/>
            <a:endCxn id="74" idx="5"/>
          </p:cNvCxnSpPr>
          <p:nvPr/>
        </p:nvCxnSpPr>
        <p:spPr>
          <a:xfrm>
            <a:off x="6899745" y="2644441"/>
            <a:ext cx="1392000" cy="1834500"/>
          </a:xfrm>
          <a:prstGeom prst="straightConnector1">
            <a:avLst/>
          </a:prstGeom>
          <a:noFill/>
          <a:ln cap="flat" cmpd="sng" w="9525">
            <a:solidFill>
              <a:schemeClr val="dk1"/>
            </a:solidFill>
            <a:prstDash val="solid"/>
            <a:round/>
            <a:headEnd len="sm" w="sm" type="none"/>
            <a:tailEnd len="sm" w="sm" type="none"/>
          </a:ln>
        </p:spPr>
      </p:cxnSp>
      <p:grpSp>
        <p:nvGrpSpPr>
          <p:cNvPr id="77" name="Google Shape;77;p4"/>
          <p:cNvGrpSpPr/>
          <p:nvPr/>
        </p:nvGrpSpPr>
        <p:grpSpPr>
          <a:xfrm>
            <a:off x="7230400" y="2574200"/>
            <a:ext cx="671400" cy="1590600"/>
            <a:chOff x="7230400" y="2574200"/>
            <a:chExt cx="671400" cy="1590600"/>
          </a:xfrm>
        </p:grpSpPr>
        <p:sp>
          <p:nvSpPr>
            <p:cNvPr id="78" name="Google Shape;78;p4"/>
            <p:cNvSpPr/>
            <p:nvPr/>
          </p:nvSpPr>
          <p:spPr>
            <a:xfrm>
              <a:off x="7230400" y="2879000"/>
              <a:ext cx="671400" cy="1285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4"/>
            <p:cNvSpPr txBox="1"/>
            <p:nvPr/>
          </p:nvSpPr>
          <p:spPr>
            <a:xfrm>
              <a:off x="7368225" y="2574200"/>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400" u="none" cap="none" strike="noStrike">
                <a:solidFill>
                  <a:schemeClr val="dk1"/>
                </a:solidFill>
                <a:latin typeface="Arial"/>
                <a:ea typeface="Arial"/>
                <a:cs typeface="Arial"/>
                <a:sym typeface="Arial"/>
              </a:endParaRPr>
            </a:p>
          </p:txBody>
        </p:sp>
      </p:grpSp>
      <p:sp>
        <p:nvSpPr>
          <p:cNvPr id="80" name="Google Shape;80;p4"/>
          <p:cNvSpPr txBox="1"/>
          <p:nvPr/>
        </p:nvSpPr>
        <p:spPr>
          <a:xfrm>
            <a:off x="8009950" y="3321800"/>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B</a:t>
            </a:r>
            <a:endParaRPr b="0" i="0" sz="1400" u="none" cap="none" strike="noStrike">
              <a:solidFill>
                <a:schemeClr val="dk1"/>
              </a:solidFill>
              <a:latin typeface="Arial"/>
              <a:ea typeface="Arial"/>
              <a:cs typeface="Arial"/>
              <a:sym typeface="Arial"/>
            </a:endParaRPr>
          </a:p>
        </p:txBody>
      </p:sp>
      <p:sp>
        <p:nvSpPr>
          <p:cNvPr id="81" name="Google Shape;81;p4"/>
          <p:cNvSpPr txBox="1"/>
          <p:nvPr/>
        </p:nvSpPr>
        <p:spPr>
          <a:xfrm>
            <a:off x="6808200" y="3929375"/>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B</a:t>
            </a:r>
            <a:r>
              <a:rPr b="0" baseline="30000" i="0" lang="en" sz="1400" u="none" cap="none" strike="noStrike">
                <a:solidFill>
                  <a:schemeClr val="dk1"/>
                </a:solidFill>
                <a:latin typeface="Arial"/>
                <a:ea typeface="Arial"/>
                <a:cs typeface="Arial"/>
                <a:sym typeface="Arial"/>
              </a:rPr>
              <a:t>c</a:t>
            </a:r>
            <a:endParaRPr b="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Two urns with coloured marbles</a:t>
            </a:r>
            <a:endParaRPr/>
          </a:p>
        </p:txBody>
      </p:sp>
      <p:sp>
        <p:nvSpPr>
          <p:cNvPr id="87" name="Google Shape;87;p5"/>
          <p:cNvSpPr txBox="1"/>
          <p:nvPr>
            <p:ph idx="1" type="body"/>
          </p:nvPr>
        </p:nvSpPr>
        <p:spPr>
          <a:xfrm>
            <a:off x="311700" y="2189550"/>
            <a:ext cx="8520600" cy="23793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Pick an urn at random and then pick a marble at random from the chosen urn.</a:t>
            </a:r>
            <a:endParaRPr/>
          </a:p>
          <a:p>
            <a:pPr indent="0" lvl="0" marL="0" rtl="0" algn="l">
              <a:lnSpc>
                <a:spcPct val="115000"/>
              </a:lnSpc>
              <a:spcBef>
                <a:spcPts val="1200"/>
              </a:spcBef>
              <a:spcAft>
                <a:spcPts val="0"/>
              </a:spcAft>
              <a:buSzPts val="1800"/>
              <a:buNone/>
            </a:pPr>
            <a:r>
              <a:rPr lang="en"/>
              <a:t>P(red | urn 1) = 7/13, P(red | urn 2) = 5/13</a:t>
            </a:r>
            <a:endParaRPr/>
          </a:p>
          <a:p>
            <a:pPr indent="0" lvl="0" marL="0" rtl="0" algn="l">
              <a:lnSpc>
                <a:spcPct val="115000"/>
              </a:lnSpc>
              <a:spcBef>
                <a:spcPts val="1200"/>
              </a:spcBef>
              <a:spcAft>
                <a:spcPts val="0"/>
              </a:spcAft>
              <a:buSzPts val="1800"/>
              <a:buNone/>
            </a:pPr>
            <a:r>
              <a:rPr lang="en"/>
              <a:t>P(blue | urn 1) = 6/13, P(blue | urn 2) = 8/13</a:t>
            </a:r>
            <a:endParaRPr/>
          </a:p>
          <a:p>
            <a:pPr indent="0" lvl="0" marL="0" rtl="0" algn="l">
              <a:lnSpc>
                <a:spcPct val="115000"/>
              </a:lnSpc>
              <a:spcBef>
                <a:spcPts val="1200"/>
              </a:spcBef>
              <a:spcAft>
                <a:spcPts val="1200"/>
              </a:spcAft>
              <a:buSzPts val="1800"/>
              <a:buNone/>
            </a:pPr>
            <a:r>
              <a:rPr lang="en"/>
              <a:t>P(red) = P(red | urn 1) P(urn 1) + P(red | urn 2) P(urn 2) </a:t>
            </a:r>
            <a:br>
              <a:rPr lang="en"/>
            </a:br>
            <a:r>
              <a:rPr lang="en"/>
              <a:t>           = (7/13)(1/2) + (5/13)(1/2) = 6/13 </a:t>
            </a:r>
            <a:endParaRPr/>
          </a:p>
        </p:txBody>
      </p:sp>
      <p:sp>
        <p:nvSpPr>
          <p:cNvPr id="88" name="Google Shape;88;p5"/>
          <p:cNvSpPr txBox="1"/>
          <p:nvPr/>
        </p:nvSpPr>
        <p:spPr>
          <a:xfrm>
            <a:off x="2360148" y="1719583"/>
            <a:ext cx="83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Urn 1</a:t>
            </a:r>
            <a:endParaRPr b="0" i="0" sz="1400" u="none" cap="none" strike="noStrike">
              <a:solidFill>
                <a:schemeClr val="dk1"/>
              </a:solidFill>
              <a:latin typeface="Arial"/>
              <a:ea typeface="Arial"/>
              <a:cs typeface="Arial"/>
              <a:sym typeface="Arial"/>
            </a:endParaRPr>
          </a:p>
        </p:txBody>
      </p:sp>
      <p:sp>
        <p:nvSpPr>
          <p:cNvPr id="89" name="Google Shape;89;p5"/>
          <p:cNvSpPr txBox="1"/>
          <p:nvPr/>
        </p:nvSpPr>
        <p:spPr>
          <a:xfrm>
            <a:off x="4444873" y="1719583"/>
            <a:ext cx="83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Urn 2</a:t>
            </a:r>
            <a:endParaRPr b="0" i="0" sz="1400" u="none" cap="none" strike="noStrike">
              <a:solidFill>
                <a:schemeClr val="dk1"/>
              </a:solidFill>
              <a:latin typeface="Arial"/>
              <a:ea typeface="Arial"/>
              <a:cs typeface="Arial"/>
              <a:sym typeface="Arial"/>
            </a:endParaRPr>
          </a:p>
        </p:txBody>
      </p:sp>
      <p:sp>
        <p:nvSpPr>
          <p:cNvPr id="90" name="Google Shape;90;p5"/>
          <p:cNvSpPr/>
          <p:nvPr/>
        </p:nvSpPr>
        <p:spPr>
          <a:xfrm>
            <a:off x="2488200"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5"/>
          <p:cNvSpPr/>
          <p:nvPr/>
        </p:nvSpPr>
        <p:spPr>
          <a:xfrm>
            <a:off x="2683925"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5"/>
          <p:cNvSpPr/>
          <p:nvPr/>
        </p:nvSpPr>
        <p:spPr>
          <a:xfrm>
            <a:off x="2897027"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p5"/>
          <p:cNvSpPr/>
          <p:nvPr/>
        </p:nvSpPr>
        <p:spPr>
          <a:xfrm>
            <a:off x="2920824" y="1543640"/>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
          <p:cNvSpPr/>
          <p:nvPr/>
        </p:nvSpPr>
        <p:spPr>
          <a:xfrm>
            <a:off x="2813100" y="1555207"/>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5"/>
          <p:cNvSpPr/>
          <p:nvPr/>
        </p:nvSpPr>
        <p:spPr>
          <a:xfrm>
            <a:off x="2603284" y="1555207"/>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 name="Google Shape;96;p5"/>
          <p:cNvSpPr/>
          <p:nvPr/>
        </p:nvSpPr>
        <p:spPr>
          <a:xfrm>
            <a:off x="2399261" y="1573484"/>
            <a:ext cx="103500" cy="103500"/>
          </a:xfrm>
          <a:prstGeom prst="ellipse">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p5"/>
          <p:cNvSpPr/>
          <p:nvPr/>
        </p:nvSpPr>
        <p:spPr>
          <a:xfrm>
            <a:off x="2580425" y="165962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5"/>
          <p:cNvSpPr/>
          <p:nvPr/>
        </p:nvSpPr>
        <p:spPr>
          <a:xfrm>
            <a:off x="2790456" y="165962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 name="Google Shape;99;p5"/>
          <p:cNvSpPr/>
          <p:nvPr/>
        </p:nvSpPr>
        <p:spPr>
          <a:xfrm>
            <a:off x="3001237" y="164412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5"/>
          <p:cNvSpPr/>
          <p:nvPr/>
        </p:nvSpPr>
        <p:spPr>
          <a:xfrm>
            <a:off x="2706141" y="154628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p5"/>
          <p:cNvSpPr/>
          <p:nvPr/>
        </p:nvSpPr>
        <p:spPr>
          <a:xfrm>
            <a:off x="2494918" y="1557872"/>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5"/>
          <p:cNvSpPr/>
          <p:nvPr/>
        </p:nvSpPr>
        <p:spPr>
          <a:xfrm>
            <a:off x="3041782" y="153317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5"/>
          <p:cNvSpPr/>
          <p:nvPr/>
        </p:nvSpPr>
        <p:spPr>
          <a:xfrm>
            <a:off x="4522431"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
          <p:cNvSpPr/>
          <p:nvPr/>
        </p:nvSpPr>
        <p:spPr>
          <a:xfrm>
            <a:off x="4718156"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
          <p:cNvSpPr/>
          <p:nvPr/>
        </p:nvSpPr>
        <p:spPr>
          <a:xfrm>
            <a:off x="4931258"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5"/>
          <p:cNvSpPr/>
          <p:nvPr/>
        </p:nvSpPr>
        <p:spPr>
          <a:xfrm>
            <a:off x="4955055" y="153205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5"/>
          <p:cNvSpPr/>
          <p:nvPr/>
        </p:nvSpPr>
        <p:spPr>
          <a:xfrm>
            <a:off x="4847331" y="1543622"/>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5"/>
          <p:cNvSpPr/>
          <p:nvPr/>
        </p:nvSpPr>
        <p:spPr>
          <a:xfrm>
            <a:off x="4637516" y="1543622"/>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5"/>
          <p:cNvSpPr/>
          <p:nvPr/>
        </p:nvSpPr>
        <p:spPr>
          <a:xfrm>
            <a:off x="4433492" y="1561900"/>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5"/>
          <p:cNvSpPr/>
          <p:nvPr/>
        </p:nvSpPr>
        <p:spPr>
          <a:xfrm>
            <a:off x="4614656" y="1648041"/>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5"/>
          <p:cNvSpPr/>
          <p:nvPr/>
        </p:nvSpPr>
        <p:spPr>
          <a:xfrm>
            <a:off x="4824687" y="1648041"/>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5"/>
          <p:cNvSpPr/>
          <p:nvPr/>
        </p:nvSpPr>
        <p:spPr>
          <a:xfrm>
            <a:off x="5023883" y="1603583"/>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
          <p:cNvSpPr/>
          <p:nvPr/>
        </p:nvSpPr>
        <p:spPr>
          <a:xfrm>
            <a:off x="4740372" y="1534703"/>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
          <p:cNvSpPr/>
          <p:nvPr/>
        </p:nvSpPr>
        <p:spPr>
          <a:xfrm>
            <a:off x="4529149" y="154628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
          <p:cNvSpPr/>
          <p:nvPr/>
        </p:nvSpPr>
        <p:spPr>
          <a:xfrm>
            <a:off x="5074133" y="1523119"/>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16" name="Google Shape;116;p5"/>
          <p:cNvCxnSpPr/>
          <p:nvPr/>
        </p:nvCxnSpPr>
        <p:spPr>
          <a:xfrm>
            <a:off x="2488991" y="1795975"/>
            <a:ext cx="586800" cy="0"/>
          </a:xfrm>
          <a:prstGeom prst="straightConnector1">
            <a:avLst/>
          </a:prstGeom>
          <a:noFill/>
          <a:ln cap="flat" cmpd="sng" w="19050">
            <a:solidFill>
              <a:schemeClr val="dk1"/>
            </a:solidFill>
            <a:prstDash val="solid"/>
            <a:round/>
            <a:headEnd len="sm" w="sm" type="none"/>
            <a:tailEnd len="sm" w="sm" type="none"/>
          </a:ln>
        </p:spPr>
      </p:cxnSp>
      <p:sp>
        <p:nvSpPr>
          <p:cNvPr id="117" name="Google Shape;117;p5"/>
          <p:cNvSpPr/>
          <p:nvPr/>
        </p:nvSpPr>
        <p:spPr>
          <a:xfrm>
            <a:off x="2334498" y="1239925"/>
            <a:ext cx="156150" cy="561850"/>
          </a:xfrm>
          <a:custGeom>
            <a:rect b="b" l="l" r="r" t="t"/>
            <a:pathLst>
              <a:path extrusionOk="0" h="22474" w="6246">
                <a:moveTo>
                  <a:pt x="6246" y="22474"/>
                </a:moveTo>
                <a:cubicBezTo>
                  <a:pt x="5512" y="21779"/>
                  <a:pt x="2848" y="20002"/>
                  <a:pt x="1844" y="18303"/>
                </a:cubicBezTo>
                <a:cubicBezTo>
                  <a:pt x="840" y="16604"/>
                  <a:pt x="492" y="14364"/>
                  <a:pt x="222" y="12279"/>
                </a:cubicBezTo>
                <a:cubicBezTo>
                  <a:pt x="-48" y="10194"/>
                  <a:pt x="-87" y="7839"/>
                  <a:pt x="222" y="5792"/>
                </a:cubicBezTo>
                <a:cubicBezTo>
                  <a:pt x="531" y="3746"/>
                  <a:pt x="1767" y="965"/>
                  <a:pt x="2076"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3069600" y="1245725"/>
            <a:ext cx="132075" cy="551275"/>
          </a:xfrm>
          <a:custGeom>
            <a:rect b="b" l="l" r="r" t="t"/>
            <a:pathLst>
              <a:path extrusionOk="0" h="22051" w="5283">
                <a:moveTo>
                  <a:pt x="3950" y="0"/>
                </a:moveTo>
                <a:cubicBezTo>
                  <a:pt x="4143" y="502"/>
                  <a:pt x="4915" y="1352"/>
                  <a:pt x="5108" y="3012"/>
                </a:cubicBezTo>
                <a:cubicBezTo>
                  <a:pt x="5301" y="4672"/>
                  <a:pt x="5378" y="7452"/>
                  <a:pt x="5108" y="9962"/>
                </a:cubicBezTo>
                <a:cubicBezTo>
                  <a:pt x="4838" y="12472"/>
                  <a:pt x="4338" y="16056"/>
                  <a:pt x="3487" y="18071"/>
                </a:cubicBezTo>
                <a:cubicBezTo>
                  <a:pt x="2636" y="20086"/>
                  <a:pt x="581" y="21388"/>
                  <a:pt x="0" y="22051"/>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9" name="Google Shape;119;p5"/>
          <p:cNvCxnSpPr/>
          <p:nvPr/>
        </p:nvCxnSpPr>
        <p:spPr>
          <a:xfrm>
            <a:off x="4517429" y="1795975"/>
            <a:ext cx="586800" cy="0"/>
          </a:xfrm>
          <a:prstGeom prst="straightConnector1">
            <a:avLst/>
          </a:prstGeom>
          <a:noFill/>
          <a:ln cap="flat" cmpd="sng" w="19050">
            <a:solidFill>
              <a:schemeClr val="dk1"/>
            </a:solidFill>
            <a:prstDash val="solid"/>
            <a:round/>
            <a:headEnd len="sm" w="sm" type="none"/>
            <a:tailEnd len="sm" w="sm" type="none"/>
          </a:ln>
        </p:spPr>
      </p:cxnSp>
      <p:sp>
        <p:nvSpPr>
          <p:cNvPr id="120" name="Google Shape;120;p5"/>
          <p:cNvSpPr/>
          <p:nvPr/>
        </p:nvSpPr>
        <p:spPr>
          <a:xfrm>
            <a:off x="4362937" y="1239925"/>
            <a:ext cx="156150" cy="561850"/>
          </a:xfrm>
          <a:custGeom>
            <a:rect b="b" l="l" r="r" t="t"/>
            <a:pathLst>
              <a:path extrusionOk="0" h="22474" w="6246">
                <a:moveTo>
                  <a:pt x="6246" y="22474"/>
                </a:moveTo>
                <a:cubicBezTo>
                  <a:pt x="5512" y="21779"/>
                  <a:pt x="2848" y="20002"/>
                  <a:pt x="1844" y="18303"/>
                </a:cubicBezTo>
                <a:cubicBezTo>
                  <a:pt x="840" y="16604"/>
                  <a:pt x="492" y="14364"/>
                  <a:pt x="222" y="12279"/>
                </a:cubicBezTo>
                <a:cubicBezTo>
                  <a:pt x="-48" y="10194"/>
                  <a:pt x="-87" y="7839"/>
                  <a:pt x="222" y="5792"/>
                </a:cubicBezTo>
                <a:cubicBezTo>
                  <a:pt x="531" y="3746"/>
                  <a:pt x="1767" y="965"/>
                  <a:pt x="2076"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5098039" y="1245725"/>
            <a:ext cx="132075" cy="551275"/>
          </a:xfrm>
          <a:custGeom>
            <a:rect b="b" l="l" r="r" t="t"/>
            <a:pathLst>
              <a:path extrusionOk="0" h="22051" w="5283">
                <a:moveTo>
                  <a:pt x="3950" y="0"/>
                </a:moveTo>
                <a:cubicBezTo>
                  <a:pt x="4143" y="502"/>
                  <a:pt x="4915" y="1352"/>
                  <a:pt x="5108" y="3012"/>
                </a:cubicBezTo>
                <a:cubicBezTo>
                  <a:pt x="5301" y="4672"/>
                  <a:pt x="5378" y="7452"/>
                  <a:pt x="5108" y="9962"/>
                </a:cubicBezTo>
                <a:cubicBezTo>
                  <a:pt x="4838" y="12472"/>
                  <a:pt x="4338" y="16056"/>
                  <a:pt x="3487" y="18071"/>
                </a:cubicBezTo>
                <a:cubicBezTo>
                  <a:pt x="2636" y="20086"/>
                  <a:pt x="581" y="21388"/>
                  <a:pt x="0" y="22051"/>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Economic model</a:t>
            </a:r>
            <a:endParaRPr/>
          </a:p>
        </p:txBody>
      </p:sp>
      <p:sp>
        <p:nvSpPr>
          <p:cNvPr id="127" name="Google Shape;127;p6"/>
          <p:cNvSpPr txBox="1"/>
          <p:nvPr>
            <p:ph idx="1" type="body"/>
          </p:nvPr>
        </p:nvSpPr>
        <p:spPr>
          <a:xfrm>
            <a:off x="311700" y="1152475"/>
            <a:ext cx="8520600" cy="17835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n"/>
              <a:t>An economic model predicts that if interest rates rise, then there is a 60% chance that unemployment will increase, but that if interest rates do not rise, then there is only a 30% chance that unemployment will increase. If the economist believes there is a 40% chance that interest rates will rise, what should she calculate is the probability that unemployment will increase?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More generally….</a:t>
            </a:r>
            <a:endParaRPr/>
          </a:p>
        </p:txBody>
      </p:sp>
      <p:sp>
        <p:nvSpPr>
          <p:cNvPr id="133" name="Google Shape;133;p7"/>
          <p:cNvSpPr txBox="1"/>
          <p:nvPr>
            <p:ph idx="1" type="body"/>
          </p:nvPr>
        </p:nvSpPr>
        <p:spPr>
          <a:xfrm>
            <a:off x="1358600" y="2734700"/>
            <a:ext cx="3341100" cy="6600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Same proof as before</a:t>
            </a:r>
            <a:endParaRPr/>
          </a:p>
        </p:txBody>
      </p:sp>
      <p:sp>
        <p:nvSpPr>
          <p:cNvPr id="134" name="Google Shape;134;p7"/>
          <p:cNvSpPr txBox="1"/>
          <p:nvPr/>
        </p:nvSpPr>
        <p:spPr>
          <a:xfrm>
            <a:off x="443800" y="989950"/>
            <a:ext cx="8272800" cy="1102800"/>
          </a:xfrm>
          <a:prstGeom prst="rect">
            <a:avLst/>
          </a:prstGeom>
          <a:noFill/>
          <a:ln cap="flat" cmpd="sng" w="381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B</a:t>
            </a:r>
            <a:r>
              <a:rPr b="0" baseline="-25000" i="0" lang="en" sz="1800" u="none" cap="none" strike="noStrike">
                <a:solidFill>
                  <a:srgbClr val="FFFFFF"/>
                </a:solidFill>
                <a:latin typeface="Arial"/>
                <a:ea typeface="Arial"/>
                <a:cs typeface="Arial"/>
                <a:sym typeface="Arial"/>
              </a:rPr>
              <a:t>1</a:t>
            </a:r>
            <a:r>
              <a:rPr b="0" i="0" lang="en" sz="1800" u="none" cap="none" strike="noStrike">
                <a:solidFill>
                  <a:srgbClr val="FFFFFF"/>
                </a:solidFill>
                <a:latin typeface="Arial"/>
                <a:ea typeface="Arial"/>
                <a:cs typeface="Arial"/>
                <a:sym typeface="Arial"/>
              </a:rPr>
              <a:t>, </a:t>
            </a:r>
            <a:r>
              <a:rPr b="0" i="0" lang="en" sz="1800" u="none" cap="none" strike="noStrike">
                <a:solidFill>
                  <a:schemeClr val="dk1"/>
                </a:solidFill>
                <a:latin typeface="Arial"/>
                <a:ea typeface="Arial"/>
                <a:cs typeface="Arial"/>
                <a:sym typeface="Arial"/>
              </a:rPr>
              <a:t>B</a:t>
            </a:r>
            <a:r>
              <a:rPr b="0" baseline="-25000" i="0" lang="en" sz="1800" u="none" cap="none" strike="noStrike">
                <a:solidFill>
                  <a:schemeClr val="dk1"/>
                </a:solidFill>
                <a:latin typeface="Arial"/>
                <a:ea typeface="Arial"/>
                <a:cs typeface="Arial"/>
                <a:sym typeface="Arial"/>
              </a:rPr>
              <a:t>2</a:t>
            </a:r>
            <a:r>
              <a:rPr b="0" i="0" lang="en" sz="1800" u="none" cap="none" strike="noStrike">
                <a:solidFill>
                  <a:schemeClr val="dk1"/>
                </a:solidFill>
                <a:latin typeface="Arial"/>
                <a:ea typeface="Arial"/>
                <a:cs typeface="Arial"/>
                <a:sym typeface="Arial"/>
              </a:rPr>
              <a:t>, B</a:t>
            </a:r>
            <a:r>
              <a:rPr b="0" baseline="-25000" i="0" lang="en" sz="1800" u="none" cap="none" strike="noStrike">
                <a:solidFill>
                  <a:schemeClr val="dk1"/>
                </a:solidFill>
                <a:latin typeface="Arial"/>
                <a:ea typeface="Arial"/>
                <a:cs typeface="Arial"/>
                <a:sym typeface="Arial"/>
              </a:rPr>
              <a:t>3</a:t>
            </a:r>
            <a:r>
              <a:rPr b="0" i="0" lang="en" sz="1800" u="none" cap="none" strike="noStrike">
                <a:solidFill>
                  <a:schemeClr val="dk1"/>
                </a:solidFill>
                <a:latin typeface="Arial"/>
                <a:ea typeface="Arial"/>
                <a:cs typeface="Arial"/>
                <a:sym typeface="Arial"/>
              </a:rPr>
              <a:t>, …. : Partition of </a:t>
            </a:r>
            <a:r>
              <a:rPr b="0" i="1" lang="en" sz="1800" u="none" cap="none" strike="noStrike">
                <a:solidFill>
                  <a:schemeClr val="dk1"/>
                </a:solidFill>
                <a:latin typeface="Arial"/>
                <a:ea typeface="Arial"/>
                <a:cs typeface="Arial"/>
                <a:sym typeface="Arial"/>
              </a:rPr>
              <a:t>S</a:t>
            </a:r>
            <a:r>
              <a:rPr b="0" i="0" lang="en" sz="1800" u="none" cap="none" strike="noStrike">
                <a:solidFill>
                  <a:schemeClr val="dk1"/>
                </a:solidFill>
                <a:latin typeface="Arial"/>
                <a:ea typeface="Arial"/>
                <a:cs typeface="Arial"/>
                <a:sym typeface="Arial"/>
              </a:rPr>
              <a:t> </a:t>
            </a:r>
            <a:br>
              <a:rPr b="0" i="0" lang="en" sz="1800" u="none" cap="none" strike="noStrike">
                <a:solidFill>
                  <a:srgbClr val="FFFFFF"/>
                </a:solidFill>
                <a:latin typeface="Arial"/>
                <a:ea typeface="Arial"/>
                <a:cs typeface="Arial"/>
                <a:sym typeface="Arial"/>
              </a:rPr>
            </a:b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P(A) = P(A ⋂ B</a:t>
            </a:r>
            <a:r>
              <a:rPr b="0" baseline="-25000" i="0" lang="en" sz="1800" u="none" cap="none" strike="noStrike">
                <a:solidFill>
                  <a:srgbClr val="FFFFFF"/>
                </a:solidFill>
                <a:latin typeface="Arial"/>
                <a:ea typeface="Arial"/>
                <a:cs typeface="Arial"/>
                <a:sym typeface="Arial"/>
              </a:rPr>
              <a:t>1</a:t>
            </a:r>
            <a:r>
              <a:rPr b="0" i="0" lang="en" sz="1800" u="none" cap="none" strike="noStrike">
                <a:solidFill>
                  <a:srgbClr val="FFFFFF"/>
                </a:solidFill>
                <a:latin typeface="Arial"/>
                <a:ea typeface="Arial"/>
                <a:cs typeface="Arial"/>
                <a:sym typeface="Arial"/>
              </a:rPr>
              <a:t>) + P(</a:t>
            </a:r>
            <a:r>
              <a:rPr b="0" i="0" lang="en" sz="1800" u="none" cap="none" strike="noStrike">
                <a:solidFill>
                  <a:schemeClr val="dk1"/>
                </a:solidFill>
                <a:latin typeface="Arial"/>
                <a:ea typeface="Arial"/>
                <a:cs typeface="Arial"/>
                <a:sym typeface="Arial"/>
              </a:rPr>
              <a:t>A ⋂ B</a:t>
            </a:r>
            <a:r>
              <a:rPr b="0" baseline="-25000" i="0" lang="en" sz="1800" u="none" cap="none" strike="noStrike">
                <a:solidFill>
                  <a:schemeClr val="dk1"/>
                </a:solidFill>
                <a:latin typeface="Arial"/>
                <a:ea typeface="Arial"/>
                <a:cs typeface="Arial"/>
                <a:sym typeface="Arial"/>
              </a:rPr>
              <a:t>2</a:t>
            </a:r>
            <a:r>
              <a:rPr b="0" i="0" lang="en" sz="1800" u="none" cap="none" strike="noStrike">
                <a:solidFill>
                  <a:schemeClr val="dk1"/>
                </a:solidFill>
                <a:latin typeface="Arial"/>
                <a:ea typeface="Arial"/>
                <a:cs typeface="Arial"/>
                <a:sym typeface="Arial"/>
              </a:rPr>
              <a:t>) + … = P(A | B</a:t>
            </a:r>
            <a:r>
              <a:rPr b="0" baseline="-25000" i="0" lang="en" sz="1800" u="none" cap="none" strike="noStrike">
                <a:solidFill>
                  <a:schemeClr val="dk1"/>
                </a:solidFill>
                <a:latin typeface="Arial"/>
                <a:ea typeface="Arial"/>
                <a:cs typeface="Arial"/>
                <a:sym typeface="Arial"/>
              </a:rPr>
              <a:t>1</a:t>
            </a:r>
            <a:r>
              <a:rPr b="0" i="0" lang="en" sz="1800" u="none" cap="none" strike="noStrike">
                <a:solidFill>
                  <a:schemeClr val="dk1"/>
                </a:solidFill>
                <a:latin typeface="Arial"/>
                <a:ea typeface="Arial"/>
                <a:cs typeface="Arial"/>
                <a:sym typeface="Arial"/>
              </a:rPr>
              <a:t>) P(B</a:t>
            </a:r>
            <a:r>
              <a:rPr b="0" baseline="-25000" i="0" lang="en" sz="1800" u="none" cap="none" strike="noStrike">
                <a:solidFill>
                  <a:schemeClr val="dk1"/>
                </a:solidFill>
                <a:latin typeface="Arial"/>
                <a:ea typeface="Arial"/>
                <a:cs typeface="Arial"/>
                <a:sym typeface="Arial"/>
              </a:rPr>
              <a:t>1</a:t>
            </a:r>
            <a:r>
              <a:rPr b="0" i="0" lang="en" sz="1800" u="none" cap="none" strike="noStrike">
                <a:solidFill>
                  <a:schemeClr val="dk1"/>
                </a:solidFill>
                <a:latin typeface="Arial"/>
                <a:ea typeface="Arial"/>
                <a:cs typeface="Arial"/>
                <a:sym typeface="Arial"/>
              </a:rPr>
              <a:t>) + P(A | B</a:t>
            </a:r>
            <a:r>
              <a:rPr b="0" baseline="-25000" i="0" lang="en" sz="1800" u="none" cap="none" strike="noStrike">
                <a:solidFill>
                  <a:schemeClr val="dk1"/>
                </a:solidFill>
                <a:latin typeface="Arial"/>
                <a:ea typeface="Arial"/>
                <a:cs typeface="Arial"/>
                <a:sym typeface="Arial"/>
              </a:rPr>
              <a:t>2</a:t>
            </a:r>
            <a:r>
              <a:rPr b="0" i="0" lang="en" sz="1800" u="none" cap="none" strike="noStrike">
                <a:solidFill>
                  <a:schemeClr val="dk1"/>
                </a:solidFill>
                <a:latin typeface="Arial"/>
                <a:ea typeface="Arial"/>
                <a:cs typeface="Arial"/>
                <a:sym typeface="Arial"/>
              </a:rPr>
              <a:t>) P(B</a:t>
            </a:r>
            <a:r>
              <a:rPr b="0" baseline="-25000" i="0" lang="en" sz="1800" u="none" cap="none" strike="noStrike">
                <a:solidFill>
                  <a:schemeClr val="dk1"/>
                </a:solidFill>
                <a:latin typeface="Arial"/>
                <a:ea typeface="Arial"/>
                <a:cs typeface="Arial"/>
                <a:sym typeface="Arial"/>
              </a:rPr>
              <a:t>2</a:t>
            </a:r>
            <a:r>
              <a:rPr b="0" i="0" lang="en" sz="1800" u="none" cap="none" strike="noStrike">
                <a:solidFill>
                  <a:schemeClr val="dk1"/>
                </a:solidFill>
                <a:latin typeface="Arial"/>
                <a:ea typeface="Arial"/>
                <a:cs typeface="Arial"/>
                <a:sym typeface="Arial"/>
              </a:rPr>
              <a:t>) + ...</a:t>
            </a:r>
            <a:endParaRPr b="0" i="0" sz="1800" u="none" cap="none" strike="noStrike">
              <a:solidFill>
                <a:srgbClr val="FFFFFF"/>
              </a:solidFill>
              <a:latin typeface="Arial"/>
              <a:ea typeface="Arial"/>
              <a:cs typeface="Arial"/>
              <a:sym typeface="Arial"/>
            </a:endParaRPr>
          </a:p>
        </p:txBody>
      </p:sp>
      <p:sp>
        <p:nvSpPr>
          <p:cNvPr id="135" name="Google Shape;135;p7"/>
          <p:cNvSpPr/>
          <p:nvPr/>
        </p:nvSpPr>
        <p:spPr>
          <a:xfrm>
            <a:off x="6611450" y="2416900"/>
            <a:ext cx="1968600" cy="25944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7"/>
          <p:cNvSpPr txBox="1"/>
          <p:nvPr/>
        </p:nvSpPr>
        <p:spPr>
          <a:xfrm>
            <a:off x="7949750" y="2220000"/>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S</a:t>
            </a:r>
            <a:endParaRPr b="0" i="1" sz="1400" u="none" cap="none" strike="noStrike">
              <a:solidFill>
                <a:schemeClr val="dk1"/>
              </a:solidFill>
              <a:latin typeface="Arial"/>
              <a:ea typeface="Arial"/>
              <a:cs typeface="Arial"/>
              <a:sym typeface="Arial"/>
            </a:endParaRPr>
          </a:p>
        </p:txBody>
      </p:sp>
      <p:cxnSp>
        <p:nvCxnSpPr>
          <p:cNvPr id="137" name="Google Shape;137;p7"/>
          <p:cNvCxnSpPr>
            <a:stCxn id="135" idx="1"/>
            <a:endCxn id="135" idx="5"/>
          </p:cNvCxnSpPr>
          <p:nvPr/>
        </p:nvCxnSpPr>
        <p:spPr>
          <a:xfrm>
            <a:off x="6899745" y="2796841"/>
            <a:ext cx="1392000" cy="1834500"/>
          </a:xfrm>
          <a:prstGeom prst="straightConnector1">
            <a:avLst/>
          </a:prstGeom>
          <a:noFill/>
          <a:ln cap="flat" cmpd="sng" w="9525">
            <a:solidFill>
              <a:schemeClr val="dk1"/>
            </a:solidFill>
            <a:prstDash val="solid"/>
            <a:round/>
            <a:headEnd len="sm" w="sm" type="none"/>
            <a:tailEnd len="sm" w="sm" type="none"/>
          </a:ln>
        </p:spPr>
      </p:cxnSp>
      <p:grpSp>
        <p:nvGrpSpPr>
          <p:cNvPr id="138" name="Google Shape;138;p7"/>
          <p:cNvGrpSpPr/>
          <p:nvPr/>
        </p:nvGrpSpPr>
        <p:grpSpPr>
          <a:xfrm>
            <a:off x="7230400" y="2726600"/>
            <a:ext cx="671400" cy="1590600"/>
            <a:chOff x="7230400" y="2726600"/>
            <a:chExt cx="671400" cy="1590600"/>
          </a:xfrm>
        </p:grpSpPr>
        <p:sp>
          <p:nvSpPr>
            <p:cNvPr id="139" name="Google Shape;139;p7"/>
            <p:cNvSpPr/>
            <p:nvPr/>
          </p:nvSpPr>
          <p:spPr>
            <a:xfrm>
              <a:off x="7230400" y="3031400"/>
              <a:ext cx="671400" cy="12858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7"/>
            <p:cNvSpPr txBox="1"/>
            <p:nvPr/>
          </p:nvSpPr>
          <p:spPr>
            <a:xfrm>
              <a:off x="7368225" y="2726600"/>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400" u="none" cap="none" strike="noStrike">
                <a:solidFill>
                  <a:schemeClr val="dk1"/>
                </a:solidFill>
                <a:latin typeface="Arial"/>
                <a:ea typeface="Arial"/>
                <a:cs typeface="Arial"/>
                <a:sym typeface="Arial"/>
              </a:endParaRPr>
            </a:p>
          </p:txBody>
        </p:sp>
      </p:grpSp>
      <p:sp>
        <p:nvSpPr>
          <p:cNvPr id="141" name="Google Shape;141;p7"/>
          <p:cNvSpPr txBox="1"/>
          <p:nvPr/>
        </p:nvSpPr>
        <p:spPr>
          <a:xfrm>
            <a:off x="7857550" y="2864600"/>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B</a:t>
            </a:r>
            <a:r>
              <a:rPr b="0" baseline="-25000" i="0" lang="en" sz="1400" u="none" cap="none" strike="noStrike">
                <a:solidFill>
                  <a:schemeClr val="dk1"/>
                </a:solidFill>
                <a:latin typeface="Arial"/>
                <a:ea typeface="Arial"/>
                <a:cs typeface="Arial"/>
                <a:sym typeface="Arial"/>
              </a:rPr>
              <a:t>1</a:t>
            </a:r>
            <a:endParaRPr b="0" baseline="-25000" i="0" sz="1400" u="none" cap="none" strike="noStrike">
              <a:solidFill>
                <a:schemeClr val="dk1"/>
              </a:solidFill>
              <a:latin typeface="Arial"/>
              <a:ea typeface="Arial"/>
              <a:cs typeface="Arial"/>
              <a:sym typeface="Arial"/>
            </a:endParaRPr>
          </a:p>
        </p:txBody>
      </p:sp>
      <p:sp>
        <p:nvSpPr>
          <p:cNvPr id="142" name="Google Shape;142;p7"/>
          <p:cNvSpPr txBox="1"/>
          <p:nvPr/>
        </p:nvSpPr>
        <p:spPr>
          <a:xfrm>
            <a:off x="8014425" y="3822475"/>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B</a:t>
            </a:r>
            <a:r>
              <a:rPr b="0" baseline="-25000" i="0" lang="en" sz="1400" u="none" cap="none" strike="noStrike">
                <a:solidFill>
                  <a:schemeClr val="dk1"/>
                </a:solidFill>
                <a:latin typeface="Arial"/>
                <a:ea typeface="Arial"/>
                <a:cs typeface="Arial"/>
                <a:sym typeface="Arial"/>
              </a:rPr>
              <a:t>2</a:t>
            </a:r>
            <a:endParaRPr b="0" baseline="-25000" i="0" sz="1400" u="none" cap="none" strike="noStrike">
              <a:solidFill>
                <a:schemeClr val="dk1"/>
              </a:solidFill>
              <a:latin typeface="Arial"/>
              <a:ea typeface="Arial"/>
              <a:cs typeface="Arial"/>
              <a:sym typeface="Arial"/>
            </a:endParaRPr>
          </a:p>
        </p:txBody>
      </p:sp>
      <p:cxnSp>
        <p:nvCxnSpPr>
          <p:cNvPr id="143" name="Google Shape;143;p7"/>
          <p:cNvCxnSpPr>
            <a:endCxn id="135" idx="6"/>
          </p:cNvCxnSpPr>
          <p:nvPr/>
        </p:nvCxnSpPr>
        <p:spPr>
          <a:xfrm flipH="1" rot="10800000">
            <a:off x="6622850" y="3714100"/>
            <a:ext cx="1957200" cy="6900"/>
          </a:xfrm>
          <a:prstGeom prst="straightConnector1">
            <a:avLst/>
          </a:prstGeom>
          <a:noFill/>
          <a:ln cap="flat" cmpd="sng" w="9525">
            <a:solidFill>
              <a:schemeClr val="dk1"/>
            </a:solidFill>
            <a:prstDash val="solid"/>
            <a:round/>
            <a:headEnd len="sm" w="sm" type="none"/>
            <a:tailEnd len="sm" w="sm" type="none"/>
          </a:ln>
        </p:spPr>
      </p:cxnSp>
      <p:sp>
        <p:nvSpPr>
          <p:cNvPr id="144" name="Google Shape;144;p7"/>
          <p:cNvSpPr txBox="1"/>
          <p:nvPr/>
        </p:nvSpPr>
        <p:spPr>
          <a:xfrm>
            <a:off x="7006125" y="4308300"/>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B</a:t>
            </a:r>
            <a:r>
              <a:rPr b="0" baseline="-25000" i="0" lang="en" sz="1400" u="none" cap="none" strike="noStrike">
                <a:solidFill>
                  <a:schemeClr val="dk1"/>
                </a:solidFill>
                <a:latin typeface="Arial"/>
                <a:ea typeface="Arial"/>
                <a:cs typeface="Arial"/>
                <a:sym typeface="Arial"/>
              </a:rPr>
              <a:t>3</a:t>
            </a:r>
            <a:endParaRPr b="0" baseline="-25000" i="0" sz="1400" u="none" cap="none" strike="noStrike">
              <a:solidFill>
                <a:schemeClr val="dk1"/>
              </a:solidFill>
              <a:latin typeface="Arial"/>
              <a:ea typeface="Arial"/>
              <a:cs typeface="Arial"/>
              <a:sym typeface="Arial"/>
            </a:endParaRPr>
          </a:p>
        </p:txBody>
      </p:sp>
      <p:sp>
        <p:nvSpPr>
          <p:cNvPr id="145" name="Google Shape;145;p7"/>
          <p:cNvSpPr txBox="1"/>
          <p:nvPr/>
        </p:nvSpPr>
        <p:spPr>
          <a:xfrm>
            <a:off x="6703325" y="3186225"/>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B</a:t>
            </a:r>
            <a:r>
              <a:rPr b="0" baseline="-25000" i="0" lang="en" sz="1400" u="none" cap="none" strike="noStrike">
                <a:solidFill>
                  <a:schemeClr val="dk1"/>
                </a:solidFill>
                <a:latin typeface="Arial"/>
                <a:ea typeface="Arial"/>
                <a:cs typeface="Arial"/>
                <a:sym typeface="Arial"/>
              </a:rPr>
              <a:t>4</a:t>
            </a:r>
            <a:endParaRPr b="0" baseline="-25000" i="0" sz="1400" u="none" cap="none" strike="noStrike">
              <a:solidFill>
                <a:schemeClr val="dk1"/>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Tricks with coins</a:t>
            </a:r>
            <a:endParaRPr/>
          </a:p>
        </p:txBody>
      </p:sp>
      <p:sp>
        <p:nvSpPr>
          <p:cNvPr id="151" name="Google Shape;151;p8"/>
          <p:cNvSpPr txBox="1"/>
          <p:nvPr>
            <p:ph idx="1" type="body"/>
          </p:nvPr>
        </p:nvSpPr>
        <p:spPr>
          <a:xfrm>
            <a:off x="311700" y="1152475"/>
            <a:ext cx="8520600" cy="11577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1200"/>
              </a:spcAft>
              <a:buSzPct val="108108"/>
              <a:buNone/>
            </a:pPr>
            <a:r>
              <a:rPr lang="en"/>
              <a:t>A man possesses 5 coins - 2 are double-headed, 1 is double-tailed, 2 are normal. He picks a coin at random and tosses it. What is the probability that he sees a head?</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Bayes’ theorem</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Two urns with coloured marbles</a:t>
            </a:r>
            <a:endParaRPr/>
          </a:p>
        </p:txBody>
      </p:sp>
      <p:sp>
        <p:nvSpPr>
          <p:cNvPr id="162" name="Google Shape;162;p10"/>
          <p:cNvSpPr txBox="1"/>
          <p:nvPr>
            <p:ph idx="1" type="body"/>
          </p:nvPr>
        </p:nvSpPr>
        <p:spPr>
          <a:xfrm>
            <a:off x="311700" y="2189550"/>
            <a:ext cx="8520600" cy="2379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lang="en"/>
              <a:t>Pick an urn at random and then pick a marble at random from the chosen urn.</a:t>
            </a:r>
            <a:endParaRPr/>
          </a:p>
          <a:p>
            <a:pPr indent="0" lvl="0" marL="0" rtl="0" algn="l">
              <a:lnSpc>
                <a:spcPct val="115000"/>
              </a:lnSpc>
              <a:spcBef>
                <a:spcPts val="1200"/>
              </a:spcBef>
              <a:spcAft>
                <a:spcPts val="0"/>
              </a:spcAft>
              <a:buSzPct val="108108"/>
              <a:buNone/>
            </a:pPr>
            <a:r>
              <a:rPr lang="en"/>
              <a:t>P(urn 1) = P(urn 2) = 1/2</a:t>
            </a:r>
            <a:endParaRPr/>
          </a:p>
          <a:p>
            <a:pPr indent="0" lvl="0" marL="0" rtl="0" algn="l">
              <a:lnSpc>
                <a:spcPct val="115000"/>
              </a:lnSpc>
              <a:spcBef>
                <a:spcPts val="1200"/>
              </a:spcBef>
              <a:spcAft>
                <a:spcPts val="0"/>
              </a:spcAft>
              <a:buSzPct val="108108"/>
              <a:buNone/>
            </a:pPr>
            <a:r>
              <a:rPr lang="en"/>
              <a:t>P(red | urn 1) = 7/13, P(red | urn 2) = 5/13</a:t>
            </a:r>
            <a:endParaRPr/>
          </a:p>
          <a:p>
            <a:pPr indent="0" lvl="0" marL="0" rtl="0" algn="l">
              <a:lnSpc>
                <a:spcPct val="115000"/>
              </a:lnSpc>
              <a:spcBef>
                <a:spcPts val="1200"/>
              </a:spcBef>
              <a:spcAft>
                <a:spcPts val="0"/>
              </a:spcAft>
              <a:buSzPct val="108108"/>
              <a:buNone/>
            </a:pPr>
            <a:r>
              <a:rPr lang="en"/>
              <a:t>P(blue | urn 1) = 6/13, P(blue | urn 2) = 8/13</a:t>
            </a:r>
            <a:endParaRPr/>
          </a:p>
          <a:p>
            <a:pPr indent="0" lvl="0" marL="0" rtl="0" algn="l">
              <a:lnSpc>
                <a:spcPct val="115000"/>
              </a:lnSpc>
              <a:spcBef>
                <a:spcPts val="1200"/>
              </a:spcBef>
              <a:spcAft>
                <a:spcPts val="1200"/>
              </a:spcAft>
              <a:buSzPct val="108108"/>
              <a:buNone/>
            </a:pPr>
            <a:r>
              <a:rPr lang="en"/>
              <a:t>What about P(urn 1 | red) or P(urn 1 | blue)?</a:t>
            </a:r>
            <a:endParaRPr/>
          </a:p>
        </p:txBody>
      </p:sp>
      <p:sp>
        <p:nvSpPr>
          <p:cNvPr id="163" name="Google Shape;163;p10"/>
          <p:cNvSpPr txBox="1"/>
          <p:nvPr/>
        </p:nvSpPr>
        <p:spPr>
          <a:xfrm>
            <a:off x="2360148" y="1719583"/>
            <a:ext cx="83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Urn 1</a:t>
            </a:r>
            <a:endParaRPr b="0" i="0" sz="1400" u="none" cap="none" strike="noStrike">
              <a:solidFill>
                <a:schemeClr val="dk1"/>
              </a:solidFill>
              <a:latin typeface="Arial"/>
              <a:ea typeface="Arial"/>
              <a:cs typeface="Arial"/>
              <a:sym typeface="Arial"/>
            </a:endParaRPr>
          </a:p>
        </p:txBody>
      </p:sp>
      <p:sp>
        <p:nvSpPr>
          <p:cNvPr id="164" name="Google Shape;164;p10"/>
          <p:cNvSpPr txBox="1"/>
          <p:nvPr/>
        </p:nvSpPr>
        <p:spPr>
          <a:xfrm>
            <a:off x="4444873" y="1719583"/>
            <a:ext cx="83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Urn 2</a:t>
            </a:r>
            <a:endParaRPr b="0" i="0" sz="1400" u="none" cap="none" strike="noStrike">
              <a:solidFill>
                <a:schemeClr val="dk1"/>
              </a:solidFill>
              <a:latin typeface="Arial"/>
              <a:ea typeface="Arial"/>
              <a:cs typeface="Arial"/>
              <a:sym typeface="Arial"/>
            </a:endParaRPr>
          </a:p>
        </p:txBody>
      </p:sp>
      <p:sp>
        <p:nvSpPr>
          <p:cNvPr id="165" name="Google Shape;165;p10"/>
          <p:cNvSpPr/>
          <p:nvPr/>
        </p:nvSpPr>
        <p:spPr>
          <a:xfrm>
            <a:off x="2488200"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10"/>
          <p:cNvSpPr/>
          <p:nvPr/>
        </p:nvSpPr>
        <p:spPr>
          <a:xfrm>
            <a:off x="2683925"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10"/>
          <p:cNvSpPr/>
          <p:nvPr/>
        </p:nvSpPr>
        <p:spPr>
          <a:xfrm>
            <a:off x="2897027"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10"/>
          <p:cNvSpPr/>
          <p:nvPr/>
        </p:nvSpPr>
        <p:spPr>
          <a:xfrm>
            <a:off x="2920824" y="1543640"/>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10"/>
          <p:cNvSpPr/>
          <p:nvPr/>
        </p:nvSpPr>
        <p:spPr>
          <a:xfrm>
            <a:off x="2813100" y="1555207"/>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10"/>
          <p:cNvSpPr/>
          <p:nvPr/>
        </p:nvSpPr>
        <p:spPr>
          <a:xfrm>
            <a:off x="2603284" y="1555207"/>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10"/>
          <p:cNvSpPr/>
          <p:nvPr/>
        </p:nvSpPr>
        <p:spPr>
          <a:xfrm>
            <a:off x="2399261" y="1573484"/>
            <a:ext cx="103500" cy="103500"/>
          </a:xfrm>
          <a:prstGeom prst="ellipse">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10"/>
          <p:cNvSpPr/>
          <p:nvPr/>
        </p:nvSpPr>
        <p:spPr>
          <a:xfrm>
            <a:off x="2580425" y="165962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0"/>
          <p:cNvSpPr/>
          <p:nvPr/>
        </p:nvSpPr>
        <p:spPr>
          <a:xfrm>
            <a:off x="2790456" y="165962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0"/>
          <p:cNvSpPr/>
          <p:nvPr/>
        </p:nvSpPr>
        <p:spPr>
          <a:xfrm>
            <a:off x="3001237" y="164412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0"/>
          <p:cNvSpPr/>
          <p:nvPr/>
        </p:nvSpPr>
        <p:spPr>
          <a:xfrm>
            <a:off x="2706141" y="154628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0"/>
          <p:cNvSpPr/>
          <p:nvPr/>
        </p:nvSpPr>
        <p:spPr>
          <a:xfrm>
            <a:off x="2494918" y="1557872"/>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p10"/>
          <p:cNvSpPr/>
          <p:nvPr/>
        </p:nvSpPr>
        <p:spPr>
          <a:xfrm>
            <a:off x="3041782" y="153317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0"/>
          <p:cNvSpPr/>
          <p:nvPr/>
        </p:nvSpPr>
        <p:spPr>
          <a:xfrm>
            <a:off x="4522431"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10"/>
          <p:cNvSpPr/>
          <p:nvPr/>
        </p:nvSpPr>
        <p:spPr>
          <a:xfrm>
            <a:off x="4718156"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10"/>
          <p:cNvSpPr/>
          <p:nvPr/>
        </p:nvSpPr>
        <p:spPr>
          <a:xfrm>
            <a:off x="4931258"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0"/>
          <p:cNvSpPr/>
          <p:nvPr/>
        </p:nvSpPr>
        <p:spPr>
          <a:xfrm>
            <a:off x="4955055" y="153205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p10"/>
          <p:cNvSpPr/>
          <p:nvPr/>
        </p:nvSpPr>
        <p:spPr>
          <a:xfrm>
            <a:off x="4847331" y="1543622"/>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0"/>
          <p:cNvSpPr/>
          <p:nvPr/>
        </p:nvSpPr>
        <p:spPr>
          <a:xfrm>
            <a:off x="4637516" y="1543622"/>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0"/>
          <p:cNvSpPr/>
          <p:nvPr/>
        </p:nvSpPr>
        <p:spPr>
          <a:xfrm>
            <a:off x="4433492" y="1561900"/>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10"/>
          <p:cNvSpPr/>
          <p:nvPr/>
        </p:nvSpPr>
        <p:spPr>
          <a:xfrm>
            <a:off x="4614656" y="1648041"/>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 name="Google Shape;186;p10"/>
          <p:cNvSpPr/>
          <p:nvPr/>
        </p:nvSpPr>
        <p:spPr>
          <a:xfrm>
            <a:off x="4824687" y="1648041"/>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7" name="Google Shape;187;p10"/>
          <p:cNvSpPr/>
          <p:nvPr/>
        </p:nvSpPr>
        <p:spPr>
          <a:xfrm>
            <a:off x="5023883" y="1603583"/>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0"/>
          <p:cNvSpPr/>
          <p:nvPr/>
        </p:nvSpPr>
        <p:spPr>
          <a:xfrm>
            <a:off x="4740372" y="1534703"/>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p10"/>
          <p:cNvSpPr/>
          <p:nvPr/>
        </p:nvSpPr>
        <p:spPr>
          <a:xfrm>
            <a:off x="4529149" y="154628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0" name="Google Shape;190;p10"/>
          <p:cNvSpPr/>
          <p:nvPr/>
        </p:nvSpPr>
        <p:spPr>
          <a:xfrm>
            <a:off x="5074133" y="1523119"/>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91" name="Google Shape;191;p10"/>
          <p:cNvCxnSpPr/>
          <p:nvPr/>
        </p:nvCxnSpPr>
        <p:spPr>
          <a:xfrm>
            <a:off x="2488991" y="1795975"/>
            <a:ext cx="586800" cy="0"/>
          </a:xfrm>
          <a:prstGeom prst="straightConnector1">
            <a:avLst/>
          </a:prstGeom>
          <a:noFill/>
          <a:ln cap="flat" cmpd="sng" w="19050">
            <a:solidFill>
              <a:schemeClr val="dk1"/>
            </a:solidFill>
            <a:prstDash val="solid"/>
            <a:round/>
            <a:headEnd len="sm" w="sm" type="none"/>
            <a:tailEnd len="sm" w="sm" type="none"/>
          </a:ln>
        </p:spPr>
      </p:cxnSp>
      <p:sp>
        <p:nvSpPr>
          <p:cNvPr id="192" name="Google Shape;192;p10"/>
          <p:cNvSpPr/>
          <p:nvPr/>
        </p:nvSpPr>
        <p:spPr>
          <a:xfrm>
            <a:off x="2334498" y="1239925"/>
            <a:ext cx="156150" cy="561850"/>
          </a:xfrm>
          <a:custGeom>
            <a:rect b="b" l="l" r="r" t="t"/>
            <a:pathLst>
              <a:path extrusionOk="0" h="22474" w="6246">
                <a:moveTo>
                  <a:pt x="6246" y="22474"/>
                </a:moveTo>
                <a:cubicBezTo>
                  <a:pt x="5512" y="21779"/>
                  <a:pt x="2848" y="20002"/>
                  <a:pt x="1844" y="18303"/>
                </a:cubicBezTo>
                <a:cubicBezTo>
                  <a:pt x="840" y="16604"/>
                  <a:pt x="492" y="14364"/>
                  <a:pt x="222" y="12279"/>
                </a:cubicBezTo>
                <a:cubicBezTo>
                  <a:pt x="-48" y="10194"/>
                  <a:pt x="-87" y="7839"/>
                  <a:pt x="222" y="5792"/>
                </a:cubicBezTo>
                <a:cubicBezTo>
                  <a:pt x="531" y="3746"/>
                  <a:pt x="1767" y="965"/>
                  <a:pt x="2076"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
          <p:cNvSpPr/>
          <p:nvPr/>
        </p:nvSpPr>
        <p:spPr>
          <a:xfrm>
            <a:off x="3069600" y="1245725"/>
            <a:ext cx="132075" cy="551275"/>
          </a:xfrm>
          <a:custGeom>
            <a:rect b="b" l="l" r="r" t="t"/>
            <a:pathLst>
              <a:path extrusionOk="0" h="22051" w="5283">
                <a:moveTo>
                  <a:pt x="3950" y="0"/>
                </a:moveTo>
                <a:cubicBezTo>
                  <a:pt x="4143" y="502"/>
                  <a:pt x="4915" y="1352"/>
                  <a:pt x="5108" y="3012"/>
                </a:cubicBezTo>
                <a:cubicBezTo>
                  <a:pt x="5301" y="4672"/>
                  <a:pt x="5378" y="7452"/>
                  <a:pt x="5108" y="9962"/>
                </a:cubicBezTo>
                <a:cubicBezTo>
                  <a:pt x="4838" y="12472"/>
                  <a:pt x="4338" y="16056"/>
                  <a:pt x="3487" y="18071"/>
                </a:cubicBezTo>
                <a:cubicBezTo>
                  <a:pt x="2636" y="20086"/>
                  <a:pt x="581" y="21388"/>
                  <a:pt x="0" y="22051"/>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4" name="Google Shape;194;p10"/>
          <p:cNvCxnSpPr/>
          <p:nvPr/>
        </p:nvCxnSpPr>
        <p:spPr>
          <a:xfrm>
            <a:off x="4517429" y="1795975"/>
            <a:ext cx="586800" cy="0"/>
          </a:xfrm>
          <a:prstGeom prst="straightConnector1">
            <a:avLst/>
          </a:prstGeom>
          <a:noFill/>
          <a:ln cap="flat" cmpd="sng" w="19050">
            <a:solidFill>
              <a:schemeClr val="dk1"/>
            </a:solidFill>
            <a:prstDash val="solid"/>
            <a:round/>
            <a:headEnd len="sm" w="sm" type="none"/>
            <a:tailEnd len="sm" w="sm" type="none"/>
          </a:ln>
        </p:spPr>
      </p:cxnSp>
      <p:sp>
        <p:nvSpPr>
          <p:cNvPr id="195" name="Google Shape;195;p10"/>
          <p:cNvSpPr/>
          <p:nvPr/>
        </p:nvSpPr>
        <p:spPr>
          <a:xfrm>
            <a:off x="4362937" y="1239925"/>
            <a:ext cx="156150" cy="561850"/>
          </a:xfrm>
          <a:custGeom>
            <a:rect b="b" l="l" r="r" t="t"/>
            <a:pathLst>
              <a:path extrusionOk="0" h="22474" w="6246">
                <a:moveTo>
                  <a:pt x="6246" y="22474"/>
                </a:moveTo>
                <a:cubicBezTo>
                  <a:pt x="5512" y="21779"/>
                  <a:pt x="2848" y="20002"/>
                  <a:pt x="1844" y="18303"/>
                </a:cubicBezTo>
                <a:cubicBezTo>
                  <a:pt x="840" y="16604"/>
                  <a:pt x="492" y="14364"/>
                  <a:pt x="222" y="12279"/>
                </a:cubicBezTo>
                <a:cubicBezTo>
                  <a:pt x="-48" y="10194"/>
                  <a:pt x="-87" y="7839"/>
                  <a:pt x="222" y="5792"/>
                </a:cubicBezTo>
                <a:cubicBezTo>
                  <a:pt x="531" y="3746"/>
                  <a:pt x="1767" y="965"/>
                  <a:pt x="2076"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0"/>
          <p:cNvSpPr/>
          <p:nvPr/>
        </p:nvSpPr>
        <p:spPr>
          <a:xfrm>
            <a:off x="5098039" y="1245725"/>
            <a:ext cx="132075" cy="551275"/>
          </a:xfrm>
          <a:custGeom>
            <a:rect b="b" l="l" r="r" t="t"/>
            <a:pathLst>
              <a:path extrusionOk="0" h="22051" w="5283">
                <a:moveTo>
                  <a:pt x="3950" y="0"/>
                </a:moveTo>
                <a:cubicBezTo>
                  <a:pt x="4143" y="502"/>
                  <a:pt x="4915" y="1352"/>
                  <a:pt x="5108" y="3012"/>
                </a:cubicBezTo>
                <a:cubicBezTo>
                  <a:pt x="5301" y="4672"/>
                  <a:pt x="5378" y="7452"/>
                  <a:pt x="5108" y="9962"/>
                </a:cubicBezTo>
                <a:cubicBezTo>
                  <a:pt x="4838" y="12472"/>
                  <a:pt x="4338" y="16056"/>
                  <a:pt x="3487" y="18071"/>
                </a:cubicBezTo>
                <a:cubicBezTo>
                  <a:pt x="2636" y="20086"/>
                  <a:pt x="581" y="21388"/>
                  <a:pt x="0" y="22051"/>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Flu test </a:t>
            </a:r>
            <a:endParaRPr/>
          </a:p>
        </p:txBody>
      </p:sp>
      <p:sp>
        <p:nvSpPr>
          <p:cNvPr id="202" name="Google Shape;202;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1% of people in a city have Swine Flu.</a:t>
            </a:r>
            <a:endParaRPr/>
          </a:p>
          <a:p>
            <a:pPr indent="0" lvl="0" marL="0" rtl="0" algn="l">
              <a:lnSpc>
                <a:spcPct val="115000"/>
              </a:lnSpc>
              <a:spcBef>
                <a:spcPts val="1200"/>
              </a:spcBef>
              <a:spcAft>
                <a:spcPts val="0"/>
              </a:spcAft>
              <a:buSzPts val="1800"/>
              <a:buNone/>
            </a:pPr>
            <a:r>
              <a:rPr lang="en"/>
              <a:t>Flu test: 95% of people with Swine Flu test positive </a:t>
            </a:r>
            <a:br>
              <a:rPr lang="en"/>
            </a:br>
            <a:r>
              <a:rPr lang="en"/>
              <a:t>		2% of people without the disease will test positive </a:t>
            </a:r>
            <a:endParaRPr/>
          </a:p>
          <a:p>
            <a:pPr indent="0" lvl="0" marL="0" rtl="0" algn="l">
              <a:lnSpc>
                <a:spcPct val="115000"/>
              </a:lnSpc>
              <a:spcBef>
                <a:spcPts val="1200"/>
              </a:spcBef>
              <a:spcAft>
                <a:spcPts val="0"/>
              </a:spcAft>
              <a:buSzPts val="1800"/>
              <a:buNone/>
            </a:pPr>
            <a:r>
              <a:rPr lang="en"/>
              <a:t>A person is randomly chosen from the city and tests positive. What is the probability that the person actually has Swine Flu?</a:t>
            </a:r>
            <a:endParaRPr/>
          </a:p>
          <a:p>
            <a:pPr indent="0" lvl="0" marL="0" rtl="0" algn="l">
              <a:lnSpc>
                <a:spcPct val="115000"/>
              </a:lnSpc>
              <a:spcBef>
                <a:spcPts val="1200"/>
              </a:spcBef>
              <a:spcAft>
                <a:spcPts val="0"/>
              </a:spcAft>
              <a:buSzPts val="1800"/>
              <a:buNone/>
            </a:pPr>
            <a:r>
              <a:rPr lang="en"/>
              <a:t>P(Swine Flu) = 0.01</a:t>
            </a:r>
            <a:endParaRPr/>
          </a:p>
          <a:p>
            <a:pPr indent="0" lvl="0" marL="0" rtl="0" algn="l">
              <a:lnSpc>
                <a:spcPct val="115000"/>
              </a:lnSpc>
              <a:spcBef>
                <a:spcPts val="1200"/>
              </a:spcBef>
              <a:spcAft>
                <a:spcPts val="0"/>
              </a:spcAft>
              <a:buSzPts val="1800"/>
              <a:buNone/>
            </a:pPr>
            <a:r>
              <a:rPr lang="en"/>
              <a:t>P(positive | Swine Flu) = 0.95 and P(positive | Swine Flu</a:t>
            </a:r>
            <a:r>
              <a:rPr baseline="30000" lang="en"/>
              <a:t>c</a:t>
            </a:r>
            <a:r>
              <a:rPr lang="en"/>
              <a:t>) = 0.02</a:t>
            </a:r>
            <a:endParaRPr/>
          </a:p>
          <a:p>
            <a:pPr indent="0" lvl="0" marL="0" rtl="0" algn="l">
              <a:lnSpc>
                <a:spcPct val="115000"/>
              </a:lnSpc>
              <a:spcBef>
                <a:spcPts val="1200"/>
              </a:spcBef>
              <a:spcAft>
                <a:spcPts val="1200"/>
              </a:spcAft>
              <a:buSzPts val="1800"/>
              <a:buNone/>
            </a:pPr>
            <a:r>
              <a:rPr lang="en"/>
              <a:t>What is P(Swine Flu | positive)?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Problem</a:t>
            </a:r>
            <a:endParaRPr/>
          </a:p>
        </p:txBody>
      </p:sp>
      <p:sp>
        <p:nvSpPr>
          <p:cNvPr id="208" name="Google Shape;208;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Two events: A and B</a:t>
            </a:r>
            <a:endParaRPr/>
          </a:p>
          <a:p>
            <a:pPr indent="0" lvl="0" marL="0" rtl="0" algn="l">
              <a:lnSpc>
                <a:spcPct val="115000"/>
              </a:lnSpc>
              <a:spcBef>
                <a:spcPts val="1200"/>
              </a:spcBef>
              <a:spcAft>
                <a:spcPts val="0"/>
              </a:spcAft>
              <a:buSzPts val="1800"/>
              <a:buNone/>
            </a:pPr>
            <a:r>
              <a:rPr lang="en"/>
              <a:t>P(A) and P(B) are known.</a:t>
            </a:r>
            <a:endParaRPr/>
          </a:p>
          <a:p>
            <a:pPr indent="0" lvl="0" marL="0" rtl="0" algn="l">
              <a:lnSpc>
                <a:spcPct val="115000"/>
              </a:lnSpc>
              <a:spcBef>
                <a:spcPts val="1200"/>
              </a:spcBef>
              <a:spcAft>
                <a:spcPts val="0"/>
              </a:spcAft>
              <a:buSzPts val="1800"/>
              <a:buNone/>
            </a:pPr>
            <a:r>
              <a:rPr lang="en"/>
              <a:t>P(A | B) and P(A | B</a:t>
            </a:r>
            <a:r>
              <a:rPr baseline="30000" lang="en"/>
              <a:t>c</a:t>
            </a:r>
            <a:r>
              <a:rPr lang="en"/>
              <a:t>) are either known or easy to find.</a:t>
            </a:r>
            <a:endParaRPr/>
          </a:p>
          <a:p>
            <a:pPr indent="0" lvl="0" marL="0" rtl="0" algn="l">
              <a:lnSpc>
                <a:spcPct val="115000"/>
              </a:lnSpc>
              <a:spcBef>
                <a:spcPts val="1200"/>
              </a:spcBef>
              <a:spcAft>
                <a:spcPts val="1200"/>
              </a:spcAft>
              <a:buSzPts val="1800"/>
              <a:buNone/>
            </a:pPr>
            <a:r>
              <a:rPr lang="en"/>
              <a:t>Question: Find P(B | A) and P(B</a:t>
            </a:r>
            <a:r>
              <a:rPr baseline="30000" lang="en"/>
              <a:t>c</a:t>
            </a:r>
            <a:r>
              <a:rPr lang="en"/>
              <a:t> | 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Bayes’ theorem</a:t>
            </a:r>
            <a:endParaRPr/>
          </a:p>
        </p:txBody>
      </p:sp>
      <p:sp>
        <p:nvSpPr>
          <p:cNvPr id="214" name="Google Shape;214;p13"/>
          <p:cNvSpPr txBox="1"/>
          <p:nvPr>
            <p:ph idx="1" type="body"/>
          </p:nvPr>
        </p:nvSpPr>
        <p:spPr>
          <a:xfrm>
            <a:off x="311700" y="3475350"/>
            <a:ext cx="5920800" cy="10932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1200"/>
              </a:spcAft>
              <a:buSzPct val="108108"/>
              <a:buNone/>
            </a:pPr>
            <a:r>
              <a:rPr lang="en"/>
              <a:t>Bayes’ theorem along with law of total probability can be used to solve the problems described in the previous slides.</a:t>
            </a:r>
            <a:endParaRPr/>
          </a:p>
        </p:txBody>
      </p:sp>
      <p:sp>
        <p:nvSpPr>
          <p:cNvPr id="215" name="Google Shape;215;p13"/>
          <p:cNvSpPr txBox="1"/>
          <p:nvPr/>
        </p:nvSpPr>
        <p:spPr>
          <a:xfrm>
            <a:off x="903350" y="1373675"/>
            <a:ext cx="5451600" cy="1633800"/>
          </a:xfrm>
          <a:prstGeom prst="rect">
            <a:avLst/>
          </a:prstGeom>
          <a:noFill/>
          <a:ln cap="flat" cmpd="sng" w="38100">
            <a:solidFill>
              <a:srgbClr val="FFFFFF"/>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A, B: events with P(A) &gt; 0, P(B) &gt; 0</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FFFF"/>
                </a:solidFill>
                <a:latin typeface="Arial"/>
                <a:ea typeface="Arial"/>
                <a:cs typeface="Arial"/>
                <a:sym typeface="Arial"/>
              </a:rPr>
              <a:t>P(</a:t>
            </a:r>
            <a:r>
              <a:rPr b="0" i="0" lang="en" sz="1800" u="none" cap="none" strike="noStrike">
                <a:solidFill>
                  <a:schemeClr val="dk1"/>
                </a:solidFill>
                <a:latin typeface="Arial"/>
                <a:ea typeface="Arial"/>
                <a:cs typeface="Arial"/>
                <a:sym typeface="Arial"/>
              </a:rPr>
              <a:t>A ⋂ B) = P(B) P(A | B) = P(A) P(B | A)</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Arial"/>
                <a:ea typeface="Arial"/>
                <a:cs typeface="Arial"/>
                <a:sym typeface="Arial"/>
              </a:rPr>
              <a:t>P(B | A) = P(B) P(A | B) / P(A)</a:t>
            </a:r>
            <a:endParaRPr b="0" i="0" sz="1800" u="none" cap="none" strike="noStrike">
              <a:solidFill>
                <a:schemeClr val="dk1"/>
              </a:solidFill>
              <a:latin typeface="Arial"/>
              <a:ea typeface="Arial"/>
              <a:cs typeface="Arial"/>
              <a:sym typeface="Arial"/>
            </a:endParaRPr>
          </a:p>
        </p:txBody>
      </p:sp>
      <p:sp>
        <p:nvSpPr>
          <p:cNvPr id="216" name="Google Shape;216;p13"/>
          <p:cNvSpPr/>
          <p:nvPr/>
        </p:nvSpPr>
        <p:spPr>
          <a:xfrm>
            <a:off x="6805325" y="2626575"/>
            <a:ext cx="857400" cy="1187400"/>
          </a:xfrm>
          <a:prstGeom prst="ellipse">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3"/>
          <p:cNvSpPr/>
          <p:nvPr/>
        </p:nvSpPr>
        <p:spPr>
          <a:xfrm rot="-4439641">
            <a:off x="7154771" y="3056946"/>
            <a:ext cx="857336" cy="1187496"/>
          </a:xfrm>
          <a:prstGeom prst="ellipse">
            <a:avLst/>
          </a:prstGeom>
          <a:noFill/>
          <a:ln cap="flat" cmpd="sng" w="9525">
            <a:solidFill>
              <a:srgbClr val="980000"/>
            </a:solidFill>
            <a:prstDash val="solid"/>
            <a:round/>
            <a:headEnd len="sm" w="sm" type="none"/>
            <a:tailEnd len="sm" w="sm" type="none"/>
          </a:ln>
          <a:effectLst>
            <a:outerShdw blurRad="57150" rotWithShape="0" algn="bl" dir="5400000" dist="19050">
              <a:srgbClr val="000000">
                <a:alpha val="49803"/>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13"/>
          <p:cNvSpPr txBox="1"/>
          <p:nvPr/>
        </p:nvSpPr>
        <p:spPr>
          <a:xfrm>
            <a:off x="7054400" y="2325375"/>
            <a:ext cx="3354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endParaRPr b="0" i="0" sz="1400" u="none" cap="none" strike="noStrike">
              <a:solidFill>
                <a:srgbClr val="FFFFFF"/>
              </a:solidFill>
              <a:latin typeface="Arial"/>
              <a:ea typeface="Arial"/>
              <a:cs typeface="Arial"/>
              <a:sym typeface="Arial"/>
            </a:endParaRPr>
          </a:p>
        </p:txBody>
      </p:sp>
      <p:sp>
        <p:nvSpPr>
          <p:cNvPr id="219" name="Google Shape;219;p13"/>
          <p:cNvSpPr txBox="1"/>
          <p:nvPr/>
        </p:nvSpPr>
        <p:spPr>
          <a:xfrm>
            <a:off x="8035100" y="3184650"/>
            <a:ext cx="3354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sp>
        <p:nvSpPr>
          <p:cNvPr id="220" name="Google Shape;220;p13"/>
          <p:cNvSpPr/>
          <p:nvPr/>
        </p:nvSpPr>
        <p:spPr>
          <a:xfrm>
            <a:off x="7008575" y="3207875"/>
            <a:ext cx="657225" cy="609600"/>
          </a:xfrm>
          <a:custGeom>
            <a:rect b="b" l="l" r="r" t="t"/>
            <a:pathLst>
              <a:path extrusionOk="0" h="24384" w="26289">
                <a:moveTo>
                  <a:pt x="1905" y="22098"/>
                </a:moveTo>
                <a:lnTo>
                  <a:pt x="4953" y="23622"/>
                </a:lnTo>
                <a:lnTo>
                  <a:pt x="8382" y="24384"/>
                </a:lnTo>
                <a:lnTo>
                  <a:pt x="12002" y="24384"/>
                </a:lnTo>
                <a:lnTo>
                  <a:pt x="15240" y="22860"/>
                </a:lnTo>
                <a:lnTo>
                  <a:pt x="17336" y="21145"/>
                </a:lnTo>
                <a:lnTo>
                  <a:pt x="19622" y="18859"/>
                </a:lnTo>
                <a:lnTo>
                  <a:pt x="21527" y="16192"/>
                </a:lnTo>
                <a:lnTo>
                  <a:pt x="23051" y="13144"/>
                </a:lnTo>
                <a:lnTo>
                  <a:pt x="24956" y="8572"/>
                </a:lnTo>
                <a:lnTo>
                  <a:pt x="25908" y="4762"/>
                </a:lnTo>
                <a:lnTo>
                  <a:pt x="26289" y="762"/>
                </a:lnTo>
                <a:lnTo>
                  <a:pt x="22670" y="190"/>
                </a:lnTo>
                <a:lnTo>
                  <a:pt x="17145" y="0"/>
                </a:lnTo>
                <a:lnTo>
                  <a:pt x="12764" y="571"/>
                </a:lnTo>
                <a:lnTo>
                  <a:pt x="9525" y="1524"/>
                </a:lnTo>
                <a:lnTo>
                  <a:pt x="5906" y="3429"/>
                </a:lnTo>
                <a:lnTo>
                  <a:pt x="3048" y="5905"/>
                </a:lnTo>
                <a:lnTo>
                  <a:pt x="1905" y="7810"/>
                </a:lnTo>
                <a:lnTo>
                  <a:pt x="191" y="11049"/>
                </a:lnTo>
                <a:lnTo>
                  <a:pt x="0" y="15621"/>
                </a:lnTo>
                <a:lnTo>
                  <a:pt x="572" y="19240"/>
                </a:lnTo>
                <a:close/>
              </a:path>
            </a:pathLst>
          </a:custGeom>
          <a:solidFill>
            <a:srgbClr val="ADADAD"/>
          </a:solidFill>
          <a:ln>
            <a:noFill/>
          </a:ln>
        </p:spPr>
      </p:sp>
      <p:sp>
        <p:nvSpPr>
          <p:cNvPr id="221" name="Google Shape;221;p13"/>
          <p:cNvSpPr txBox="1"/>
          <p:nvPr/>
        </p:nvSpPr>
        <p:spPr>
          <a:xfrm>
            <a:off x="6817250" y="2942240"/>
            <a:ext cx="657300" cy="341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 ⋂ B</a:t>
            </a:r>
            <a:endParaRPr b="0" i="0" sz="1400" u="none" cap="none" strike="noStrike">
              <a:solidFill>
                <a:srgbClr val="FFFFFF"/>
              </a:solidFill>
              <a:latin typeface="Arial"/>
              <a:ea typeface="Arial"/>
              <a:cs typeface="Arial"/>
              <a:sym typeface="Arial"/>
            </a:endParaRPr>
          </a:p>
        </p:txBody>
      </p:sp>
      <p:sp>
        <p:nvSpPr>
          <p:cNvPr id="222" name="Google Shape;222;p13"/>
          <p:cNvSpPr/>
          <p:nvPr/>
        </p:nvSpPr>
        <p:spPr>
          <a:xfrm>
            <a:off x="6551000" y="2132450"/>
            <a:ext cx="1819500" cy="2809500"/>
          </a:xfrm>
          <a:prstGeom prst="ellipse">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3"/>
          <p:cNvSpPr txBox="1"/>
          <p:nvPr/>
        </p:nvSpPr>
        <p:spPr>
          <a:xfrm>
            <a:off x="7797350" y="1991400"/>
            <a:ext cx="477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chemeClr val="dk1"/>
                </a:solidFill>
                <a:latin typeface="Arial"/>
                <a:ea typeface="Arial"/>
                <a:cs typeface="Arial"/>
                <a:sym typeface="Arial"/>
              </a:rPr>
              <a:t>S</a:t>
            </a:r>
            <a:endParaRPr b="0" i="1" sz="14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Two urns with coloured marbles</a:t>
            </a:r>
            <a:endParaRPr/>
          </a:p>
        </p:txBody>
      </p:sp>
      <p:sp>
        <p:nvSpPr>
          <p:cNvPr id="229" name="Google Shape;229;p14"/>
          <p:cNvSpPr txBox="1"/>
          <p:nvPr>
            <p:ph idx="1" type="body"/>
          </p:nvPr>
        </p:nvSpPr>
        <p:spPr>
          <a:xfrm>
            <a:off x="311700" y="2189550"/>
            <a:ext cx="8520600" cy="23793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lang="en"/>
              <a:t>Pick an urn at random and then pick a marble at random from the chosen urn.</a:t>
            </a:r>
            <a:endParaRPr/>
          </a:p>
          <a:p>
            <a:pPr indent="0" lvl="0" marL="0" rtl="0" algn="l">
              <a:lnSpc>
                <a:spcPct val="115000"/>
              </a:lnSpc>
              <a:spcBef>
                <a:spcPts val="1200"/>
              </a:spcBef>
              <a:spcAft>
                <a:spcPts val="0"/>
              </a:spcAft>
              <a:buSzPct val="108108"/>
              <a:buNone/>
            </a:pPr>
            <a:r>
              <a:rPr lang="en"/>
              <a:t>Event B: urn 1 is chosen, and Event A: red marble is picked</a:t>
            </a:r>
            <a:endParaRPr/>
          </a:p>
          <a:p>
            <a:pPr indent="0" lvl="0" marL="0" rtl="0" algn="l">
              <a:lnSpc>
                <a:spcPct val="115000"/>
              </a:lnSpc>
              <a:spcBef>
                <a:spcPts val="1200"/>
              </a:spcBef>
              <a:spcAft>
                <a:spcPts val="0"/>
              </a:spcAft>
              <a:buSzPct val="108108"/>
              <a:buNone/>
            </a:pPr>
            <a:r>
              <a:rPr lang="en"/>
              <a:t>P(B) = 1/2, P(B</a:t>
            </a:r>
            <a:r>
              <a:rPr baseline="30000" lang="en"/>
              <a:t>c</a:t>
            </a:r>
            <a:r>
              <a:rPr lang="en"/>
              <a:t>) = 1/2</a:t>
            </a:r>
            <a:endParaRPr/>
          </a:p>
          <a:p>
            <a:pPr indent="0" lvl="0" marL="0" rtl="0" algn="l">
              <a:lnSpc>
                <a:spcPct val="115000"/>
              </a:lnSpc>
              <a:spcBef>
                <a:spcPts val="1200"/>
              </a:spcBef>
              <a:spcAft>
                <a:spcPts val="0"/>
              </a:spcAft>
              <a:buSzPct val="108108"/>
              <a:buNone/>
            </a:pPr>
            <a:r>
              <a:rPr lang="en"/>
              <a:t>P(A | B) = 7/13, P(A | B</a:t>
            </a:r>
            <a:r>
              <a:rPr baseline="30000" lang="en"/>
              <a:t>c</a:t>
            </a:r>
            <a:r>
              <a:rPr lang="en"/>
              <a:t>) = 5/13. By law of total probability, P(A) = 6/13</a:t>
            </a:r>
            <a:endParaRPr/>
          </a:p>
          <a:p>
            <a:pPr indent="0" lvl="0" marL="0" rtl="0" algn="l">
              <a:lnSpc>
                <a:spcPct val="115000"/>
              </a:lnSpc>
              <a:spcBef>
                <a:spcPts val="1200"/>
              </a:spcBef>
              <a:spcAft>
                <a:spcPts val="1200"/>
              </a:spcAft>
              <a:buSzPct val="108108"/>
              <a:buNone/>
            </a:pPr>
            <a:r>
              <a:rPr lang="en"/>
              <a:t>P(urn 1 | red) = P(B | A) = P(B) P(A | B) / P(A) = (1/2)(7/13) / (6/13) = 7/12</a:t>
            </a:r>
            <a:endParaRPr/>
          </a:p>
        </p:txBody>
      </p:sp>
      <p:sp>
        <p:nvSpPr>
          <p:cNvPr id="230" name="Google Shape;230;p14"/>
          <p:cNvSpPr txBox="1"/>
          <p:nvPr/>
        </p:nvSpPr>
        <p:spPr>
          <a:xfrm>
            <a:off x="2360148" y="1719583"/>
            <a:ext cx="83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Urn 1</a:t>
            </a:r>
            <a:endParaRPr b="0" i="0" sz="1400" u="none" cap="none" strike="noStrike">
              <a:solidFill>
                <a:schemeClr val="dk1"/>
              </a:solidFill>
              <a:latin typeface="Arial"/>
              <a:ea typeface="Arial"/>
              <a:cs typeface="Arial"/>
              <a:sym typeface="Arial"/>
            </a:endParaRPr>
          </a:p>
        </p:txBody>
      </p:sp>
      <p:sp>
        <p:nvSpPr>
          <p:cNvPr id="231" name="Google Shape;231;p14"/>
          <p:cNvSpPr txBox="1"/>
          <p:nvPr/>
        </p:nvSpPr>
        <p:spPr>
          <a:xfrm>
            <a:off x="4444873" y="1719583"/>
            <a:ext cx="8355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Urn 2</a:t>
            </a:r>
            <a:endParaRPr b="0" i="0" sz="1400" u="none" cap="none" strike="noStrike">
              <a:solidFill>
                <a:schemeClr val="dk1"/>
              </a:solidFill>
              <a:latin typeface="Arial"/>
              <a:ea typeface="Arial"/>
              <a:cs typeface="Arial"/>
              <a:sym typeface="Arial"/>
            </a:endParaRPr>
          </a:p>
        </p:txBody>
      </p:sp>
      <p:sp>
        <p:nvSpPr>
          <p:cNvPr id="232" name="Google Shape;232;p14"/>
          <p:cNvSpPr/>
          <p:nvPr/>
        </p:nvSpPr>
        <p:spPr>
          <a:xfrm>
            <a:off x="2488200"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p14"/>
          <p:cNvSpPr/>
          <p:nvPr/>
        </p:nvSpPr>
        <p:spPr>
          <a:xfrm>
            <a:off x="2683925"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4"/>
          <p:cNvSpPr/>
          <p:nvPr/>
        </p:nvSpPr>
        <p:spPr>
          <a:xfrm>
            <a:off x="2897027" y="165962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14"/>
          <p:cNvSpPr/>
          <p:nvPr/>
        </p:nvSpPr>
        <p:spPr>
          <a:xfrm>
            <a:off x="2920824" y="1543640"/>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4"/>
          <p:cNvSpPr/>
          <p:nvPr/>
        </p:nvSpPr>
        <p:spPr>
          <a:xfrm>
            <a:off x="2813100" y="1555207"/>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4"/>
          <p:cNvSpPr/>
          <p:nvPr/>
        </p:nvSpPr>
        <p:spPr>
          <a:xfrm>
            <a:off x="2603284" y="1555207"/>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14"/>
          <p:cNvSpPr/>
          <p:nvPr/>
        </p:nvSpPr>
        <p:spPr>
          <a:xfrm>
            <a:off x="2399261" y="1573484"/>
            <a:ext cx="103500" cy="103500"/>
          </a:xfrm>
          <a:prstGeom prst="ellipse">
            <a:avLst/>
          </a:prstGeom>
          <a:solidFill>
            <a:srgbClr val="FF0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14"/>
          <p:cNvSpPr/>
          <p:nvPr/>
        </p:nvSpPr>
        <p:spPr>
          <a:xfrm>
            <a:off x="2580425" y="165962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4"/>
          <p:cNvSpPr/>
          <p:nvPr/>
        </p:nvSpPr>
        <p:spPr>
          <a:xfrm>
            <a:off x="2790456" y="165962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1" name="Google Shape;241;p14"/>
          <p:cNvSpPr/>
          <p:nvPr/>
        </p:nvSpPr>
        <p:spPr>
          <a:xfrm>
            <a:off x="3001237" y="164412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2" name="Google Shape;242;p14"/>
          <p:cNvSpPr/>
          <p:nvPr/>
        </p:nvSpPr>
        <p:spPr>
          <a:xfrm>
            <a:off x="2706141" y="154628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4"/>
          <p:cNvSpPr/>
          <p:nvPr/>
        </p:nvSpPr>
        <p:spPr>
          <a:xfrm>
            <a:off x="2494918" y="1557872"/>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14"/>
          <p:cNvSpPr/>
          <p:nvPr/>
        </p:nvSpPr>
        <p:spPr>
          <a:xfrm>
            <a:off x="3041782" y="1533175"/>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5" name="Google Shape;245;p14"/>
          <p:cNvSpPr/>
          <p:nvPr/>
        </p:nvSpPr>
        <p:spPr>
          <a:xfrm>
            <a:off x="4522431"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p14"/>
          <p:cNvSpPr/>
          <p:nvPr/>
        </p:nvSpPr>
        <p:spPr>
          <a:xfrm>
            <a:off x="4718156"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p14"/>
          <p:cNvSpPr/>
          <p:nvPr/>
        </p:nvSpPr>
        <p:spPr>
          <a:xfrm>
            <a:off x="4931258" y="1648041"/>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14"/>
          <p:cNvSpPr/>
          <p:nvPr/>
        </p:nvSpPr>
        <p:spPr>
          <a:xfrm>
            <a:off x="4955055" y="1532055"/>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9" name="Google Shape;249;p14"/>
          <p:cNvSpPr/>
          <p:nvPr/>
        </p:nvSpPr>
        <p:spPr>
          <a:xfrm>
            <a:off x="4847331" y="1543622"/>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0" name="Google Shape;250;p14"/>
          <p:cNvSpPr/>
          <p:nvPr/>
        </p:nvSpPr>
        <p:spPr>
          <a:xfrm>
            <a:off x="4637516" y="1543622"/>
            <a:ext cx="103500" cy="103500"/>
          </a:xfrm>
          <a:prstGeom prst="ellipse">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14"/>
          <p:cNvSpPr/>
          <p:nvPr/>
        </p:nvSpPr>
        <p:spPr>
          <a:xfrm>
            <a:off x="4433492" y="1561900"/>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2" name="Google Shape;252;p14"/>
          <p:cNvSpPr/>
          <p:nvPr/>
        </p:nvSpPr>
        <p:spPr>
          <a:xfrm>
            <a:off x="4614656" y="1648041"/>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14"/>
          <p:cNvSpPr/>
          <p:nvPr/>
        </p:nvSpPr>
        <p:spPr>
          <a:xfrm>
            <a:off x="4824687" y="1648041"/>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4"/>
          <p:cNvSpPr/>
          <p:nvPr/>
        </p:nvSpPr>
        <p:spPr>
          <a:xfrm>
            <a:off x="5023883" y="1603583"/>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5" name="Google Shape;255;p14"/>
          <p:cNvSpPr/>
          <p:nvPr/>
        </p:nvSpPr>
        <p:spPr>
          <a:xfrm>
            <a:off x="4740372" y="1534703"/>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14"/>
          <p:cNvSpPr/>
          <p:nvPr/>
        </p:nvSpPr>
        <p:spPr>
          <a:xfrm>
            <a:off x="4529149" y="1546288"/>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7" name="Google Shape;257;p14"/>
          <p:cNvSpPr/>
          <p:nvPr/>
        </p:nvSpPr>
        <p:spPr>
          <a:xfrm>
            <a:off x="5074133" y="1523119"/>
            <a:ext cx="103500" cy="103500"/>
          </a:xfrm>
          <a:prstGeom prst="ellipse">
            <a:avLst/>
          </a:prstGeom>
          <a:solidFill>
            <a:srgbClr val="00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58" name="Google Shape;258;p14"/>
          <p:cNvCxnSpPr/>
          <p:nvPr/>
        </p:nvCxnSpPr>
        <p:spPr>
          <a:xfrm>
            <a:off x="2488991" y="1795975"/>
            <a:ext cx="586800" cy="0"/>
          </a:xfrm>
          <a:prstGeom prst="straightConnector1">
            <a:avLst/>
          </a:prstGeom>
          <a:noFill/>
          <a:ln cap="flat" cmpd="sng" w="19050">
            <a:solidFill>
              <a:schemeClr val="dk1"/>
            </a:solidFill>
            <a:prstDash val="solid"/>
            <a:round/>
            <a:headEnd len="sm" w="sm" type="none"/>
            <a:tailEnd len="sm" w="sm" type="none"/>
          </a:ln>
        </p:spPr>
      </p:cxnSp>
      <p:sp>
        <p:nvSpPr>
          <p:cNvPr id="259" name="Google Shape;259;p14"/>
          <p:cNvSpPr/>
          <p:nvPr/>
        </p:nvSpPr>
        <p:spPr>
          <a:xfrm>
            <a:off x="2334498" y="1239925"/>
            <a:ext cx="156150" cy="561850"/>
          </a:xfrm>
          <a:custGeom>
            <a:rect b="b" l="l" r="r" t="t"/>
            <a:pathLst>
              <a:path extrusionOk="0" h="22474" w="6246">
                <a:moveTo>
                  <a:pt x="6246" y="22474"/>
                </a:moveTo>
                <a:cubicBezTo>
                  <a:pt x="5512" y="21779"/>
                  <a:pt x="2848" y="20002"/>
                  <a:pt x="1844" y="18303"/>
                </a:cubicBezTo>
                <a:cubicBezTo>
                  <a:pt x="840" y="16604"/>
                  <a:pt x="492" y="14364"/>
                  <a:pt x="222" y="12279"/>
                </a:cubicBezTo>
                <a:cubicBezTo>
                  <a:pt x="-48" y="10194"/>
                  <a:pt x="-87" y="7839"/>
                  <a:pt x="222" y="5792"/>
                </a:cubicBezTo>
                <a:cubicBezTo>
                  <a:pt x="531" y="3746"/>
                  <a:pt x="1767" y="965"/>
                  <a:pt x="2076"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4"/>
          <p:cNvSpPr/>
          <p:nvPr/>
        </p:nvSpPr>
        <p:spPr>
          <a:xfrm>
            <a:off x="3069600" y="1245725"/>
            <a:ext cx="132075" cy="551275"/>
          </a:xfrm>
          <a:custGeom>
            <a:rect b="b" l="l" r="r" t="t"/>
            <a:pathLst>
              <a:path extrusionOk="0" h="22051" w="5283">
                <a:moveTo>
                  <a:pt x="3950" y="0"/>
                </a:moveTo>
                <a:cubicBezTo>
                  <a:pt x="4143" y="502"/>
                  <a:pt x="4915" y="1352"/>
                  <a:pt x="5108" y="3012"/>
                </a:cubicBezTo>
                <a:cubicBezTo>
                  <a:pt x="5301" y="4672"/>
                  <a:pt x="5378" y="7452"/>
                  <a:pt x="5108" y="9962"/>
                </a:cubicBezTo>
                <a:cubicBezTo>
                  <a:pt x="4838" y="12472"/>
                  <a:pt x="4338" y="16056"/>
                  <a:pt x="3487" y="18071"/>
                </a:cubicBezTo>
                <a:cubicBezTo>
                  <a:pt x="2636" y="20086"/>
                  <a:pt x="581" y="21388"/>
                  <a:pt x="0" y="22051"/>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61" name="Google Shape;261;p14"/>
          <p:cNvCxnSpPr/>
          <p:nvPr/>
        </p:nvCxnSpPr>
        <p:spPr>
          <a:xfrm>
            <a:off x="4517429" y="1795975"/>
            <a:ext cx="586800" cy="0"/>
          </a:xfrm>
          <a:prstGeom prst="straightConnector1">
            <a:avLst/>
          </a:prstGeom>
          <a:noFill/>
          <a:ln cap="flat" cmpd="sng" w="19050">
            <a:solidFill>
              <a:schemeClr val="dk1"/>
            </a:solidFill>
            <a:prstDash val="solid"/>
            <a:round/>
            <a:headEnd len="sm" w="sm" type="none"/>
            <a:tailEnd len="sm" w="sm" type="none"/>
          </a:ln>
        </p:spPr>
      </p:cxnSp>
      <p:sp>
        <p:nvSpPr>
          <p:cNvPr id="262" name="Google Shape;262;p14"/>
          <p:cNvSpPr/>
          <p:nvPr/>
        </p:nvSpPr>
        <p:spPr>
          <a:xfrm>
            <a:off x="4362937" y="1239925"/>
            <a:ext cx="156150" cy="561850"/>
          </a:xfrm>
          <a:custGeom>
            <a:rect b="b" l="l" r="r" t="t"/>
            <a:pathLst>
              <a:path extrusionOk="0" h="22474" w="6246">
                <a:moveTo>
                  <a:pt x="6246" y="22474"/>
                </a:moveTo>
                <a:cubicBezTo>
                  <a:pt x="5512" y="21779"/>
                  <a:pt x="2848" y="20002"/>
                  <a:pt x="1844" y="18303"/>
                </a:cubicBezTo>
                <a:cubicBezTo>
                  <a:pt x="840" y="16604"/>
                  <a:pt x="492" y="14364"/>
                  <a:pt x="222" y="12279"/>
                </a:cubicBezTo>
                <a:cubicBezTo>
                  <a:pt x="-48" y="10194"/>
                  <a:pt x="-87" y="7839"/>
                  <a:pt x="222" y="5792"/>
                </a:cubicBezTo>
                <a:cubicBezTo>
                  <a:pt x="531" y="3746"/>
                  <a:pt x="1767" y="965"/>
                  <a:pt x="2076" y="0"/>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14"/>
          <p:cNvSpPr/>
          <p:nvPr/>
        </p:nvSpPr>
        <p:spPr>
          <a:xfrm>
            <a:off x="5098039" y="1245725"/>
            <a:ext cx="132075" cy="551275"/>
          </a:xfrm>
          <a:custGeom>
            <a:rect b="b" l="l" r="r" t="t"/>
            <a:pathLst>
              <a:path extrusionOk="0" h="22051" w="5283">
                <a:moveTo>
                  <a:pt x="3950" y="0"/>
                </a:moveTo>
                <a:cubicBezTo>
                  <a:pt x="4143" y="502"/>
                  <a:pt x="4915" y="1352"/>
                  <a:pt x="5108" y="3012"/>
                </a:cubicBezTo>
                <a:cubicBezTo>
                  <a:pt x="5301" y="4672"/>
                  <a:pt x="5378" y="7452"/>
                  <a:pt x="5108" y="9962"/>
                </a:cubicBezTo>
                <a:cubicBezTo>
                  <a:pt x="4838" y="12472"/>
                  <a:pt x="4338" y="16056"/>
                  <a:pt x="3487" y="18071"/>
                </a:cubicBezTo>
                <a:cubicBezTo>
                  <a:pt x="2636" y="20086"/>
                  <a:pt x="581" y="21388"/>
                  <a:pt x="0" y="22051"/>
                </a:cubicBezTo>
              </a:path>
            </a:pathLst>
          </a:cu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Flu test </a:t>
            </a:r>
            <a:endParaRPr/>
          </a:p>
        </p:txBody>
      </p:sp>
      <p:sp>
        <p:nvSpPr>
          <p:cNvPr id="269" name="Google Shape;269;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7647"/>
              <a:buNone/>
            </a:pPr>
            <a:r>
              <a:rPr lang="en"/>
              <a:t>1% of people in a city have Swine Flu.</a:t>
            </a:r>
            <a:endParaRPr/>
          </a:p>
          <a:p>
            <a:pPr indent="0" lvl="0" marL="0" rtl="0" algn="l">
              <a:lnSpc>
                <a:spcPct val="115000"/>
              </a:lnSpc>
              <a:spcBef>
                <a:spcPts val="1200"/>
              </a:spcBef>
              <a:spcAft>
                <a:spcPts val="0"/>
              </a:spcAft>
              <a:buSzPct val="117647"/>
              <a:buNone/>
            </a:pPr>
            <a:r>
              <a:rPr lang="en"/>
              <a:t>Flu test: 95% of people with Swine Flu test positive </a:t>
            </a:r>
            <a:br>
              <a:rPr lang="en"/>
            </a:br>
            <a:r>
              <a:rPr lang="en"/>
              <a:t>		2% of people without the disease will test positive </a:t>
            </a:r>
            <a:endParaRPr/>
          </a:p>
          <a:p>
            <a:pPr indent="0" lvl="0" marL="0" rtl="0" algn="l">
              <a:lnSpc>
                <a:spcPct val="115000"/>
              </a:lnSpc>
              <a:spcBef>
                <a:spcPts val="1200"/>
              </a:spcBef>
              <a:spcAft>
                <a:spcPts val="0"/>
              </a:spcAft>
              <a:buSzPct val="117647"/>
              <a:buNone/>
            </a:pPr>
            <a:r>
              <a:rPr lang="en"/>
              <a:t>A person is randomly chosen from the city and tests positive. What is the probability that the person actually has Swine Flu?</a:t>
            </a:r>
            <a:endParaRPr/>
          </a:p>
          <a:p>
            <a:pPr indent="0" lvl="0" marL="0" rtl="0" algn="l">
              <a:lnSpc>
                <a:spcPct val="115000"/>
              </a:lnSpc>
              <a:spcBef>
                <a:spcPts val="1200"/>
              </a:spcBef>
              <a:spcAft>
                <a:spcPts val="0"/>
              </a:spcAft>
              <a:buSzPct val="117647"/>
              <a:buNone/>
            </a:pPr>
            <a:r>
              <a:rPr lang="en"/>
              <a:t>B: Person has Swine Flu, A: Person tests positive </a:t>
            </a:r>
            <a:endParaRPr/>
          </a:p>
          <a:p>
            <a:pPr indent="0" lvl="0" marL="0" rtl="0" algn="l">
              <a:lnSpc>
                <a:spcPct val="115000"/>
              </a:lnSpc>
              <a:spcBef>
                <a:spcPts val="1200"/>
              </a:spcBef>
              <a:spcAft>
                <a:spcPts val="0"/>
              </a:spcAft>
              <a:buSzPct val="117647"/>
              <a:buNone/>
            </a:pPr>
            <a:r>
              <a:rPr lang="en"/>
              <a:t>P(B) = 0.01, P(B</a:t>
            </a:r>
            <a:r>
              <a:rPr baseline="30000" lang="en"/>
              <a:t>c</a:t>
            </a:r>
            <a:r>
              <a:rPr lang="en"/>
              <a:t>) = 0.99</a:t>
            </a:r>
            <a:endParaRPr/>
          </a:p>
          <a:p>
            <a:pPr indent="0" lvl="0" marL="0" rtl="0" algn="l">
              <a:lnSpc>
                <a:spcPct val="115000"/>
              </a:lnSpc>
              <a:spcBef>
                <a:spcPts val="1200"/>
              </a:spcBef>
              <a:spcAft>
                <a:spcPts val="0"/>
              </a:spcAft>
              <a:buSzPct val="117647"/>
              <a:buNone/>
            </a:pPr>
            <a:r>
              <a:rPr lang="en"/>
              <a:t>P(A | B) = 0.95 and P(A | B</a:t>
            </a:r>
            <a:r>
              <a:rPr baseline="30000" lang="en"/>
              <a:t>c</a:t>
            </a:r>
            <a:r>
              <a:rPr lang="en"/>
              <a:t>) = 0.02 =&gt; P(A) = 0.95 x 0.01 + 0.02 x 0.99 = 0.0293</a:t>
            </a:r>
            <a:endParaRPr/>
          </a:p>
          <a:p>
            <a:pPr indent="0" lvl="0" marL="0" rtl="0" algn="l">
              <a:lnSpc>
                <a:spcPct val="115000"/>
              </a:lnSpc>
              <a:spcBef>
                <a:spcPts val="1200"/>
              </a:spcBef>
              <a:spcAft>
                <a:spcPts val="1200"/>
              </a:spcAft>
              <a:buSzPct val="117647"/>
              <a:buNone/>
            </a:pPr>
            <a:r>
              <a:rPr lang="en"/>
              <a:t>Bayes’ theorem: P(B | A) = 0.01 x 0.95 / 0.0293 = 0.3242… = 32.42% (surprise!)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Multiple choice question (MCQ)</a:t>
            </a:r>
            <a:endParaRPr/>
          </a:p>
        </p:txBody>
      </p:sp>
      <p:sp>
        <p:nvSpPr>
          <p:cNvPr id="275" name="Google Shape;275;p16"/>
          <p:cNvSpPr txBox="1"/>
          <p:nvPr>
            <p:ph idx="1" type="body"/>
          </p:nvPr>
        </p:nvSpPr>
        <p:spPr>
          <a:xfrm>
            <a:off x="311700" y="1152475"/>
            <a:ext cx="8520600" cy="14481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1200"/>
              </a:spcAft>
              <a:buSzPct val="108108"/>
              <a:buNone/>
            </a:pPr>
            <a:r>
              <a:rPr lang="en"/>
              <a:t>A student attempting an MCQ with 4 choices (of which one is correct) knows the correct answer with probability 3/4. If she does not know, she guesses a random choice. Given that a question was answered correctly, what is the conditional probability that she knew the answer?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Roll a die and toss coins</a:t>
            </a:r>
            <a:endParaRPr/>
          </a:p>
        </p:txBody>
      </p:sp>
      <p:sp>
        <p:nvSpPr>
          <p:cNvPr id="281" name="Google Shape;281;p17"/>
          <p:cNvSpPr txBox="1"/>
          <p:nvPr>
            <p:ph idx="1" type="body"/>
          </p:nvPr>
        </p:nvSpPr>
        <p:spPr>
          <a:xfrm>
            <a:off x="311700" y="1152475"/>
            <a:ext cx="8520600" cy="11529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1200"/>
              </a:spcAft>
              <a:buSzPct val="108108"/>
              <a:buNone/>
            </a:pPr>
            <a:r>
              <a:rPr lang="en"/>
              <a:t>You first roll a fair die, then toss as many fair coins as the number that showed on the die. Given that 5 heads are obtained, what is the probability that the die showed 5?</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Independence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Independence of two events</a:t>
            </a:r>
            <a:endParaRPr/>
          </a:p>
        </p:txBody>
      </p:sp>
      <p:sp>
        <p:nvSpPr>
          <p:cNvPr id="292" name="Google Shape;292;p19"/>
          <p:cNvSpPr txBox="1"/>
          <p:nvPr>
            <p:ph idx="1" type="body"/>
          </p:nvPr>
        </p:nvSpPr>
        <p:spPr>
          <a:xfrm>
            <a:off x="311700" y="2114550"/>
            <a:ext cx="8520600" cy="29379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Motivation</a:t>
            </a:r>
            <a:endParaRPr/>
          </a:p>
          <a:p>
            <a:pPr indent="-317500" lvl="1" marL="914400" rtl="0" algn="l">
              <a:lnSpc>
                <a:spcPct val="115000"/>
              </a:lnSpc>
              <a:spcBef>
                <a:spcPts val="0"/>
              </a:spcBef>
              <a:spcAft>
                <a:spcPts val="0"/>
              </a:spcAft>
              <a:buSzPts val="1400"/>
              <a:buChar char="○"/>
            </a:pPr>
            <a:r>
              <a:rPr lang="en"/>
              <a:t>If P(B) &gt; 0, P(A | B) = P(A)</a:t>
            </a:r>
            <a:endParaRPr/>
          </a:p>
          <a:p>
            <a:pPr indent="-317500" lvl="1" marL="914400" rtl="0" algn="l">
              <a:lnSpc>
                <a:spcPct val="115000"/>
              </a:lnSpc>
              <a:spcBef>
                <a:spcPts val="0"/>
              </a:spcBef>
              <a:spcAft>
                <a:spcPts val="0"/>
              </a:spcAft>
              <a:buSzPts val="1400"/>
              <a:buChar char="○"/>
            </a:pPr>
            <a:r>
              <a:rPr lang="en"/>
              <a:t>Probability of A in original space is equal to the conditional probability of A given B in the conditional space</a:t>
            </a:r>
            <a:endParaRPr/>
          </a:p>
          <a:p>
            <a:pPr indent="-317500" lvl="1" marL="914400" rtl="0" algn="l">
              <a:lnSpc>
                <a:spcPct val="115000"/>
              </a:lnSpc>
              <a:spcBef>
                <a:spcPts val="0"/>
              </a:spcBef>
              <a:spcAft>
                <a:spcPts val="0"/>
              </a:spcAft>
              <a:buSzPts val="1400"/>
              <a:buChar char="○"/>
            </a:pPr>
            <a:r>
              <a:rPr lang="en"/>
              <a:t>Probability of A is unaffected by occurrence of B, i.e. A and B are independent</a:t>
            </a:r>
            <a:endParaRPr/>
          </a:p>
          <a:p>
            <a:pPr indent="-342900" lvl="0" marL="457200" rtl="0" algn="l">
              <a:lnSpc>
                <a:spcPct val="115000"/>
              </a:lnSpc>
              <a:spcBef>
                <a:spcPts val="0"/>
              </a:spcBef>
              <a:spcAft>
                <a:spcPts val="0"/>
              </a:spcAft>
              <a:buSzPts val="1800"/>
              <a:buChar char="●"/>
            </a:pPr>
            <a:r>
              <a:rPr lang="en"/>
              <a:t>Rules for multiplication and addition</a:t>
            </a:r>
            <a:endParaRPr/>
          </a:p>
          <a:p>
            <a:pPr indent="-317500" lvl="1" marL="914400" rtl="0" algn="l">
              <a:lnSpc>
                <a:spcPct val="115000"/>
              </a:lnSpc>
              <a:spcBef>
                <a:spcPts val="0"/>
              </a:spcBef>
              <a:spcAft>
                <a:spcPts val="0"/>
              </a:spcAft>
              <a:buSzPts val="1400"/>
              <a:buChar char="○"/>
            </a:pPr>
            <a:r>
              <a:rPr lang="en"/>
              <a:t>When Event 1 and Event 2 are independent, P(Event 1 and Event 2) = P(Event 1) P(Event 2)</a:t>
            </a:r>
            <a:endParaRPr/>
          </a:p>
          <a:p>
            <a:pPr indent="-317500" lvl="2" marL="1371600" rtl="0" algn="l">
              <a:lnSpc>
                <a:spcPct val="115000"/>
              </a:lnSpc>
              <a:spcBef>
                <a:spcPts val="0"/>
              </a:spcBef>
              <a:spcAft>
                <a:spcPts val="0"/>
              </a:spcAft>
              <a:buSzPts val="1400"/>
              <a:buChar char="■"/>
            </a:pPr>
            <a:r>
              <a:rPr lang="en"/>
              <a:t>Multiply probabilities to find the probability of “and” of independent events</a:t>
            </a:r>
            <a:endParaRPr/>
          </a:p>
          <a:p>
            <a:pPr indent="-317500" lvl="1" marL="914400" rtl="0" algn="l">
              <a:lnSpc>
                <a:spcPct val="115000"/>
              </a:lnSpc>
              <a:spcBef>
                <a:spcPts val="0"/>
              </a:spcBef>
              <a:spcAft>
                <a:spcPts val="0"/>
              </a:spcAft>
              <a:buSzPts val="1400"/>
              <a:buChar char="○"/>
            </a:pPr>
            <a:r>
              <a:rPr lang="en"/>
              <a:t>Contrast with disjoint or mutually exclusive events A and B: P(A ∪ B) = P(A) + P(B)</a:t>
            </a:r>
            <a:endParaRPr/>
          </a:p>
          <a:p>
            <a:pPr indent="-317500" lvl="2" marL="1371600" rtl="0" algn="l">
              <a:lnSpc>
                <a:spcPct val="115000"/>
              </a:lnSpc>
              <a:spcBef>
                <a:spcPts val="0"/>
              </a:spcBef>
              <a:spcAft>
                <a:spcPts val="0"/>
              </a:spcAft>
              <a:buSzPts val="1400"/>
              <a:buChar char="■"/>
            </a:pPr>
            <a:r>
              <a:rPr lang="en"/>
              <a:t>Add probabilities to find probability of “or” of disjoint events</a:t>
            </a:r>
            <a:endParaRPr/>
          </a:p>
        </p:txBody>
      </p:sp>
      <p:sp>
        <p:nvSpPr>
          <p:cNvPr id="293" name="Google Shape;293;p19"/>
          <p:cNvSpPr txBox="1"/>
          <p:nvPr/>
        </p:nvSpPr>
        <p:spPr>
          <a:xfrm>
            <a:off x="323275" y="1020625"/>
            <a:ext cx="8508900" cy="11109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980000"/>
                </a:solidFill>
                <a:latin typeface="Arial"/>
                <a:ea typeface="Arial"/>
                <a:cs typeface="Arial"/>
                <a:sym typeface="Arial"/>
              </a:rPr>
              <a:t>DEFINITION</a:t>
            </a:r>
            <a:r>
              <a:rPr b="0" i="0" lang="en" sz="1800" u="none" cap="none" strike="noStrike">
                <a:solidFill>
                  <a:srgbClr val="000000"/>
                </a:solidFill>
                <a:latin typeface="Arial"/>
                <a:ea typeface="Arial"/>
                <a:cs typeface="Arial"/>
                <a:sym typeface="Arial"/>
              </a:rPr>
              <a:t> (</a:t>
            </a:r>
            <a:r>
              <a:rPr b="1" i="0" lang="en" sz="1800" u="none" cap="none" strike="noStrike">
                <a:solidFill>
                  <a:srgbClr val="000000"/>
                </a:solidFill>
                <a:latin typeface="Arial"/>
                <a:ea typeface="Arial"/>
                <a:cs typeface="Arial"/>
                <a:sym typeface="Arial"/>
              </a:rPr>
              <a:t>Independence</a:t>
            </a:r>
            <a:r>
              <a:rPr b="0" i="0" lang="en" sz="1800" u="none" cap="none" strike="noStrike">
                <a:solidFill>
                  <a:srgbClr val="000000"/>
                </a:solidFill>
                <a:latin typeface="Arial"/>
                <a:ea typeface="Arial"/>
                <a:cs typeface="Arial"/>
                <a:sym typeface="Arial"/>
              </a:rPr>
              <a:t>) Two events A and B are independent if</a:t>
            </a:r>
            <a:endParaRPr b="0" i="0" sz="18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P(A ⋂ B) = P(A) P(B)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Toss a coin thrice</a:t>
            </a:r>
            <a:endParaRPr/>
          </a:p>
        </p:txBody>
      </p:sp>
      <p:sp>
        <p:nvSpPr>
          <p:cNvPr id="299" name="Google Shape;299;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Uniform{ HHH, HHT, HTH, HTT, THH, THT, TTH, TTT }</a:t>
            </a:r>
            <a:endParaRPr/>
          </a:p>
          <a:p>
            <a:pPr indent="0" lvl="0" marL="0" rtl="0" algn="l">
              <a:lnSpc>
                <a:spcPct val="115000"/>
              </a:lnSpc>
              <a:spcBef>
                <a:spcPts val="1200"/>
              </a:spcBef>
              <a:spcAft>
                <a:spcPts val="0"/>
              </a:spcAft>
              <a:buSzPts val="1800"/>
              <a:buNone/>
            </a:pPr>
            <a:r>
              <a:rPr lang="en"/>
              <a:t>A: First toss is heads, B: Second toss is heads</a:t>
            </a:r>
            <a:endParaRPr/>
          </a:p>
          <a:p>
            <a:pPr indent="0" lvl="0" marL="0" rtl="0" algn="l">
              <a:lnSpc>
                <a:spcPct val="115000"/>
              </a:lnSpc>
              <a:spcBef>
                <a:spcPts val="1200"/>
              </a:spcBef>
              <a:spcAft>
                <a:spcPts val="0"/>
              </a:spcAft>
              <a:buSzPts val="1800"/>
              <a:buNone/>
            </a:pPr>
            <a:r>
              <a:rPr lang="en"/>
              <a:t>A = { HHH, HHT, HTH, HTT }, B = { HHH, HHT, THH, THT }</a:t>
            </a:r>
            <a:endParaRPr/>
          </a:p>
          <a:p>
            <a:pPr indent="0" lvl="0" marL="0" rtl="0" algn="l">
              <a:lnSpc>
                <a:spcPct val="115000"/>
              </a:lnSpc>
              <a:spcBef>
                <a:spcPts val="1200"/>
              </a:spcBef>
              <a:spcAft>
                <a:spcPts val="0"/>
              </a:spcAft>
              <a:buSzPts val="1800"/>
              <a:buNone/>
            </a:pPr>
            <a:r>
              <a:rPr lang="en"/>
              <a:t>A ⋂ B = { HHH, HHT }</a:t>
            </a:r>
            <a:endParaRPr/>
          </a:p>
          <a:p>
            <a:pPr indent="0" lvl="0" marL="0" rtl="0" algn="l">
              <a:lnSpc>
                <a:spcPct val="115000"/>
              </a:lnSpc>
              <a:spcBef>
                <a:spcPts val="1200"/>
              </a:spcBef>
              <a:spcAft>
                <a:spcPts val="0"/>
              </a:spcAft>
              <a:buSzPts val="1800"/>
              <a:buNone/>
            </a:pPr>
            <a:r>
              <a:rPr lang="en"/>
              <a:t>P(A ⋂ B) = 1/4 = 1/2 x 1/2 = P(A) P(B)</a:t>
            </a:r>
            <a:endParaRPr/>
          </a:p>
          <a:p>
            <a:pPr indent="0" lvl="0" marL="0" rtl="0" algn="l">
              <a:lnSpc>
                <a:spcPct val="115000"/>
              </a:lnSpc>
              <a:spcBef>
                <a:spcPts val="1200"/>
              </a:spcBef>
              <a:spcAft>
                <a:spcPts val="0"/>
              </a:spcAft>
              <a:buSzPts val="1800"/>
              <a:buNone/>
            </a:pPr>
            <a:r>
              <a:rPr lang="en"/>
              <a:t>A and B are independent</a:t>
            </a:r>
            <a:endParaRPr/>
          </a:p>
          <a:p>
            <a:pPr indent="0" lvl="0" marL="0" rtl="0" algn="l">
              <a:lnSpc>
                <a:spcPct val="115000"/>
              </a:lnSpc>
              <a:spcBef>
                <a:spcPts val="1200"/>
              </a:spcBef>
              <a:spcAft>
                <a:spcPts val="1200"/>
              </a:spcAft>
              <a:buSzPts val="1800"/>
              <a:buNone/>
            </a:pPr>
            <a:r>
              <a:rPr lang="en"/>
              <a:t>What about A and B</a:t>
            </a:r>
            <a:r>
              <a:rPr baseline="30000" lang="en"/>
              <a:t>c</a:t>
            </a:r>
            <a:r>
              <a:rPr lang="en"/>
              <a:t>? What about 1st toss if heads and 3rd toss is heads?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Throw a die</a:t>
            </a:r>
            <a:endParaRPr/>
          </a:p>
        </p:txBody>
      </p:sp>
      <p:sp>
        <p:nvSpPr>
          <p:cNvPr id="305" name="Google Shape;305;p21"/>
          <p:cNvSpPr txBox="1"/>
          <p:nvPr>
            <p:ph idx="1" type="body"/>
          </p:nvPr>
        </p:nvSpPr>
        <p:spPr>
          <a:xfrm>
            <a:off x="311700" y="1152475"/>
            <a:ext cx="8520600" cy="37749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A: even, B: odd</a:t>
            </a:r>
            <a:endParaRPr/>
          </a:p>
          <a:p>
            <a:pPr indent="0" lvl="0" marL="0" rtl="0" algn="l">
              <a:lnSpc>
                <a:spcPct val="115000"/>
              </a:lnSpc>
              <a:spcBef>
                <a:spcPts val="1200"/>
              </a:spcBef>
              <a:spcAft>
                <a:spcPts val="0"/>
              </a:spcAft>
              <a:buSzPts val="1800"/>
              <a:buNone/>
            </a:pPr>
            <a:r>
              <a:rPr lang="en"/>
              <a:t>A = { 2, 4, 6}, B = { 1, 3, 5 }</a:t>
            </a:r>
            <a:endParaRPr/>
          </a:p>
          <a:p>
            <a:pPr indent="0" lvl="0" marL="0" rtl="0" algn="l">
              <a:lnSpc>
                <a:spcPct val="115000"/>
              </a:lnSpc>
              <a:spcBef>
                <a:spcPts val="1200"/>
              </a:spcBef>
              <a:spcAft>
                <a:spcPts val="0"/>
              </a:spcAft>
              <a:buSzPts val="1800"/>
              <a:buNone/>
            </a:pPr>
            <a:r>
              <a:rPr lang="en"/>
              <a:t>A ⋂ B = Φ</a:t>
            </a:r>
            <a:endParaRPr/>
          </a:p>
          <a:p>
            <a:pPr indent="0" lvl="0" marL="0" rtl="0" algn="l">
              <a:lnSpc>
                <a:spcPct val="115000"/>
              </a:lnSpc>
              <a:spcBef>
                <a:spcPts val="1200"/>
              </a:spcBef>
              <a:spcAft>
                <a:spcPts val="0"/>
              </a:spcAft>
              <a:buSzPts val="1800"/>
              <a:buNone/>
            </a:pPr>
            <a:r>
              <a:rPr lang="en"/>
              <a:t>P(A ⋂ B) = 0 ≠ P(A) P(B)</a:t>
            </a:r>
            <a:endParaRPr/>
          </a:p>
          <a:p>
            <a:pPr indent="0" lvl="0" marL="0" rtl="0" algn="l">
              <a:lnSpc>
                <a:spcPct val="115000"/>
              </a:lnSpc>
              <a:spcBef>
                <a:spcPts val="1200"/>
              </a:spcBef>
              <a:spcAft>
                <a:spcPts val="0"/>
              </a:spcAft>
              <a:buSzPts val="1800"/>
              <a:buNone/>
            </a:pPr>
            <a:r>
              <a:rPr lang="en"/>
              <a:t>Point to remember:</a:t>
            </a:r>
            <a:endParaRPr/>
          </a:p>
          <a:p>
            <a:pPr indent="-342900" lvl="0" marL="457200" rtl="0" algn="l">
              <a:lnSpc>
                <a:spcPct val="115000"/>
              </a:lnSpc>
              <a:spcBef>
                <a:spcPts val="1200"/>
              </a:spcBef>
              <a:spcAft>
                <a:spcPts val="0"/>
              </a:spcAft>
              <a:buSzPts val="1800"/>
              <a:buChar char="-"/>
            </a:pPr>
            <a:r>
              <a:rPr lang="en"/>
              <a:t>Disjoint events are never independent</a:t>
            </a:r>
            <a:endParaRPr/>
          </a:p>
          <a:p>
            <a:pPr indent="-342900" lvl="0" marL="457200" rtl="0" algn="l">
              <a:lnSpc>
                <a:spcPct val="115000"/>
              </a:lnSpc>
              <a:spcBef>
                <a:spcPts val="0"/>
              </a:spcBef>
              <a:spcAft>
                <a:spcPts val="0"/>
              </a:spcAft>
              <a:buSzPts val="1800"/>
              <a:buChar char="-"/>
            </a:pPr>
            <a:r>
              <a:rPr lang="en"/>
              <a:t>Why? If A and B are disjoint and B occurs, A definitely did not occur</a:t>
            </a:r>
            <a:endParaRPr/>
          </a:p>
          <a:p>
            <a:pPr indent="-317500" lvl="1" marL="914400" rtl="0" algn="l">
              <a:lnSpc>
                <a:spcPct val="115000"/>
              </a:lnSpc>
              <a:spcBef>
                <a:spcPts val="0"/>
              </a:spcBef>
              <a:spcAft>
                <a:spcPts val="0"/>
              </a:spcAft>
              <a:buSzPts val="1400"/>
              <a:buChar char="-"/>
            </a:pPr>
            <a:r>
              <a:rPr lang="en"/>
              <a:t>Occurrence of B definitely impacts conditional probability of A!</a:t>
            </a:r>
            <a:endParaRPr/>
          </a:p>
          <a:p>
            <a:pPr indent="-342900" lvl="0" marL="457200" rtl="0" algn="l">
              <a:lnSpc>
                <a:spcPct val="115000"/>
              </a:lnSpc>
              <a:spcBef>
                <a:spcPts val="0"/>
              </a:spcBef>
              <a:spcAft>
                <a:spcPts val="0"/>
              </a:spcAft>
              <a:buSzPts val="1800"/>
              <a:buChar char="-"/>
            </a:pPr>
            <a:r>
              <a:rPr lang="en"/>
              <a:t>For events to be independent, they should have a non-empty intersection</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Throw a die</a:t>
            </a:r>
            <a:endParaRPr/>
          </a:p>
        </p:txBody>
      </p:sp>
      <p:sp>
        <p:nvSpPr>
          <p:cNvPr id="311" name="Google Shape;311;p2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en"/>
              <a:t>A: even number, B: multiple of 3</a:t>
            </a:r>
            <a:endParaRPr/>
          </a:p>
          <a:p>
            <a:pPr indent="0" lvl="0" marL="0" rtl="0" algn="l">
              <a:lnSpc>
                <a:spcPct val="115000"/>
              </a:lnSpc>
              <a:spcBef>
                <a:spcPts val="1200"/>
              </a:spcBef>
              <a:spcAft>
                <a:spcPts val="0"/>
              </a:spcAft>
              <a:buSzPct val="108108"/>
              <a:buNone/>
            </a:pPr>
            <a:r>
              <a:rPr lang="en"/>
              <a:t>A = { 2, 4, 6}, B = { 3, 6 }</a:t>
            </a:r>
            <a:endParaRPr/>
          </a:p>
          <a:p>
            <a:pPr indent="0" lvl="0" marL="0" rtl="0" algn="l">
              <a:lnSpc>
                <a:spcPct val="115000"/>
              </a:lnSpc>
              <a:spcBef>
                <a:spcPts val="1200"/>
              </a:spcBef>
              <a:spcAft>
                <a:spcPts val="0"/>
              </a:spcAft>
              <a:buSzPct val="108108"/>
              <a:buNone/>
            </a:pPr>
            <a:r>
              <a:rPr lang="en"/>
              <a:t>A ⋂ B = { 6 }</a:t>
            </a:r>
            <a:endParaRPr/>
          </a:p>
          <a:p>
            <a:pPr indent="0" lvl="0" marL="0" rtl="0" algn="l">
              <a:lnSpc>
                <a:spcPct val="115000"/>
              </a:lnSpc>
              <a:spcBef>
                <a:spcPts val="1200"/>
              </a:spcBef>
              <a:spcAft>
                <a:spcPts val="0"/>
              </a:spcAft>
              <a:buSzPct val="108108"/>
              <a:buNone/>
            </a:pPr>
            <a:r>
              <a:rPr lang="en"/>
              <a:t>P(A ⋂ B) = 1/6 = 1/2 x 1/3 = P(A) P(B)</a:t>
            </a:r>
            <a:endParaRPr/>
          </a:p>
          <a:p>
            <a:pPr indent="0" lvl="0" marL="0" rtl="0" algn="l">
              <a:lnSpc>
                <a:spcPct val="115000"/>
              </a:lnSpc>
              <a:spcBef>
                <a:spcPts val="1200"/>
              </a:spcBef>
              <a:spcAft>
                <a:spcPts val="0"/>
              </a:spcAft>
              <a:buSzPct val="108108"/>
              <a:buNone/>
            </a:pPr>
            <a:r>
              <a:rPr lang="en"/>
              <a:t>A and B are independent</a:t>
            </a:r>
            <a:endParaRPr/>
          </a:p>
          <a:p>
            <a:pPr indent="0" lvl="0" marL="0" rtl="0" algn="l">
              <a:lnSpc>
                <a:spcPct val="115000"/>
              </a:lnSpc>
              <a:spcBef>
                <a:spcPts val="1200"/>
              </a:spcBef>
              <a:spcAft>
                <a:spcPts val="0"/>
              </a:spcAft>
              <a:buSzPct val="108108"/>
              <a:buNone/>
            </a:pPr>
            <a:r>
              <a:rPr lang="en"/>
              <a:t>Typical points of confusion:</a:t>
            </a:r>
            <a:endParaRPr/>
          </a:p>
          <a:p>
            <a:pPr indent="-334327" lvl="0" marL="457200" rtl="0" algn="l">
              <a:lnSpc>
                <a:spcPct val="115000"/>
              </a:lnSpc>
              <a:spcBef>
                <a:spcPts val="1200"/>
              </a:spcBef>
              <a:spcAft>
                <a:spcPts val="0"/>
              </a:spcAft>
              <a:buSzPct val="100000"/>
              <a:buChar char="-"/>
            </a:pPr>
            <a:r>
              <a:rPr lang="en"/>
              <a:t>A and B have an intersection. How can they be independent?</a:t>
            </a:r>
            <a:endParaRPr/>
          </a:p>
          <a:p>
            <a:pPr indent="-334327" lvl="0" marL="457200" rtl="0" algn="l">
              <a:lnSpc>
                <a:spcPct val="115000"/>
              </a:lnSpc>
              <a:spcBef>
                <a:spcPts val="0"/>
              </a:spcBef>
              <a:spcAft>
                <a:spcPts val="0"/>
              </a:spcAft>
              <a:buSzPct val="100000"/>
              <a:buChar char="-"/>
            </a:pPr>
            <a:r>
              <a:rPr lang="en"/>
              <a:t>There is only one throw of the die. How can two events be independent when there is only one throw?</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Card from a pack</a:t>
            </a:r>
            <a:endParaRPr/>
          </a:p>
        </p:txBody>
      </p:sp>
      <p:sp>
        <p:nvSpPr>
          <p:cNvPr id="317" name="Google Shape;317;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a:bodyPr>
          <a:lstStyle/>
          <a:p>
            <a:pPr indent="0" lvl="0" marL="0" rtl="0" algn="l">
              <a:lnSpc>
                <a:spcPct val="115000"/>
              </a:lnSpc>
              <a:spcBef>
                <a:spcPts val="0"/>
              </a:spcBef>
              <a:spcAft>
                <a:spcPts val="0"/>
              </a:spcAft>
              <a:buSzPct val="108108"/>
              <a:buNone/>
            </a:pPr>
            <a:r>
              <a:rPr lang="en"/>
              <a:t>A: Card is an spade, B: Card is a king</a:t>
            </a:r>
            <a:endParaRPr/>
          </a:p>
          <a:p>
            <a:pPr indent="0" lvl="0" marL="0" rtl="0" algn="l">
              <a:lnSpc>
                <a:spcPct val="115000"/>
              </a:lnSpc>
              <a:spcBef>
                <a:spcPts val="1200"/>
              </a:spcBef>
              <a:spcAft>
                <a:spcPts val="0"/>
              </a:spcAft>
              <a:buSzPct val="108108"/>
              <a:buNone/>
            </a:pPr>
            <a:r>
              <a:rPr lang="en"/>
              <a:t>A ⋂ B: Card is spade-king</a:t>
            </a:r>
            <a:endParaRPr/>
          </a:p>
          <a:p>
            <a:pPr indent="0" lvl="0" marL="0" rtl="0" algn="l">
              <a:lnSpc>
                <a:spcPct val="115000"/>
              </a:lnSpc>
              <a:spcBef>
                <a:spcPts val="1200"/>
              </a:spcBef>
              <a:spcAft>
                <a:spcPts val="0"/>
              </a:spcAft>
              <a:buSzPct val="108108"/>
              <a:buNone/>
            </a:pPr>
            <a:r>
              <a:rPr lang="en"/>
              <a:t>P(A ⋂ B) = 1/52 = 1/4 x 1/13 = P(A) P(B)</a:t>
            </a:r>
            <a:endParaRPr/>
          </a:p>
          <a:p>
            <a:pPr indent="0" lvl="0" marL="0" rtl="0" algn="l">
              <a:lnSpc>
                <a:spcPct val="115000"/>
              </a:lnSpc>
              <a:spcBef>
                <a:spcPts val="1200"/>
              </a:spcBef>
              <a:spcAft>
                <a:spcPts val="0"/>
              </a:spcAft>
              <a:buSzPct val="108108"/>
              <a:buNone/>
            </a:pPr>
            <a:r>
              <a:rPr lang="en"/>
              <a:t>A and B are independent</a:t>
            </a:r>
            <a:endParaRPr/>
          </a:p>
          <a:p>
            <a:pPr indent="0" lvl="0" marL="0" rtl="0" algn="l">
              <a:lnSpc>
                <a:spcPct val="115000"/>
              </a:lnSpc>
              <a:spcBef>
                <a:spcPts val="1200"/>
              </a:spcBef>
              <a:spcAft>
                <a:spcPts val="0"/>
              </a:spcAft>
              <a:buSzPct val="108108"/>
              <a:buNone/>
            </a:pPr>
            <a:r>
              <a:rPr lang="en"/>
              <a:t>Typical points of confusion:</a:t>
            </a:r>
            <a:endParaRPr/>
          </a:p>
          <a:p>
            <a:pPr indent="-342900" lvl="0" marL="457200" rtl="0" algn="l">
              <a:lnSpc>
                <a:spcPct val="115000"/>
              </a:lnSpc>
              <a:spcBef>
                <a:spcPts val="1200"/>
              </a:spcBef>
              <a:spcAft>
                <a:spcPts val="0"/>
              </a:spcAft>
              <a:buSzPct val="108108"/>
              <a:buChar char="-"/>
            </a:pPr>
            <a:r>
              <a:rPr lang="en"/>
              <a:t>Isn’t there a spade-king card? How can card being a spade be independent of card being a king when there is a spade king card?</a:t>
            </a:r>
            <a:endParaRPr/>
          </a:p>
          <a:p>
            <a:pPr indent="-342900" lvl="0" marL="457200" rtl="0" algn="l">
              <a:lnSpc>
                <a:spcPct val="115000"/>
              </a:lnSpc>
              <a:spcBef>
                <a:spcPts val="0"/>
              </a:spcBef>
              <a:spcAft>
                <a:spcPts val="0"/>
              </a:spcAft>
              <a:buSzPct val="108108"/>
              <a:buChar char="-"/>
            </a:pPr>
            <a:r>
              <a:rPr lang="en"/>
              <a:t>There is only one card drawn. How can two events be defined and be independent when there is only one card?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Mutual independence of three events</a:t>
            </a:r>
            <a:endParaRPr/>
          </a:p>
        </p:txBody>
      </p:sp>
      <p:sp>
        <p:nvSpPr>
          <p:cNvPr id="323" name="Google Shape;323;p24"/>
          <p:cNvSpPr txBox="1"/>
          <p:nvPr>
            <p:ph idx="1" type="body"/>
          </p:nvPr>
        </p:nvSpPr>
        <p:spPr>
          <a:xfrm>
            <a:off x="311700" y="2344150"/>
            <a:ext cx="8520600" cy="23556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Two constraints</a:t>
            </a:r>
            <a:endParaRPr/>
          </a:p>
          <a:p>
            <a:pPr indent="-317500" lvl="1" marL="914400" rtl="0" algn="l">
              <a:lnSpc>
                <a:spcPct val="115000"/>
              </a:lnSpc>
              <a:spcBef>
                <a:spcPts val="0"/>
              </a:spcBef>
              <a:spcAft>
                <a:spcPts val="0"/>
              </a:spcAft>
              <a:buSzPts val="1400"/>
              <a:buChar char="○"/>
            </a:pPr>
            <a:r>
              <a:rPr lang="en"/>
              <a:t>A and B are independent, A and C are independent, B and C are independent</a:t>
            </a:r>
            <a:endParaRPr/>
          </a:p>
          <a:p>
            <a:pPr indent="-317500" lvl="1" marL="914400" rtl="0" algn="l">
              <a:lnSpc>
                <a:spcPct val="115000"/>
              </a:lnSpc>
              <a:spcBef>
                <a:spcPts val="0"/>
              </a:spcBef>
              <a:spcAft>
                <a:spcPts val="0"/>
              </a:spcAft>
              <a:buSzPts val="1400"/>
              <a:buChar char="○"/>
            </a:pPr>
            <a:r>
              <a:rPr lang="en"/>
              <a:t>Additional constraint on A ⋂ B ⋂ C - this is important</a:t>
            </a:r>
            <a:endParaRPr/>
          </a:p>
          <a:p>
            <a:pPr indent="-342900" lvl="0" marL="457200" rtl="0" algn="l">
              <a:lnSpc>
                <a:spcPct val="115000"/>
              </a:lnSpc>
              <a:spcBef>
                <a:spcPts val="0"/>
              </a:spcBef>
              <a:spcAft>
                <a:spcPts val="0"/>
              </a:spcAft>
              <a:buSzPts val="1800"/>
              <a:buChar char="●"/>
            </a:pPr>
            <a:r>
              <a:rPr lang="en"/>
              <a:t>Example: Toss a coin twice</a:t>
            </a:r>
            <a:endParaRPr/>
          </a:p>
          <a:p>
            <a:pPr indent="-317500" lvl="1" marL="914400" rtl="0" algn="l">
              <a:lnSpc>
                <a:spcPct val="115000"/>
              </a:lnSpc>
              <a:spcBef>
                <a:spcPts val="0"/>
              </a:spcBef>
              <a:spcAft>
                <a:spcPts val="0"/>
              </a:spcAft>
              <a:buSzPts val="1400"/>
              <a:buChar char="○"/>
            </a:pPr>
            <a:r>
              <a:rPr lang="en"/>
              <a:t>A = { HH, TT }, B = { HH, HT }, C = { HH, TH }</a:t>
            </a:r>
            <a:endParaRPr/>
          </a:p>
          <a:p>
            <a:pPr indent="-317500" lvl="1" marL="914400" rtl="0" algn="l">
              <a:lnSpc>
                <a:spcPct val="115000"/>
              </a:lnSpc>
              <a:spcBef>
                <a:spcPts val="0"/>
              </a:spcBef>
              <a:spcAft>
                <a:spcPts val="0"/>
              </a:spcAft>
              <a:buSzPts val="1400"/>
              <a:buChar char="○"/>
            </a:pPr>
            <a:r>
              <a:rPr lang="en"/>
              <a:t>A and B, A and C, B and C: independent pairwise</a:t>
            </a:r>
            <a:endParaRPr/>
          </a:p>
          <a:p>
            <a:pPr indent="-317500" lvl="1" marL="914400" rtl="0" algn="l">
              <a:lnSpc>
                <a:spcPct val="115000"/>
              </a:lnSpc>
              <a:spcBef>
                <a:spcPts val="0"/>
              </a:spcBef>
              <a:spcAft>
                <a:spcPts val="0"/>
              </a:spcAft>
              <a:buSzPts val="1400"/>
              <a:buChar char="○"/>
            </a:pPr>
            <a:r>
              <a:rPr lang="en"/>
              <a:t>However, P(A ⋂ B ⋂ C) = 1/4 ≠ P(A) P(B) P(C)</a:t>
            </a:r>
            <a:endParaRPr/>
          </a:p>
          <a:p>
            <a:pPr indent="-317500" lvl="1" marL="914400" rtl="0" algn="l">
              <a:lnSpc>
                <a:spcPct val="115000"/>
              </a:lnSpc>
              <a:spcBef>
                <a:spcPts val="0"/>
              </a:spcBef>
              <a:spcAft>
                <a:spcPts val="0"/>
              </a:spcAft>
              <a:buSzPts val="1400"/>
              <a:buChar char="○"/>
            </a:pPr>
            <a:r>
              <a:rPr lang="en"/>
              <a:t>Pairwise independent but not mutually independent</a:t>
            </a:r>
            <a:endParaRPr/>
          </a:p>
        </p:txBody>
      </p:sp>
      <p:sp>
        <p:nvSpPr>
          <p:cNvPr id="324" name="Google Shape;324;p24"/>
          <p:cNvSpPr txBox="1"/>
          <p:nvPr/>
        </p:nvSpPr>
        <p:spPr>
          <a:xfrm>
            <a:off x="323275" y="1020625"/>
            <a:ext cx="8508900" cy="11109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980000"/>
                </a:solidFill>
                <a:latin typeface="Arial"/>
                <a:ea typeface="Arial"/>
                <a:cs typeface="Arial"/>
                <a:sym typeface="Arial"/>
              </a:rPr>
              <a:t>DEFINITION</a:t>
            </a:r>
            <a:r>
              <a:rPr b="0" i="0" lang="en" sz="1800" u="none" cap="none" strike="noStrike">
                <a:solidFill>
                  <a:srgbClr val="000000"/>
                </a:solidFill>
                <a:latin typeface="Arial"/>
                <a:ea typeface="Arial"/>
                <a:cs typeface="Arial"/>
                <a:sym typeface="Arial"/>
              </a:rPr>
              <a:t> (</a:t>
            </a:r>
            <a:r>
              <a:rPr b="1" i="0" lang="en" sz="1800" u="none" cap="none" strike="noStrike">
                <a:solidFill>
                  <a:srgbClr val="000000"/>
                </a:solidFill>
                <a:latin typeface="Arial"/>
                <a:ea typeface="Arial"/>
                <a:cs typeface="Arial"/>
                <a:sym typeface="Arial"/>
              </a:rPr>
              <a:t>Mutual Independence</a:t>
            </a:r>
            <a:r>
              <a:rPr b="0" i="0" lang="en" sz="1800" u="none" cap="none" strike="noStrike">
                <a:solidFill>
                  <a:srgbClr val="000000"/>
                </a:solidFill>
                <a:latin typeface="Arial"/>
                <a:ea typeface="Arial"/>
                <a:cs typeface="Arial"/>
                <a:sym typeface="Arial"/>
              </a:rPr>
              <a:t>) Events A, B, C are mutually independent if</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P(A ⋂ B) = P(A) P(B), P(A ⋂ C) = P(A) P(C), P(B ⋂ C) = P(B) P(C)</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P(A ⋂ B ⋂ C) = P(A) P(B) P(C)</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Mutual independence of multiple events</a:t>
            </a:r>
            <a:endParaRPr/>
          </a:p>
        </p:txBody>
      </p:sp>
      <p:sp>
        <p:nvSpPr>
          <p:cNvPr id="330" name="Google Shape;330;p25"/>
          <p:cNvSpPr txBox="1"/>
          <p:nvPr>
            <p:ph idx="1" type="body"/>
          </p:nvPr>
        </p:nvSpPr>
        <p:spPr>
          <a:xfrm>
            <a:off x="311700" y="2344150"/>
            <a:ext cx="8520600" cy="2564700"/>
          </a:xfrm>
          <a:prstGeom prst="rect">
            <a:avLst/>
          </a:prstGeom>
          <a:noFill/>
          <a:ln>
            <a:noFill/>
          </a:ln>
        </p:spPr>
        <p:txBody>
          <a:bodyPr anchorCtr="0" anchor="t" bIns="91425" lIns="91425" spcFirstLastPara="1" rIns="91425" wrap="square" tIns="91425">
            <a:normAutofit fontScale="92500"/>
          </a:bodyPr>
          <a:lstStyle/>
          <a:p>
            <a:pPr indent="-342900" lvl="0" marL="457200" rtl="0" algn="l">
              <a:lnSpc>
                <a:spcPct val="115000"/>
              </a:lnSpc>
              <a:spcBef>
                <a:spcPts val="0"/>
              </a:spcBef>
              <a:spcAft>
                <a:spcPts val="0"/>
              </a:spcAft>
              <a:buSzPct val="108108"/>
              <a:buChar char="●"/>
            </a:pPr>
            <a:r>
              <a:rPr lang="en"/>
              <a:t>Almost 2</a:t>
            </a:r>
            <a:r>
              <a:rPr baseline="30000" lang="en"/>
              <a:t>n</a:t>
            </a:r>
            <a:r>
              <a:rPr lang="en"/>
              <a:t> constraints</a:t>
            </a:r>
            <a:endParaRPr/>
          </a:p>
          <a:p>
            <a:pPr indent="-317500" lvl="1" marL="914400" rtl="0" algn="l">
              <a:lnSpc>
                <a:spcPct val="115000"/>
              </a:lnSpc>
              <a:spcBef>
                <a:spcPts val="0"/>
              </a:spcBef>
              <a:spcAft>
                <a:spcPts val="0"/>
              </a:spcAft>
              <a:buSzPct val="108108"/>
              <a:buChar char="○"/>
            </a:pPr>
            <a:r>
              <a:rPr lang="en"/>
              <a:t>Prob{Intersection of any subset of events} = Product of the Prob{events}</a:t>
            </a:r>
            <a:endParaRPr/>
          </a:p>
          <a:p>
            <a:pPr indent="-342900" lvl="0" marL="457200" rtl="0" algn="l">
              <a:lnSpc>
                <a:spcPct val="115000"/>
              </a:lnSpc>
              <a:spcBef>
                <a:spcPts val="0"/>
              </a:spcBef>
              <a:spcAft>
                <a:spcPts val="0"/>
              </a:spcAft>
              <a:buSzPct val="108108"/>
              <a:buChar char="●"/>
            </a:pPr>
            <a:r>
              <a:rPr lang="en"/>
              <a:t>Interesting result: A and B are independent =&gt; A and B</a:t>
            </a:r>
            <a:r>
              <a:rPr baseline="30000" lang="en"/>
              <a:t>c</a:t>
            </a:r>
            <a:r>
              <a:rPr lang="en"/>
              <a:t> are independent</a:t>
            </a:r>
            <a:endParaRPr/>
          </a:p>
          <a:p>
            <a:pPr indent="-317500" lvl="1" marL="914400" rtl="0" algn="l">
              <a:lnSpc>
                <a:spcPct val="115000"/>
              </a:lnSpc>
              <a:spcBef>
                <a:spcPts val="0"/>
              </a:spcBef>
              <a:spcAft>
                <a:spcPts val="0"/>
              </a:spcAft>
              <a:buSzPct val="108108"/>
              <a:buChar char="○"/>
            </a:pPr>
            <a:r>
              <a:rPr lang="en"/>
              <a:t>P(A ⋂ B</a:t>
            </a:r>
            <a:r>
              <a:rPr baseline="30000" lang="en"/>
              <a:t>c</a:t>
            </a:r>
            <a:r>
              <a:rPr lang="en"/>
              <a:t>) = P(A \ B) = P(A) - P(A ⋂ B) = P(A)(1 - P(B)) = P(A) P(B</a:t>
            </a:r>
            <a:r>
              <a:rPr baseline="30000" lang="en"/>
              <a:t>c</a:t>
            </a:r>
            <a:r>
              <a:rPr lang="en"/>
              <a:t>)</a:t>
            </a:r>
            <a:endParaRPr/>
          </a:p>
          <a:p>
            <a:pPr indent="-317500" lvl="1" marL="914400" rtl="0" algn="l">
              <a:lnSpc>
                <a:spcPct val="115000"/>
              </a:lnSpc>
              <a:spcBef>
                <a:spcPts val="0"/>
              </a:spcBef>
              <a:spcAft>
                <a:spcPts val="0"/>
              </a:spcAft>
              <a:buSzPct val="108108"/>
              <a:buChar char="○"/>
            </a:pPr>
            <a:r>
              <a:rPr lang="en"/>
              <a:t>Intuitive: B does not affect A =&gt; B</a:t>
            </a:r>
            <a:r>
              <a:rPr baseline="30000" lang="en"/>
              <a:t>c</a:t>
            </a:r>
            <a:r>
              <a:rPr lang="en"/>
              <a:t> does not affect A</a:t>
            </a:r>
            <a:endParaRPr/>
          </a:p>
          <a:p>
            <a:pPr indent="-317500" lvl="1" marL="914400" rtl="0" algn="l">
              <a:lnSpc>
                <a:spcPct val="115000"/>
              </a:lnSpc>
              <a:spcBef>
                <a:spcPts val="0"/>
              </a:spcBef>
              <a:spcAft>
                <a:spcPts val="0"/>
              </a:spcAft>
              <a:buSzPct val="108108"/>
              <a:buChar char="○"/>
            </a:pPr>
            <a:r>
              <a:rPr lang="en"/>
              <a:t>Two events are independent =&gt; Complement of one event and other event are independent</a:t>
            </a:r>
            <a:endParaRPr/>
          </a:p>
          <a:p>
            <a:pPr indent="-342900" lvl="0" marL="457200" rtl="0" algn="l">
              <a:lnSpc>
                <a:spcPct val="115000"/>
              </a:lnSpc>
              <a:spcBef>
                <a:spcPts val="0"/>
              </a:spcBef>
              <a:spcAft>
                <a:spcPts val="0"/>
              </a:spcAft>
              <a:buSzPct val="108108"/>
              <a:buChar char="●"/>
            </a:pPr>
            <a:r>
              <a:rPr lang="en"/>
              <a:t>Using the above twice: A and B are independent =&gt; A</a:t>
            </a:r>
            <a:r>
              <a:rPr baseline="30000" lang="en"/>
              <a:t>c</a:t>
            </a:r>
            <a:r>
              <a:rPr lang="en"/>
              <a:t> and B</a:t>
            </a:r>
            <a:r>
              <a:rPr baseline="30000" lang="en"/>
              <a:t>c</a:t>
            </a:r>
            <a:r>
              <a:rPr lang="en"/>
              <a:t> are independent</a:t>
            </a:r>
            <a:endParaRPr/>
          </a:p>
          <a:p>
            <a:pPr indent="-342900" lvl="0" marL="457200" rtl="0" algn="l">
              <a:lnSpc>
                <a:spcPct val="115000"/>
              </a:lnSpc>
              <a:spcBef>
                <a:spcPts val="0"/>
              </a:spcBef>
              <a:spcAft>
                <a:spcPts val="0"/>
              </a:spcAft>
              <a:buSzPct val="108108"/>
              <a:buChar char="●"/>
            </a:pPr>
            <a:r>
              <a:rPr lang="en"/>
              <a:t>Extension: n events are mutually independent =&gt; any subset with or without complementing are independent as well</a:t>
            </a:r>
            <a:endParaRPr/>
          </a:p>
        </p:txBody>
      </p:sp>
      <p:sp>
        <p:nvSpPr>
          <p:cNvPr id="331" name="Google Shape;331;p25"/>
          <p:cNvSpPr txBox="1"/>
          <p:nvPr/>
        </p:nvSpPr>
        <p:spPr>
          <a:xfrm>
            <a:off x="323275" y="1020625"/>
            <a:ext cx="8508900" cy="1130100"/>
          </a:xfrm>
          <a:prstGeom prst="rect">
            <a:avLst/>
          </a:prstGeom>
          <a:solidFill>
            <a:srgbClr val="D9D9D9"/>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rgbClr val="980000"/>
                </a:solidFill>
                <a:latin typeface="Arial"/>
                <a:ea typeface="Arial"/>
                <a:cs typeface="Arial"/>
                <a:sym typeface="Arial"/>
              </a:rPr>
              <a:t>DEFINITION</a:t>
            </a:r>
            <a:r>
              <a:rPr b="0" i="0" lang="en" sz="1800" u="none" cap="none" strike="noStrike">
                <a:solidFill>
                  <a:srgbClr val="000000"/>
                </a:solidFill>
                <a:latin typeface="Arial"/>
                <a:ea typeface="Arial"/>
                <a:cs typeface="Arial"/>
                <a:sym typeface="Arial"/>
              </a:rPr>
              <a:t> (</a:t>
            </a:r>
            <a:r>
              <a:rPr b="1" i="0" lang="en" sz="1800" u="none" cap="none" strike="noStrike">
                <a:solidFill>
                  <a:srgbClr val="000000"/>
                </a:solidFill>
                <a:latin typeface="Arial"/>
                <a:ea typeface="Arial"/>
                <a:cs typeface="Arial"/>
                <a:sym typeface="Arial"/>
              </a:rPr>
              <a:t>Mutual Independence</a:t>
            </a:r>
            <a:r>
              <a:rPr b="0" i="0" lang="en" sz="1800" u="none" cap="none" strike="noStrike">
                <a:solidFill>
                  <a:srgbClr val="000000"/>
                </a:solidFill>
                <a:latin typeface="Arial"/>
                <a:ea typeface="Arial"/>
                <a:cs typeface="Arial"/>
                <a:sym typeface="Arial"/>
              </a:rPr>
              <a:t>) Events A</a:t>
            </a:r>
            <a:r>
              <a:rPr b="0" baseline="-25000" i="0" lang="en" sz="1800" u="none" cap="none" strike="noStrike">
                <a:solidFill>
                  <a:srgbClr val="000000"/>
                </a:solidFill>
                <a:latin typeface="Arial"/>
                <a:ea typeface="Arial"/>
                <a:cs typeface="Arial"/>
                <a:sym typeface="Arial"/>
              </a:rPr>
              <a:t>1</a:t>
            </a:r>
            <a:r>
              <a:rPr b="0" i="0" lang="en" sz="1800" u="none" cap="none" strike="noStrike">
                <a:solidFill>
                  <a:srgbClr val="000000"/>
                </a:solidFill>
                <a:latin typeface="Arial"/>
                <a:ea typeface="Arial"/>
                <a:cs typeface="Arial"/>
                <a:sym typeface="Arial"/>
              </a:rPr>
              <a:t>, A</a:t>
            </a:r>
            <a:r>
              <a:rPr b="0" baseline="-25000" i="0" lang="en" sz="1800" u="none" cap="none" strike="noStrike">
                <a:solidFill>
                  <a:srgbClr val="000000"/>
                </a:solidFill>
                <a:latin typeface="Arial"/>
                <a:ea typeface="Arial"/>
                <a:cs typeface="Arial"/>
                <a:sym typeface="Arial"/>
              </a:rPr>
              <a:t>2</a:t>
            </a:r>
            <a:r>
              <a:rPr b="0" i="0" lang="en" sz="1800" u="none" cap="none" strike="noStrike">
                <a:solidFill>
                  <a:srgbClr val="000000"/>
                </a:solidFill>
                <a:latin typeface="Arial"/>
                <a:ea typeface="Arial"/>
                <a:cs typeface="Arial"/>
                <a:sym typeface="Arial"/>
              </a:rPr>
              <a:t>,..., A</a:t>
            </a:r>
            <a:r>
              <a:rPr b="0" baseline="-25000" i="0" lang="en" sz="1800" u="none" cap="none" strike="noStrike">
                <a:solidFill>
                  <a:srgbClr val="000000"/>
                </a:solidFill>
                <a:latin typeface="Arial"/>
                <a:ea typeface="Arial"/>
                <a:cs typeface="Arial"/>
                <a:sym typeface="Arial"/>
              </a:rPr>
              <a:t>n</a:t>
            </a:r>
            <a:r>
              <a:rPr b="0" i="0" lang="en" sz="1800" u="none" cap="none" strike="noStrike">
                <a:solidFill>
                  <a:srgbClr val="000000"/>
                </a:solidFill>
                <a:latin typeface="Arial"/>
                <a:ea typeface="Arial"/>
                <a:cs typeface="Arial"/>
                <a:sym typeface="Arial"/>
              </a:rPr>
              <a:t> are mutually independent if, for all i1, i2, …, ik, </a:t>
            </a:r>
            <a:endParaRPr b="0" i="0" sz="18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000000"/>
                </a:solidFill>
                <a:latin typeface="Arial"/>
                <a:ea typeface="Arial"/>
                <a:cs typeface="Arial"/>
                <a:sym typeface="Arial"/>
              </a:rPr>
              <a:t>P(A</a:t>
            </a:r>
            <a:r>
              <a:rPr b="0" baseline="-25000" i="0" lang="en" sz="1800" u="none" cap="none" strike="noStrike">
                <a:solidFill>
                  <a:srgbClr val="000000"/>
                </a:solidFill>
                <a:latin typeface="Arial"/>
                <a:ea typeface="Arial"/>
                <a:cs typeface="Arial"/>
                <a:sym typeface="Arial"/>
              </a:rPr>
              <a:t>i1</a:t>
            </a:r>
            <a:r>
              <a:rPr b="0" i="0" lang="en" sz="1800" u="none" cap="none" strike="noStrike">
                <a:solidFill>
                  <a:srgbClr val="000000"/>
                </a:solidFill>
                <a:latin typeface="Arial"/>
                <a:ea typeface="Arial"/>
                <a:cs typeface="Arial"/>
                <a:sym typeface="Arial"/>
              </a:rPr>
              <a:t> ⋂ A</a:t>
            </a:r>
            <a:r>
              <a:rPr b="0" baseline="-25000" i="0" lang="en" sz="1800" u="none" cap="none" strike="noStrike">
                <a:solidFill>
                  <a:srgbClr val="000000"/>
                </a:solidFill>
                <a:latin typeface="Arial"/>
                <a:ea typeface="Arial"/>
                <a:cs typeface="Arial"/>
                <a:sym typeface="Arial"/>
              </a:rPr>
              <a:t>i2</a:t>
            </a:r>
            <a:r>
              <a:rPr b="0" i="0" lang="en" sz="1800" u="none" cap="none" strike="noStrike">
                <a:solidFill>
                  <a:srgbClr val="000000"/>
                </a:solidFill>
                <a:latin typeface="Arial"/>
                <a:ea typeface="Arial"/>
                <a:cs typeface="Arial"/>
                <a:sym typeface="Arial"/>
              </a:rPr>
              <a:t> ⋂ … ⋂ A</a:t>
            </a:r>
            <a:r>
              <a:rPr b="0" baseline="-25000" i="0" lang="en" sz="1800" u="none" cap="none" strike="noStrike">
                <a:solidFill>
                  <a:srgbClr val="000000"/>
                </a:solidFill>
                <a:latin typeface="Arial"/>
                <a:ea typeface="Arial"/>
                <a:cs typeface="Arial"/>
                <a:sym typeface="Arial"/>
              </a:rPr>
              <a:t>ik</a:t>
            </a:r>
            <a:r>
              <a:rPr b="0" i="0" lang="en" sz="1800" u="none" cap="none" strike="noStrike">
                <a:solidFill>
                  <a:srgbClr val="000000"/>
                </a:solidFill>
                <a:latin typeface="Arial"/>
                <a:ea typeface="Arial"/>
                <a:cs typeface="Arial"/>
                <a:sym typeface="Arial"/>
              </a:rPr>
              <a:t>) = P(A</a:t>
            </a:r>
            <a:r>
              <a:rPr b="0" baseline="-25000" i="0" lang="en" sz="1800" u="none" cap="none" strike="noStrike">
                <a:solidFill>
                  <a:srgbClr val="000000"/>
                </a:solidFill>
                <a:latin typeface="Arial"/>
                <a:ea typeface="Arial"/>
                <a:cs typeface="Arial"/>
                <a:sym typeface="Arial"/>
              </a:rPr>
              <a:t>i1</a:t>
            </a:r>
            <a:r>
              <a:rPr b="0" i="0" lang="en" sz="1800" u="none" cap="none" strike="noStrike">
                <a:solidFill>
                  <a:srgbClr val="000000"/>
                </a:solidFill>
                <a:latin typeface="Arial"/>
                <a:ea typeface="Arial"/>
                <a:cs typeface="Arial"/>
                <a:sym typeface="Arial"/>
              </a:rPr>
              <a:t>) P(A</a:t>
            </a:r>
            <a:r>
              <a:rPr b="0" baseline="-25000" i="0" lang="en" sz="1800" u="none" cap="none" strike="noStrike">
                <a:solidFill>
                  <a:srgbClr val="000000"/>
                </a:solidFill>
                <a:latin typeface="Arial"/>
                <a:ea typeface="Arial"/>
                <a:cs typeface="Arial"/>
                <a:sym typeface="Arial"/>
              </a:rPr>
              <a:t>i2</a:t>
            </a:r>
            <a:r>
              <a:rPr b="0" i="0" lang="en" sz="1800" u="none" cap="none" strike="noStrike">
                <a:solidFill>
                  <a:srgbClr val="000000"/>
                </a:solidFill>
                <a:latin typeface="Arial"/>
                <a:ea typeface="Arial"/>
                <a:cs typeface="Arial"/>
                <a:sym typeface="Arial"/>
              </a:rPr>
              <a:t>) … P(A</a:t>
            </a:r>
            <a:r>
              <a:rPr b="0" baseline="-25000" i="0" lang="en" sz="1800" u="none" cap="none" strike="noStrike">
                <a:solidFill>
                  <a:srgbClr val="000000"/>
                </a:solidFill>
                <a:latin typeface="Arial"/>
                <a:ea typeface="Arial"/>
                <a:cs typeface="Arial"/>
                <a:sym typeface="Arial"/>
              </a:rPr>
              <a:t>ik</a:t>
            </a:r>
            <a:r>
              <a:rPr b="0" i="0" lang="en" sz="1800" u="none" cap="none" strike="noStrike">
                <a:solidFill>
                  <a:srgbClr val="000000"/>
                </a:solidFill>
                <a:latin typeface="Arial"/>
                <a:ea typeface="Arial"/>
                <a:cs typeface="Arial"/>
                <a:sym typeface="Arial"/>
              </a:rPr>
              <a:t>)</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Roads</a:t>
            </a:r>
            <a:endParaRPr/>
          </a:p>
        </p:txBody>
      </p:sp>
      <p:sp>
        <p:nvSpPr>
          <p:cNvPr id="337" name="Google Shape;337;p26"/>
          <p:cNvSpPr txBox="1"/>
          <p:nvPr/>
        </p:nvSpPr>
        <p:spPr>
          <a:xfrm>
            <a:off x="5787850" y="1459650"/>
            <a:ext cx="306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A</a:t>
            </a:r>
            <a:endParaRPr b="0" i="0" sz="1400" u="none" cap="none" strike="noStrike">
              <a:solidFill>
                <a:schemeClr val="dk1"/>
              </a:solidFill>
              <a:latin typeface="Arial"/>
              <a:ea typeface="Arial"/>
              <a:cs typeface="Arial"/>
              <a:sym typeface="Arial"/>
            </a:endParaRPr>
          </a:p>
        </p:txBody>
      </p:sp>
      <p:sp>
        <p:nvSpPr>
          <p:cNvPr id="338" name="Google Shape;338;p26"/>
          <p:cNvSpPr txBox="1"/>
          <p:nvPr/>
        </p:nvSpPr>
        <p:spPr>
          <a:xfrm>
            <a:off x="7179775" y="1459650"/>
            <a:ext cx="306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B</a:t>
            </a:r>
            <a:endParaRPr b="0" i="0" sz="1400" u="none" cap="none" strike="noStrike">
              <a:solidFill>
                <a:schemeClr val="dk1"/>
              </a:solidFill>
              <a:latin typeface="Arial"/>
              <a:ea typeface="Arial"/>
              <a:cs typeface="Arial"/>
              <a:sym typeface="Arial"/>
            </a:endParaRPr>
          </a:p>
        </p:txBody>
      </p:sp>
      <p:sp>
        <p:nvSpPr>
          <p:cNvPr id="339" name="Google Shape;339;p26"/>
          <p:cNvSpPr txBox="1"/>
          <p:nvPr/>
        </p:nvSpPr>
        <p:spPr>
          <a:xfrm>
            <a:off x="8571700" y="1459650"/>
            <a:ext cx="3069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C</a:t>
            </a:r>
            <a:endParaRPr b="0" i="0" sz="1400" u="none" cap="none" strike="noStrike">
              <a:solidFill>
                <a:schemeClr val="dk1"/>
              </a:solidFill>
              <a:latin typeface="Arial"/>
              <a:ea typeface="Arial"/>
              <a:cs typeface="Arial"/>
              <a:sym typeface="Arial"/>
            </a:endParaRPr>
          </a:p>
        </p:txBody>
      </p:sp>
      <p:sp>
        <p:nvSpPr>
          <p:cNvPr id="340" name="Google Shape;340;p26"/>
          <p:cNvSpPr/>
          <p:nvPr/>
        </p:nvSpPr>
        <p:spPr>
          <a:xfrm>
            <a:off x="5938450" y="1233725"/>
            <a:ext cx="1443900" cy="1083300"/>
          </a:xfrm>
          <a:prstGeom prst="arc">
            <a:avLst>
              <a:gd fmla="val 11885241" name="adj1"/>
              <a:gd fmla="val 20265325"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26"/>
          <p:cNvSpPr/>
          <p:nvPr/>
        </p:nvSpPr>
        <p:spPr>
          <a:xfrm rot="10800000">
            <a:off x="5921073" y="1011818"/>
            <a:ext cx="1443900" cy="1083300"/>
          </a:xfrm>
          <a:prstGeom prst="arc">
            <a:avLst>
              <a:gd fmla="val 11885241" name="adj1"/>
              <a:gd fmla="val 20265325"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26"/>
          <p:cNvSpPr/>
          <p:nvPr/>
        </p:nvSpPr>
        <p:spPr>
          <a:xfrm>
            <a:off x="7315842" y="1210556"/>
            <a:ext cx="1443900" cy="1083300"/>
          </a:xfrm>
          <a:prstGeom prst="arc">
            <a:avLst>
              <a:gd fmla="val 11885241" name="adj1"/>
              <a:gd fmla="val 20602376"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26"/>
          <p:cNvSpPr/>
          <p:nvPr/>
        </p:nvSpPr>
        <p:spPr>
          <a:xfrm rot="10800000">
            <a:off x="7292673" y="981956"/>
            <a:ext cx="1443900" cy="1083300"/>
          </a:xfrm>
          <a:prstGeom prst="arc">
            <a:avLst>
              <a:gd fmla="val 11885241" name="adj1"/>
              <a:gd fmla="val 20265325" name="adj2"/>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26"/>
          <p:cNvSpPr txBox="1"/>
          <p:nvPr>
            <p:ph idx="1" type="body"/>
          </p:nvPr>
        </p:nvSpPr>
        <p:spPr>
          <a:xfrm>
            <a:off x="311700" y="1233725"/>
            <a:ext cx="5476200" cy="1850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n"/>
              <a:t>Two roads each connect A and B and B and C. Each of the four roads gets blocked with probability p independent of all other roads. What is the probability that there is an open route from A to B given that there is no open route from A to C?</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7"/>
          <p:cNvSpPr txBox="1"/>
          <p:nvPr>
            <p:ph type="title"/>
          </p:nvPr>
        </p:nvSpPr>
        <p:spPr>
          <a:xfrm>
            <a:off x="311700" y="2150850"/>
            <a:ext cx="8520600" cy="1117500"/>
          </a:xfrm>
          <a:prstGeom prst="rect">
            <a:avLst/>
          </a:prstGeom>
          <a:noFill/>
          <a:ln>
            <a:noFill/>
          </a:ln>
        </p:spPr>
        <p:txBody>
          <a:bodyPr anchorCtr="0" anchor="ctr"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Repeated independent trials - Bernoulli, Binomial and Geometric Distribution</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2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Bernoulli trials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Incidence of a disease</a:t>
            </a:r>
            <a:endParaRPr/>
          </a:p>
        </p:txBody>
      </p:sp>
      <p:sp>
        <p:nvSpPr>
          <p:cNvPr id="360" name="Google Shape;360;p2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
              <a:t>Suppose you want to find out how many people in a city suffer from a disease.</a:t>
            </a:r>
            <a:endParaRPr/>
          </a:p>
          <a:p>
            <a:pPr indent="-342900" lvl="0" marL="457200" rtl="0" algn="l">
              <a:lnSpc>
                <a:spcPct val="115000"/>
              </a:lnSpc>
              <a:spcBef>
                <a:spcPts val="0"/>
              </a:spcBef>
              <a:spcAft>
                <a:spcPts val="0"/>
              </a:spcAft>
              <a:buSzPts val="1800"/>
              <a:buChar char="●"/>
            </a:pPr>
            <a:r>
              <a:rPr lang="en"/>
              <a:t>Trial: Select a random person from a population and test for a disease. </a:t>
            </a:r>
            <a:endParaRPr/>
          </a:p>
          <a:p>
            <a:pPr indent="-342900" lvl="0" marL="457200" rtl="0" algn="l">
              <a:lnSpc>
                <a:spcPct val="115000"/>
              </a:lnSpc>
              <a:spcBef>
                <a:spcPts val="0"/>
              </a:spcBef>
              <a:spcAft>
                <a:spcPts val="0"/>
              </a:spcAft>
              <a:buSzPts val="1800"/>
              <a:buChar char="●"/>
            </a:pPr>
            <a:r>
              <a:rPr lang="en"/>
              <a:t>Repeat trial n times. Assume each trial is independent.</a:t>
            </a:r>
            <a:endParaRPr/>
          </a:p>
          <a:p>
            <a:pPr indent="0" lvl="0" marL="0" rtl="0" algn="l">
              <a:lnSpc>
                <a:spcPct val="115000"/>
              </a:lnSpc>
              <a:spcBef>
                <a:spcPts val="1200"/>
              </a:spcBef>
              <a:spcAft>
                <a:spcPts val="0"/>
              </a:spcAft>
              <a:buSzPts val="1800"/>
              <a:buNone/>
            </a:pPr>
            <a:r>
              <a:t/>
            </a:r>
            <a:endParaRPr/>
          </a:p>
          <a:p>
            <a:pPr indent="0" lvl="0" marL="0" rtl="0" algn="ctr">
              <a:lnSpc>
                <a:spcPct val="115000"/>
              </a:lnSpc>
              <a:spcBef>
                <a:spcPts val="1200"/>
              </a:spcBef>
              <a:spcAft>
                <a:spcPts val="0"/>
              </a:spcAft>
              <a:buSzPts val="1800"/>
              <a:buNone/>
            </a:pPr>
            <a:r>
              <a:rPr lang="en"/>
              <a:t>Observation: number of times the test was positive</a:t>
            </a:r>
            <a:endParaRPr/>
          </a:p>
          <a:p>
            <a:pPr indent="0" lvl="0" marL="0" rtl="0" algn="ctr">
              <a:lnSpc>
                <a:spcPct val="115000"/>
              </a:lnSpc>
              <a:spcBef>
                <a:spcPts val="1200"/>
              </a:spcBef>
              <a:spcAft>
                <a:spcPts val="0"/>
              </a:spcAft>
              <a:buSzPts val="1800"/>
              <a:buNone/>
            </a:pPr>
            <a:r>
              <a:t/>
            </a:r>
            <a:endParaRPr/>
          </a:p>
          <a:p>
            <a:pPr indent="-342900" lvl="0" marL="457200" rtl="0" algn="l">
              <a:lnSpc>
                <a:spcPct val="115000"/>
              </a:lnSpc>
              <a:spcBef>
                <a:spcPts val="1200"/>
              </a:spcBef>
              <a:spcAft>
                <a:spcPts val="0"/>
              </a:spcAft>
              <a:buSzPts val="1800"/>
              <a:buChar char="●"/>
            </a:pPr>
            <a:r>
              <a:rPr lang="en"/>
              <a:t>Questions: What is the distribution of the above number? </a:t>
            </a:r>
            <a:endParaRPr/>
          </a:p>
          <a:p>
            <a:pPr indent="-342900" lvl="0" marL="457200" rtl="0" algn="l">
              <a:lnSpc>
                <a:spcPct val="115000"/>
              </a:lnSpc>
              <a:spcBef>
                <a:spcPts val="0"/>
              </a:spcBef>
              <a:spcAft>
                <a:spcPts val="0"/>
              </a:spcAft>
              <a:buSzPts val="1800"/>
              <a:buChar char="●"/>
            </a:pPr>
            <a:r>
              <a:rPr lang="en"/>
              <a:t>More interesting question: What fraction of people have the disease?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A single Bernoulli trial</a:t>
            </a:r>
            <a:endParaRPr/>
          </a:p>
        </p:txBody>
      </p:sp>
      <p:sp>
        <p:nvSpPr>
          <p:cNvPr id="366" name="Google Shape;366;p3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b="1" lang="en"/>
              <a:t>Setting</a:t>
            </a:r>
            <a:r>
              <a:rPr lang="en"/>
              <a:t>: Occurrence of Event A in a sample space is considered “success”. Non-occurrence of A is considered “failure”. Let p = P(A).</a:t>
            </a:r>
            <a:endParaRPr/>
          </a:p>
          <a:p>
            <a:pPr indent="0" lvl="0" marL="0" rtl="0" algn="l">
              <a:lnSpc>
                <a:spcPct val="115000"/>
              </a:lnSpc>
              <a:spcBef>
                <a:spcPts val="1200"/>
              </a:spcBef>
              <a:spcAft>
                <a:spcPts val="0"/>
              </a:spcAft>
              <a:buSzPct val="108108"/>
              <a:buNone/>
            </a:pPr>
            <a:r>
              <a:t/>
            </a:r>
            <a:endParaRPr/>
          </a:p>
          <a:p>
            <a:pPr indent="0" lvl="0" marL="0" rtl="0" algn="l">
              <a:lnSpc>
                <a:spcPct val="115000"/>
              </a:lnSpc>
              <a:spcBef>
                <a:spcPts val="1200"/>
              </a:spcBef>
              <a:spcAft>
                <a:spcPts val="0"/>
              </a:spcAft>
              <a:buSzPct val="108108"/>
              <a:buNone/>
            </a:pPr>
            <a:r>
              <a:rPr lang="en"/>
              <a:t>Bernoulli trial: Sample space is {success, failure} with P(success) = p</a:t>
            </a:r>
            <a:br>
              <a:rPr lang="en"/>
            </a:br>
            <a:r>
              <a:rPr lang="en"/>
              <a:t>											or</a:t>
            </a:r>
            <a:br>
              <a:rPr lang="en"/>
            </a:br>
            <a:r>
              <a:rPr lang="en"/>
              <a:t>	{0, 1} with P(1) = p, P(0) = 1 - p</a:t>
            </a:r>
            <a:endParaRPr/>
          </a:p>
          <a:p>
            <a:pPr indent="0" lvl="0" marL="0" rtl="0" algn="l">
              <a:lnSpc>
                <a:spcPct val="115000"/>
              </a:lnSpc>
              <a:spcBef>
                <a:spcPts val="1200"/>
              </a:spcBef>
              <a:spcAft>
                <a:spcPts val="0"/>
              </a:spcAft>
              <a:buSzPct val="108108"/>
              <a:buNone/>
            </a:pPr>
            <a:r>
              <a:rPr lang="en"/>
              <a:t>This distribution is denoted Bernoulli(p).</a:t>
            </a:r>
            <a:br>
              <a:rPr lang="en"/>
            </a:br>
            <a:endParaRPr/>
          </a:p>
          <a:p>
            <a:pPr indent="0" lvl="0" marL="0" rtl="0" algn="l">
              <a:lnSpc>
                <a:spcPct val="115000"/>
              </a:lnSpc>
              <a:spcBef>
                <a:spcPts val="1200"/>
              </a:spcBef>
              <a:spcAft>
                <a:spcPts val="1200"/>
              </a:spcAft>
              <a:buSzPct val="108108"/>
              <a:buNone/>
            </a:pPr>
            <a:r>
              <a:rPr lang="en"/>
              <a:t>In previous example, a Bernoulli trial is a framework for one test.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Repeated Bernoulli trials</a:t>
            </a:r>
            <a:endParaRPr/>
          </a:p>
        </p:txBody>
      </p:sp>
      <p:sp>
        <p:nvSpPr>
          <p:cNvPr id="372" name="Google Shape;372;p31"/>
          <p:cNvSpPr txBox="1"/>
          <p:nvPr>
            <p:ph idx="1" type="body"/>
          </p:nvPr>
        </p:nvSpPr>
        <p:spPr>
          <a:xfrm>
            <a:off x="311700" y="1076275"/>
            <a:ext cx="8520600" cy="37407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b="1" lang="en"/>
              <a:t>Setting</a:t>
            </a:r>
            <a:r>
              <a:rPr lang="en"/>
              <a:t>: Repeat a Bernoulli trial multiple times independently.</a:t>
            </a:r>
            <a:endParaRPr/>
          </a:p>
          <a:p>
            <a:pPr indent="0" lvl="0" marL="0" rtl="0" algn="l">
              <a:lnSpc>
                <a:spcPct val="115000"/>
              </a:lnSpc>
              <a:spcBef>
                <a:spcPts val="1200"/>
              </a:spcBef>
              <a:spcAft>
                <a:spcPts val="0"/>
              </a:spcAft>
              <a:buSzPct val="108108"/>
              <a:buNone/>
            </a:pPr>
            <a:r>
              <a:rPr lang="en"/>
              <a:t>Perform n independent Bernoulli(p) trials.</a:t>
            </a:r>
            <a:endParaRPr/>
          </a:p>
          <a:p>
            <a:pPr indent="0" lvl="0" marL="0" rtl="0" algn="l">
              <a:lnSpc>
                <a:spcPct val="115000"/>
              </a:lnSpc>
              <a:spcBef>
                <a:spcPts val="1200"/>
              </a:spcBef>
              <a:spcAft>
                <a:spcPts val="0"/>
              </a:spcAft>
              <a:buSzPct val="108108"/>
              <a:buNone/>
            </a:pPr>
            <a:r>
              <a:rPr lang="en"/>
              <a:t>Outcome: 0 or 1 (Trial 1), 0 or 1 (Trial 2), 0 or 1 (Trial 3), … … , 0 or 1 (Trial n)</a:t>
            </a:r>
            <a:endParaRPr/>
          </a:p>
          <a:p>
            <a:pPr indent="0" lvl="0" marL="0" rtl="0" algn="l">
              <a:lnSpc>
                <a:spcPct val="115000"/>
              </a:lnSpc>
              <a:spcBef>
                <a:spcPts val="1200"/>
              </a:spcBef>
              <a:spcAft>
                <a:spcPts val="0"/>
              </a:spcAft>
              <a:buSzPct val="108108"/>
              <a:buNone/>
            </a:pPr>
            <a:r>
              <a:rPr lang="en"/>
              <a:t>Sample space: 2</a:t>
            </a:r>
            <a:r>
              <a:rPr baseline="30000" lang="en"/>
              <a:t>n</a:t>
            </a:r>
            <a:r>
              <a:rPr lang="en"/>
              <a:t> outcomes</a:t>
            </a:r>
            <a:br>
              <a:rPr lang="en"/>
            </a:br>
            <a:r>
              <a:rPr lang="en"/>
              <a:t>	Eg: n = 3, </a:t>
            </a:r>
            <a:r>
              <a:rPr i="1" lang="en"/>
              <a:t>S</a:t>
            </a:r>
            <a:r>
              <a:rPr lang="en"/>
              <a:t> = { 000, 001, 010, 011, 100, 101, 110, 111 }</a:t>
            </a:r>
            <a:br>
              <a:rPr lang="en"/>
            </a:br>
            <a:r>
              <a:rPr lang="en"/>
              <a:t>              n = 4, </a:t>
            </a:r>
            <a:r>
              <a:rPr i="1" lang="en"/>
              <a:t>S</a:t>
            </a:r>
            <a:r>
              <a:rPr lang="en"/>
              <a:t> = { 0000, 0001, 0010, 0011, 0100, 0101, 0110, 0111,</a:t>
            </a:r>
            <a:br>
              <a:rPr lang="en"/>
            </a:br>
            <a:r>
              <a:rPr lang="en"/>
              <a:t>		  1000, 1001, 1010, 1011, 1100, 1101, 1110, 1111 }</a:t>
            </a:r>
            <a:endParaRPr/>
          </a:p>
          <a:p>
            <a:pPr indent="0" lvl="0" marL="0" rtl="0" algn="l">
              <a:lnSpc>
                <a:spcPct val="115000"/>
              </a:lnSpc>
              <a:spcBef>
                <a:spcPts val="1200"/>
              </a:spcBef>
              <a:spcAft>
                <a:spcPts val="1200"/>
              </a:spcAft>
              <a:buSzPct val="108108"/>
              <a:buNone/>
            </a:pPr>
            <a:r>
              <a:rPr lang="en"/>
              <a:t>Probabilities: Use independence. </a:t>
            </a:r>
            <a:br>
              <a:rPr lang="en"/>
            </a:br>
            <a:r>
              <a:rPr lang="en"/>
              <a:t>Let n = 3.</a:t>
            </a:r>
            <a:br>
              <a:rPr lang="en"/>
            </a:br>
            <a:r>
              <a:rPr lang="en"/>
              <a:t>P(000) = P(trial 1 is 0 and trial 2 is 0 and trial 3 is 0) = (1-p) x (1-p) x (1-p) = (1-p)</a:t>
            </a:r>
            <a:r>
              <a:rPr baseline="30000" lang="en"/>
              <a:t>3</a:t>
            </a:r>
            <a:br>
              <a:rPr lang="en"/>
            </a:br>
            <a:r>
              <a:rPr lang="en"/>
              <a:t>P(101) = P(trial 1 is 1 and trial 2 is 0 and trial 3 is 1) = p x (1-p) x p = p</a:t>
            </a:r>
            <a:r>
              <a:rPr baseline="30000" lang="en"/>
              <a:t>2</a:t>
            </a:r>
            <a:r>
              <a:rPr lang="en"/>
              <a:t>(1-p)</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Toss a fair coin 5 times</a:t>
            </a:r>
            <a:endParaRPr/>
          </a:p>
        </p:txBody>
      </p:sp>
      <p:sp>
        <p:nvSpPr>
          <p:cNvPr id="378" name="Google Shape;378;p32"/>
          <p:cNvSpPr txBox="1"/>
          <p:nvPr>
            <p:ph idx="1" type="body"/>
          </p:nvPr>
        </p:nvSpPr>
        <p:spPr>
          <a:xfrm>
            <a:off x="311700" y="1152475"/>
            <a:ext cx="8520600" cy="37125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n"/>
              <a:t>Toss a fair coin 5 times. H is 0 and T is 1. Sample space has 32 equally likely outcomes. </a:t>
            </a:r>
            <a:endParaRPr/>
          </a:p>
          <a:p>
            <a:pPr indent="0" lvl="0" marL="0" rtl="0" algn="l">
              <a:lnSpc>
                <a:spcPct val="115000"/>
              </a:lnSpc>
              <a:spcBef>
                <a:spcPts val="1200"/>
              </a:spcBef>
              <a:spcAft>
                <a:spcPts val="0"/>
              </a:spcAft>
              <a:buSzPct val="117647"/>
              <a:buNone/>
            </a:pPr>
            <a:r>
              <a:rPr lang="en"/>
              <a:t>For example, P(HHHHH) = 1/32, P(HTHTH) = 1/32, P(THTHT) = 1/32 etc.</a:t>
            </a:r>
            <a:endParaRPr/>
          </a:p>
          <a:p>
            <a:pPr indent="0" lvl="0" marL="0" rtl="0" algn="l">
              <a:lnSpc>
                <a:spcPct val="115000"/>
              </a:lnSpc>
              <a:spcBef>
                <a:spcPts val="1200"/>
              </a:spcBef>
              <a:spcAft>
                <a:spcPts val="0"/>
              </a:spcAft>
              <a:buSzPct val="117647"/>
              <a:buNone/>
            </a:pPr>
            <a:r>
              <a:rPr lang="en"/>
              <a:t>P(0 tails) = P(HHHHH) = 1/32</a:t>
            </a:r>
            <a:endParaRPr/>
          </a:p>
          <a:p>
            <a:pPr indent="0" lvl="0" marL="0" rtl="0" algn="l">
              <a:lnSpc>
                <a:spcPct val="115000"/>
              </a:lnSpc>
              <a:spcBef>
                <a:spcPts val="1200"/>
              </a:spcBef>
              <a:spcAft>
                <a:spcPts val="0"/>
              </a:spcAft>
              <a:buSzPct val="117647"/>
              <a:buNone/>
            </a:pPr>
            <a:r>
              <a:rPr lang="en"/>
              <a:t>P(1 tail) = P({THHHH, HTHHH, HHTHH, HHHTH, HHHHT}) = 5/32</a:t>
            </a:r>
            <a:endParaRPr/>
          </a:p>
          <a:p>
            <a:pPr indent="0" lvl="0" marL="0" rtl="0" algn="l">
              <a:lnSpc>
                <a:spcPct val="115000"/>
              </a:lnSpc>
              <a:spcBef>
                <a:spcPts val="1200"/>
              </a:spcBef>
              <a:spcAft>
                <a:spcPts val="0"/>
              </a:spcAft>
              <a:buSzPct val="117647"/>
              <a:buNone/>
            </a:pPr>
            <a:r>
              <a:rPr lang="en"/>
              <a:t>P(2 tails) = P({TTHHH, THTHH, THHTH, THHHT, HTTHH, </a:t>
            </a:r>
            <a:br>
              <a:rPr lang="en"/>
            </a:br>
            <a:r>
              <a:rPr lang="en"/>
              <a:t>	     HTHTH,HTHHT, HHTTH, HHTHT, HHHTT}) = 10/32</a:t>
            </a:r>
            <a:endParaRPr/>
          </a:p>
          <a:p>
            <a:pPr indent="0" lvl="0" marL="0" rtl="0" algn="l">
              <a:lnSpc>
                <a:spcPct val="115000"/>
              </a:lnSpc>
              <a:spcBef>
                <a:spcPts val="1200"/>
              </a:spcBef>
              <a:spcAft>
                <a:spcPts val="0"/>
              </a:spcAft>
              <a:buSzPct val="117647"/>
              <a:buNone/>
            </a:pPr>
            <a:r>
              <a:rPr lang="en"/>
              <a:t>P(3 tails) = P({TTTHH, TTHTH, TTHHT, THTTH, THTHT,</a:t>
            </a:r>
            <a:br>
              <a:rPr lang="en"/>
            </a:br>
            <a:r>
              <a:rPr lang="en"/>
              <a:t>	      THHTT, HTTTH, HTTHT, HTHTT, HHTTT}) = 10/32</a:t>
            </a:r>
            <a:endParaRPr/>
          </a:p>
          <a:p>
            <a:pPr indent="0" lvl="0" marL="0" rtl="0" algn="l">
              <a:lnSpc>
                <a:spcPct val="115000"/>
              </a:lnSpc>
              <a:spcBef>
                <a:spcPts val="1200"/>
              </a:spcBef>
              <a:spcAft>
                <a:spcPts val="0"/>
              </a:spcAft>
              <a:buSzPct val="117647"/>
              <a:buNone/>
            </a:pPr>
            <a:r>
              <a:rPr lang="en"/>
              <a:t>P(4 tails) = P({TTTTH, TTTHT, TTHTT, THTTT, HTTTT}) = 5/32</a:t>
            </a:r>
            <a:endParaRPr/>
          </a:p>
          <a:p>
            <a:pPr indent="0" lvl="0" marL="0" rtl="0" algn="l">
              <a:lnSpc>
                <a:spcPct val="115000"/>
              </a:lnSpc>
              <a:spcBef>
                <a:spcPts val="1200"/>
              </a:spcBef>
              <a:spcAft>
                <a:spcPts val="1200"/>
              </a:spcAft>
              <a:buSzPct val="117647"/>
              <a:buNone/>
            </a:pPr>
            <a:r>
              <a:rPr lang="en"/>
              <a:t>P(5 tails) = P(TTTTT) = 1/32</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Toss a coin 5 times (using uniform distribution)</a:t>
            </a:r>
            <a:endParaRPr/>
          </a:p>
        </p:txBody>
      </p:sp>
      <p:sp>
        <p:nvSpPr>
          <p:cNvPr id="384" name="Google Shape;384;p33"/>
          <p:cNvSpPr txBox="1"/>
          <p:nvPr>
            <p:ph idx="1" type="body"/>
          </p:nvPr>
        </p:nvSpPr>
        <p:spPr>
          <a:xfrm>
            <a:off x="311700" y="1152475"/>
            <a:ext cx="8520600" cy="371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Toss a fair coin 5 times. H is 0 and T is 1. Sample space has 32 outcomes. </a:t>
            </a:r>
            <a:endParaRPr/>
          </a:p>
          <a:p>
            <a:pPr indent="0" lvl="0" marL="0" rtl="0" algn="l">
              <a:lnSpc>
                <a:spcPct val="115000"/>
              </a:lnSpc>
              <a:spcBef>
                <a:spcPts val="1200"/>
              </a:spcBef>
              <a:spcAft>
                <a:spcPts val="0"/>
              </a:spcAft>
              <a:buSzPts val="1800"/>
              <a:buNone/>
            </a:pPr>
            <a:r>
              <a:rPr lang="en"/>
              <a:t>P(0 tails) = 5C</a:t>
            </a:r>
            <a:r>
              <a:rPr baseline="-25000" lang="en"/>
              <a:t>0</a:t>
            </a:r>
            <a:r>
              <a:rPr lang="en"/>
              <a:t> favourable out of 32 = 1/32   = P(5 heads)</a:t>
            </a:r>
            <a:br>
              <a:rPr lang="en"/>
            </a:br>
            <a:r>
              <a:rPr lang="en"/>
              <a:t>P(1 tail) = 5C</a:t>
            </a:r>
            <a:r>
              <a:rPr baseline="-25000" lang="en"/>
              <a:t>1</a:t>
            </a:r>
            <a:r>
              <a:rPr lang="en"/>
              <a:t> favourable out of 32 = 5/32     = P(4 heads)</a:t>
            </a:r>
            <a:br>
              <a:rPr lang="en"/>
            </a:br>
            <a:r>
              <a:rPr lang="en"/>
              <a:t>P(2 tails) = 5C</a:t>
            </a:r>
            <a:r>
              <a:rPr baseline="-25000" lang="en"/>
              <a:t>2</a:t>
            </a:r>
            <a:r>
              <a:rPr lang="en"/>
              <a:t> favourable out of 32 = 10/32 = P(3 heads)</a:t>
            </a:r>
            <a:br>
              <a:rPr lang="en"/>
            </a:br>
            <a:r>
              <a:rPr lang="en"/>
              <a:t>P(3 tails) = 5C</a:t>
            </a:r>
            <a:r>
              <a:rPr baseline="-25000" lang="en"/>
              <a:t>3</a:t>
            </a:r>
            <a:r>
              <a:rPr lang="en"/>
              <a:t> favourable out of 32 = 10/32 = P(2 heads)</a:t>
            </a:r>
            <a:br>
              <a:rPr lang="en"/>
            </a:br>
            <a:r>
              <a:rPr lang="en"/>
              <a:t>P(4 tails) = 5C</a:t>
            </a:r>
            <a:r>
              <a:rPr baseline="-25000" lang="en"/>
              <a:t>4</a:t>
            </a:r>
            <a:r>
              <a:rPr lang="en"/>
              <a:t> favourable out of 32 = 5/32   = P(1 head)</a:t>
            </a:r>
            <a:br>
              <a:rPr lang="en"/>
            </a:br>
            <a:r>
              <a:rPr lang="en"/>
              <a:t>P(5 tails) = 5C</a:t>
            </a:r>
            <a:r>
              <a:rPr baseline="-25000" lang="en"/>
              <a:t>5</a:t>
            </a:r>
            <a:r>
              <a:rPr lang="en"/>
              <a:t> favourable out of 32 = 1/32   = P(0 heads)</a:t>
            </a:r>
            <a:endParaRPr/>
          </a:p>
          <a:p>
            <a:pPr indent="0" lvl="0" marL="0" rtl="0" algn="l">
              <a:lnSpc>
                <a:spcPct val="115000"/>
              </a:lnSpc>
              <a:spcBef>
                <a:spcPts val="1200"/>
              </a:spcBef>
              <a:spcAft>
                <a:spcPts val="1200"/>
              </a:spcAft>
              <a:buSzPts val="1800"/>
              <a:buNone/>
            </a:pPr>
            <a:r>
              <a:rPr lang="en"/>
              <a:t>P(at least 4 tails) = P(4 tails or 5 tails) = 5/32 + 1/32 = 6/32</a:t>
            </a:r>
            <a:br>
              <a:rPr lang="en"/>
            </a:br>
            <a:r>
              <a:rPr lang="en"/>
              <a:t>P(at most 3 heads) = P(0 or 1 or 2 or 3 heads) = 1/32+5/32+10/32+10/32 = 26/32</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Computing probabilities for Bernoulli trials</a:t>
            </a:r>
            <a:endParaRPr/>
          </a:p>
        </p:txBody>
      </p:sp>
      <p:sp>
        <p:nvSpPr>
          <p:cNvPr id="390" name="Google Shape;390;p3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Perform n independent Bernoulli(p) trials.</a:t>
            </a:r>
            <a:endParaRPr/>
          </a:p>
          <a:p>
            <a:pPr indent="0" lvl="0" marL="0" rtl="0" algn="l">
              <a:lnSpc>
                <a:spcPct val="115000"/>
              </a:lnSpc>
              <a:spcBef>
                <a:spcPts val="1200"/>
              </a:spcBef>
              <a:spcAft>
                <a:spcPts val="0"/>
              </a:spcAft>
              <a:buSzPts val="1800"/>
              <a:buNone/>
            </a:pPr>
            <a:r>
              <a:rPr lang="en"/>
              <a:t>Ex: n = 10</a:t>
            </a:r>
            <a:br>
              <a:rPr lang="en"/>
            </a:br>
            <a:r>
              <a:rPr lang="en"/>
              <a:t>P(0110001011) = (1-p) x p x p x (1-p) x (1-p) x (1-p) x p x (1-p) x p x p = p</a:t>
            </a:r>
            <a:r>
              <a:rPr baseline="30000" lang="en"/>
              <a:t>5</a:t>
            </a:r>
            <a:r>
              <a:rPr lang="en"/>
              <a:t> (1-p)</a:t>
            </a:r>
            <a:r>
              <a:rPr baseline="30000" lang="en"/>
              <a:t>5</a:t>
            </a:r>
            <a:endParaRPr/>
          </a:p>
          <a:p>
            <a:pPr indent="0" lvl="0" marL="0" rtl="0" algn="l">
              <a:lnSpc>
                <a:spcPct val="115000"/>
              </a:lnSpc>
              <a:spcBef>
                <a:spcPts val="1200"/>
              </a:spcBef>
              <a:spcAft>
                <a:spcPts val="0"/>
              </a:spcAft>
              <a:buSzPts val="1800"/>
              <a:buNone/>
            </a:pPr>
            <a:r>
              <a:rPr lang="en"/>
              <a:t>In general,</a:t>
            </a:r>
            <a:endParaRPr/>
          </a:p>
          <a:p>
            <a:pPr indent="0" lvl="0" marL="0" rtl="0" algn="l">
              <a:lnSpc>
                <a:spcPct val="115000"/>
              </a:lnSpc>
              <a:spcBef>
                <a:spcPts val="1200"/>
              </a:spcBef>
              <a:spcAft>
                <a:spcPts val="0"/>
              </a:spcAft>
              <a:buSzPts val="1800"/>
              <a:buNone/>
            </a:pPr>
            <a:r>
              <a:rPr lang="en"/>
              <a:t>	P(b</a:t>
            </a:r>
            <a:r>
              <a:rPr baseline="-25000" lang="en"/>
              <a:t>1</a:t>
            </a:r>
            <a:r>
              <a:rPr lang="en"/>
              <a:t>b</a:t>
            </a:r>
            <a:r>
              <a:rPr baseline="-25000" lang="en"/>
              <a:t>2</a:t>
            </a:r>
            <a:r>
              <a:rPr lang="en"/>
              <a:t>….b</a:t>
            </a:r>
            <a:r>
              <a:rPr baseline="-25000" lang="en"/>
              <a:t>n</a:t>
            </a:r>
            <a:r>
              <a:rPr lang="en"/>
              <a:t>) = p</a:t>
            </a:r>
            <a:r>
              <a:rPr baseline="30000" lang="en"/>
              <a:t>w</a:t>
            </a:r>
            <a:r>
              <a:rPr lang="en"/>
              <a:t> (1-p)</a:t>
            </a:r>
            <a:r>
              <a:rPr baseline="30000" lang="en"/>
              <a:t>n - w</a:t>
            </a:r>
            <a:r>
              <a:rPr lang="en"/>
              <a:t>, where w = no of 1s in b</a:t>
            </a:r>
            <a:r>
              <a:rPr baseline="-25000" lang="en"/>
              <a:t>1</a:t>
            </a:r>
            <a:r>
              <a:rPr lang="en"/>
              <a:t>b</a:t>
            </a:r>
            <a:r>
              <a:rPr baseline="-25000" lang="en"/>
              <a:t>2</a:t>
            </a:r>
            <a:r>
              <a:rPr lang="en"/>
              <a:t>….b</a:t>
            </a:r>
            <a:r>
              <a:rPr baseline="-25000" lang="en"/>
              <a:t>n</a:t>
            </a:r>
            <a:endParaRPr/>
          </a:p>
          <a:p>
            <a:pPr indent="-342900" lvl="0" marL="457200" rtl="0" algn="l">
              <a:lnSpc>
                <a:spcPct val="115000"/>
              </a:lnSpc>
              <a:spcBef>
                <a:spcPts val="1200"/>
              </a:spcBef>
              <a:spcAft>
                <a:spcPts val="0"/>
              </a:spcAft>
              <a:buSzPts val="1800"/>
              <a:buChar char="●"/>
            </a:pPr>
            <a:r>
              <a:rPr lang="en"/>
              <a:t>The actual sequence of 0s and 1s does not matter. Only the number of successes matters in the probability computation.</a:t>
            </a:r>
            <a:endParaRPr/>
          </a:p>
          <a:p>
            <a:pPr indent="0" lvl="0" marL="0" rtl="0" algn="l">
              <a:lnSpc>
                <a:spcPct val="115000"/>
              </a:lnSpc>
              <a:spcBef>
                <a:spcPts val="1200"/>
              </a:spcBef>
              <a:spcAft>
                <a:spcPts val="1200"/>
              </a:spcAft>
              <a:buSzPts val="1800"/>
              <a:buNone/>
            </a:pPr>
            <a:r>
              <a:rPr lang="en"/>
              <a:t>Ex: P(b</a:t>
            </a:r>
            <a:r>
              <a:rPr baseline="-25000" lang="en"/>
              <a:t>1</a:t>
            </a:r>
            <a:r>
              <a:rPr lang="en"/>
              <a:t>b</a:t>
            </a:r>
            <a:r>
              <a:rPr baseline="-25000" lang="en"/>
              <a:t>2</a:t>
            </a:r>
            <a:r>
              <a:rPr lang="en"/>
              <a:t>….b</a:t>
            </a:r>
            <a:r>
              <a:rPr baseline="-25000" lang="en"/>
              <a:t>200</a:t>
            </a:r>
            <a:r>
              <a:rPr baseline="30000" lang="en"/>
              <a:t> </a:t>
            </a:r>
            <a:r>
              <a:rPr lang="en"/>
              <a:t>with 36 1s) = p</a:t>
            </a:r>
            <a:r>
              <a:rPr baseline="30000" lang="en"/>
              <a:t>36</a:t>
            </a:r>
            <a:r>
              <a:rPr lang="en"/>
              <a:t> (1 - p)</a:t>
            </a:r>
            <a:r>
              <a:rPr baseline="30000" lang="en"/>
              <a:t>200 - 36</a:t>
            </a:r>
            <a:r>
              <a:rPr lang="en"/>
              <a:t> = p</a:t>
            </a:r>
            <a:r>
              <a:rPr baseline="30000" lang="en"/>
              <a:t>36</a:t>
            </a:r>
            <a:r>
              <a:rPr lang="en"/>
              <a:t> (1 - p)</a:t>
            </a:r>
            <a:r>
              <a:rPr baseline="30000" lang="en"/>
              <a:t>164</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Toss a biased coin 5 times</a:t>
            </a:r>
            <a:endParaRPr/>
          </a:p>
        </p:txBody>
      </p:sp>
      <p:sp>
        <p:nvSpPr>
          <p:cNvPr id="396" name="Google Shape;396;p35"/>
          <p:cNvSpPr txBox="1"/>
          <p:nvPr>
            <p:ph idx="1" type="body"/>
          </p:nvPr>
        </p:nvSpPr>
        <p:spPr>
          <a:xfrm>
            <a:off x="311700" y="1152475"/>
            <a:ext cx="8520600" cy="37125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H is 0 and T is 1. P(H) = 1/3, P(T) = 2/3. </a:t>
            </a:r>
            <a:endParaRPr/>
          </a:p>
          <a:p>
            <a:pPr indent="0" lvl="0" marL="0" rtl="0" algn="l">
              <a:lnSpc>
                <a:spcPct val="115000"/>
              </a:lnSpc>
              <a:spcBef>
                <a:spcPts val="1200"/>
              </a:spcBef>
              <a:spcAft>
                <a:spcPts val="0"/>
              </a:spcAft>
              <a:buSzPts val="1800"/>
              <a:buNone/>
            </a:pPr>
            <a:r>
              <a:rPr lang="en"/>
              <a:t>P(HHHHH) = (1/3)</a:t>
            </a:r>
            <a:r>
              <a:rPr baseline="30000" lang="en"/>
              <a:t>5</a:t>
            </a:r>
            <a:r>
              <a:rPr lang="en"/>
              <a:t>, P(TTTTT) = (2/3)</a:t>
            </a:r>
            <a:r>
              <a:rPr baseline="30000" lang="en"/>
              <a:t>5</a:t>
            </a:r>
            <a:endParaRPr/>
          </a:p>
          <a:p>
            <a:pPr indent="0" lvl="0" marL="0" rtl="0" algn="l">
              <a:lnSpc>
                <a:spcPct val="115000"/>
              </a:lnSpc>
              <a:spcBef>
                <a:spcPts val="1200"/>
              </a:spcBef>
              <a:spcAft>
                <a:spcPts val="0"/>
              </a:spcAft>
              <a:buSzPts val="1800"/>
              <a:buNone/>
            </a:pPr>
            <a:r>
              <a:rPr lang="en"/>
              <a:t>P(1 tail) = P({THHHH, HTHHH, HHTHH, HHHTH, HHHHT}) = 5(2/3)(1/3)</a:t>
            </a:r>
            <a:r>
              <a:rPr baseline="30000" lang="en"/>
              <a:t>4</a:t>
            </a:r>
            <a:endParaRPr/>
          </a:p>
          <a:p>
            <a:pPr indent="0" lvl="0" marL="0" rtl="0" algn="l">
              <a:lnSpc>
                <a:spcPct val="115000"/>
              </a:lnSpc>
              <a:spcBef>
                <a:spcPts val="1200"/>
              </a:spcBef>
              <a:spcAft>
                <a:spcPts val="0"/>
              </a:spcAft>
              <a:buSzPts val="1800"/>
              <a:buNone/>
            </a:pPr>
            <a:r>
              <a:rPr lang="en"/>
              <a:t>P(2 tails) = P({TTHHH, THTHH, THHTH, THHHT, HTTHH, </a:t>
            </a:r>
            <a:br>
              <a:rPr lang="en"/>
            </a:br>
            <a:r>
              <a:rPr lang="en"/>
              <a:t>	       HTHTH,HTHHT, HHTTH, HHTHT, HHHTT}) = 5(2/3)</a:t>
            </a:r>
            <a:r>
              <a:rPr baseline="30000" lang="en"/>
              <a:t>2</a:t>
            </a:r>
            <a:r>
              <a:rPr lang="en"/>
              <a:t>(1/3)</a:t>
            </a:r>
            <a:r>
              <a:rPr baseline="30000" lang="en"/>
              <a:t>3</a:t>
            </a:r>
            <a:endParaRPr/>
          </a:p>
          <a:p>
            <a:pPr indent="0" lvl="0" marL="0" rtl="0" algn="l">
              <a:lnSpc>
                <a:spcPct val="115000"/>
              </a:lnSpc>
              <a:spcBef>
                <a:spcPts val="1200"/>
              </a:spcBef>
              <a:spcAft>
                <a:spcPts val="0"/>
              </a:spcAft>
              <a:buSzPts val="1800"/>
              <a:buNone/>
            </a:pPr>
            <a:r>
              <a:rPr lang="en"/>
              <a:t>P(3 tails) = P({TTTHH, TTHTH, TTHHT, THTTH, THTHT,</a:t>
            </a:r>
            <a:br>
              <a:rPr lang="en"/>
            </a:br>
            <a:r>
              <a:rPr lang="en"/>
              <a:t>	         THHTT, HTTTH, HTTHT, HTHTT, HHTTT}) =  5(2/3)</a:t>
            </a:r>
            <a:r>
              <a:rPr baseline="30000" lang="en"/>
              <a:t>3</a:t>
            </a:r>
            <a:r>
              <a:rPr lang="en"/>
              <a:t>(1/3)</a:t>
            </a:r>
            <a:r>
              <a:rPr baseline="30000" lang="en"/>
              <a:t>2</a:t>
            </a:r>
            <a:endParaRPr/>
          </a:p>
          <a:p>
            <a:pPr indent="0" lvl="0" marL="0" rtl="0" algn="l">
              <a:lnSpc>
                <a:spcPct val="115000"/>
              </a:lnSpc>
              <a:spcBef>
                <a:spcPts val="1200"/>
              </a:spcBef>
              <a:spcAft>
                <a:spcPts val="1200"/>
              </a:spcAft>
              <a:buSzPts val="1800"/>
              <a:buNone/>
            </a:pPr>
            <a:r>
              <a:rPr lang="en"/>
              <a:t>P(4 tails) = P({TTTTH, TTTHT, TTHTT, THTTT, HTTTT}) =  5(2/3)</a:t>
            </a:r>
            <a:r>
              <a:rPr baseline="30000" lang="en"/>
              <a:t>4</a:t>
            </a:r>
            <a:r>
              <a:rPr lang="en"/>
              <a:t>(1/3)</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Revisit Example: Incidence of a disease</a:t>
            </a:r>
            <a:endParaRPr/>
          </a:p>
        </p:txBody>
      </p:sp>
      <p:sp>
        <p:nvSpPr>
          <p:cNvPr id="402" name="Google Shape;402;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Suppose a fraction of the people in a city have a disease.</a:t>
            </a:r>
            <a:br>
              <a:rPr lang="en"/>
            </a:br>
            <a:endParaRPr/>
          </a:p>
          <a:p>
            <a:pPr indent="-342900" lvl="0" marL="457200" rtl="0" algn="l">
              <a:lnSpc>
                <a:spcPct val="115000"/>
              </a:lnSpc>
              <a:spcBef>
                <a:spcPts val="0"/>
              </a:spcBef>
              <a:spcAft>
                <a:spcPts val="0"/>
              </a:spcAft>
              <a:buSzPts val="1800"/>
              <a:buChar char="●"/>
            </a:pPr>
            <a:r>
              <a:rPr lang="en"/>
              <a:t>Trial: Select a random person from a population and test for a disease. </a:t>
            </a:r>
            <a:endParaRPr/>
          </a:p>
          <a:p>
            <a:pPr indent="-342900" lvl="0" marL="457200" rtl="0" algn="l">
              <a:lnSpc>
                <a:spcPct val="115000"/>
              </a:lnSpc>
              <a:spcBef>
                <a:spcPts val="0"/>
              </a:spcBef>
              <a:spcAft>
                <a:spcPts val="0"/>
              </a:spcAft>
              <a:buSzPts val="1800"/>
              <a:buChar char="●"/>
            </a:pPr>
            <a:r>
              <a:rPr lang="en"/>
              <a:t>We will assume that the probability that a person tests positive is ‘p’.</a:t>
            </a:r>
            <a:endParaRPr/>
          </a:p>
          <a:p>
            <a:pPr indent="-317500" lvl="1" marL="914400" rtl="0" algn="l">
              <a:lnSpc>
                <a:spcPct val="115000"/>
              </a:lnSpc>
              <a:spcBef>
                <a:spcPts val="0"/>
              </a:spcBef>
              <a:spcAft>
                <a:spcPts val="0"/>
              </a:spcAft>
              <a:buSzPts val="1400"/>
              <a:buChar char="○"/>
            </a:pPr>
            <a:r>
              <a:rPr lang="en"/>
              <a:t>Can ‘p’ be assumed to be the fraction having the disease? When is this a good assumption?</a:t>
            </a:r>
            <a:br>
              <a:rPr lang="en"/>
            </a:br>
            <a:endParaRPr/>
          </a:p>
          <a:p>
            <a:pPr indent="-342900" lvl="0" marL="457200" rtl="0" algn="l">
              <a:lnSpc>
                <a:spcPct val="115000"/>
              </a:lnSpc>
              <a:spcBef>
                <a:spcPts val="0"/>
              </a:spcBef>
              <a:spcAft>
                <a:spcPts val="0"/>
              </a:spcAft>
              <a:buSzPts val="1800"/>
              <a:buChar char="●"/>
            </a:pPr>
            <a:r>
              <a:rPr lang="en"/>
              <a:t>Repeat trial n times. Assume each trial is independent.</a:t>
            </a:r>
            <a:endParaRPr/>
          </a:p>
          <a:p>
            <a:pPr indent="0" lvl="0" marL="0" rtl="0" algn="ctr">
              <a:lnSpc>
                <a:spcPct val="115000"/>
              </a:lnSpc>
              <a:spcBef>
                <a:spcPts val="1200"/>
              </a:spcBef>
              <a:spcAft>
                <a:spcPts val="0"/>
              </a:spcAft>
              <a:buSzPts val="1800"/>
              <a:buNone/>
            </a:pPr>
            <a:r>
              <a:rPr lang="en"/>
              <a:t>Observation: number of times the test was positive</a:t>
            </a:r>
            <a:endParaRPr/>
          </a:p>
          <a:p>
            <a:pPr indent="-342900" lvl="0" marL="457200" rtl="0" algn="l">
              <a:lnSpc>
                <a:spcPct val="115000"/>
              </a:lnSpc>
              <a:spcBef>
                <a:spcPts val="1200"/>
              </a:spcBef>
              <a:spcAft>
                <a:spcPts val="0"/>
              </a:spcAft>
              <a:buSzPts val="1800"/>
              <a:buChar char="●"/>
            </a:pPr>
            <a:r>
              <a:rPr lang="en"/>
              <a:t>Questions: What is the distribution of the above number in terms of n and p?</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sp>
        <p:nvSpPr>
          <p:cNvPr id="407" name="Google Shape;407;p3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Binomial distribution</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Binomial(n, p): Binomial distribution</a:t>
            </a:r>
            <a:endParaRPr/>
          </a:p>
        </p:txBody>
      </p:sp>
      <p:sp>
        <p:nvSpPr>
          <p:cNvPr id="413" name="Google Shape;413;p38"/>
          <p:cNvSpPr txBox="1"/>
          <p:nvPr>
            <p:ph idx="1" type="body"/>
          </p:nvPr>
        </p:nvSpPr>
        <p:spPr>
          <a:xfrm>
            <a:off x="311700" y="1152475"/>
            <a:ext cx="8520600" cy="36609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629"/>
              <a:t>Perform n independent Bernoulli(p) trials.</a:t>
            </a:r>
            <a:endParaRPr sz="1629"/>
          </a:p>
          <a:p>
            <a:pPr indent="0" lvl="0" marL="0" rtl="0" algn="l">
              <a:lnSpc>
                <a:spcPct val="95000"/>
              </a:lnSpc>
              <a:spcBef>
                <a:spcPts val="1200"/>
              </a:spcBef>
              <a:spcAft>
                <a:spcPts val="0"/>
              </a:spcAft>
              <a:buSzPts val="935"/>
              <a:buNone/>
            </a:pPr>
            <a:r>
              <a:rPr lang="en" sz="1629"/>
              <a:t>Outcome: number of successes, which we will denote B(n,p) or B in short</a:t>
            </a:r>
            <a:endParaRPr sz="1629"/>
          </a:p>
          <a:p>
            <a:pPr indent="0" lvl="0" marL="0" rtl="0" algn="l">
              <a:lnSpc>
                <a:spcPct val="95000"/>
              </a:lnSpc>
              <a:spcBef>
                <a:spcPts val="1200"/>
              </a:spcBef>
              <a:spcAft>
                <a:spcPts val="0"/>
              </a:spcAft>
              <a:buSzPts val="935"/>
              <a:buNone/>
            </a:pPr>
            <a:r>
              <a:rPr lang="en" sz="1629"/>
              <a:t>Sample space: { 0, 1, 2, …, n }</a:t>
            </a:r>
            <a:endParaRPr sz="1629"/>
          </a:p>
          <a:p>
            <a:pPr indent="0" lvl="0" marL="0" rtl="0" algn="l">
              <a:lnSpc>
                <a:spcPct val="95000"/>
              </a:lnSpc>
              <a:spcBef>
                <a:spcPts val="1200"/>
              </a:spcBef>
              <a:spcAft>
                <a:spcPts val="0"/>
              </a:spcAft>
              <a:buSzPts val="935"/>
              <a:buNone/>
            </a:pPr>
            <a:r>
              <a:rPr lang="en" sz="1629"/>
              <a:t>Ex: n = 3</a:t>
            </a:r>
            <a:endParaRPr sz="1629"/>
          </a:p>
          <a:p>
            <a:pPr indent="0" lvl="0" marL="0" rtl="0" algn="l">
              <a:lnSpc>
                <a:spcPct val="95000"/>
              </a:lnSpc>
              <a:spcBef>
                <a:spcPts val="1200"/>
              </a:spcBef>
              <a:spcAft>
                <a:spcPts val="0"/>
              </a:spcAft>
              <a:buSzPts val="935"/>
              <a:buNone/>
            </a:pPr>
            <a:r>
              <a:rPr lang="en" sz="1629"/>
              <a:t>P(B = 0) = P(trials result in 000) = (1 - p)</a:t>
            </a:r>
            <a:r>
              <a:rPr baseline="30000" lang="en" sz="1629"/>
              <a:t>3</a:t>
            </a:r>
            <a:endParaRPr sz="1629"/>
          </a:p>
          <a:p>
            <a:pPr indent="0" lvl="0" marL="0" rtl="0" algn="l">
              <a:lnSpc>
                <a:spcPct val="95000"/>
              </a:lnSpc>
              <a:spcBef>
                <a:spcPts val="1200"/>
              </a:spcBef>
              <a:spcAft>
                <a:spcPts val="0"/>
              </a:spcAft>
              <a:buSzPts val="935"/>
              <a:buNone/>
            </a:pPr>
            <a:r>
              <a:rPr lang="en" sz="1629"/>
              <a:t>P(B = 1) = P(trials result in 001 or 010 or 100) = p(1 - p)</a:t>
            </a:r>
            <a:r>
              <a:rPr baseline="30000" lang="en" sz="1629"/>
              <a:t>2</a:t>
            </a:r>
            <a:r>
              <a:rPr lang="en" sz="1629"/>
              <a:t>+p(1 - p)</a:t>
            </a:r>
            <a:r>
              <a:rPr baseline="30000" lang="en" sz="1629"/>
              <a:t>2</a:t>
            </a:r>
            <a:r>
              <a:rPr lang="en" sz="1629"/>
              <a:t>+p(1 - p)</a:t>
            </a:r>
            <a:r>
              <a:rPr baseline="30000" lang="en" sz="1629"/>
              <a:t>2</a:t>
            </a:r>
            <a:r>
              <a:rPr lang="en" sz="1629"/>
              <a:t> = 3p(1-p)</a:t>
            </a:r>
            <a:r>
              <a:rPr baseline="30000" lang="en" sz="1629"/>
              <a:t>2</a:t>
            </a:r>
            <a:endParaRPr sz="1629"/>
          </a:p>
          <a:p>
            <a:pPr indent="0" lvl="0" marL="0" rtl="0" algn="l">
              <a:lnSpc>
                <a:spcPct val="95000"/>
              </a:lnSpc>
              <a:spcBef>
                <a:spcPts val="1200"/>
              </a:spcBef>
              <a:spcAft>
                <a:spcPts val="0"/>
              </a:spcAft>
              <a:buSzPts val="935"/>
              <a:buNone/>
            </a:pPr>
            <a:r>
              <a:rPr lang="en" sz="1629"/>
              <a:t>P(B = 2) = P(trials result in 011 or 101 or 110) =  p</a:t>
            </a:r>
            <a:r>
              <a:rPr baseline="30000" lang="en" sz="1629"/>
              <a:t>2</a:t>
            </a:r>
            <a:r>
              <a:rPr lang="en" sz="1629"/>
              <a:t>(1 - p)+p</a:t>
            </a:r>
            <a:r>
              <a:rPr baseline="30000" lang="en" sz="1629"/>
              <a:t>2</a:t>
            </a:r>
            <a:r>
              <a:rPr lang="en" sz="1629"/>
              <a:t>(1 - p)+p</a:t>
            </a:r>
            <a:r>
              <a:rPr baseline="30000" lang="en" sz="1629"/>
              <a:t>2</a:t>
            </a:r>
            <a:r>
              <a:rPr lang="en" sz="1629"/>
              <a:t>(1 - p) = 3p</a:t>
            </a:r>
            <a:r>
              <a:rPr baseline="30000" lang="en" sz="1629"/>
              <a:t>2</a:t>
            </a:r>
            <a:r>
              <a:rPr lang="en" sz="1629"/>
              <a:t>(1-p)</a:t>
            </a:r>
            <a:endParaRPr sz="1629"/>
          </a:p>
          <a:p>
            <a:pPr indent="0" lvl="0" marL="0" rtl="0" algn="l">
              <a:lnSpc>
                <a:spcPct val="95000"/>
              </a:lnSpc>
              <a:spcBef>
                <a:spcPts val="1200"/>
              </a:spcBef>
              <a:spcAft>
                <a:spcPts val="1200"/>
              </a:spcAft>
              <a:buSzPts val="935"/>
              <a:buNone/>
            </a:pPr>
            <a:r>
              <a:rPr lang="en" sz="1629"/>
              <a:t>P(B = 3) = P(trials result in 011) = p</a:t>
            </a:r>
            <a:r>
              <a:rPr baseline="30000" lang="en" sz="1629"/>
              <a:t>3</a:t>
            </a:r>
            <a:r>
              <a:rPr lang="en" sz="1629"/>
              <a:t> </a:t>
            </a:r>
            <a:endParaRPr sz="1629"/>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Binomial(5, p)</a:t>
            </a:r>
            <a:endParaRPr/>
          </a:p>
        </p:txBody>
      </p:sp>
      <p:sp>
        <p:nvSpPr>
          <p:cNvPr id="419" name="Google Shape;419;p39"/>
          <p:cNvSpPr txBox="1"/>
          <p:nvPr>
            <p:ph idx="1" type="body"/>
          </p:nvPr>
        </p:nvSpPr>
        <p:spPr>
          <a:xfrm>
            <a:off x="311700" y="1000075"/>
            <a:ext cx="8709900" cy="3660900"/>
          </a:xfrm>
          <a:prstGeom prst="rect">
            <a:avLst/>
          </a:prstGeom>
          <a:noFill/>
          <a:ln>
            <a:noFill/>
          </a:ln>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en" sz="1629"/>
              <a:t>n = 5. B = no of successes in n Bernoulli(p) trials</a:t>
            </a:r>
            <a:endParaRPr sz="1629"/>
          </a:p>
          <a:p>
            <a:pPr indent="0" lvl="0" marL="0" rtl="0" algn="l">
              <a:lnSpc>
                <a:spcPct val="95000"/>
              </a:lnSpc>
              <a:spcBef>
                <a:spcPts val="1200"/>
              </a:spcBef>
              <a:spcAft>
                <a:spcPts val="0"/>
              </a:spcAft>
              <a:buSzPts val="935"/>
              <a:buNone/>
            </a:pPr>
            <a:r>
              <a:rPr lang="en" sz="1629"/>
              <a:t>P(B = 0) = P(trials result in 00000) = (1 - p)</a:t>
            </a:r>
            <a:r>
              <a:rPr baseline="30000" lang="en" sz="1629"/>
              <a:t>5</a:t>
            </a:r>
            <a:endParaRPr sz="1629"/>
          </a:p>
          <a:p>
            <a:pPr indent="0" lvl="0" marL="0" rtl="0" algn="l">
              <a:lnSpc>
                <a:spcPct val="95000"/>
              </a:lnSpc>
              <a:spcBef>
                <a:spcPts val="1200"/>
              </a:spcBef>
              <a:spcAft>
                <a:spcPts val="0"/>
              </a:spcAft>
              <a:buSzPts val="935"/>
              <a:buNone/>
            </a:pPr>
            <a:r>
              <a:rPr lang="en" sz="1629"/>
              <a:t>P(B = 1) = P(trials result in 00001 or 00010 or 00100 or 01000 or 10000) </a:t>
            </a:r>
            <a:br>
              <a:rPr lang="en" sz="1629"/>
            </a:br>
            <a:r>
              <a:rPr lang="en" sz="1629"/>
              <a:t>              = p(1 - p)</a:t>
            </a:r>
            <a:r>
              <a:rPr baseline="30000" lang="en" sz="1629"/>
              <a:t>4</a:t>
            </a:r>
            <a:r>
              <a:rPr lang="en" sz="1629"/>
              <a:t> + p(1 - p)</a:t>
            </a:r>
            <a:r>
              <a:rPr baseline="30000" lang="en" sz="1629"/>
              <a:t>4</a:t>
            </a:r>
            <a:r>
              <a:rPr lang="en" sz="1629"/>
              <a:t> + p(1 - p)</a:t>
            </a:r>
            <a:r>
              <a:rPr baseline="30000" lang="en" sz="1629"/>
              <a:t>4</a:t>
            </a:r>
            <a:r>
              <a:rPr lang="en" sz="1629"/>
              <a:t> + p(1 - p)</a:t>
            </a:r>
            <a:r>
              <a:rPr baseline="30000" lang="en" sz="1629"/>
              <a:t>4</a:t>
            </a:r>
            <a:r>
              <a:rPr lang="en" sz="1629"/>
              <a:t> + p(1 - p)</a:t>
            </a:r>
            <a:r>
              <a:rPr baseline="30000" lang="en" sz="1629"/>
              <a:t>4</a:t>
            </a:r>
            <a:r>
              <a:rPr lang="en" sz="1629"/>
              <a:t> = 5p(1-p)</a:t>
            </a:r>
            <a:r>
              <a:rPr baseline="30000" lang="en" sz="1629"/>
              <a:t>2</a:t>
            </a:r>
            <a:endParaRPr sz="1629"/>
          </a:p>
          <a:p>
            <a:pPr indent="0" lvl="0" marL="0" rtl="0" algn="l">
              <a:lnSpc>
                <a:spcPct val="95000"/>
              </a:lnSpc>
              <a:spcBef>
                <a:spcPts val="1200"/>
              </a:spcBef>
              <a:spcAft>
                <a:spcPts val="0"/>
              </a:spcAft>
              <a:buSzPts val="935"/>
              <a:buNone/>
            </a:pPr>
            <a:r>
              <a:rPr lang="en" sz="1629"/>
              <a:t>P(B = 2) = P(trials result in 00011 or 00101 or 01001 or 10001 or 00110</a:t>
            </a:r>
            <a:br>
              <a:rPr lang="en" sz="1629"/>
            </a:br>
            <a:r>
              <a:rPr lang="en" sz="1629"/>
              <a:t>	     01010 or 10010 or 01100 or 10100 or 11000) </a:t>
            </a:r>
            <a:br>
              <a:rPr lang="en" sz="1629"/>
            </a:br>
            <a:r>
              <a:rPr lang="en" sz="1629"/>
              <a:t>               =  p</a:t>
            </a:r>
            <a:r>
              <a:rPr baseline="30000" lang="en" sz="1629"/>
              <a:t>2</a:t>
            </a:r>
            <a:r>
              <a:rPr lang="en" sz="1629"/>
              <a:t>(1 - p)</a:t>
            </a:r>
            <a:r>
              <a:rPr baseline="30000" lang="en" sz="1629"/>
              <a:t>3</a:t>
            </a:r>
            <a:r>
              <a:rPr lang="en" sz="1629"/>
              <a:t> + p</a:t>
            </a:r>
            <a:r>
              <a:rPr baseline="30000" lang="en" sz="1629"/>
              <a:t>2</a:t>
            </a:r>
            <a:r>
              <a:rPr lang="en" sz="1629"/>
              <a:t>(1 - p)</a:t>
            </a:r>
            <a:r>
              <a:rPr baseline="30000" lang="en" sz="1629"/>
              <a:t>3</a:t>
            </a:r>
            <a:r>
              <a:rPr lang="en" sz="1629"/>
              <a:t> + p</a:t>
            </a:r>
            <a:r>
              <a:rPr baseline="30000" lang="en" sz="1629"/>
              <a:t>2</a:t>
            </a:r>
            <a:r>
              <a:rPr lang="en" sz="1629"/>
              <a:t>(1 - p)</a:t>
            </a:r>
            <a:r>
              <a:rPr baseline="30000" lang="en" sz="1629"/>
              <a:t>3</a:t>
            </a:r>
            <a:r>
              <a:rPr lang="en" sz="1629"/>
              <a:t> + p</a:t>
            </a:r>
            <a:r>
              <a:rPr baseline="30000" lang="en" sz="1629"/>
              <a:t>2</a:t>
            </a:r>
            <a:r>
              <a:rPr lang="en" sz="1629"/>
              <a:t>(1 - p)</a:t>
            </a:r>
            <a:r>
              <a:rPr baseline="30000" lang="en" sz="1629"/>
              <a:t>3</a:t>
            </a:r>
            <a:r>
              <a:rPr lang="en" sz="1629"/>
              <a:t> + p</a:t>
            </a:r>
            <a:r>
              <a:rPr baseline="30000" lang="en" sz="1629"/>
              <a:t>2</a:t>
            </a:r>
            <a:r>
              <a:rPr lang="en" sz="1629"/>
              <a:t>(1 - p)</a:t>
            </a:r>
            <a:r>
              <a:rPr baseline="30000" lang="en" sz="1629"/>
              <a:t>3</a:t>
            </a:r>
            <a:r>
              <a:rPr lang="en" sz="1629"/>
              <a:t> + p</a:t>
            </a:r>
            <a:r>
              <a:rPr baseline="30000" lang="en" sz="1629"/>
              <a:t>2</a:t>
            </a:r>
            <a:r>
              <a:rPr lang="en" sz="1629"/>
              <a:t>(1 - p)</a:t>
            </a:r>
            <a:r>
              <a:rPr baseline="30000" lang="en" sz="1629"/>
              <a:t>3</a:t>
            </a:r>
            <a:r>
              <a:rPr lang="en" sz="1629"/>
              <a:t> +p</a:t>
            </a:r>
            <a:r>
              <a:rPr baseline="30000" lang="en" sz="1629"/>
              <a:t>2</a:t>
            </a:r>
            <a:r>
              <a:rPr lang="en" sz="1629"/>
              <a:t>(1 - p)</a:t>
            </a:r>
            <a:r>
              <a:rPr baseline="30000" lang="en" sz="1629"/>
              <a:t>3</a:t>
            </a:r>
            <a:r>
              <a:rPr lang="en" sz="1629"/>
              <a:t> +</a:t>
            </a:r>
            <a:br>
              <a:rPr lang="en" sz="1629"/>
            </a:br>
            <a:r>
              <a:rPr lang="en" sz="1629"/>
              <a:t>	   p</a:t>
            </a:r>
            <a:r>
              <a:rPr baseline="30000" lang="en" sz="1629"/>
              <a:t>2</a:t>
            </a:r>
            <a:r>
              <a:rPr lang="en" sz="1629"/>
              <a:t>(1 - p)</a:t>
            </a:r>
            <a:r>
              <a:rPr baseline="30000" lang="en" sz="1629"/>
              <a:t>3</a:t>
            </a:r>
            <a:r>
              <a:rPr lang="en" sz="1629"/>
              <a:t> + p</a:t>
            </a:r>
            <a:r>
              <a:rPr baseline="30000" lang="en" sz="1629"/>
              <a:t>2</a:t>
            </a:r>
            <a:r>
              <a:rPr lang="en" sz="1629"/>
              <a:t>(1 - p)</a:t>
            </a:r>
            <a:r>
              <a:rPr baseline="30000" lang="en" sz="1629"/>
              <a:t>3</a:t>
            </a:r>
            <a:r>
              <a:rPr lang="en" sz="1629"/>
              <a:t> + p</a:t>
            </a:r>
            <a:r>
              <a:rPr baseline="30000" lang="en" sz="1629"/>
              <a:t>2</a:t>
            </a:r>
            <a:r>
              <a:rPr lang="en" sz="1629"/>
              <a:t>(1 - p)</a:t>
            </a:r>
            <a:r>
              <a:rPr baseline="30000" lang="en" sz="1629"/>
              <a:t>3</a:t>
            </a:r>
            <a:r>
              <a:rPr lang="en" sz="1629"/>
              <a:t> = 10p</a:t>
            </a:r>
            <a:r>
              <a:rPr baseline="30000" lang="en" sz="1629"/>
              <a:t>2</a:t>
            </a:r>
            <a:r>
              <a:rPr lang="en" sz="1629"/>
              <a:t>(1-p)</a:t>
            </a:r>
            <a:r>
              <a:rPr baseline="30000" lang="en" sz="1629"/>
              <a:t>3</a:t>
            </a:r>
            <a:r>
              <a:rPr lang="en" sz="1629"/>
              <a:t> </a:t>
            </a:r>
            <a:endParaRPr sz="1629"/>
          </a:p>
          <a:p>
            <a:pPr indent="0" lvl="0" marL="0" rtl="0" algn="l">
              <a:lnSpc>
                <a:spcPct val="95000"/>
              </a:lnSpc>
              <a:spcBef>
                <a:spcPts val="1200"/>
              </a:spcBef>
              <a:spcAft>
                <a:spcPts val="0"/>
              </a:spcAft>
              <a:buSzPts val="935"/>
              <a:buNone/>
            </a:pPr>
            <a:r>
              <a:rPr lang="en" sz="1629"/>
              <a:t>P(B = 3) = P(trials result in 3 1s)=(no of favourable outcomes)p</a:t>
            </a:r>
            <a:r>
              <a:rPr baseline="30000" lang="en" sz="1629"/>
              <a:t>3</a:t>
            </a:r>
            <a:r>
              <a:rPr lang="en" sz="1629"/>
              <a:t>(1-p)</a:t>
            </a:r>
            <a:r>
              <a:rPr baseline="30000" lang="en" sz="1629"/>
              <a:t>2</a:t>
            </a:r>
            <a:r>
              <a:rPr lang="en" sz="1629"/>
              <a:t>=5C</a:t>
            </a:r>
            <a:r>
              <a:rPr baseline="-25000" lang="en" sz="1629"/>
              <a:t>3</a:t>
            </a:r>
            <a:r>
              <a:rPr lang="en" sz="1629"/>
              <a:t>p</a:t>
            </a:r>
            <a:r>
              <a:rPr baseline="30000" lang="en" sz="1629"/>
              <a:t>3</a:t>
            </a:r>
            <a:r>
              <a:rPr lang="en" sz="1629"/>
              <a:t>(1-p)</a:t>
            </a:r>
            <a:r>
              <a:rPr baseline="30000" lang="en" sz="1629"/>
              <a:t>2</a:t>
            </a:r>
            <a:r>
              <a:rPr lang="en" sz="1629"/>
              <a:t>=10p</a:t>
            </a:r>
            <a:r>
              <a:rPr baseline="30000" lang="en" sz="1629"/>
              <a:t>3</a:t>
            </a:r>
            <a:r>
              <a:rPr lang="en" sz="1629"/>
              <a:t>(1-p)</a:t>
            </a:r>
            <a:r>
              <a:rPr baseline="30000" lang="en" sz="1629"/>
              <a:t>2</a:t>
            </a:r>
            <a:endParaRPr sz="1629"/>
          </a:p>
          <a:p>
            <a:pPr indent="0" lvl="0" marL="0" rtl="0" algn="l">
              <a:lnSpc>
                <a:spcPct val="95000"/>
              </a:lnSpc>
              <a:spcBef>
                <a:spcPts val="1200"/>
              </a:spcBef>
              <a:spcAft>
                <a:spcPts val="0"/>
              </a:spcAft>
              <a:buSzPts val="935"/>
              <a:buNone/>
            </a:pPr>
            <a:r>
              <a:rPr lang="en" sz="1629"/>
              <a:t>P(B = 4) = P(trials result in 4 1s)=(no of favourable outcomes)p</a:t>
            </a:r>
            <a:r>
              <a:rPr baseline="30000" lang="en" sz="1629"/>
              <a:t>4</a:t>
            </a:r>
            <a:r>
              <a:rPr lang="en" sz="1629"/>
              <a:t>(1-p) = 5C</a:t>
            </a:r>
            <a:r>
              <a:rPr baseline="-25000" lang="en" sz="1629"/>
              <a:t>4</a:t>
            </a:r>
            <a:r>
              <a:rPr lang="en" sz="1629"/>
              <a:t>p</a:t>
            </a:r>
            <a:r>
              <a:rPr baseline="30000" lang="en" sz="1629"/>
              <a:t>4</a:t>
            </a:r>
            <a:r>
              <a:rPr lang="en" sz="1629"/>
              <a:t>(1-p) = 5p</a:t>
            </a:r>
            <a:r>
              <a:rPr baseline="30000" lang="en" sz="1629"/>
              <a:t>4</a:t>
            </a:r>
            <a:r>
              <a:rPr lang="en" sz="1629"/>
              <a:t>(1-p)</a:t>
            </a:r>
            <a:endParaRPr sz="1629"/>
          </a:p>
          <a:p>
            <a:pPr indent="0" lvl="0" marL="0" rtl="0" algn="l">
              <a:lnSpc>
                <a:spcPct val="95000"/>
              </a:lnSpc>
              <a:spcBef>
                <a:spcPts val="1200"/>
              </a:spcBef>
              <a:spcAft>
                <a:spcPts val="1200"/>
              </a:spcAft>
              <a:buSzPts val="935"/>
              <a:buNone/>
            </a:pPr>
            <a:r>
              <a:rPr lang="en" sz="1629"/>
              <a:t>P(B = 5) = P(trials result in 5 1s) = p</a:t>
            </a:r>
            <a:r>
              <a:rPr baseline="30000" lang="en" sz="1629"/>
              <a:t>5</a:t>
            </a:r>
            <a:endParaRPr sz="1629"/>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40"/>
          <p:cNvSpPr txBox="1"/>
          <p:nvPr>
            <p:ph type="title"/>
          </p:nvPr>
        </p:nvSpPr>
        <p:spPr>
          <a:xfrm>
            <a:off x="311700" y="2926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Binomial(n,p): small n</a:t>
            </a:r>
            <a:endParaRPr/>
          </a:p>
        </p:txBody>
      </p:sp>
      <p:graphicFrame>
        <p:nvGraphicFramePr>
          <p:cNvPr id="425" name="Google Shape;425;p40"/>
          <p:cNvGraphicFramePr/>
          <p:nvPr/>
        </p:nvGraphicFramePr>
        <p:xfrm>
          <a:off x="394475" y="1304250"/>
          <a:ext cx="3000000" cy="3000000"/>
        </p:xfrm>
        <a:graphic>
          <a:graphicData uri="http://schemas.openxmlformats.org/drawingml/2006/table">
            <a:tbl>
              <a:tblPr>
                <a:noFill/>
                <a:tableStyleId>{EFD712DF-908B-4167-9FC3-DF2FE832D0A1}</a:tableStyleId>
              </a:tblPr>
              <a:tblGrid>
                <a:gridCol w="600150"/>
                <a:gridCol w="820725"/>
                <a:gridCol w="918950"/>
                <a:gridCol w="1100875"/>
                <a:gridCol w="1138850"/>
                <a:gridCol w="1096100"/>
                <a:gridCol w="997700"/>
                <a:gridCol w="661500"/>
              </a:tblGrid>
              <a:tr h="3810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 = 0</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 = 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 = 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 = 3</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 = 4</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 = 5</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B = 6</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n = 1</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1 - p</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n = 2</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(1 - p)</a:t>
                      </a:r>
                      <a:r>
                        <a:rPr baseline="30000" lang="en" sz="1400" u="none" cap="none" strike="noStrike">
                          <a:solidFill>
                            <a:schemeClr val="dk1"/>
                          </a:solidFill>
                        </a:rPr>
                        <a:t>2</a:t>
                      </a:r>
                      <a:endParaRPr sz="14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2p(1 - p)</a:t>
                      </a:r>
                      <a:endParaRPr sz="14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a:t>
                      </a:r>
                      <a:r>
                        <a:rPr baseline="30000" lang="en" sz="1400" u="none" cap="none" strike="noStrike">
                          <a:solidFill>
                            <a:schemeClr val="dk1"/>
                          </a:solidFill>
                        </a:rPr>
                        <a:t>2</a:t>
                      </a:r>
                      <a:endParaRPr sz="1400" u="none" cap="none" strike="noStrike">
                        <a:solidFill>
                          <a:schemeClr val="dk1"/>
                        </a:solidFill>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n = 3</a:t>
                      </a:r>
                      <a:endParaRPr sz="1400" u="none" cap="none" strike="noStrike">
                        <a:solidFill>
                          <a:schemeClr val="dk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(1 - p)</a:t>
                      </a:r>
                      <a:r>
                        <a:rPr baseline="30000" lang="en" sz="1400" u="none" cap="none" strike="noStrike">
                          <a:solidFill>
                            <a:schemeClr val="dk1"/>
                          </a:solidFill>
                        </a:rPr>
                        <a:t>3</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3p(1 - p)</a:t>
                      </a:r>
                      <a:r>
                        <a:rPr baseline="30000" lang="en" sz="1400" u="none" cap="none" strike="noStrike">
                          <a:solidFill>
                            <a:schemeClr val="dk1"/>
                          </a:solidFill>
                        </a:rPr>
                        <a:t>2</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3p</a:t>
                      </a:r>
                      <a:r>
                        <a:rPr baseline="30000" lang="en" sz="1400" u="none" cap="none" strike="noStrike">
                          <a:solidFill>
                            <a:schemeClr val="dk1"/>
                          </a:solidFill>
                        </a:rPr>
                        <a:t>2</a:t>
                      </a:r>
                      <a:r>
                        <a:rPr lang="en" sz="1400" u="none" cap="none" strike="noStrike">
                          <a:solidFill>
                            <a:schemeClr val="dk1"/>
                          </a:solidFill>
                        </a:rPr>
                        <a:t>(1 - p)</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a:t>
                      </a:r>
                      <a:r>
                        <a:rPr baseline="30000" lang="en" sz="1400" u="none" cap="none" strike="noStrike">
                          <a:solidFill>
                            <a:schemeClr val="dk1"/>
                          </a:solidFill>
                        </a:rPr>
                        <a:t>3</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n = 4</a:t>
                      </a:r>
                      <a:endParaRPr sz="1400" u="none" cap="none" strike="noStrike">
                        <a:solidFill>
                          <a:schemeClr val="dk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(1 - p)</a:t>
                      </a:r>
                      <a:r>
                        <a:rPr baseline="30000" lang="en" sz="1400" u="none" cap="none" strike="noStrike">
                          <a:solidFill>
                            <a:schemeClr val="dk1"/>
                          </a:solidFill>
                        </a:rPr>
                        <a:t>4</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4p(1 - p)</a:t>
                      </a:r>
                      <a:r>
                        <a:rPr baseline="30000" lang="en" sz="1400" u="none" cap="none" strike="noStrike">
                          <a:solidFill>
                            <a:schemeClr val="dk1"/>
                          </a:solidFill>
                        </a:rPr>
                        <a:t>3</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6p</a:t>
                      </a:r>
                      <a:r>
                        <a:rPr baseline="30000" lang="en" sz="1400" u="none" cap="none" strike="noStrike">
                          <a:solidFill>
                            <a:schemeClr val="dk1"/>
                          </a:solidFill>
                        </a:rPr>
                        <a:t>2</a:t>
                      </a:r>
                      <a:r>
                        <a:rPr lang="en" sz="1400" u="none" cap="none" strike="noStrike">
                          <a:solidFill>
                            <a:schemeClr val="dk1"/>
                          </a:solidFill>
                        </a:rPr>
                        <a:t>(1 - p)</a:t>
                      </a:r>
                      <a:r>
                        <a:rPr baseline="30000" lang="en" sz="1400" u="none" cap="none" strike="noStrike">
                          <a:solidFill>
                            <a:schemeClr val="dk1"/>
                          </a:solidFill>
                        </a:rPr>
                        <a:t>2</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4p</a:t>
                      </a:r>
                      <a:r>
                        <a:rPr baseline="30000" lang="en" sz="1400" u="none" cap="none" strike="noStrike">
                          <a:solidFill>
                            <a:schemeClr val="dk1"/>
                          </a:solidFill>
                        </a:rPr>
                        <a:t>3</a:t>
                      </a:r>
                      <a:r>
                        <a:rPr lang="en" sz="1400" u="none" cap="none" strike="noStrike">
                          <a:solidFill>
                            <a:schemeClr val="dk1"/>
                          </a:solidFill>
                        </a:rPr>
                        <a:t>(1 - p)</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a:t>
                      </a:r>
                      <a:r>
                        <a:rPr baseline="30000" lang="en" sz="1400" u="none" cap="none" strike="noStrike">
                          <a:solidFill>
                            <a:schemeClr val="dk1"/>
                          </a:solidFill>
                        </a:rPr>
                        <a:t>4</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n = 5</a:t>
                      </a:r>
                      <a:endParaRPr sz="1400" u="none" cap="none" strike="noStrike">
                        <a:solidFill>
                          <a:schemeClr val="dk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(1 - p)</a:t>
                      </a:r>
                      <a:r>
                        <a:rPr baseline="30000" lang="en" sz="1400" u="none" cap="none" strike="noStrike">
                          <a:solidFill>
                            <a:schemeClr val="dk1"/>
                          </a:solidFill>
                        </a:rPr>
                        <a:t>5</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5p(1 - p)</a:t>
                      </a:r>
                      <a:r>
                        <a:rPr baseline="30000" lang="en" sz="1400" u="none" cap="none" strike="noStrike">
                          <a:solidFill>
                            <a:schemeClr val="dk1"/>
                          </a:solidFill>
                        </a:rPr>
                        <a:t>4</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10p</a:t>
                      </a:r>
                      <a:r>
                        <a:rPr baseline="30000" lang="en" sz="1400" u="none" cap="none" strike="noStrike">
                          <a:solidFill>
                            <a:schemeClr val="dk1"/>
                          </a:solidFill>
                        </a:rPr>
                        <a:t>2</a:t>
                      </a:r>
                      <a:r>
                        <a:rPr lang="en" sz="1400" u="none" cap="none" strike="noStrike">
                          <a:solidFill>
                            <a:schemeClr val="dk1"/>
                          </a:solidFill>
                        </a:rPr>
                        <a:t>(1 - p)</a:t>
                      </a:r>
                      <a:r>
                        <a:rPr baseline="30000" lang="en" sz="1400" u="none" cap="none" strike="noStrike">
                          <a:solidFill>
                            <a:schemeClr val="dk1"/>
                          </a:solidFill>
                        </a:rPr>
                        <a:t>3</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10p</a:t>
                      </a:r>
                      <a:r>
                        <a:rPr baseline="30000" lang="en" sz="1400" u="none" cap="none" strike="noStrike">
                          <a:solidFill>
                            <a:schemeClr val="dk1"/>
                          </a:solidFill>
                        </a:rPr>
                        <a:t>3</a:t>
                      </a:r>
                      <a:r>
                        <a:rPr lang="en" sz="1400" u="none" cap="none" strike="noStrike">
                          <a:solidFill>
                            <a:schemeClr val="dk1"/>
                          </a:solidFill>
                        </a:rPr>
                        <a:t>(1 - p)</a:t>
                      </a:r>
                      <a:r>
                        <a:rPr baseline="30000" lang="en" sz="1400" u="none" cap="none" strike="noStrike">
                          <a:solidFill>
                            <a:schemeClr val="dk1"/>
                          </a:solidFill>
                        </a:rPr>
                        <a:t>2</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5p</a:t>
                      </a:r>
                      <a:r>
                        <a:rPr baseline="30000" lang="en" sz="1400" u="none" cap="none" strike="noStrike">
                          <a:solidFill>
                            <a:schemeClr val="dk1"/>
                          </a:solidFill>
                        </a:rPr>
                        <a:t>4</a:t>
                      </a:r>
                      <a:r>
                        <a:rPr lang="en" sz="1400" u="none" cap="none" strike="noStrike">
                          <a:solidFill>
                            <a:schemeClr val="dk1"/>
                          </a:solidFill>
                        </a:rPr>
                        <a:t>(1 - p)</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a:t>
                      </a:r>
                      <a:r>
                        <a:rPr baseline="30000" lang="en" sz="1400" u="none" cap="none" strike="noStrike">
                          <a:solidFill>
                            <a:schemeClr val="dk1"/>
                          </a:solidFill>
                        </a:rPr>
                        <a:t>5</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n = 6</a:t>
                      </a:r>
                      <a:endParaRPr sz="1400" u="none" cap="none" strike="noStrike">
                        <a:solidFill>
                          <a:schemeClr val="dk1"/>
                        </a:solidFill>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(1 - p)</a:t>
                      </a:r>
                      <a:r>
                        <a:rPr baseline="30000" lang="en" sz="1400" u="none" cap="none" strike="noStrike">
                          <a:solidFill>
                            <a:schemeClr val="dk1"/>
                          </a:solidFill>
                        </a:rPr>
                        <a:t>6</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6p(1 - p)</a:t>
                      </a:r>
                      <a:r>
                        <a:rPr baseline="30000" lang="en" sz="1400" u="none" cap="none" strike="noStrike">
                          <a:solidFill>
                            <a:schemeClr val="dk1"/>
                          </a:solidFill>
                        </a:rPr>
                        <a:t>5</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15p</a:t>
                      </a:r>
                      <a:r>
                        <a:rPr baseline="30000" lang="en" sz="1400" u="none" cap="none" strike="noStrike">
                          <a:solidFill>
                            <a:schemeClr val="dk1"/>
                          </a:solidFill>
                        </a:rPr>
                        <a:t>2</a:t>
                      </a:r>
                      <a:r>
                        <a:rPr lang="en" sz="1400" u="none" cap="none" strike="noStrike">
                          <a:solidFill>
                            <a:schemeClr val="dk1"/>
                          </a:solidFill>
                        </a:rPr>
                        <a:t>(1 - p)</a:t>
                      </a:r>
                      <a:r>
                        <a:rPr baseline="30000" lang="en" sz="1400" u="none" cap="none" strike="noStrike">
                          <a:solidFill>
                            <a:schemeClr val="dk1"/>
                          </a:solidFill>
                        </a:rPr>
                        <a:t>4</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20p</a:t>
                      </a:r>
                      <a:r>
                        <a:rPr baseline="30000" lang="en" sz="1400" u="none" cap="none" strike="noStrike">
                          <a:solidFill>
                            <a:schemeClr val="dk1"/>
                          </a:solidFill>
                        </a:rPr>
                        <a:t>3</a:t>
                      </a:r>
                      <a:r>
                        <a:rPr lang="en" sz="1400" u="none" cap="none" strike="noStrike">
                          <a:solidFill>
                            <a:schemeClr val="dk1"/>
                          </a:solidFill>
                        </a:rPr>
                        <a:t>(1 - p)</a:t>
                      </a:r>
                      <a:r>
                        <a:rPr baseline="30000" lang="en" sz="1400" u="none" cap="none" strike="noStrike">
                          <a:solidFill>
                            <a:schemeClr val="dk1"/>
                          </a:solidFill>
                        </a:rPr>
                        <a:t>3</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15p</a:t>
                      </a:r>
                      <a:r>
                        <a:rPr baseline="30000" lang="en" sz="1400" u="none" cap="none" strike="noStrike">
                          <a:solidFill>
                            <a:schemeClr val="dk1"/>
                          </a:solidFill>
                        </a:rPr>
                        <a:t>4</a:t>
                      </a:r>
                      <a:r>
                        <a:rPr lang="en" sz="1400" u="none" cap="none" strike="noStrike">
                          <a:solidFill>
                            <a:schemeClr val="dk1"/>
                          </a:solidFill>
                        </a:rPr>
                        <a:t>(1 - p)</a:t>
                      </a:r>
                      <a:r>
                        <a:rPr baseline="30000" lang="en" sz="1400" u="none" cap="none" strike="noStrike">
                          <a:solidFill>
                            <a:schemeClr val="dk1"/>
                          </a:solidFill>
                        </a:rPr>
                        <a:t>2</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6p</a:t>
                      </a:r>
                      <a:r>
                        <a:rPr baseline="30000" lang="en" sz="1400" u="none" cap="none" strike="noStrike">
                          <a:solidFill>
                            <a:schemeClr val="dk1"/>
                          </a:solidFill>
                        </a:rPr>
                        <a:t>5</a:t>
                      </a:r>
                      <a:r>
                        <a:rPr lang="en" sz="1400" u="none" cap="none" strike="noStrike">
                          <a:solidFill>
                            <a:schemeClr val="dk1"/>
                          </a:solidFill>
                        </a:rPr>
                        <a:t>(1 - p)</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chemeClr val="dk1"/>
                          </a:solidFill>
                        </a:rPr>
                        <a:t>p</a:t>
                      </a:r>
                      <a:r>
                        <a:rPr baseline="30000" lang="en" sz="1400" u="none" cap="none" strike="noStrike">
                          <a:solidFill>
                            <a:schemeClr val="dk1"/>
                          </a:solidFill>
                        </a:rPr>
                        <a:t>6</a:t>
                      </a:r>
                      <a:endParaRPr sz="1400" u="none" cap="none" strike="noStrike">
                        <a:solidFill>
                          <a:schemeClr val="dk1"/>
                        </a:solidFill>
                      </a:endParaRPr>
                    </a:p>
                  </a:txBody>
                  <a:tcPr marT="91425" marB="91425" marR="91425" marL="91425">
                    <a:lnL cap="flat" cmpd="sng" w="9525">
                      <a:solidFill>
                        <a:srgbClr val="9E9E9E"/>
                      </a:solidFill>
                      <a:prstDash val="solid"/>
                      <a:round/>
                      <a:headEnd len="sm" w="sm" type="none"/>
                      <a:tailEnd len="sm" w="sm" type="none"/>
                    </a:lnL>
                  </a:tcPr>
                </a:tc>
              </a:tr>
            </a:tbl>
          </a:graphicData>
        </a:graphic>
      </p:graphicFrame>
      <p:sp>
        <p:nvSpPr>
          <p:cNvPr id="426" name="Google Shape;426;p40"/>
          <p:cNvSpPr txBox="1"/>
          <p:nvPr/>
        </p:nvSpPr>
        <p:spPr>
          <a:xfrm>
            <a:off x="2734300" y="851925"/>
            <a:ext cx="34194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chemeClr val="dk1"/>
                </a:solidFill>
                <a:latin typeface="Arial"/>
                <a:ea typeface="Arial"/>
                <a:cs typeface="Arial"/>
                <a:sym typeface="Arial"/>
              </a:rPr>
              <a:t>Probability of number of successes</a:t>
            </a:r>
            <a:endParaRPr b="0" i="0" sz="1600" u="none" cap="none" strike="noStrike">
              <a:solidFill>
                <a:schemeClr val="dk1"/>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Binomial(n, p): Expression for probability</a:t>
            </a:r>
            <a:endParaRPr/>
          </a:p>
        </p:txBody>
      </p:sp>
      <p:sp>
        <p:nvSpPr>
          <p:cNvPr id="432" name="Google Shape;432;p4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
              <a:t>In general, what is P(B(n,p) = k)? (k = 0, 1, 2, …, n)</a:t>
            </a:r>
            <a:endParaRPr/>
          </a:p>
          <a:p>
            <a:pPr indent="0" lvl="0" marL="0" rtl="0" algn="l">
              <a:lnSpc>
                <a:spcPct val="115000"/>
              </a:lnSpc>
              <a:spcBef>
                <a:spcPts val="1200"/>
              </a:spcBef>
              <a:spcAft>
                <a:spcPts val="0"/>
              </a:spcAft>
              <a:buSzPts val="1800"/>
              <a:buNone/>
            </a:pPr>
            <a:r>
              <a:rPr lang="en"/>
              <a:t>P(B(n,p) = k) = P(trial results in b</a:t>
            </a:r>
            <a:r>
              <a:rPr baseline="-25000" lang="en"/>
              <a:t>1</a:t>
            </a:r>
            <a:r>
              <a:rPr lang="en"/>
              <a:t>b</a:t>
            </a:r>
            <a:r>
              <a:rPr baseline="-25000" lang="en"/>
              <a:t>2</a:t>
            </a:r>
            <a:r>
              <a:rPr lang="en"/>
              <a:t>….b</a:t>
            </a:r>
            <a:r>
              <a:rPr baseline="-25000" lang="en"/>
              <a:t>n</a:t>
            </a:r>
            <a:r>
              <a:rPr lang="en"/>
              <a:t> with exactly k 1s)</a:t>
            </a:r>
            <a:endParaRPr/>
          </a:p>
          <a:p>
            <a:pPr indent="0" lvl="0" marL="0" rtl="0" algn="l">
              <a:lnSpc>
                <a:spcPct val="115000"/>
              </a:lnSpc>
              <a:spcBef>
                <a:spcPts val="1200"/>
              </a:spcBef>
              <a:spcAft>
                <a:spcPts val="0"/>
              </a:spcAft>
              <a:buSzPts val="1800"/>
              <a:buNone/>
            </a:pPr>
            <a:r>
              <a:rPr lang="en"/>
              <a:t>	       = (no of b</a:t>
            </a:r>
            <a:r>
              <a:rPr baseline="-25000" lang="en"/>
              <a:t>1</a:t>
            </a:r>
            <a:r>
              <a:rPr lang="en"/>
              <a:t>b</a:t>
            </a:r>
            <a:r>
              <a:rPr baseline="-25000" lang="en"/>
              <a:t>2</a:t>
            </a:r>
            <a:r>
              <a:rPr lang="en"/>
              <a:t>….b</a:t>
            </a:r>
            <a:r>
              <a:rPr baseline="-25000" lang="en"/>
              <a:t>n</a:t>
            </a:r>
            <a:r>
              <a:rPr lang="en"/>
              <a:t> with exactly k 1s) p</a:t>
            </a:r>
            <a:r>
              <a:rPr baseline="30000" lang="en"/>
              <a:t>k</a:t>
            </a:r>
            <a:r>
              <a:rPr lang="en"/>
              <a:t> (1 - p)</a:t>
            </a:r>
            <a:r>
              <a:rPr baseline="30000" lang="en"/>
              <a:t>n - k</a:t>
            </a:r>
            <a:endParaRPr/>
          </a:p>
          <a:p>
            <a:pPr indent="457200" lvl="0" marL="457200" rtl="0" algn="l">
              <a:lnSpc>
                <a:spcPct val="115000"/>
              </a:lnSpc>
              <a:spcBef>
                <a:spcPts val="1200"/>
              </a:spcBef>
              <a:spcAft>
                <a:spcPts val="0"/>
              </a:spcAft>
              <a:buSzPts val="1800"/>
              <a:buNone/>
            </a:pPr>
            <a:r>
              <a:rPr lang="en"/>
              <a:t>No of b</a:t>
            </a:r>
            <a:r>
              <a:rPr baseline="-25000" lang="en"/>
              <a:t>1</a:t>
            </a:r>
            <a:r>
              <a:rPr lang="en"/>
              <a:t>b</a:t>
            </a:r>
            <a:r>
              <a:rPr baseline="-25000" lang="en"/>
              <a:t>2</a:t>
            </a:r>
            <a:r>
              <a:rPr lang="en"/>
              <a:t>….b</a:t>
            </a:r>
            <a:r>
              <a:rPr baseline="-25000" lang="en"/>
              <a:t>n</a:t>
            </a:r>
            <a:r>
              <a:rPr lang="en"/>
              <a:t> with exactly k 1s = n C </a:t>
            </a:r>
            <a:r>
              <a:rPr baseline="-25000" lang="en"/>
              <a:t>k</a:t>
            </a:r>
            <a:r>
              <a:rPr lang="en"/>
              <a:t> = n! / (k! (n-k)!)</a:t>
            </a:r>
            <a:endParaRPr/>
          </a:p>
          <a:p>
            <a:pPr indent="0" lvl="0" marL="1828800" rtl="0" algn="l">
              <a:lnSpc>
                <a:spcPct val="115000"/>
              </a:lnSpc>
              <a:spcBef>
                <a:spcPts val="1200"/>
              </a:spcBef>
              <a:spcAft>
                <a:spcPts val="0"/>
              </a:spcAft>
              <a:buSzPts val="1800"/>
              <a:buNone/>
            </a:pPr>
            <a:r>
              <a:t/>
            </a:r>
            <a:endParaRPr/>
          </a:p>
          <a:p>
            <a:pPr indent="0" lvl="0" marL="1828800" rtl="0" algn="l">
              <a:lnSpc>
                <a:spcPct val="115000"/>
              </a:lnSpc>
              <a:spcBef>
                <a:spcPts val="1200"/>
              </a:spcBef>
              <a:spcAft>
                <a:spcPts val="1200"/>
              </a:spcAft>
              <a:buSzPts val="1800"/>
              <a:buNone/>
            </a:pPr>
            <a:r>
              <a:rPr lang="en"/>
              <a:t>P(B(n,p) = k) = n C </a:t>
            </a:r>
            <a:r>
              <a:rPr baseline="-25000" lang="en"/>
              <a:t>k</a:t>
            </a:r>
            <a:r>
              <a:rPr lang="en"/>
              <a:t> p</a:t>
            </a:r>
            <a:r>
              <a:rPr baseline="30000" lang="en"/>
              <a:t>k</a:t>
            </a:r>
            <a:r>
              <a:rPr lang="en"/>
              <a:t> (1 - p)</a:t>
            </a:r>
            <a:r>
              <a:rPr baseline="30000" lang="en"/>
              <a:t>n - k</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2"/>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Binomial(n, 0.5)</a:t>
            </a:r>
            <a:endParaRPr/>
          </a:p>
        </p:txBody>
      </p:sp>
      <p:pic>
        <p:nvPicPr>
          <p:cNvPr id="438" name="Google Shape;438;p42"/>
          <p:cNvPicPr preferRelativeResize="0"/>
          <p:nvPr/>
        </p:nvPicPr>
        <p:blipFill rotWithShape="1">
          <a:blip r:embed="rId3">
            <a:alphaModFix/>
          </a:blip>
          <a:srcRect b="0" l="0" r="0" t="0"/>
          <a:stretch/>
        </p:blipFill>
        <p:spPr>
          <a:xfrm>
            <a:off x="1355350" y="663100"/>
            <a:ext cx="2699626" cy="2024700"/>
          </a:xfrm>
          <a:prstGeom prst="rect">
            <a:avLst/>
          </a:prstGeom>
          <a:noFill/>
          <a:ln>
            <a:noFill/>
          </a:ln>
        </p:spPr>
      </p:pic>
      <p:pic>
        <p:nvPicPr>
          <p:cNvPr id="439" name="Google Shape;439;p42"/>
          <p:cNvPicPr preferRelativeResize="0"/>
          <p:nvPr/>
        </p:nvPicPr>
        <p:blipFill rotWithShape="1">
          <a:blip r:embed="rId4">
            <a:alphaModFix/>
          </a:blip>
          <a:srcRect b="0" l="0" r="0" t="0"/>
          <a:stretch/>
        </p:blipFill>
        <p:spPr>
          <a:xfrm>
            <a:off x="5161675" y="663087"/>
            <a:ext cx="2699626" cy="2024719"/>
          </a:xfrm>
          <a:prstGeom prst="rect">
            <a:avLst/>
          </a:prstGeom>
          <a:noFill/>
          <a:ln>
            <a:noFill/>
          </a:ln>
        </p:spPr>
      </p:pic>
      <p:pic>
        <p:nvPicPr>
          <p:cNvPr id="440" name="Google Shape;440;p42"/>
          <p:cNvPicPr preferRelativeResize="0"/>
          <p:nvPr/>
        </p:nvPicPr>
        <p:blipFill rotWithShape="1">
          <a:blip r:embed="rId5">
            <a:alphaModFix/>
          </a:blip>
          <a:srcRect b="0" l="0" r="0" t="0"/>
          <a:stretch/>
        </p:blipFill>
        <p:spPr>
          <a:xfrm>
            <a:off x="1355350" y="2970693"/>
            <a:ext cx="2699626" cy="2024707"/>
          </a:xfrm>
          <a:prstGeom prst="rect">
            <a:avLst/>
          </a:prstGeom>
          <a:noFill/>
          <a:ln>
            <a:noFill/>
          </a:ln>
        </p:spPr>
      </p:pic>
      <p:pic>
        <p:nvPicPr>
          <p:cNvPr id="441" name="Google Shape;441;p42"/>
          <p:cNvPicPr preferRelativeResize="0"/>
          <p:nvPr/>
        </p:nvPicPr>
        <p:blipFill rotWithShape="1">
          <a:blip r:embed="rId6">
            <a:alphaModFix/>
          </a:blip>
          <a:srcRect b="0" l="0" r="0" t="0"/>
          <a:stretch/>
        </p:blipFill>
        <p:spPr>
          <a:xfrm>
            <a:off x="5161696" y="2952650"/>
            <a:ext cx="2699595" cy="2024700"/>
          </a:xfrm>
          <a:prstGeom prst="rect">
            <a:avLst/>
          </a:prstGeom>
          <a:noFill/>
          <a:ln>
            <a:noFill/>
          </a:ln>
        </p:spPr>
      </p:pic>
      <p:sp>
        <p:nvSpPr>
          <p:cNvPr id="442" name="Google Shape;442;p42"/>
          <p:cNvSpPr txBox="1"/>
          <p:nvPr/>
        </p:nvSpPr>
        <p:spPr>
          <a:xfrm>
            <a:off x="781575" y="1402700"/>
            <a:ext cx="74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n = 5</a:t>
            </a:r>
            <a:endParaRPr b="0" i="0" sz="1400" u="none" cap="none" strike="noStrike">
              <a:solidFill>
                <a:schemeClr val="dk1"/>
              </a:solidFill>
              <a:latin typeface="Arial"/>
              <a:ea typeface="Arial"/>
              <a:cs typeface="Arial"/>
              <a:sym typeface="Arial"/>
            </a:endParaRPr>
          </a:p>
        </p:txBody>
      </p:sp>
      <p:sp>
        <p:nvSpPr>
          <p:cNvPr id="443" name="Google Shape;443;p42"/>
          <p:cNvSpPr txBox="1"/>
          <p:nvPr/>
        </p:nvSpPr>
        <p:spPr>
          <a:xfrm>
            <a:off x="4515375" y="1402700"/>
            <a:ext cx="74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n = 10</a:t>
            </a:r>
            <a:endParaRPr b="0" i="0" sz="1400" u="none" cap="none" strike="noStrike">
              <a:solidFill>
                <a:schemeClr val="dk1"/>
              </a:solidFill>
              <a:latin typeface="Arial"/>
              <a:ea typeface="Arial"/>
              <a:cs typeface="Arial"/>
              <a:sym typeface="Arial"/>
            </a:endParaRPr>
          </a:p>
        </p:txBody>
      </p:sp>
      <p:sp>
        <p:nvSpPr>
          <p:cNvPr id="444" name="Google Shape;444;p42"/>
          <p:cNvSpPr txBox="1"/>
          <p:nvPr/>
        </p:nvSpPr>
        <p:spPr>
          <a:xfrm>
            <a:off x="705375" y="3782950"/>
            <a:ext cx="74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n = 20</a:t>
            </a:r>
            <a:endParaRPr b="0" i="0" sz="1400" u="none" cap="none" strike="noStrike">
              <a:solidFill>
                <a:schemeClr val="dk1"/>
              </a:solidFill>
              <a:latin typeface="Arial"/>
              <a:ea typeface="Arial"/>
              <a:cs typeface="Arial"/>
              <a:sym typeface="Arial"/>
            </a:endParaRPr>
          </a:p>
        </p:txBody>
      </p:sp>
      <p:sp>
        <p:nvSpPr>
          <p:cNvPr id="445" name="Google Shape;445;p42"/>
          <p:cNvSpPr txBox="1"/>
          <p:nvPr/>
        </p:nvSpPr>
        <p:spPr>
          <a:xfrm>
            <a:off x="4439175" y="3764900"/>
            <a:ext cx="838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dk1"/>
                </a:solidFill>
                <a:latin typeface="Arial"/>
                <a:ea typeface="Arial"/>
                <a:cs typeface="Arial"/>
                <a:sym typeface="Arial"/>
              </a:rPr>
              <a:t>n = 100</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4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 = 0.25, n = 5, 10, 20, 100</a:t>
            </a:r>
            <a:endParaRPr/>
          </a:p>
        </p:txBody>
      </p:sp>
      <p:pic>
        <p:nvPicPr>
          <p:cNvPr id="451" name="Google Shape;451;p43"/>
          <p:cNvPicPr preferRelativeResize="0"/>
          <p:nvPr/>
        </p:nvPicPr>
        <p:blipFill rotWithShape="1">
          <a:blip r:embed="rId3">
            <a:alphaModFix/>
          </a:blip>
          <a:srcRect b="0" l="0" r="0" t="0"/>
          <a:stretch/>
        </p:blipFill>
        <p:spPr>
          <a:xfrm>
            <a:off x="1725625" y="967675"/>
            <a:ext cx="5513600" cy="4135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Some observations</a:t>
            </a:r>
            <a:endParaRPr/>
          </a:p>
        </p:txBody>
      </p:sp>
      <p:sp>
        <p:nvSpPr>
          <p:cNvPr id="457" name="Google Shape;457;p44"/>
          <p:cNvSpPr txBox="1"/>
          <p:nvPr>
            <p:ph idx="1" type="body"/>
          </p:nvPr>
        </p:nvSpPr>
        <p:spPr>
          <a:xfrm>
            <a:off x="311700" y="1152475"/>
            <a:ext cx="8520600" cy="37047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Starts at (1-p)</a:t>
            </a:r>
            <a:r>
              <a:rPr baseline="30000" lang="en"/>
              <a:t>n</a:t>
            </a:r>
            <a:r>
              <a:rPr lang="en"/>
              <a:t> -&gt; increases and reaches a peak -&gt; falls to p</a:t>
            </a:r>
            <a:r>
              <a:rPr baseline="30000" lang="en"/>
              <a:t>n</a:t>
            </a:r>
            <a:br>
              <a:rPr lang="en"/>
            </a:br>
            <a:endParaRPr/>
          </a:p>
          <a:p>
            <a:pPr indent="-342900" lvl="0" marL="457200" rtl="0" algn="l">
              <a:lnSpc>
                <a:spcPct val="115000"/>
              </a:lnSpc>
              <a:spcBef>
                <a:spcPts val="0"/>
              </a:spcBef>
              <a:spcAft>
                <a:spcPts val="0"/>
              </a:spcAft>
              <a:buSzPts val="1800"/>
              <a:buChar char="●"/>
            </a:pPr>
            <a:r>
              <a:rPr lang="en"/>
              <a:t>Where is the peak? Near np</a:t>
            </a:r>
            <a:endParaRPr/>
          </a:p>
          <a:p>
            <a:pPr indent="-317500" lvl="1" marL="914400" rtl="0" algn="l">
              <a:lnSpc>
                <a:spcPct val="115000"/>
              </a:lnSpc>
              <a:spcBef>
                <a:spcPts val="0"/>
              </a:spcBef>
              <a:spcAft>
                <a:spcPts val="0"/>
              </a:spcAft>
              <a:buSzPts val="1400"/>
              <a:buChar char="○"/>
            </a:pPr>
            <a:r>
              <a:rPr lang="en"/>
              <a:t>Exactly, floor(p(n+1)), i.e. largest integer &lt;= p(n+1)</a:t>
            </a:r>
            <a:br>
              <a:rPr lang="en"/>
            </a:br>
            <a:endParaRPr/>
          </a:p>
          <a:p>
            <a:pPr indent="-342900" lvl="0" marL="457200" rtl="0" algn="l">
              <a:lnSpc>
                <a:spcPct val="115000"/>
              </a:lnSpc>
              <a:spcBef>
                <a:spcPts val="0"/>
              </a:spcBef>
              <a:spcAft>
                <a:spcPts val="0"/>
              </a:spcAft>
              <a:buSzPts val="1800"/>
              <a:buChar char="●"/>
            </a:pPr>
            <a:r>
              <a:rPr lang="en"/>
              <a:t>P(B = 0 or B = 1 or B = 2 or …. or B = n) = 1</a:t>
            </a:r>
            <a:endParaRPr/>
          </a:p>
          <a:p>
            <a:pPr indent="0" lvl="0" marL="457200" rtl="0" algn="l">
              <a:lnSpc>
                <a:spcPct val="115000"/>
              </a:lnSpc>
              <a:spcBef>
                <a:spcPts val="1200"/>
              </a:spcBef>
              <a:spcAft>
                <a:spcPts val="0"/>
              </a:spcAft>
              <a:buSzPts val="1800"/>
              <a:buNone/>
            </a:pPr>
            <a:r>
              <a:rPr lang="en"/>
              <a:t>P(B = 0) + P(B = 1) + P(B = 2) + …. + P(B = n) = 1</a:t>
            </a:r>
            <a:endParaRPr/>
          </a:p>
          <a:p>
            <a:pPr indent="0" lvl="0" marL="457200" rtl="0" algn="l">
              <a:lnSpc>
                <a:spcPct val="115000"/>
              </a:lnSpc>
              <a:spcBef>
                <a:spcPts val="1200"/>
              </a:spcBef>
              <a:spcAft>
                <a:spcPts val="0"/>
              </a:spcAft>
              <a:buSzPts val="1800"/>
              <a:buNone/>
            </a:pPr>
            <a:r>
              <a:rPr lang="en"/>
              <a:t>(1-p)</a:t>
            </a:r>
            <a:r>
              <a:rPr baseline="30000" lang="en"/>
              <a:t>n</a:t>
            </a:r>
            <a:r>
              <a:rPr lang="en"/>
              <a:t> + nC</a:t>
            </a:r>
            <a:r>
              <a:rPr baseline="-25000" lang="en"/>
              <a:t>1</a:t>
            </a:r>
            <a:r>
              <a:rPr lang="en"/>
              <a:t> p(1-p)</a:t>
            </a:r>
            <a:r>
              <a:rPr baseline="30000" lang="en"/>
              <a:t>n-1</a:t>
            </a:r>
            <a:r>
              <a:rPr lang="en"/>
              <a:t> + nC</a:t>
            </a:r>
            <a:r>
              <a:rPr baseline="-25000" lang="en"/>
              <a:t>2</a:t>
            </a:r>
            <a:r>
              <a:rPr lang="en"/>
              <a:t> p</a:t>
            </a:r>
            <a:r>
              <a:rPr baseline="30000" lang="en"/>
              <a:t>2</a:t>
            </a:r>
            <a:r>
              <a:rPr lang="en"/>
              <a:t>(1-p)</a:t>
            </a:r>
            <a:r>
              <a:rPr baseline="30000" lang="en"/>
              <a:t>n-2</a:t>
            </a:r>
            <a:r>
              <a:rPr lang="en"/>
              <a:t> + … +  p</a:t>
            </a:r>
            <a:r>
              <a:rPr baseline="30000" lang="en"/>
              <a:t>n</a:t>
            </a:r>
            <a:r>
              <a:rPr lang="en"/>
              <a:t>  = 1   (important identity)</a:t>
            </a:r>
            <a:endParaRPr/>
          </a:p>
          <a:p>
            <a:pPr indent="0" lvl="0" marL="457200" rtl="0" algn="l">
              <a:lnSpc>
                <a:spcPct val="115000"/>
              </a:lnSpc>
              <a:spcBef>
                <a:spcPts val="1200"/>
              </a:spcBef>
              <a:spcAft>
                <a:spcPts val="1200"/>
              </a:spcAft>
              <a:buSzPts val="1800"/>
              <a:buNone/>
            </a:pPr>
            <a:r>
              <a:rPr lang="en"/>
              <a:t>Check the above identity for n = 1, 2, 3, 4….</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Incidence of a disease</a:t>
            </a:r>
            <a:endParaRPr/>
          </a:p>
        </p:txBody>
      </p:sp>
      <p:sp>
        <p:nvSpPr>
          <p:cNvPr id="463" name="Google Shape;463;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Each person has a disease with probability 0.1 independently. Out of 100 random persons tested for the disease, what is the probability that 20 persons test positive? Assume that the disease can be tested accurately with no false positives. </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4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Think about this one: Such questions will come later!</a:t>
            </a:r>
            <a:endParaRPr/>
          </a:p>
        </p:txBody>
      </p:sp>
      <p:sp>
        <p:nvSpPr>
          <p:cNvPr id="469" name="Google Shape;469;p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Each person has a disease with probability p independently. Out of 100 random persons tested for the disease, suppose that 20 persons test positive. What is p? Assume that the disease can be tested accurately with no false positives.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Coin toss</a:t>
            </a:r>
            <a:endParaRPr/>
          </a:p>
        </p:txBody>
      </p:sp>
      <p:sp>
        <p:nvSpPr>
          <p:cNvPr id="475" name="Google Shape;475;p47"/>
          <p:cNvSpPr txBox="1"/>
          <p:nvPr>
            <p:ph idx="1" type="body"/>
          </p:nvPr>
        </p:nvSpPr>
        <p:spPr>
          <a:xfrm>
            <a:off x="311700" y="1152475"/>
            <a:ext cx="8520600" cy="1475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rPr lang="en"/>
              <a:t>Suppose a fair coin is tossed 10 times. </a:t>
            </a:r>
            <a:br>
              <a:rPr lang="en"/>
            </a:br>
            <a:r>
              <a:rPr lang="en"/>
              <a:t>(a) What is the probability that the number of heads is a multiple of 3? </a:t>
            </a:r>
            <a:br>
              <a:rPr lang="en"/>
            </a:br>
            <a:r>
              <a:rPr lang="en"/>
              <a:t>(b) What is the probability that the number of heads is even?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Communicating bits</a:t>
            </a:r>
            <a:endParaRPr/>
          </a:p>
        </p:txBody>
      </p:sp>
      <p:sp>
        <p:nvSpPr>
          <p:cNvPr id="481" name="Google Shape;481;p48"/>
          <p:cNvSpPr txBox="1"/>
          <p:nvPr>
            <p:ph idx="1" type="body"/>
          </p:nvPr>
        </p:nvSpPr>
        <p:spPr>
          <a:xfrm>
            <a:off x="311700" y="1152475"/>
            <a:ext cx="8520600" cy="18081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1200"/>
              </a:spcAft>
              <a:buSzPts val="1800"/>
              <a:buNone/>
            </a:pPr>
            <a:r>
              <a:rPr lang="en"/>
              <a:t>A bit (0 or 1) sent by Alice to Bob gets flipped with probability 0.1. </a:t>
            </a:r>
            <a:br>
              <a:rPr lang="en"/>
            </a:br>
            <a:r>
              <a:rPr lang="en"/>
              <a:t>(a) If 5 bits are sent by Alice independently, what is the probability that at most 2 bits get flipped?</a:t>
            </a:r>
            <a:br>
              <a:rPr lang="en"/>
            </a:br>
            <a:r>
              <a:rPr lang="en"/>
              <a:t>(b) If 10 bits are sent by Alice independently, what is the probability that at most 2 bits get flipped?</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49"/>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lang="en"/>
              <a:t>Geometric distribution</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Tossing coins till you get a head</a:t>
            </a:r>
            <a:endParaRPr/>
          </a:p>
        </p:txBody>
      </p:sp>
      <p:sp>
        <p:nvSpPr>
          <p:cNvPr id="492" name="Google Shape;492;p5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en"/>
              <a:t>Suppose you toss a fair coin repeatedly (independently) till you get a head. How many times will you toss the coin?</a:t>
            </a:r>
            <a:endParaRPr/>
          </a:p>
          <a:p>
            <a:pPr indent="0" lvl="0" marL="0" rtl="0" algn="l">
              <a:lnSpc>
                <a:spcPct val="115000"/>
              </a:lnSpc>
              <a:spcBef>
                <a:spcPts val="1200"/>
              </a:spcBef>
              <a:spcAft>
                <a:spcPts val="0"/>
              </a:spcAft>
              <a:buSzPct val="108108"/>
              <a:buNone/>
            </a:pPr>
            <a:r>
              <a:rPr lang="en"/>
              <a:t>P(1) = P(heads in first toss) = 1/2</a:t>
            </a:r>
            <a:endParaRPr/>
          </a:p>
          <a:p>
            <a:pPr indent="0" lvl="0" marL="0" rtl="0" algn="l">
              <a:lnSpc>
                <a:spcPct val="115000"/>
              </a:lnSpc>
              <a:spcBef>
                <a:spcPts val="1200"/>
              </a:spcBef>
              <a:spcAft>
                <a:spcPts val="0"/>
              </a:spcAft>
              <a:buSzPct val="108108"/>
              <a:buNone/>
            </a:pPr>
            <a:r>
              <a:rPr lang="en"/>
              <a:t>P(2) = P(tails in first toss and heads in second toss) = 1/2 x 1/2 = 1/4</a:t>
            </a:r>
            <a:endParaRPr/>
          </a:p>
          <a:p>
            <a:pPr indent="0" lvl="0" marL="0" rtl="0" algn="l">
              <a:lnSpc>
                <a:spcPct val="115000"/>
              </a:lnSpc>
              <a:spcBef>
                <a:spcPts val="1200"/>
              </a:spcBef>
              <a:spcAft>
                <a:spcPts val="0"/>
              </a:spcAft>
              <a:buSzPct val="108108"/>
              <a:buNone/>
            </a:pPr>
            <a:r>
              <a:rPr lang="en"/>
              <a:t>P(3) = P(1T and 2T and 3H) = 1/2 x 1/2 x 1/2 = 1/8</a:t>
            </a:r>
            <a:endParaRPr/>
          </a:p>
          <a:p>
            <a:pPr indent="0" lvl="0" marL="0" rtl="0" algn="l">
              <a:lnSpc>
                <a:spcPct val="115000"/>
              </a:lnSpc>
              <a:spcBef>
                <a:spcPts val="1200"/>
              </a:spcBef>
              <a:spcAft>
                <a:spcPts val="0"/>
              </a:spcAft>
              <a:buSzPct val="108108"/>
              <a:buNone/>
            </a:pPr>
            <a:r>
              <a:rPr lang="en"/>
              <a:t>…..</a:t>
            </a:r>
            <a:endParaRPr/>
          </a:p>
          <a:p>
            <a:pPr indent="0" lvl="0" marL="0" rtl="0" algn="l">
              <a:lnSpc>
                <a:spcPct val="115000"/>
              </a:lnSpc>
              <a:spcBef>
                <a:spcPts val="1200"/>
              </a:spcBef>
              <a:spcAft>
                <a:spcPts val="0"/>
              </a:spcAft>
              <a:buSzPct val="108108"/>
              <a:buNone/>
            </a:pPr>
            <a:r>
              <a:rPr lang="en"/>
              <a:t>P(k) = P(1T and 2T and …. and (k-1)T and kH) = (1/2)</a:t>
            </a:r>
            <a:r>
              <a:rPr baseline="30000" lang="en"/>
              <a:t>k</a:t>
            </a:r>
            <a:endParaRPr/>
          </a:p>
          <a:p>
            <a:pPr indent="0" lvl="0" marL="0" rtl="0" algn="l">
              <a:lnSpc>
                <a:spcPct val="115000"/>
              </a:lnSpc>
              <a:spcBef>
                <a:spcPts val="1200"/>
              </a:spcBef>
              <a:spcAft>
                <a:spcPts val="1200"/>
              </a:spcAft>
              <a:buSzPct val="108108"/>
              <a:buNone/>
            </a:pPr>
            <a:r>
              <a:rPr lang="en"/>
              <a:t>….</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Throw a die till you get 1</a:t>
            </a:r>
            <a:endParaRPr/>
          </a:p>
        </p:txBody>
      </p:sp>
      <p:sp>
        <p:nvSpPr>
          <p:cNvPr id="498" name="Google Shape;498;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92500" lnSpcReduction="20000"/>
          </a:bodyPr>
          <a:lstStyle/>
          <a:p>
            <a:pPr indent="0" lvl="0" marL="0" rtl="0" algn="l">
              <a:lnSpc>
                <a:spcPct val="115000"/>
              </a:lnSpc>
              <a:spcBef>
                <a:spcPts val="0"/>
              </a:spcBef>
              <a:spcAft>
                <a:spcPts val="0"/>
              </a:spcAft>
              <a:buSzPct val="108108"/>
              <a:buNone/>
            </a:pPr>
            <a:r>
              <a:rPr lang="en"/>
              <a:t>In Ludo, a player needs to repeatedly throw a die till she gets a 1. How many throws are needed?</a:t>
            </a:r>
            <a:endParaRPr/>
          </a:p>
          <a:p>
            <a:pPr indent="0" lvl="0" marL="0" rtl="0" algn="l">
              <a:lnSpc>
                <a:spcPct val="115000"/>
              </a:lnSpc>
              <a:spcBef>
                <a:spcPts val="1200"/>
              </a:spcBef>
              <a:spcAft>
                <a:spcPts val="0"/>
              </a:spcAft>
              <a:buSzPct val="108108"/>
              <a:buNone/>
            </a:pPr>
            <a:r>
              <a:rPr lang="en"/>
              <a:t>P(1) = 1/6</a:t>
            </a:r>
            <a:endParaRPr/>
          </a:p>
          <a:p>
            <a:pPr indent="0" lvl="0" marL="0" rtl="0" algn="l">
              <a:lnSpc>
                <a:spcPct val="115000"/>
              </a:lnSpc>
              <a:spcBef>
                <a:spcPts val="1200"/>
              </a:spcBef>
              <a:spcAft>
                <a:spcPts val="0"/>
              </a:spcAft>
              <a:buSzPct val="108108"/>
              <a:buNone/>
            </a:pPr>
            <a:r>
              <a:rPr lang="en"/>
              <a:t>P(2) = P(not 1 in first throw and 1 in second throw) = 5/6 x 1/6 = 5/36</a:t>
            </a:r>
            <a:endParaRPr/>
          </a:p>
          <a:p>
            <a:pPr indent="0" lvl="0" marL="0" rtl="0" algn="l">
              <a:lnSpc>
                <a:spcPct val="115000"/>
              </a:lnSpc>
              <a:spcBef>
                <a:spcPts val="1200"/>
              </a:spcBef>
              <a:spcAft>
                <a:spcPts val="0"/>
              </a:spcAft>
              <a:buSzPct val="108108"/>
              <a:buNone/>
            </a:pPr>
            <a:r>
              <a:rPr lang="en"/>
              <a:t>P(3) = P(not 1 and not 1 and 1) = 5/6 x 5/6 x 1/6 = 25/216</a:t>
            </a:r>
            <a:endParaRPr/>
          </a:p>
          <a:p>
            <a:pPr indent="0" lvl="0" marL="0" rtl="0" algn="l">
              <a:lnSpc>
                <a:spcPct val="115000"/>
              </a:lnSpc>
              <a:spcBef>
                <a:spcPts val="1200"/>
              </a:spcBef>
              <a:spcAft>
                <a:spcPts val="0"/>
              </a:spcAft>
              <a:buSzPct val="108108"/>
              <a:buNone/>
            </a:pPr>
            <a:r>
              <a:rPr lang="en"/>
              <a:t>….</a:t>
            </a:r>
            <a:endParaRPr/>
          </a:p>
          <a:p>
            <a:pPr indent="0" lvl="0" marL="0" rtl="0" algn="l">
              <a:lnSpc>
                <a:spcPct val="115000"/>
              </a:lnSpc>
              <a:spcBef>
                <a:spcPts val="1200"/>
              </a:spcBef>
              <a:spcAft>
                <a:spcPts val="0"/>
              </a:spcAft>
              <a:buSzPct val="108108"/>
              <a:buNone/>
            </a:pPr>
            <a:r>
              <a:rPr lang="en"/>
              <a:t>P(k) = (5/6)</a:t>
            </a:r>
            <a:r>
              <a:rPr baseline="30000" lang="en"/>
              <a:t>k - 1</a:t>
            </a:r>
            <a:r>
              <a:rPr lang="en"/>
              <a:t> (1/6) = 5</a:t>
            </a:r>
            <a:r>
              <a:rPr baseline="30000" lang="en"/>
              <a:t>k - 1</a:t>
            </a:r>
            <a:r>
              <a:rPr lang="en"/>
              <a:t>/6</a:t>
            </a:r>
            <a:r>
              <a:rPr baseline="30000" lang="en"/>
              <a:t>k</a:t>
            </a:r>
            <a:endParaRPr/>
          </a:p>
          <a:p>
            <a:pPr indent="0" lvl="0" marL="0" rtl="0" algn="l">
              <a:lnSpc>
                <a:spcPct val="115000"/>
              </a:lnSpc>
              <a:spcBef>
                <a:spcPts val="1200"/>
              </a:spcBef>
              <a:spcAft>
                <a:spcPts val="1200"/>
              </a:spcAft>
              <a:buSzPct val="108108"/>
              <a:buNone/>
            </a:pPr>
            <a:r>
              <a:rPr lang="en"/>
              <a:t>….</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Geometric(p): Geometric distribution</a:t>
            </a:r>
            <a:endParaRPr/>
          </a:p>
        </p:txBody>
      </p:sp>
      <p:sp>
        <p:nvSpPr>
          <p:cNvPr id="504" name="Google Shape;504;p52"/>
          <p:cNvSpPr txBox="1"/>
          <p:nvPr>
            <p:ph idx="1" type="body"/>
          </p:nvPr>
        </p:nvSpPr>
        <p:spPr>
          <a:xfrm>
            <a:off x="311700" y="1152475"/>
            <a:ext cx="8520600" cy="37668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117647"/>
              <a:buNone/>
            </a:pPr>
            <a:r>
              <a:rPr lang="en"/>
              <a:t>Perform independent Bernoulli(p) trials indefinitely.</a:t>
            </a:r>
            <a:endParaRPr/>
          </a:p>
          <a:p>
            <a:pPr indent="0" lvl="0" marL="0" rtl="0" algn="l">
              <a:lnSpc>
                <a:spcPct val="115000"/>
              </a:lnSpc>
              <a:spcBef>
                <a:spcPts val="1200"/>
              </a:spcBef>
              <a:spcAft>
                <a:spcPts val="0"/>
              </a:spcAft>
              <a:buSzPct val="117647"/>
              <a:buNone/>
            </a:pPr>
            <a:r>
              <a:rPr lang="en"/>
              <a:t>Outcome: Number of trials needed for first success, which we denote G(p) or G</a:t>
            </a:r>
            <a:endParaRPr/>
          </a:p>
          <a:p>
            <a:pPr indent="0" lvl="0" marL="0" rtl="0" algn="l">
              <a:lnSpc>
                <a:spcPct val="115000"/>
              </a:lnSpc>
              <a:spcBef>
                <a:spcPts val="1200"/>
              </a:spcBef>
              <a:spcAft>
                <a:spcPts val="0"/>
              </a:spcAft>
              <a:buSzPct val="117647"/>
              <a:buNone/>
            </a:pPr>
            <a:r>
              <a:rPr lang="en"/>
              <a:t>Sample space: { 1, 2, 3, 4, 5, 6, …. (goes on and on)}</a:t>
            </a:r>
            <a:endParaRPr/>
          </a:p>
          <a:p>
            <a:pPr indent="0" lvl="0" marL="0" rtl="0" algn="l">
              <a:lnSpc>
                <a:spcPct val="115000"/>
              </a:lnSpc>
              <a:spcBef>
                <a:spcPts val="1200"/>
              </a:spcBef>
              <a:spcAft>
                <a:spcPts val="0"/>
              </a:spcAft>
              <a:buSzPct val="117647"/>
              <a:buNone/>
            </a:pPr>
            <a:r>
              <a:rPr lang="en"/>
              <a:t>P(G = 1) = P(first trial is success) = p</a:t>
            </a:r>
            <a:endParaRPr/>
          </a:p>
          <a:p>
            <a:pPr indent="0" lvl="0" marL="0" rtl="0" algn="l">
              <a:lnSpc>
                <a:spcPct val="115000"/>
              </a:lnSpc>
              <a:spcBef>
                <a:spcPts val="1200"/>
              </a:spcBef>
              <a:spcAft>
                <a:spcPts val="0"/>
              </a:spcAft>
              <a:buSzPct val="117647"/>
              <a:buNone/>
            </a:pPr>
            <a:r>
              <a:rPr lang="en"/>
              <a:t>P(G = 2) = P(first trial is failure and second trial is failure) = (1-p) p</a:t>
            </a:r>
            <a:endParaRPr/>
          </a:p>
          <a:p>
            <a:pPr indent="0" lvl="0" marL="0" rtl="0" algn="l">
              <a:lnSpc>
                <a:spcPct val="115000"/>
              </a:lnSpc>
              <a:spcBef>
                <a:spcPts val="1200"/>
              </a:spcBef>
              <a:spcAft>
                <a:spcPts val="0"/>
              </a:spcAft>
              <a:buSzPct val="117647"/>
              <a:buNone/>
            </a:pPr>
            <a:r>
              <a:rPr lang="en"/>
              <a:t>P(G = 3) = P(trial result: 001) = (1-p)</a:t>
            </a:r>
            <a:r>
              <a:rPr baseline="30000" lang="en"/>
              <a:t>2</a:t>
            </a:r>
            <a:r>
              <a:rPr lang="en"/>
              <a:t>p</a:t>
            </a:r>
            <a:endParaRPr/>
          </a:p>
          <a:p>
            <a:pPr indent="0" lvl="0" marL="0" rtl="0" algn="l">
              <a:lnSpc>
                <a:spcPct val="115000"/>
              </a:lnSpc>
              <a:spcBef>
                <a:spcPts val="1200"/>
              </a:spcBef>
              <a:spcAft>
                <a:spcPts val="0"/>
              </a:spcAft>
              <a:buSzPct val="117647"/>
              <a:buNone/>
            </a:pPr>
            <a:r>
              <a:rPr lang="en"/>
              <a:t>….</a:t>
            </a:r>
            <a:endParaRPr/>
          </a:p>
          <a:p>
            <a:pPr indent="0" lvl="0" marL="0" rtl="0" algn="l">
              <a:lnSpc>
                <a:spcPct val="115000"/>
              </a:lnSpc>
              <a:spcBef>
                <a:spcPts val="1200"/>
              </a:spcBef>
              <a:spcAft>
                <a:spcPts val="0"/>
              </a:spcAft>
              <a:buSzPct val="117647"/>
              <a:buNone/>
            </a:pPr>
            <a:r>
              <a:rPr lang="en"/>
              <a:t>P(G = k) = P(first k-1 trials result in 0 and k-th trial is 1) = (1-p)</a:t>
            </a:r>
            <a:r>
              <a:rPr baseline="30000" lang="en"/>
              <a:t>k-1</a:t>
            </a:r>
            <a:r>
              <a:rPr lang="en"/>
              <a:t> p</a:t>
            </a:r>
            <a:endParaRPr/>
          </a:p>
          <a:p>
            <a:pPr indent="0" lvl="0" marL="0" rtl="0" algn="l">
              <a:lnSpc>
                <a:spcPct val="115000"/>
              </a:lnSpc>
              <a:spcBef>
                <a:spcPts val="1200"/>
              </a:spcBef>
              <a:spcAft>
                <a:spcPts val="1200"/>
              </a:spcAft>
              <a:buSzPct val="117647"/>
              <a:buNone/>
            </a:pPr>
            <a:r>
              <a:rPr lang="en"/>
              <a:t>….</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Plot of geometric distribution (shown till k = 50)</a:t>
            </a:r>
            <a:endParaRPr/>
          </a:p>
        </p:txBody>
      </p:sp>
      <p:pic>
        <p:nvPicPr>
          <p:cNvPr id="510" name="Google Shape;510;p53"/>
          <p:cNvPicPr preferRelativeResize="0"/>
          <p:nvPr/>
        </p:nvPicPr>
        <p:blipFill rotWithShape="1">
          <a:blip r:embed="rId3">
            <a:alphaModFix/>
          </a:blip>
          <a:srcRect b="0" l="0" r="0" t="0"/>
          <a:stretch/>
        </p:blipFill>
        <p:spPr>
          <a:xfrm>
            <a:off x="1830125" y="1017725"/>
            <a:ext cx="5353975" cy="4015475"/>
          </a:xfrm>
          <a:prstGeom prst="rect">
            <a:avLst/>
          </a:prstGeom>
          <a:noFill/>
          <a:ln>
            <a:noFill/>
          </a:ln>
        </p:spPr>
      </p:pic>
      <p:sp>
        <p:nvSpPr>
          <p:cNvPr id="511" name="Google Shape;511;p53"/>
          <p:cNvSpPr txBox="1"/>
          <p:nvPr/>
        </p:nvSpPr>
        <p:spPr>
          <a:xfrm>
            <a:off x="2993475" y="991975"/>
            <a:ext cx="101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 = 0.001</a:t>
            </a:r>
            <a:endParaRPr b="0" i="0" sz="1400" u="none" cap="none" strike="noStrike">
              <a:solidFill>
                <a:schemeClr val="lt1"/>
              </a:solidFill>
              <a:latin typeface="Arial"/>
              <a:ea typeface="Arial"/>
              <a:cs typeface="Arial"/>
              <a:sym typeface="Arial"/>
            </a:endParaRPr>
          </a:p>
        </p:txBody>
      </p:sp>
      <p:sp>
        <p:nvSpPr>
          <p:cNvPr id="512" name="Google Shape;512;p53"/>
          <p:cNvSpPr txBox="1"/>
          <p:nvPr/>
        </p:nvSpPr>
        <p:spPr>
          <a:xfrm>
            <a:off x="2993475" y="2914354"/>
            <a:ext cx="7488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 = 0.1</a:t>
            </a:r>
            <a:endParaRPr b="0" i="0" sz="1400" u="none" cap="none" strike="noStrike">
              <a:solidFill>
                <a:schemeClr val="lt1"/>
              </a:solidFill>
              <a:latin typeface="Arial"/>
              <a:ea typeface="Arial"/>
              <a:cs typeface="Arial"/>
              <a:sym typeface="Arial"/>
            </a:endParaRPr>
          </a:p>
        </p:txBody>
      </p:sp>
      <p:sp>
        <p:nvSpPr>
          <p:cNvPr id="513" name="Google Shape;513;p53"/>
          <p:cNvSpPr txBox="1"/>
          <p:nvPr/>
        </p:nvSpPr>
        <p:spPr>
          <a:xfrm>
            <a:off x="5279475" y="991975"/>
            <a:ext cx="1012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 = 0.01</a:t>
            </a:r>
            <a:endParaRPr b="0" i="0" sz="1400" u="none" cap="none" strike="noStrike">
              <a:solidFill>
                <a:schemeClr val="lt1"/>
              </a:solidFill>
              <a:latin typeface="Arial"/>
              <a:ea typeface="Arial"/>
              <a:cs typeface="Arial"/>
              <a:sym typeface="Arial"/>
            </a:endParaRPr>
          </a:p>
        </p:txBody>
      </p:sp>
      <p:sp>
        <p:nvSpPr>
          <p:cNvPr id="514" name="Google Shape;514;p53"/>
          <p:cNvSpPr txBox="1"/>
          <p:nvPr/>
        </p:nvSpPr>
        <p:spPr>
          <a:xfrm>
            <a:off x="5411175" y="2914354"/>
            <a:ext cx="8805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chemeClr val="lt1"/>
                </a:solidFill>
                <a:latin typeface="Arial"/>
                <a:ea typeface="Arial"/>
                <a:cs typeface="Arial"/>
                <a:sym typeface="Arial"/>
              </a:rPr>
              <a:t>p = 0.99</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Some observations</a:t>
            </a:r>
            <a:endParaRPr/>
          </a:p>
        </p:txBody>
      </p:sp>
      <p:sp>
        <p:nvSpPr>
          <p:cNvPr id="520" name="Google Shape;520;p54"/>
          <p:cNvSpPr txBox="1"/>
          <p:nvPr>
            <p:ph idx="1" type="body"/>
          </p:nvPr>
        </p:nvSpPr>
        <p:spPr>
          <a:xfrm>
            <a:off x="311700" y="1152475"/>
            <a:ext cx="8520600" cy="35382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
              <a:t>Starts at p and keeps falling</a:t>
            </a:r>
            <a:br>
              <a:rPr lang="en"/>
            </a:br>
            <a:endParaRPr/>
          </a:p>
          <a:p>
            <a:pPr indent="-342900" lvl="0" marL="457200" rtl="0" algn="l">
              <a:lnSpc>
                <a:spcPct val="115000"/>
              </a:lnSpc>
              <a:spcBef>
                <a:spcPts val="0"/>
              </a:spcBef>
              <a:spcAft>
                <a:spcPts val="0"/>
              </a:spcAft>
              <a:buSzPts val="1800"/>
              <a:buChar char="●"/>
            </a:pPr>
            <a:r>
              <a:rPr lang="en"/>
              <a:t>Keeps on decreasing but, if p&lt;1, never goes all the way to zero</a:t>
            </a:r>
            <a:br>
              <a:rPr lang="en"/>
            </a:br>
            <a:endParaRPr/>
          </a:p>
          <a:p>
            <a:pPr indent="-342900" lvl="0" marL="457200" rtl="0" algn="l">
              <a:lnSpc>
                <a:spcPct val="115000"/>
              </a:lnSpc>
              <a:spcBef>
                <a:spcPts val="0"/>
              </a:spcBef>
              <a:spcAft>
                <a:spcPts val="0"/>
              </a:spcAft>
              <a:buSzPts val="1800"/>
              <a:buChar char="●"/>
            </a:pPr>
            <a:r>
              <a:rPr lang="en"/>
              <a:t>P(G ≤ k) = P(G = 1 or G = 2 or ….. or G = k)</a:t>
            </a:r>
            <a:endParaRPr/>
          </a:p>
          <a:p>
            <a:pPr indent="0" lvl="0" marL="457200" rtl="0" algn="l">
              <a:lnSpc>
                <a:spcPct val="115000"/>
              </a:lnSpc>
              <a:spcBef>
                <a:spcPts val="1200"/>
              </a:spcBef>
              <a:spcAft>
                <a:spcPts val="0"/>
              </a:spcAft>
              <a:buSzPts val="1800"/>
              <a:buNone/>
            </a:pPr>
            <a:r>
              <a:rPr lang="en"/>
              <a:t>P(G ≤ k) = P(G = 1) + P(G = 2) + …. + P(G = k)</a:t>
            </a:r>
            <a:endParaRPr/>
          </a:p>
          <a:p>
            <a:pPr indent="0" lvl="0" marL="457200" rtl="0" algn="l">
              <a:lnSpc>
                <a:spcPct val="115000"/>
              </a:lnSpc>
              <a:spcBef>
                <a:spcPts val="1200"/>
              </a:spcBef>
              <a:spcAft>
                <a:spcPts val="1200"/>
              </a:spcAft>
              <a:buSzPts val="1800"/>
              <a:buNone/>
            </a:pPr>
            <a:r>
              <a:rPr lang="en"/>
              <a:t>P(G ≤ k) = p + (1 - p)p + (1 - p)</a:t>
            </a:r>
            <a:r>
              <a:rPr baseline="30000" lang="en"/>
              <a:t>2</a:t>
            </a:r>
            <a:r>
              <a:rPr lang="en"/>
              <a:t>p + …. + (1 - p)</a:t>
            </a:r>
            <a:r>
              <a:rPr baseline="30000" lang="en"/>
              <a:t>k-1</a:t>
            </a:r>
            <a:r>
              <a:rPr lang="en"/>
              <a:t>p </a:t>
            </a:r>
            <a:br>
              <a:rPr lang="en"/>
            </a:br>
            <a:r>
              <a:rPr lang="en"/>
              <a:t>	       = 1 - (1 - p)</a:t>
            </a:r>
            <a:r>
              <a:rPr baseline="30000" lang="en"/>
              <a:t>k</a:t>
            </a:r>
            <a:r>
              <a:rPr lang="en"/>
              <a:t>    (important identity)</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Throw a die till you get 1</a:t>
            </a:r>
            <a:endParaRPr/>
          </a:p>
        </p:txBody>
      </p:sp>
      <p:sp>
        <p:nvSpPr>
          <p:cNvPr id="526" name="Google Shape;526;p55"/>
          <p:cNvSpPr txBox="1"/>
          <p:nvPr>
            <p:ph idx="1" type="body"/>
          </p:nvPr>
        </p:nvSpPr>
        <p:spPr>
          <a:xfrm>
            <a:off x="311700" y="1152475"/>
            <a:ext cx="8520600" cy="37704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108108"/>
              <a:buNone/>
            </a:pPr>
            <a:r>
              <a:rPr lang="en"/>
              <a:t>In Ludo, a player needs to repeatedly throw a die till she gets a 1. What is the probability that she needs lesser than 6 throws? What is the probability that she needs lesser than 11 throws? What is the probability that she needs lesser than 21 throws? </a:t>
            </a:r>
            <a:endParaRPr/>
          </a:p>
          <a:p>
            <a:pPr indent="0" lvl="0" marL="0" rtl="0" algn="l">
              <a:lnSpc>
                <a:spcPct val="115000"/>
              </a:lnSpc>
              <a:spcBef>
                <a:spcPts val="1200"/>
              </a:spcBef>
              <a:spcAft>
                <a:spcPts val="0"/>
              </a:spcAft>
              <a:buSzPct val="108108"/>
              <a:buNone/>
            </a:pPr>
            <a:r>
              <a:rPr lang="en"/>
              <a:t>P(lesser than 6 throws) = P(G = 1 or …. or G = 5) </a:t>
            </a:r>
            <a:br>
              <a:rPr lang="en"/>
            </a:br>
            <a:r>
              <a:rPr lang="en"/>
              <a:t>		        = 1/6 + 5/6 x 1/6 + (5/6)</a:t>
            </a:r>
            <a:r>
              <a:rPr baseline="30000" lang="en"/>
              <a:t>2</a:t>
            </a:r>
            <a:r>
              <a:rPr lang="en"/>
              <a:t>(1/6) + (5/6)</a:t>
            </a:r>
            <a:r>
              <a:rPr baseline="30000" lang="en"/>
              <a:t>3</a:t>
            </a:r>
            <a:r>
              <a:rPr lang="en"/>
              <a:t>(1/6) + (5/6)</a:t>
            </a:r>
            <a:r>
              <a:rPr baseline="30000" lang="en"/>
              <a:t>4</a:t>
            </a:r>
            <a:r>
              <a:rPr lang="en"/>
              <a:t>(1/6)</a:t>
            </a:r>
            <a:br>
              <a:rPr lang="en"/>
            </a:br>
            <a:r>
              <a:rPr lang="en"/>
              <a:t>		        = 1 - (5/6)</a:t>
            </a:r>
            <a:r>
              <a:rPr baseline="30000" lang="en"/>
              <a:t>5</a:t>
            </a:r>
            <a:r>
              <a:rPr lang="en"/>
              <a:t> = 0.5981</a:t>
            </a:r>
            <a:endParaRPr/>
          </a:p>
          <a:p>
            <a:pPr indent="0" lvl="0" marL="0" rtl="0" algn="l">
              <a:lnSpc>
                <a:spcPct val="115000"/>
              </a:lnSpc>
              <a:spcBef>
                <a:spcPts val="1200"/>
              </a:spcBef>
              <a:spcAft>
                <a:spcPts val="0"/>
              </a:spcAft>
              <a:buSzPct val="108108"/>
              <a:buNone/>
            </a:pPr>
            <a:r>
              <a:rPr lang="en"/>
              <a:t>P(lesser than 11 throws) = 1/6 + 5/6 x 1/6 + (5/6)</a:t>
            </a:r>
            <a:r>
              <a:rPr baseline="30000" lang="en"/>
              <a:t>2</a:t>
            </a:r>
            <a:r>
              <a:rPr lang="en"/>
              <a:t>(1/6) + …. + (5/6)</a:t>
            </a:r>
            <a:r>
              <a:rPr baseline="30000" lang="en"/>
              <a:t>10</a:t>
            </a:r>
            <a:r>
              <a:rPr lang="en"/>
              <a:t>(1/6)</a:t>
            </a:r>
            <a:br>
              <a:rPr lang="en"/>
            </a:br>
            <a:r>
              <a:rPr lang="en"/>
              <a:t>		         = 1 - (5/6)</a:t>
            </a:r>
            <a:r>
              <a:rPr baseline="30000" lang="en"/>
              <a:t>11</a:t>
            </a:r>
            <a:r>
              <a:rPr lang="en"/>
              <a:t> = 0.8654</a:t>
            </a:r>
            <a:endParaRPr/>
          </a:p>
          <a:p>
            <a:pPr indent="0" lvl="0" marL="0" rtl="0" algn="l">
              <a:lnSpc>
                <a:spcPct val="115000"/>
              </a:lnSpc>
              <a:spcBef>
                <a:spcPts val="1200"/>
              </a:spcBef>
              <a:spcAft>
                <a:spcPts val="1200"/>
              </a:spcAft>
              <a:buSzPct val="108108"/>
              <a:buNone/>
            </a:pPr>
            <a:r>
              <a:rPr lang="en"/>
              <a:t>P(lesser than 21 throws) = 1/6 + 5/6 x 1/6 + (5/6)</a:t>
            </a:r>
            <a:r>
              <a:rPr baseline="30000" lang="en"/>
              <a:t>2</a:t>
            </a:r>
            <a:r>
              <a:rPr lang="en"/>
              <a:t>(1/6) + …. + (5/6)</a:t>
            </a:r>
            <a:r>
              <a:rPr baseline="30000" lang="en"/>
              <a:t>20</a:t>
            </a:r>
            <a:r>
              <a:rPr lang="en"/>
              <a:t>(1/6)</a:t>
            </a:r>
            <a:br>
              <a:rPr lang="en"/>
            </a:br>
            <a:r>
              <a:rPr lang="en"/>
              <a:t>		          = 1 - (5/6)</a:t>
            </a:r>
            <a:r>
              <a:rPr baseline="30000" lang="en"/>
              <a:t>21</a:t>
            </a:r>
            <a:r>
              <a:rPr lang="en"/>
              <a:t> = 0.9783</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5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Example: Basketball free throw contest</a:t>
            </a:r>
            <a:endParaRPr/>
          </a:p>
        </p:txBody>
      </p:sp>
      <p:sp>
        <p:nvSpPr>
          <p:cNvPr id="532" name="Google Shape;532;p56"/>
          <p:cNvSpPr txBox="1"/>
          <p:nvPr>
            <p:ph idx="1" type="body"/>
          </p:nvPr>
        </p:nvSpPr>
        <p:spPr>
          <a:xfrm>
            <a:off x="311700" y="1152475"/>
            <a:ext cx="8520600" cy="18429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
              <a:t>Player 1 is a 40% free throw shooter, while Player 2 is a 70% shooter. Each throw is independent of all previous throws. The two players alternate shooting with Player 1 starting till the first basket is scored. </a:t>
            </a:r>
            <a:endParaRPr/>
          </a:p>
          <a:p>
            <a:pPr indent="-342900" lvl="0" marL="457200" rtl="0" algn="l">
              <a:lnSpc>
                <a:spcPct val="115000"/>
              </a:lnSpc>
              <a:spcBef>
                <a:spcPts val="1200"/>
              </a:spcBef>
              <a:spcAft>
                <a:spcPts val="0"/>
              </a:spcAft>
              <a:buSzPts val="1800"/>
              <a:buAutoNum type="arabicParenBoth"/>
            </a:pPr>
            <a:r>
              <a:rPr lang="en"/>
              <a:t>What is the probability that Player 1 wins before the 3rd round?</a:t>
            </a:r>
            <a:endParaRPr/>
          </a:p>
          <a:p>
            <a:pPr indent="-342900" lvl="0" marL="457200" rtl="0" algn="l">
              <a:lnSpc>
                <a:spcPct val="115000"/>
              </a:lnSpc>
              <a:spcBef>
                <a:spcPts val="0"/>
              </a:spcBef>
              <a:spcAft>
                <a:spcPts val="0"/>
              </a:spcAft>
              <a:buSzPts val="1800"/>
              <a:buAutoNum type="arabicParenBoth"/>
            </a:pPr>
            <a:r>
              <a:rPr lang="en"/>
              <a:t>What is the probability that Player 1 wins?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