
<file path=[Content_Types].xml><?xml version="1.0" encoding="utf-8"?>
<Types xmlns="http://schemas.openxmlformats.org/package/2006/content-types">
  <Default ContentType="image/jpeg" Extension="jpg"/>
  <Default ContentType="application/xml" Extension="xml"/>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http://customooxmlschemas.google.com/">
      <go:slidesCustomData xmlns:go="http://customooxmlschemas.google.com/" r:id="rId52" roundtripDataSignature="AMtx7mhC626bZ6Vu9LT2no5Vv2fYcF/nR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2"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 name="Google Shape;5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 name="Google Shape;7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 name="Google Shape;8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 name="Google Shape;9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 name="Google Shape;11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 name="Google Shape;11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 name="Google Shape;158;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4" name="Google Shape;164;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 name="Google Shape;17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 name="Google Shape;184;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 name="Google Shape;190;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5" name="Google Shape;195;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 name="Google Shape;208;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8" name="Google Shape;218;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9" name="Google Shape;229;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1" name="Google Shape;241;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3" name="Google Shape;253;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8" name="Google Shape;258;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 name="Google Shape;264;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 name="Google Shape;270;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6" name="Google Shape;276;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2" name="Google Shape;282;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8" name="Google Shape;288;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 This is a Pear Deck Number Slide </a:t>
            </a:r>
            <a:endParaRPr/>
          </a:p>
          <a:p>
            <a:pPr indent="0" lvl="0" marL="0" rtl="0" algn="l">
              <a:lnSpc>
                <a:spcPct val="100000"/>
              </a:lnSpc>
              <a:spcBef>
                <a:spcPts val="0"/>
              </a:spcBef>
              <a:spcAft>
                <a:spcPts val="0"/>
              </a:spcAft>
              <a:buSzPts val="1100"/>
              <a:buNone/>
            </a:pPr>
            <a:r>
              <a:rPr lang="en"/>
              <a:t>🍐 To edit the type of question, go back to the "Ask Students a Question" in the Pear Deck sidebar.</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4" name="Google Shape;294;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0" name="Google Shape;300;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6" name="Google Shape;306;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2" name="Google Shape;312;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8" name="Google Shape;318;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4" name="Google Shape;324;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0" name="Google Shape;330;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6" name="Google Shape;336;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1" name="Google Shape;341;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7" name="Google Shape;347;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0" name="Google Shape;370;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6" name="Google Shape;376;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6" name="Google Shape;416;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2" name="Google Shape;422;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48"/>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48"/>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4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6" name="Google Shape;16;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50"/>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51"/>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3" name="Google Shape;23;p51"/>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4" name="Google Shape;24;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5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53"/>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53"/>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1" name="Google Shape;31;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54"/>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55"/>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55"/>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55"/>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55"/>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Clr>
                <a:schemeClr val="dk1"/>
              </a:buClr>
              <a:buSzPts val="1800"/>
              <a:buChar char="●"/>
              <a:defRPr>
                <a:solidFill>
                  <a:schemeClr val="dk1"/>
                </a:solidFill>
              </a:defRPr>
            </a:lvl1pPr>
            <a:lvl2pPr indent="-317500" lvl="1" marL="914400" algn="l">
              <a:lnSpc>
                <a:spcPct val="115000"/>
              </a:lnSpc>
              <a:spcBef>
                <a:spcPts val="1600"/>
              </a:spcBef>
              <a:spcAft>
                <a:spcPts val="0"/>
              </a:spcAft>
              <a:buClr>
                <a:schemeClr val="dk1"/>
              </a:buClr>
              <a:buSzPts val="1400"/>
              <a:buChar char="○"/>
              <a:defRPr>
                <a:solidFill>
                  <a:schemeClr val="dk1"/>
                </a:solidFill>
              </a:defRPr>
            </a:lvl2pPr>
            <a:lvl3pPr indent="-317500" lvl="2" marL="1371600" algn="l">
              <a:lnSpc>
                <a:spcPct val="115000"/>
              </a:lnSpc>
              <a:spcBef>
                <a:spcPts val="1600"/>
              </a:spcBef>
              <a:spcAft>
                <a:spcPts val="0"/>
              </a:spcAft>
              <a:buClr>
                <a:schemeClr val="dk1"/>
              </a:buClr>
              <a:buSzPts val="1400"/>
              <a:buChar char="■"/>
              <a:defRPr>
                <a:solidFill>
                  <a:schemeClr val="dk1"/>
                </a:solidFill>
              </a:defRPr>
            </a:lvl3pPr>
            <a:lvl4pPr indent="-317500" lvl="3" marL="1828800" algn="l">
              <a:lnSpc>
                <a:spcPct val="115000"/>
              </a:lnSpc>
              <a:spcBef>
                <a:spcPts val="1600"/>
              </a:spcBef>
              <a:spcAft>
                <a:spcPts val="0"/>
              </a:spcAft>
              <a:buClr>
                <a:schemeClr val="dk1"/>
              </a:buClr>
              <a:buSzPts val="1400"/>
              <a:buChar char="●"/>
              <a:defRPr>
                <a:solidFill>
                  <a:schemeClr val="dk1"/>
                </a:solidFill>
              </a:defRPr>
            </a:lvl4pPr>
            <a:lvl5pPr indent="-317500" lvl="4" marL="2286000" algn="l">
              <a:lnSpc>
                <a:spcPct val="115000"/>
              </a:lnSpc>
              <a:spcBef>
                <a:spcPts val="1600"/>
              </a:spcBef>
              <a:spcAft>
                <a:spcPts val="0"/>
              </a:spcAft>
              <a:buClr>
                <a:schemeClr val="dk1"/>
              </a:buClr>
              <a:buSzPts val="1400"/>
              <a:buChar char="○"/>
              <a:defRPr>
                <a:solidFill>
                  <a:schemeClr val="dk1"/>
                </a:solidFill>
              </a:defRPr>
            </a:lvl5pPr>
            <a:lvl6pPr indent="-317500" lvl="5" marL="2743200" algn="l">
              <a:lnSpc>
                <a:spcPct val="115000"/>
              </a:lnSpc>
              <a:spcBef>
                <a:spcPts val="1600"/>
              </a:spcBef>
              <a:spcAft>
                <a:spcPts val="0"/>
              </a:spcAft>
              <a:buClr>
                <a:schemeClr val="dk1"/>
              </a:buClr>
              <a:buSzPts val="1400"/>
              <a:buChar char="■"/>
              <a:defRPr>
                <a:solidFill>
                  <a:schemeClr val="dk1"/>
                </a:solidFill>
              </a:defRPr>
            </a:lvl6pPr>
            <a:lvl7pPr indent="-317500" lvl="6" marL="3200400" algn="l">
              <a:lnSpc>
                <a:spcPct val="115000"/>
              </a:lnSpc>
              <a:spcBef>
                <a:spcPts val="1600"/>
              </a:spcBef>
              <a:spcAft>
                <a:spcPts val="0"/>
              </a:spcAft>
              <a:buClr>
                <a:schemeClr val="dk1"/>
              </a:buClr>
              <a:buSzPts val="1400"/>
              <a:buChar char="●"/>
              <a:defRPr>
                <a:solidFill>
                  <a:schemeClr val="dk1"/>
                </a:solidFill>
              </a:defRPr>
            </a:lvl7pPr>
            <a:lvl8pPr indent="-317500" lvl="7" marL="3657600" algn="l">
              <a:lnSpc>
                <a:spcPct val="115000"/>
              </a:lnSpc>
              <a:spcBef>
                <a:spcPts val="1600"/>
              </a:spcBef>
              <a:spcAft>
                <a:spcPts val="0"/>
              </a:spcAft>
              <a:buClr>
                <a:schemeClr val="dk1"/>
              </a:buClr>
              <a:buSzPts val="1400"/>
              <a:buChar char="○"/>
              <a:defRPr>
                <a:solidFill>
                  <a:schemeClr val="dk1"/>
                </a:solidFill>
              </a:defRPr>
            </a:lvl8pPr>
            <a:lvl9pPr indent="-317500" lvl="8" marL="4114800" algn="l">
              <a:lnSpc>
                <a:spcPct val="115000"/>
              </a:lnSpc>
              <a:spcBef>
                <a:spcPts val="1600"/>
              </a:spcBef>
              <a:spcAft>
                <a:spcPts val="1600"/>
              </a:spcAft>
              <a:buClr>
                <a:schemeClr val="dk1"/>
              </a:buClr>
              <a:buSzPts val="1400"/>
              <a:buChar char="■"/>
              <a:defRPr>
                <a:solidFill>
                  <a:schemeClr val="dk1"/>
                </a:solidFill>
              </a:defRPr>
            </a:lvl9pPr>
          </a:lstStyle>
          <a:p/>
        </p:txBody>
      </p:sp>
      <p:sp>
        <p:nvSpPr>
          <p:cNvPr id="40" name="Google Shape;40;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56"/>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43" name="Google Shape;43;p5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57"/>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57"/>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7" name="Google Shape;47;p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5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4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lt2"/>
              </a:buClr>
              <a:buSzPts val="1800"/>
              <a:buFont typeface="Arial"/>
              <a:buChar char="●"/>
              <a:defRPr b="0" i="0" sz="1800" u="none" cap="none" strike="noStrike">
                <a:solidFill>
                  <a:schemeClr val="lt2"/>
                </a:solidFill>
                <a:latin typeface="Arial"/>
                <a:ea typeface="Arial"/>
                <a:cs typeface="Arial"/>
                <a:sym typeface="Arial"/>
              </a:defRPr>
            </a:lvl1pPr>
            <a:lvl2pPr indent="-317500" lvl="1" marL="914400" marR="0" rtl="0" algn="l">
              <a:lnSpc>
                <a:spcPct val="115000"/>
              </a:lnSpc>
              <a:spcBef>
                <a:spcPts val="1600"/>
              </a:spcBef>
              <a:spcAft>
                <a:spcPts val="0"/>
              </a:spcAft>
              <a:buClr>
                <a:schemeClr val="lt2"/>
              </a:buClr>
              <a:buSzPts val="1400"/>
              <a:buFont typeface="Arial"/>
              <a:buChar char="○"/>
              <a:defRPr b="0" i="0" sz="1400" u="none" cap="none" strike="noStrike">
                <a:solidFill>
                  <a:schemeClr val="lt2"/>
                </a:solidFill>
                <a:latin typeface="Arial"/>
                <a:ea typeface="Arial"/>
                <a:cs typeface="Arial"/>
                <a:sym typeface="Arial"/>
              </a:defRPr>
            </a:lvl2pPr>
            <a:lvl3pPr indent="-317500" lvl="2" marL="1371600" marR="0" rtl="0" algn="l">
              <a:lnSpc>
                <a:spcPct val="115000"/>
              </a:lnSpc>
              <a:spcBef>
                <a:spcPts val="1600"/>
              </a:spcBef>
              <a:spcAft>
                <a:spcPts val="0"/>
              </a:spcAft>
              <a:buClr>
                <a:schemeClr val="lt2"/>
              </a:buClr>
              <a:buSzPts val="1400"/>
              <a:buFont typeface="Arial"/>
              <a:buChar char="■"/>
              <a:defRPr b="0" i="0" sz="1400" u="none" cap="none" strike="noStrike">
                <a:solidFill>
                  <a:schemeClr val="lt2"/>
                </a:solidFill>
                <a:latin typeface="Arial"/>
                <a:ea typeface="Arial"/>
                <a:cs typeface="Arial"/>
                <a:sym typeface="Arial"/>
              </a:defRPr>
            </a:lvl3pPr>
            <a:lvl4pPr indent="-317500" lvl="3" marL="1828800" marR="0" rtl="0" algn="l">
              <a:lnSpc>
                <a:spcPct val="115000"/>
              </a:lnSpc>
              <a:spcBef>
                <a:spcPts val="1600"/>
              </a:spcBef>
              <a:spcAft>
                <a:spcPts val="0"/>
              </a:spcAft>
              <a:buClr>
                <a:schemeClr val="lt2"/>
              </a:buClr>
              <a:buSzPts val="1400"/>
              <a:buFont typeface="Arial"/>
              <a:buChar char="●"/>
              <a:defRPr b="0" i="0" sz="1400" u="none" cap="none" strike="noStrike">
                <a:solidFill>
                  <a:schemeClr val="lt2"/>
                </a:solidFill>
                <a:latin typeface="Arial"/>
                <a:ea typeface="Arial"/>
                <a:cs typeface="Arial"/>
                <a:sym typeface="Arial"/>
              </a:defRPr>
            </a:lvl4pPr>
            <a:lvl5pPr indent="-317500" lvl="4" marL="2286000" marR="0" rtl="0" algn="l">
              <a:lnSpc>
                <a:spcPct val="115000"/>
              </a:lnSpc>
              <a:spcBef>
                <a:spcPts val="1600"/>
              </a:spcBef>
              <a:spcAft>
                <a:spcPts val="0"/>
              </a:spcAft>
              <a:buClr>
                <a:schemeClr val="lt2"/>
              </a:buClr>
              <a:buSzPts val="1400"/>
              <a:buFont typeface="Arial"/>
              <a:buChar char="○"/>
              <a:defRPr b="0" i="0" sz="1400" u="none" cap="none" strike="noStrike">
                <a:solidFill>
                  <a:schemeClr val="lt2"/>
                </a:solidFill>
                <a:latin typeface="Arial"/>
                <a:ea typeface="Arial"/>
                <a:cs typeface="Arial"/>
                <a:sym typeface="Arial"/>
              </a:defRPr>
            </a:lvl5pPr>
            <a:lvl6pPr indent="-317500" lvl="5" marL="2743200" marR="0" rtl="0" algn="l">
              <a:lnSpc>
                <a:spcPct val="115000"/>
              </a:lnSpc>
              <a:spcBef>
                <a:spcPts val="1600"/>
              </a:spcBef>
              <a:spcAft>
                <a:spcPts val="0"/>
              </a:spcAft>
              <a:buClr>
                <a:schemeClr val="lt2"/>
              </a:buClr>
              <a:buSzPts val="1400"/>
              <a:buFont typeface="Arial"/>
              <a:buChar char="■"/>
              <a:defRPr b="0" i="0" sz="1400" u="none" cap="none" strike="noStrike">
                <a:solidFill>
                  <a:schemeClr val="lt2"/>
                </a:solidFill>
                <a:latin typeface="Arial"/>
                <a:ea typeface="Arial"/>
                <a:cs typeface="Arial"/>
                <a:sym typeface="Arial"/>
              </a:defRPr>
            </a:lvl6pPr>
            <a:lvl7pPr indent="-317500" lvl="6" marL="3200400" marR="0" rtl="0" algn="l">
              <a:lnSpc>
                <a:spcPct val="115000"/>
              </a:lnSpc>
              <a:spcBef>
                <a:spcPts val="1600"/>
              </a:spcBef>
              <a:spcAft>
                <a:spcPts val="0"/>
              </a:spcAft>
              <a:buClr>
                <a:schemeClr val="lt2"/>
              </a:buClr>
              <a:buSzPts val="1400"/>
              <a:buFont typeface="Arial"/>
              <a:buChar char="●"/>
              <a:defRPr b="0" i="0" sz="1400" u="none" cap="none" strike="noStrike">
                <a:solidFill>
                  <a:schemeClr val="lt2"/>
                </a:solidFill>
                <a:latin typeface="Arial"/>
                <a:ea typeface="Arial"/>
                <a:cs typeface="Arial"/>
                <a:sym typeface="Arial"/>
              </a:defRPr>
            </a:lvl7pPr>
            <a:lvl8pPr indent="-317500" lvl="7" marL="3657600" marR="0" rtl="0" algn="l">
              <a:lnSpc>
                <a:spcPct val="115000"/>
              </a:lnSpc>
              <a:spcBef>
                <a:spcPts val="1600"/>
              </a:spcBef>
              <a:spcAft>
                <a:spcPts val="0"/>
              </a:spcAft>
              <a:buClr>
                <a:schemeClr val="lt2"/>
              </a:buClr>
              <a:buSzPts val="1400"/>
              <a:buFont typeface="Arial"/>
              <a:buChar char="○"/>
              <a:defRPr b="0" i="0" sz="1400" u="none" cap="none" strike="noStrike">
                <a:solidFill>
                  <a:schemeClr val="lt2"/>
                </a:solidFill>
                <a:latin typeface="Arial"/>
                <a:ea typeface="Arial"/>
                <a:cs typeface="Arial"/>
                <a:sym typeface="Arial"/>
              </a:defRPr>
            </a:lvl8pPr>
            <a:lvl9pPr indent="-317500" lvl="8" marL="4114800" marR="0" rtl="0" algn="l">
              <a:lnSpc>
                <a:spcPct val="115000"/>
              </a:lnSpc>
              <a:spcBef>
                <a:spcPts val="1600"/>
              </a:spcBef>
              <a:spcAft>
                <a:spcPts val="1600"/>
              </a:spcAft>
              <a:buClr>
                <a:schemeClr val="lt2"/>
              </a:buClr>
              <a:buSzPts val="1400"/>
              <a:buFont typeface="Arial"/>
              <a:buChar char="■"/>
              <a:defRPr b="0" i="0" sz="1400" u="none" cap="none" strike="noStrike">
                <a:solidFill>
                  <a:schemeClr val="lt2"/>
                </a:solidFill>
                <a:latin typeface="Arial"/>
                <a:ea typeface="Arial"/>
                <a:cs typeface="Arial"/>
                <a:sym typeface="Arial"/>
              </a:defRPr>
            </a:lvl9pPr>
          </a:lstStyle>
          <a:p/>
        </p:txBody>
      </p:sp>
      <p:sp>
        <p:nvSpPr>
          <p:cNvPr id="8" name="Google Shape;8;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www.isibang.ac.in/~athreya/psweur/" TargetMode="External"/><Relationship Id="rId4" Type="http://schemas.openxmlformats.org/officeDocument/2006/relationships/hyperlink" Target="https://greenteapress.com/wp/think-stats-2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jpg"/><Relationship Id="rId4" Type="http://schemas.openxmlformats.org/officeDocument/2006/relationships/image" Target="../media/image2.jpg"/><Relationship Id="rId5"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hyperlink" Target="http://dontchangethislink.peardeckmagic.zone?eyJ0eXBlIjoiZ29vZ2xlLXNsaWRlcy1hZGRvbi1yZXNwb25zZS1mb290ZXIiLCJsYXN0RWRpdGVkQnkiOiJ1bmtub3duIiwicHJlc2VudGF0aW9uSWQiOiIxTUpaOUFWMFNHamo3MVQ2UzA2MXQyeDdsdUxkcnRBMHdkZUlEV3ktR0FOMCIsImNvbnRlbnRJZCI6ImN1c3RvbS1yZXNwb25zZS1mcmVlUmVzcG9uc2UtbnVtYmVyIiwic2xpZGVJZCI6ImdiNzVjYTgyZjFjXzBfMCIsImNvbnRlbnRJbnN0YW5jZUlkIjoiMU1KWjlBVjBTR2pqNzFUNlMwNjF0Mng3bHVMZHJ0QTB3ZGVJRFd5LUdBTjAvYTVkNDNiNjQtZTNiNi00YjVkLWIyOGYtYjY4MjQyNGIyNmYyIn0=pearId=magic-pear-metadata-identifier"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type="ctrTitle"/>
          </p:nvPr>
        </p:nvSpPr>
        <p:spPr>
          <a:xfrm>
            <a:off x="311700" y="1558625"/>
            <a:ext cx="8520600" cy="12384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a:t>Basic Concepts</a:t>
            </a:r>
            <a:endParaRPr/>
          </a:p>
        </p:txBody>
      </p:sp>
      <p:sp>
        <p:nvSpPr>
          <p:cNvPr id="55" name="Google Shape;55;p1"/>
          <p:cNvSpPr txBox="1"/>
          <p:nvPr>
            <p:ph idx="1" type="subTitle"/>
          </p:nvPr>
        </p:nvSpPr>
        <p:spPr>
          <a:xfrm>
            <a:off x="311700" y="2834125"/>
            <a:ext cx="8520600" cy="11028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t>Experiment, Outcome, Sample space, Event, Probability</a:t>
            </a:r>
            <a:endParaRPr b="1"/>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Textbooks for the course</a:t>
            </a:r>
            <a:endParaRPr/>
          </a:p>
        </p:txBody>
      </p:sp>
      <p:sp>
        <p:nvSpPr>
          <p:cNvPr id="61" name="Google Shape;61;p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Probability and Statistics by Siva Athreya, Deepayan Sarkar and Steve Tanner</a:t>
            </a:r>
            <a:endParaRPr/>
          </a:p>
          <a:p>
            <a:pPr indent="-317500" lvl="1" marL="914400" rtl="0" algn="l">
              <a:lnSpc>
                <a:spcPct val="115000"/>
              </a:lnSpc>
              <a:spcBef>
                <a:spcPts val="0"/>
              </a:spcBef>
              <a:spcAft>
                <a:spcPts val="0"/>
              </a:spcAft>
              <a:buSzPts val="1400"/>
              <a:buChar char="○"/>
            </a:pPr>
            <a:r>
              <a:rPr lang="en" u="sng">
                <a:solidFill>
                  <a:schemeClr val="hlink"/>
                </a:solidFill>
                <a:hlinkClick r:id="rId3"/>
              </a:rPr>
              <a:t>https://www.isibang.ac.in/~athreya/psweur/</a:t>
            </a:r>
            <a:endParaRPr/>
          </a:p>
          <a:p>
            <a:pPr indent="-317500" lvl="1" marL="914400" rtl="0" algn="l">
              <a:lnSpc>
                <a:spcPct val="115000"/>
              </a:lnSpc>
              <a:spcBef>
                <a:spcPts val="0"/>
              </a:spcBef>
              <a:spcAft>
                <a:spcPts val="0"/>
              </a:spcAft>
              <a:buSzPts val="1400"/>
              <a:buChar char="○"/>
            </a:pPr>
            <a:r>
              <a:rPr lang="en"/>
              <a:t>Work in progress</a:t>
            </a:r>
            <a:endParaRPr/>
          </a:p>
          <a:p>
            <a:pPr indent="-317500" lvl="1" marL="914400" rtl="0" algn="l">
              <a:lnSpc>
                <a:spcPct val="115000"/>
              </a:lnSpc>
              <a:spcBef>
                <a:spcPts val="0"/>
              </a:spcBef>
              <a:spcAft>
                <a:spcPts val="0"/>
              </a:spcAft>
              <a:buSzPts val="1400"/>
              <a:buChar char="○"/>
            </a:pPr>
            <a:r>
              <a:rPr lang="en"/>
              <a:t>This course will follow this book closely</a:t>
            </a:r>
            <a:endParaRPr/>
          </a:p>
          <a:p>
            <a:pPr indent="-342900" lvl="0" marL="457200" rtl="0" algn="l">
              <a:lnSpc>
                <a:spcPct val="115000"/>
              </a:lnSpc>
              <a:spcBef>
                <a:spcPts val="0"/>
              </a:spcBef>
              <a:spcAft>
                <a:spcPts val="0"/>
              </a:spcAft>
              <a:buSzPts val="1800"/>
              <a:buChar char="●"/>
            </a:pPr>
            <a:r>
              <a:rPr lang="en"/>
              <a:t>Other useful books</a:t>
            </a:r>
            <a:endParaRPr/>
          </a:p>
          <a:p>
            <a:pPr indent="-317500" lvl="1" marL="914400" rtl="0" algn="l">
              <a:lnSpc>
                <a:spcPct val="115000"/>
              </a:lnSpc>
              <a:spcBef>
                <a:spcPts val="0"/>
              </a:spcBef>
              <a:spcAft>
                <a:spcPts val="0"/>
              </a:spcAft>
              <a:buSzPts val="1400"/>
              <a:buChar char="○"/>
            </a:pPr>
            <a:r>
              <a:rPr lang="en"/>
              <a:t>Think Stats 2 by Allen B Downey (</a:t>
            </a:r>
            <a:r>
              <a:rPr lang="en" u="sng">
                <a:solidFill>
                  <a:schemeClr val="hlink"/>
                </a:solidFill>
                <a:hlinkClick r:id="rId4"/>
              </a:rPr>
              <a:t>https://greenteapress.com/wp/think-stats-2e/</a:t>
            </a:r>
            <a:r>
              <a:rPr lang="en"/>
              <a:t>)</a:t>
            </a:r>
            <a:endParaRPr/>
          </a:p>
          <a:p>
            <a:pPr indent="-317500" lvl="1" marL="914400" rtl="0" algn="l">
              <a:lnSpc>
                <a:spcPct val="115000"/>
              </a:lnSpc>
              <a:spcBef>
                <a:spcPts val="0"/>
              </a:spcBef>
              <a:spcAft>
                <a:spcPts val="0"/>
              </a:spcAft>
              <a:buSzPts val="1400"/>
              <a:buChar char="○"/>
            </a:pPr>
            <a:r>
              <a:rPr lang="en"/>
              <a:t>A Modern Introduction to Probability and Statistics by F. M. Dekking, C. Kraaikamp, H. P. Lopuhaä, L. E. Meester</a:t>
            </a:r>
            <a:endParaRPr/>
          </a:p>
          <a:p>
            <a:pPr indent="-342900" lvl="0" marL="457200" rtl="0" algn="l">
              <a:lnSpc>
                <a:spcPct val="115000"/>
              </a:lnSpc>
              <a:spcBef>
                <a:spcPts val="0"/>
              </a:spcBef>
              <a:spcAft>
                <a:spcPts val="0"/>
              </a:spcAft>
              <a:buSzPts val="1800"/>
              <a:buChar char="●"/>
            </a:pPr>
            <a:r>
              <a:rPr lang="en"/>
              <a:t>There are several other books for Probability and Statistics</a:t>
            </a:r>
            <a:endParaRPr/>
          </a:p>
          <a:p>
            <a:pPr indent="-317500" lvl="1" marL="914400" rtl="0" algn="l">
              <a:lnSpc>
                <a:spcPct val="115000"/>
              </a:lnSpc>
              <a:spcBef>
                <a:spcPts val="0"/>
              </a:spcBef>
              <a:spcAft>
                <a:spcPts val="0"/>
              </a:spcAft>
              <a:buSzPts val="1400"/>
              <a:buChar char="○"/>
            </a:pPr>
            <a:r>
              <a:rPr lang="en"/>
              <a:t>No book is strictly necessary, but...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Experiment and outcome</a:t>
            </a:r>
            <a:endParaRPr/>
          </a:p>
        </p:txBody>
      </p:sp>
      <p:sp>
        <p:nvSpPr>
          <p:cNvPr id="67" name="Google Shape;67;p3"/>
          <p:cNvSpPr txBox="1"/>
          <p:nvPr>
            <p:ph idx="1" type="body"/>
          </p:nvPr>
        </p:nvSpPr>
        <p:spPr>
          <a:xfrm>
            <a:off x="311700" y="1152475"/>
            <a:ext cx="8520600" cy="6255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b="1" lang="en"/>
              <a:t>Experiment</a:t>
            </a:r>
            <a:r>
              <a:rPr lang="en"/>
              <a:t>: Process or phenomenon that we wish to study statistically</a:t>
            </a:r>
            <a:endParaRPr/>
          </a:p>
        </p:txBody>
      </p:sp>
      <p:pic>
        <p:nvPicPr>
          <p:cNvPr id="68" name="Google Shape;68;p3"/>
          <p:cNvPicPr preferRelativeResize="0"/>
          <p:nvPr/>
        </p:nvPicPr>
        <p:blipFill rotWithShape="1">
          <a:blip r:embed="rId3">
            <a:alphaModFix/>
          </a:blip>
          <a:srcRect b="0" l="0" r="0" t="0"/>
          <a:stretch/>
        </p:blipFill>
        <p:spPr>
          <a:xfrm>
            <a:off x="899100" y="1932225"/>
            <a:ext cx="1059025" cy="1340325"/>
          </a:xfrm>
          <a:prstGeom prst="rect">
            <a:avLst/>
          </a:prstGeom>
          <a:noFill/>
          <a:ln>
            <a:noFill/>
          </a:ln>
        </p:spPr>
      </p:pic>
      <p:pic>
        <p:nvPicPr>
          <p:cNvPr id="69" name="Google Shape;69;p3"/>
          <p:cNvPicPr preferRelativeResize="0"/>
          <p:nvPr/>
        </p:nvPicPr>
        <p:blipFill rotWithShape="1">
          <a:blip r:embed="rId4">
            <a:alphaModFix/>
          </a:blip>
          <a:srcRect b="0" l="0" r="18466" t="0"/>
          <a:stretch/>
        </p:blipFill>
        <p:spPr>
          <a:xfrm>
            <a:off x="2999788" y="1912725"/>
            <a:ext cx="1457025" cy="1340325"/>
          </a:xfrm>
          <a:prstGeom prst="rect">
            <a:avLst/>
          </a:prstGeom>
          <a:noFill/>
          <a:ln>
            <a:noFill/>
          </a:ln>
        </p:spPr>
      </p:pic>
      <p:pic>
        <p:nvPicPr>
          <p:cNvPr id="70" name="Google Shape;70;p3"/>
          <p:cNvPicPr preferRelativeResize="0"/>
          <p:nvPr/>
        </p:nvPicPr>
        <p:blipFill rotWithShape="1">
          <a:blip r:embed="rId5">
            <a:alphaModFix/>
          </a:blip>
          <a:srcRect b="0" l="0" r="0" t="0"/>
          <a:stretch/>
        </p:blipFill>
        <p:spPr>
          <a:xfrm>
            <a:off x="5498495" y="1901588"/>
            <a:ext cx="2750124" cy="1340325"/>
          </a:xfrm>
          <a:prstGeom prst="rect">
            <a:avLst/>
          </a:prstGeom>
          <a:noFill/>
          <a:ln>
            <a:noFill/>
          </a:ln>
        </p:spPr>
      </p:pic>
      <p:sp>
        <p:nvSpPr>
          <p:cNvPr id="71" name="Google Shape;71;p3"/>
          <p:cNvSpPr txBox="1"/>
          <p:nvPr>
            <p:ph idx="1" type="body"/>
          </p:nvPr>
        </p:nvSpPr>
        <p:spPr>
          <a:xfrm>
            <a:off x="311700" y="3533150"/>
            <a:ext cx="8520600" cy="6255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b="1" lang="en"/>
              <a:t>Outcome</a:t>
            </a:r>
            <a:r>
              <a:rPr lang="en"/>
              <a:t>: Result of the experiment (in as much detail as necessary)</a:t>
            </a:r>
            <a:endParaRPr/>
          </a:p>
        </p:txBody>
      </p:sp>
      <p:sp>
        <p:nvSpPr>
          <p:cNvPr id="72" name="Google Shape;72;p3"/>
          <p:cNvSpPr txBox="1"/>
          <p:nvPr/>
        </p:nvSpPr>
        <p:spPr>
          <a:xfrm>
            <a:off x="545413" y="4087100"/>
            <a:ext cx="1766400" cy="773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Arial"/>
                <a:ea typeface="Arial"/>
                <a:cs typeface="Arial"/>
                <a:sym typeface="Arial"/>
              </a:rPr>
              <a:t>Heads or Tails</a:t>
            </a:r>
            <a:endParaRPr b="0" i="0" sz="1800" u="none" cap="none" strike="noStrike">
              <a:solidFill>
                <a:srgbClr val="FFFFFF"/>
              </a:solidFill>
              <a:latin typeface="Arial"/>
              <a:ea typeface="Arial"/>
              <a:cs typeface="Arial"/>
              <a:sym typeface="Arial"/>
            </a:endParaRPr>
          </a:p>
        </p:txBody>
      </p:sp>
      <p:sp>
        <p:nvSpPr>
          <p:cNvPr id="73" name="Google Shape;73;p3"/>
          <p:cNvSpPr txBox="1"/>
          <p:nvPr/>
        </p:nvSpPr>
        <p:spPr>
          <a:xfrm>
            <a:off x="2423013" y="4087100"/>
            <a:ext cx="2610600" cy="773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Arial"/>
                <a:ea typeface="Arial"/>
                <a:cs typeface="Arial"/>
                <a:sym typeface="Arial"/>
              </a:rPr>
              <a:t>1 or 2 or 3 or 4 or 5 or 6 (one die)</a:t>
            </a:r>
            <a:endParaRPr b="0" i="0" sz="1800" u="none" cap="none" strike="noStrike">
              <a:solidFill>
                <a:srgbClr val="FFFFFF"/>
              </a:solidFill>
              <a:latin typeface="Arial"/>
              <a:ea typeface="Arial"/>
              <a:cs typeface="Arial"/>
              <a:sym typeface="Arial"/>
            </a:endParaRPr>
          </a:p>
        </p:txBody>
      </p:sp>
      <p:sp>
        <p:nvSpPr>
          <p:cNvPr id="74" name="Google Shape;74;p3"/>
          <p:cNvSpPr txBox="1"/>
          <p:nvPr/>
        </p:nvSpPr>
        <p:spPr>
          <a:xfrm>
            <a:off x="5729525" y="4087100"/>
            <a:ext cx="2288100" cy="773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Arial"/>
                <a:ea typeface="Arial"/>
                <a:cs typeface="Arial"/>
                <a:sym typeface="Arial"/>
              </a:rPr>
              <a:t>Yaml format file</a:t>
            </a:r>
            <a:endParaRPr b="0" i="0" sz="180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Arial"/>
                <a:ea typeface="Arial"/>
                <a:cs typeface="Arial"/>
                <a:sym typeface="Arial"/>
              </a:rPr>
              <a:t>(lots of details)</a:t>
            </a:r>
            <a:endParaRPr b="0" i="0" sz="1800" u="none" cap="none" strike="noStrike">
              <a:solidFill>
                <a:srgbClr val="FFFFFF"/>
              </a:solidFill>
              <a:latin typeface="Arial"/>
              <a:ea typeface="Arial"/>
              <a:cs typeface="Arial"/>
              <a:sym typeface="Arial"/>
            </a:endParaRPr>
          </a:p>
        </p:txBody>
      </p:sp>
      <p:sp>
        <p:nvSpPr>
          <p:cNvPr id="75" name="Google Shape;75;p3"/>
          <p:cNvSpPr txBox="1"/>
          <p:nvPr/>
        </p:nvSpPr>
        <p:spPr>
          <a:xfrm>
            <a:off x="5680375" y="3230425"/>
            <a:ext cx="2962500" cy="3474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200"/>
              <a:buFont typeface="Arial"/>
              <a:buNone/>
            </a:pPr>
            <a:r>
              <a:rPr b="0" i="0" lang="en" sz="1200" u="none" cap="none" strike="noStrike">
                <a:solidFill>
                  <a:srgbClr val="FFFFFF"/>
                </a:solidFill>
                <a:latin typeface="Arial"/>
                <a:ea typeface="Arial"/>
                <a:cs typeface="Arial"/>
                <a:sym typeface="Arial"/>
              </a:rPr>
              <a:t>Images: wikipedia commons, pixy.org</a:t>
            </a:r>
            <a:endParaRPr b="0" i="0" sz="1200" u="none" cap="none" strike="noStrike">
              <a:solidFill>
                <a:srgbClr val="FFFFFF"/>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Sample space</a:t>
            </a:r>
            <a:endParaRPr/>
          </a:p>
        </p:txBody>
      </p:sp>
      <p:sp>
        <p:nvSpPr>
          <p:cNvPr id="81" name="Google Shape;81;p4"/>
          <p:cNvSpPr txBox="1"/>
          <p:nvPr>
            <p:ph idx="1" type="body"/>
          </p:nvPr>
        </p:nvSpPr>
        <p:spPr>
          <a:xfrm>
            <a:off x="311700" y="2262900"/>
            <a:ext cx="8520600" cy="26556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Sample space is a set, typically denoted </a:t>
            </a:r>
            <a:r>
              <a:rPr i="1" lang="en"/>
              <a:t>S</a:t>
            </a:r>
            <a:endParaRPr/>
          </a:p>
          <a:p>
            <a:pPr indent="-342900" lvl="0" marL="457200" rtl="0" algn="l">
              <a:lnSpc>
                <a:spcPct val="115000"/>
              </a:lnSpc>
              <a:spcBef>
                <a:spcPts val="0"/>
              </a:spcBef>
              <a:spcAft>
                <a:spcPts val="0"/>
              </a:spcAft>
              <a:buSzPts val="1800"/>
              <a:buChar char="●"/>
            </a:pPr>
            <a:r>
              <a:rPr lang="en"/>
              <a:t>Examples</a:t>
            </a:r>
            <a:endParaRPr/>
          </a:p>
          <a:p>
            <a:pPr indent="-317500" lvl="1" marL="914400" rtl="0" algn="l">
              <a:lnSpc>
                <a:spcPct val="115000"/>
              </a:lnSpc>
              <a:spcBef>
                <a:spcPts val="0"/>
              </a:spcBef>
              <a:spcAft>
                <a:spcPts val="0"/>
              </a:spcAft>
              <a:buSzPts val="1400"/>
              <a:buChar char="○"/>
            </a:pPr>
            <a:r>
              <a:rPr lang="en"/>
              <a:t>Toss a coin: </a:t>
            </a:r>
            <a:r>
              <a:rPr i="1" lang="en"/>
              <a:t>S</a:t>
            </a:r>
            <a:r>
              <a:rPr lang="en"/>
              <a:t> = { heads, tails }</a:t>
            </a:r>
            <a:endParaRPr/>
          </a:p>
          <a:p>
            <a:pPr indent="-317500" lvl="1" marL="914400" rtl="0" algn="l">
              <a:lnSpc>
                <a:spcPct val="115000"/>
              </a:lnSpc>
              <a:spcBef>
                <a:spcPts val="0"/>
              </a:spcBef>
              <a:spcAft>
                <a:spcPts val="0"/>
              </a:spcAft>
              <a:buSzPts val="1400"/>
              <a:buChar char="○"/>
            </a:pPr>
            <a:r>
              <a:rPr lang="en"/>
              <a:t>Throw a die: </a:t>
            </a:r>
            <a:r>
              <a:rPr i="1" lang="en"/>
              <a:t>S </a:t>
            </a:r>
            <a:r>
              <a:rPr lang="en"/>
              <a:t>= { 1, 2, 3, 4, 5, 6 }</a:t>
            </a:r>
            <a:endParaRPr/>
          </a:p>
          <a:p>
            <a:pPr indent="-317500" lvl="1" marL="914400" rtl="0" algn="l">
              <a:lnSpc>
                <a:spcPct val="115000"/>
              </a:lnSpc>
              <a:spcBef>
                <a:spcPts val="0"/>
              </a:spcBef>
              <a:spcAft>
                <a:spcPts val="0"/>
              </a:spcAft>
              <a:buSzPts val="1400"/>
              <a:buChar char="○"/>
            </a:pPr>
            <a:r>
              <a:rPr lang="en"/>
              <a:t>IPL: too big to write down completely</a:t>
            </a:r>
            <a:endParaRPr/>
          </a:p>
          <a:p>
            <a:pPr indent="-317500" lvl="2" marL="1371600" rtl="0" algn="l">
              <a:lnSpc>
                <a:spcPct val="115000"/>
              </a:lnSpc>
              <a:spcBef>
                <a:spcPts val="0"/>
              </a:spcBef>
              <a:spcAft>
                <a:spcPts val="0"/>
              </a:spcAft>
              <a:buSzPts val="1400"/>
              <a:buChar char="■"/>
            </a:pPr>
            <a:r>
              <a:rPr lang="en"/>
              <a:t>Runs scored in one delivery: { 0, 1, 2, 3, … }</a:t>
            </a:r>
            <a:endParaRPr/>
          </a:p>
          <a:p>
            <a:pPr indent="-317500" lvl="2" marL="1371600" rtl="0" algn="l">
              <a:lnSpc>
                <a:spcPct val="115000"/>
              </a:lnSpc>
              <a:spcBef>
                <a:spcPts val="0"/>
              </a:spcBef>
              <a:spcAft>
                <a:spcPts val="0"/>
              </a:spcAft>
              <a:buSzPts val="1400"/>
              <a:buChar char="■"/>
            </a:pPr>
            <a:r>
              <a:rPr lang="en"/>
              <a:t>Winner in 2021: { CSK, MI, DC, … } (9 teams in 2021)</a:t>
            </a:r>
            <a:endParaRPr/>
          </a:p>
          <a:p>
            <a:pPr indent="-342900" lvl="0" marL="457200" rtl="0" algn="l">
              <a:lnSpc>
                <a:spcPct val="115000"/>
              </a:lnSpc>
              <a:spcBef>
                <a:spcPts val="0"/>
              </a:spcBef>
              <a:spcAft>
                <a:spcPts val="0"/>
              </a:spcAft>
              <a:buSzPts val="1800"/>
              <a:buChar char="●"/>
            </a:pPr>
            <a:r>
              <a:rPr lang="en"/>
              <a:t>Quite often, in practice, it is enough to “imagine” a sample space</a:t>
            </a:r>
            <a:endParaRPr/>
          </a:p>
        </p:txBody>
      </p:sp>
      <p:sp>
        <p:nvSpPr>
          <p:cNvPr id="82" name="Google Shape;82;p4"/>
          <p:cNvSpPr txBox="1"/>
          <p:nvPr/>
        </p:nvSpPr>
        <p:spPr>
          <a:xfrm>
            <a:off x="323275" y="1096825"/>
            <a:ext cx="8508900" cy="7620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980000"/>
                </a:solidFill>
                <a:latin typeface="Arial"/>
                <a:ea typeface="Arial"/>
                <a:cs typeface="Arial"/>
                <a:sym typeface="Arial"/>
              </a:rPr>
              <a:t>DEFINITION</a:t>
            </a:r>
            <a:r>
              <a:rPr b="0" i="0" lang="en" sz="1800" u="none" cap="none" strike="noStrike">
                <a:solidFill>
                  <a:srgbClr val="000000"/>
                </a:solidFill>
                <a:latin typeface="Arial"/>
                <a:ea typeface="Arial"/>
                <a:cs typeface="Arial"/>
                <a:sym typeface="Arial"/>
              </a:rPr>
              <a:t> (</a:t>
            </a:r>
            <a:r>
              <a:rPr b="1" i="0" lang="en" sz="1800" u="none" cap="none" strike="noStrike">
                <a:solidFill>
                  <a:srgbClr val="000000"/>
                </a:solidFill>
                <a:latin typeface="Arial"/>
                <a:ea typeface="Arial"/>
                <a:cs typeface="Arial"/>
                <a:sym typeface="Arial"/>
              </a:rPr>
              <a:t>Sample space</a:t>
            </a:r>
            <a:r>
              <a:rPr b="0" i="0" lang="en" sz="1800" u="none" cap="none" strike="noStrike">
                <a:solidFill>
                  <a:srgbClr val="000000"/>
                </a:solidFill>
                <a:latin typeface="Arial"/>
                <a:ea typeface="Arial"/>
                <a:cs typeface="Arial"/>
                <a:sym typeface="Arial"/>
              </a:rPr>
              <a:t>) A sample space is a set that contains all outcomes of an experiment.</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More examples and observations</a:t>
            </a:r>
            <a:endParaRPr/>
          </a:p>
        </p:txBody>
      </p:sp>
      <p:sp>
        <p:nvSpPr>
          <p:cNvPr id="88" name="Google Shape;88;p5"/>
          <p:cNvSpPr txBox="1"/>
          <p:nvPr>
            <p:ph idx="1" type="body"/>
          </p:nvPr>
        </p:nvSpPr>
        <p:spPr>
          <a:xfrm>
            <a:off x="311700" y="1152475"/>
            <a:ext cx="8520600" cy="37773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Draw a marble from an urn (pot or jar) with marbles of many colours</a:t>
            </a:r>
            <a:endParaRPr/>
          </a:p>
          <a:p>
            <a:pPr indent="-317500" lvl="1" marL="914400" rtl="0" algn="l">
              <a:lnSpc>
                <a:spcPct val="115000"/>
              </a:lnSpc>
              <a:spcBef>
                <a:spcPts val="0"/>
              </a:spcBef>
              <a:spcAft>
                <a:spcPts val="0"/>
              </a:spcAft>
              <a:buSzPts val="1400"/>
              <a:buChar char="○"/>
            </a:pPr>
            <a:r>
              <a:rPr lang="en"/>
              <a:t>Say, for example, 3 each of red, white, blue marbles</a:t>
            </a:r>
            <a:endParaRPr/>
          </a:p>
          <a:p>
            <a:pPr indent="-317500" lvl="1" marL="914400" rtl="0" algn="l">
              <a:lnSpc>
                <a:spcPct val="115000"/>
              </a:lnSpc>
              <a:spcBef>
                <a:spcPts val="0"/>
              </a:spcBef>
              <a:spcAft>
                <a:spcPts val="0"/>
              </a:spcAft>
              <a:buSzPts val="1400"/>
              <a:buChar char="○"/>
            </a:pPr>
            <a:r>
              <a:rPr lang="en"/>
              <a:t>Sample space: { red, white, blue }</a:t>
            </a:r>
            <a:endParaRPr/>
          </a:p>
          <a:p>
            <a:pPr indent="-317500" lvl="1" marL="914400" rtl="0" algn="l">
              <a:lnSpc>
                <a:spcPct val="115000"/>
              </a:lnSpc>
              <a:spcBef>
                <a:spcPts val="0"/>
              </a:spcBef>
              <a:spcAft>
                <a:spcPts val="0"/>
              </a:spcAft>
              <a:buSzPts val="1400"/>
              <a:buChar char="○"/>
            </a:pPr>
            <a:r>
              <a:rPr lang="en"/>
              <a:t>What happens when you draw two marbles? With replacement? Without replacement?</a:t>
            </a:r>
            <a:endParaRPr/>
          </a:p>
          <a:p>
            <a:pPr indent="-317500" lvl="2" marL="1371600" rtl="0" algn="l">
              <a:lnSpc>
                <a:spcPct val="115000"/>
              </a:lnSpc>
              <a:spcBef>
                <a:spcPts val="0"/>
              </a:spcBef>
              <a:spcAft>
                <a:spcPts val="0"/>
              </a:spcAft>
              <a:buSzPts val="1400"/>
              <a:buChar char="■"/>
            </a:pPr>
            <a:r>
              <a:rPr lang="en"/>
              <a:t>Sample space starts to get more complicated</a:t>
            </a:r>
            <a:endParaRPr/>
          </a:p>
          <a:p>
            <a:pPr indent="-342900" lvl="0" marL="457200" rtl="0" algn="l">
              <a:lnSpc>
                <a:spcPct val="115000"/>
              </a:lnSpc>
              <a:spcBef>
                <a:spcPts val="0"/>
              </a:spcBef>
              <a:spcAft>
                <a:spcPts val="0"/>
              </a:spcAft>
              <a:buSzPts val="1800"/>
              <a:buChar char="●"/>
            </a:pPr>
            <a:r>
              <a:rPr lang="en"/>
              <a:t>Draw a card from a shuffled pack of 52 cards</a:t>
            </a:r>
            <a:endParaRPr/>
          </a:p>
          <a:p>
            <a:pPr indent="-317500" lvl="1" marL="914400" rtl="0" algn="l">
              <a:lnSpc>
                <a:spcPct val="115000"/>
              </a:lnSpc>
              <a:spcBef>
                <a:spcPts val="0"/>
              </a:spcBef>
              <a:spcAft>
                <a:spcPts val="0"/>
              </a:spcAft>
              <a:buSzPts val="1400"/>
              <a:buChar char="○"/>
            </a:pPr>
            <a:r>
              <a:rPr lang="en"/>
              <a:t>Sample space: { Spades, Hearts, Diamonds, Clubs } x { 2, 3, …, 10, J, Q, K, A }</a:t>
            </a:r>
            <a:endParaRPr/>
          </a:p>
          <a:p>
            <a:pPr indent="-317500" lvl="2" marL="1371600" rtl="0" algn="l">
              <a:lnSpc>
                <a:spcPct val="115000"/>
              </a:lnSpc>
              <a:spcBef>
                <a:spcPts val="0"/>
              </a:spcBef>
              <a:spcAft>
                <a:spcPts val="0"/>
              </a:spcAft>
              <a:buSzPts val="1400"/>
              <a:buChar char="■"/>
            </a:pPr>
            <a:r>
              <a:rPr lang="en"/>
              <a:t>Recall cartesian product of sets</a:t>
            </a:r>
            <a:endParaRPr/>
          </a:p>
          <a:p>
            <a:pPr indent="-317500" lvl="1" marL="914400" rtl="0" algn="l">
              <a:lnSpc>
                <a:spcPct val="115000"/>
              </a:lnSpc>
              <a:spcBef>
                <a:spcPts val="0"/>
              </a:spcBef>
              <a:spcAft>
                <a:spcPts val="0"/>
              </a:spcAft>
              <a:buSzPts val="1400"/>
              <a:buChar char="○"/>
            </a:pPr>
            <a:r>
              <a:rPr lang="en"/>
              <a:t>Drawing multiple cards or distributing cards to players?</a:t>
            </a:r>
            <a:endParaRPr/>
          </a:p>
          <a:p>
            <a:pPr indent="-342900" lvl="0" marL="457200" rtl="0" algn="l">
              <a:lnSpc>
                <a:spcPct val="115000"/>
              </a:lnSpc>
              <a:spcBef>
                <a:spcPts val="0"/>
              </a:spcBef>
              <a:spcAft>
                <a:spcPts val="0"/>
              </a:spcAft>
              <a:buSzPts val="1800"/>
              <a:buChar char="●"/>
            </a:pPr>
            <a:r>
              <a:rPr lang="en"/>
              <a:t>As we learn more probability, we will start working without even thinking about the sample space</a:t>
            </a:r>
            <a:endParaRPr/>
          </a:p>
          <a:p>
            <a:pPr indent="-317500" lvl="1" marL="914400" rtl="0" algn="l">
              <a:lnSpc>
                <a:spcPct val="115000"/>
              </a:lnSpc>
              <a:spcBef>
                <a:spcPts val="0"/>
              </a:spcBef>
              <a:spcAft>
                <a:spcPts val="0"/>
              </a:spcAft>
              <a:buSzPts val="1400"/>
              <a:buChar char="○"/>
            </a:pPr>
            <a:r>
              <a:rPr lang="en"/>
              <a:t>However, sample space is an important theoretical notion</a:t>
            </a:r>
            <a:endParaRPr/>
          </a:p>
          <a:p>
            <a:pPr indent="-317500" lvl="1" marL="914400" rtl="0" algn="l">
              <a:lnSpc>
                <a:spcPct val="115000"/>
              </a:lnSpc>
              <a:spcBef>
                <a:spcPts val="0"/>
              </a:spcBef>
              <a:spcAft>
                <a:spcPts val="0"/>
              </a:spcAft>
              <a:buSzPts val="1400"/>
              <a:buChar char="○"/>
            </a:pPr>
            <a:r>
              <a:rPr lang="en"/>
              <a:t>When interpreting probabilities becomes confusing, thinking of sample space can be of use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Event</a:t>
            </a:r>
            <a:endParaRPr/>
          </a:p>
        </p:txBody>
      </p:sp>
      <p:sp>
        <p:nvSpPr>
          <p:cNvPr id="94" name="Google Shape;94;p6"/>
          <p:cNvSpPr txBox="1"/>
          <p:nvPr>
            <p:ph idx="1" type="body"/>
          </p:nvPr>
        </p:nvSpPr>
        <p:spPr>
          <a:xfrm>
            <a:off x="311700" y="2168225"/>
            <a:ext cx="8520600" cy="28425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Toss a coin: </a:t>
            </a:r>
            <a:r>
              <a:rPr i="1" lang="en"/>
              <a:t>S</a:t>
            </a:r>
            <a:r>
              <a:rPr lang="en"/>
              <a:t> = { heads, tails }</a:t>
            </a:r>
            <a:endParaRPr/>
          </a:p>
          <a:p>
            <a:pPr indent="-317500" lvl="1" marL="914400" rtl="0" algn="l">
              <a:lnSpc>
                <a:spcPct val="115000"/>
              </a:lnSpc>
              <a:spcBef>
                <a:spcPts val="0"/>
              </a:spcBef>
              <a:spcAft>
                <a:spcPts val="0"/>
              </a:spcAft>
              <a:buSzPts val="1400"/>
              <a:buChar char="○"/>
            </a:pPr>
            <a:r>
              <a:rPr lang="en"/>
              <a:t>Events: empty set, {heads}, {tails}, { heads, tails }</a:t>
            </a:r>
            <a:endParaRPr/>
          </a:p>
          <a:p>
            <a:pPr indent="-317500" lvl="1" marL="914400" rtl="0" algn="l">
              <a:lnSpc>
                <a:spcPct val="115000"/>
              </a:lnSpc>
              <a:spcBef>
                <a:spcPts val="0"/>
              </a:spcBef>
              <a:spcAft>
                <a:spcPts val="0"/>
              </a:spcAft>
              <a:buSzPts val="1400"/>
              <a:buChar char="○"/>
            </a:pPr>
            <a:r>
              <a:rPr lang="en"/>
              <a:t>4 events </a:t>
            </a:r>
            <a:endParaRPr/>
          </a:p>
          <a:p>
            <a:pPr indent="-342900" lvl="0" marL="457200" rtl="0" algn="l">
              <a:lnSpc>
                <a:spcPct val="115000"/>
              </a:lnSpc>
              <a:spcBef>
                <a:spcPts val="0"/>
              </a:spcBef>
              <a:spcAft>
                <a:spcPts val="0"/>
              </a:spcAft>
              <a:buSzPts val="1800"/>
              <a:buChar char="●"/>
            </a:pPr>
            <a:r>
              <a:rPr lang="en"/>
              <a:t>Throw a die: </a:t>
            </a:r>
            <a:r>
              <a:rPr i="1" lang="en"/>
              <a:t>S</a:t>
            </a:r>
            <a:r>
              <a:rPr lang="en"/>
              <a:t> = { 1,2,3,4,5,6 }</a:t>
            </a:r>
            <a:endParaRPr/>
          </a:p>
          <a:p>
            <a:pPr indent="-317500" lvl="1" marL="914400" rtl="0" algn="l">
              <a:lnSpc>
                <a:spcPct val="115000"/>
              </a:lnSpc>
              <a:spcBef>
                <a:spcPts val="0"/>
              </a:spcBef>
              <a:spcAft>
                <a:spcPts val="0"/>
              </a:spcAft>
              <a:buSzPts val="1400"/>
              <a:buChar char="○"/>
            </a:pPr>
            <a:r>
              <a:rPr lang="en"/>
              <a:t>Events: empty set, {1}, {2}, {3}, {4}, {5}, {6}, {1,2}, {1,3}, … , {2,3,4,5,6}, {1,2,3,4,5,6}</a:t>
            </a:r>
            <a:endParaRPr/>
          </a:p>
          <a:p>
            <a:pPr indent="-317500" lvl="1" marL="914400" rtl="0" algn="l">
              <a:lnSpc>
                <a:spcPct val="115000"/>
              </a:lnSpc>
              <a:spcBef>
                <a:spcPts val="0"/>
              </a:spcBef>
              <a:spcAft>
                <a:spcPts val="0"/>
              </a:spcAft>
              <a:buSzPts val="1400"/>
              <a:buChar char="○"/>
            </a:pPr>
            <a:r>
              <a:rPr lang="en"/>
              <a:t>64 events</a:t>
            </a:r>
            <a:endParaRPr/>
          </a:p>
          <a:p>
            <a:pPr indent="-317500" lvl="1" marL="914400" rtl="0" algn="l">
              <a:lnSpc>
                <a:spcPct val="115000"/>
              </a:lnSpc>
              <a:spcBef>
                <a:spcPts val="0"/>
              </a:spcBef>
              <a:spcAft>
                <a:spcPts val="0"/>
              </a:spcAft>
              <a:buSzPts val="1400"/>
              <a:buChar char="○"/>
            </a:pPr>
            <a:r>
              <a:rPr lang="en"/>
              <a:t>Some can be described in words: getting an even number, getting a multiple of 3 etc</a:t>
            </a:r>
            <a:endParaRPr/>
          </a:p>
          <a:p>
            <a:pPr indent="-342900" lvl="0" marL="457200" rtl="0" algn="l">
              <a:lnSpc>
                <a:spcPct val="115000"/>
              </a:lnSpc>
              <a:spcBef>
                <a:spcPts val="0"/>
              </a:spcBef>
              <a:spcAft>
                <a:spcPts val="0"/>
              </a:spcAft>
              <a:buSzPts val="1800"/>
              <a:buChar char="●"/>
            </a:pPr>
            <a:r>
              <a:rPr lang="en"/>
              <a:t>Fisherman goes out to fish: Sample space?</a:t>
            </a:r>
            <a:endParaRPr/>
          </a:p>
          <a:p>
            <a:pPr indent="-317500" lvl="1" marL="914400" rtl="0" algn="l">
              <a:lnSpc>
                <a:spcPct val="115000"/>
              </a:lnSpc>
              <a:spcBef>
                <a:spcPts val="0"/>
              </a:spcBef>
              <a:spcAft>
                <a:spcPts val="0"/>
              </a:spcAft>
              <a:buSzPts val="1400"/>
              <a:buChar char="○"/>
            </a:pPr>
            <a:r>
              <a:rPr lang="en"/>
              <a:t>Event: Catch is more than 100 Kg, Pomfret is in the catch etc</a:t>
            </a:r>
            <a:endParaRPr/>
          </a:p>
          <a:p>
            <a:pPr indent="-317500" lvl="1" marL="914400" rtl="0" algn="l">
              <a:lnSpc>
                <a:spcPct val="115000"/>
              </a:lnSpc>
              <a:spcBef>
                <a:spcPts val="0"/>
              </a:spcBef>
              <a:spcAft>
                <a:spcPts val="0"/>
              </a:spcAft>
              <a:buSzPts val="1400"/>
              <a:buChar char="○"/>
            </a:pPr>
            <a:r>
              <a:rPr lang="en"/>
              <a:t>Though we have not written down the sample space, we can make sense of above events</a:t>
            </a:r>
            <a:endParaRPr/>
          </a:p>
        </p:txBody>
      </p:sp>
      <p:sp>
        <p:nvSpPr>
          <p:cNvPr id="95" name="Google Shape;95;p6"/>
          <p:cNvSpPr txBox="1"/>
          <p:nvPr/>
        </p:nvSpPr>
        <p:spPr>
          <a:xfrm>
            <a:off x="323275" y="1096825"/>
            <a:ext cx="8508900" cy="9930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980000"/>
                </a:solidFill>
                <a:latin typeface="Arial"/>
                <a:ea typeface="Arial"/>
                <a:cs typeface="Arial"/>
                <a:sym typeface="Arial"/>
              </a:rPr>
              <a:t>DEFINITION</a:t>
            </a:r>
            <a:r>
              <a:rPr b="0" i="0" lang="en" sz="1800" u="none" cap="none" strike="noStrike">
                <a:solidFill>
                  <a:srgbClr val="000000"/>
                </a:solidFill>
                <a:latin typeface="Arial"/>
                <a:ea typeface="Arial"/>
                <a:cs typeface="Arial"/>
                <a:sym typeface="Arial"/>
              </a:rPr>
              <a:t> (</a:t>
            </a:r>
            <a:r>
              <a:rPr b="1" i="0" lang="en" sz="1800" u="none" cap="none" strike="noStrike">
                <a:solidFill>
                  <a:srgbClr val="000000"/>
                </a:solidFill>
                <a:latin typeface="Arial"/>
                <a:ea typeface="Arial"/>
                <a:cs typeface="Arial"/>
                <a:sym typeface="Arial"/>
              </a:rPr>
              <a:t>Event</a:t>
            </a:r>
            <a:r>
              <a:rPr b="0" i="0" lang="en" sz="1800" u="none" cap="none" strike="noStrike">
                <a:solidFill>
                  <a:srgbClr val="000000"/>
                </a:solidFill>
                <a:latin typeface="Arial"/>
                <a:ea typeface="Arial"/>
                <a:cs typeface="Arial"/>
                <a:sym typeface="Arial"/>
              </a:rPr>
              <a:t>) An event is a subset of the sample space. There is a technical restriction on what subsets can be events. We will ignore this restriction for now, and point it out later when necessary.</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Events are central objects in probability theory</a:t>
            </a:r>
            <a:endParaRPr/>
          </a:p>
        </p:txBody>
      </p:sp>
      <p:sp>
        <p:nvSpPr>
          <p:cNvPr id="101" name="Google Shape;101;p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An event is said to have “occurred” if the actual outcome of the experiment belongs to the event.</a:t>
            </a:r>
            <a:endParaRPr/>
          </a:p>
          <a:p>
            <a:pPr indent="-342900" lvl="0" marL="457200" rtl="0" algn="l">
              <a:lnSpc>
                <a:spcPct val="115000"/>
              </a:lnSpc>
              <a:spcBef>
                <a:spcPts val="0"/>
              </a:spcBef>
              <a:spcAft>
                <a:spcPts val="0"/>
              </a:spcAft>
              <a:buSzPts val="1800"/>
              <a:buChar char="●"/>
            </a:pPr>
            <a:r>
              <a:rPr lang="en"/>
              <a:t>Events are sets</a:t>
            </a:r>
            <a:endParaRPr/>
          </a:p>
          <a:p>
            <a:pPr indent="-317500" lvl="1" marL="914400" rtl="0" algn="l">
              <a:lnSpc>
                <a:spcPct val="115000"/>
              </a:lnSpc>
              <a:spcBef>
                <a:spcPts val="0"/>
              </a:spcBef>
              <a:spcAft>
                <a:spcPts val="0"/>
              </a:spcAft>
              <a:buSzPts val="1400"/>
              <a:buChar char="○"/>
            </a:pPr>
            <a:r>
              <a:rPr lang="en"/>
              <a:t>All set theory notions apply to events</a:t>
            </a:r>
            <a:endParaRPr/>
          </a:p>
          <a:p>
            <a:pPr indent="-342900" lvl="0" marL="457200" rtl="0" algn="l">
              <a:lnSpc>
                <a:spcPct val="115000"/>
              </a:lnSpc>
              <a:spcBef>
                <a:spcPts val="0"/>
              </a:spcBef>
              <a:spcAft>
                <a:spcPts val="0"/>
              </a:spcAft>
              <a:buSzPts val="1800"/>
              <a:buChar char="●"/>
            </a:pPr>
            <a:r>
              <a:rPr lang="en"/>
              <a:t>One event can be contained in another, i.e. A ⊆ B</a:t>
            </a:r>
            <a:endParaRPr/>
          </a:p>
          <a:p>
            <a:pPr indent="-317500" lvl="1" marL="914400" rtl="0" algn="l">
              <a:lnSpc>
                <a:spcPct val="115000"/>
              </a:lnSpc>
              <a:spcBef>
                <a:spcPts val="0"/>
              </a:spcBef>
              <a:spcAft>
                <a:spcPts val="0"/>
              </a:spcAft>
              <a:buSzPts val="1400"/>
              <a:buChar char="○"/>
            </a:pPr>
            <a:r>
              <a:rPr lang="en"/>
              <a:t>Throw a die: A = {2,6}, B = even number</a:t>
            </a:r>
            <a:endParaRPr/>
          </a:p>
          <a:p>
            <a:pPr indent="-317500" lvl="1" marL="914400" rtl="0" algn="l">
              <a:lnSpc>
                <a:spcPct val="115000"/>
              </a:lnSpc>
              <a:spcBef>
                <a:spcPts val="0"/>
              </a:spcBef>
              <a:spcAft>
                <a:spcPts val="0"/>
              </a:spcAft>
              <a:buSzPts val="1400"/>
              <a:buChar char="○"/>
            </a:pPr>
            <a:r>
              <a:rPr lang="en"/>
              <a:t>If A occurred, B has also occurred</a:t>
            </a:r>
            <a:endParaRPr/>
          </a:p>
          <a:p>
            <a:pPr indent="-317500" lvl="1" marL="914400" rtl="0" algn="l">
              <a:lnSpc>
                <a:spcPct val="115000"/>
              </a:lnSpc>
              <a:spcBef>
                <a:spcPts val="0"/>
              </a:spcBef>
              <a:spcAft>
                <a:spcPts val="0"/>
              </a:spcAft>
              <a:buSzPts val="1400"/>
              <a:buChar char="○"/>
            </a:pPr>
            <a:r>
              <a:rPr lang="en"/>
              <a:t>If B occurred, A may or may not have occurred</a:t>
            </a:r>
            <a:endParaRPr/>
          </a:p>
          <a:p>
            <a:pPr indent="-342900" lvl="0" marL="457200" rtl="0" algn="l">
              <a:lnSpc>
                <a:spcPct val="115000"/>
              </a:lnSpc>
              <a:spcBef>
                <a:spcPts val="0"/>
              </a:spcBef>
              <a:spcAft>
                <a:spcPts val="0"/>
              </a:spcAft>
              <a:buSzPts val="1800"/>
              <a:buChar char="●"/>
            </a:pPr>
            <a:r>
              <a:rPr lang="en"/>
              <a:t>Complement of an event A, denoted A</a:t>
            </a:r>
            <a:r>
              <a:rPr baseline="30000" lang="en"/>
              <a:t>c</a:t>
            </a:r>
            <a:r>
              <a:rPr lang="en"/>
              <a:t> = { outcomes in </a:t>
            </a:r>
            <a:r>
              <a:rPr i="1" lang="en"/>
              <a:t>S </a:t>
            </a:r>
            <a:r>
              <a:rPr lang="en"/>
              <a:t>not in A } = (</a:t>
            </a:r>
            <a:r>
              <a:rPr i="1" lang="en"/>
              <a:t>S</a:t>
            </a:r>
            <a:r>
              <a:rPr lang="en"/>
              <a:t> \ A)</a:t>
            </a:r>
            <a:endParaRPr/>
          </a:p>
          <a:p>
            <a:pPr indent="-317500" lvl="1" marL="914400" rtl="0" algn="l">
              <a:lnSpc>
                <a:spcPct val="115000"/>
              </a:lnSpc>
              <a:spcBef>
                <a:spcPts val="0"/>
              </a:spcBef>
              <a:spcAft>
                <a:spcPts val="0"/>
              </a:spcAft>
              <a:buSzPts val="1400"/>
              <a:buChar char="○"/>
            </a:pPr>
            <a:r>
              <a:rPr lang="en"/>
              <a:t>Throw a die: A = { 2, 4, 6 } (even), A</a:t>
            </a:r>
            <a:r>
              <a:rPr baseline="30000" lang="en"/>
              <a:t>c</a:t>
            </a:r>
            <a:r>
              <a:rPr lang="en"/>
              <a:t> = { 1, 3, 5 } (odd)</a:t>
            </a:r>
            <a:endParaRPr/>
          </a:p>
          <a:p>
            <a:pPr indent="-317500" lvl="1" marL="914400" rtl="0" algn="l">
              <a:lnSpc>
                <a:spcPct val="115000"/>
              </a:lnSpc>
              <a:spcBef>
                <a:spcPts val="0"/>
              </a:spcBef>
              <a:spcAft>
                <a:spcPts val="0"/>
              </a:spcAft>
              <a:buSzPts val="1400"/>
              <a:buChar char="○"/>
            </a:pPr>
            <a:r>
              <a:rPr lang="en"/>
              <a:t>If A occurred, A</a:t>
            </a:r>
            <a:r>
              <a:rPr baseline="30000" lang="en"/>
              <a:t>c</a:t>
            </a:r>
            <a:r>
              <a:rPr lang="en"/>
              <a:t> did not occur</a:t>
            </a:r>
            <a:endParaRPr/>
          </a:p>
          <a:p>
            <a:pPr indent="-317500" lvl="1" marL="914400" rtl="0" algn="l">
              <a:lnSpc>
                <a:spcPct val="115000"/>
              </a:lnSpc>
              <a:spcBef>
                <a:spcPts val="0"/>
              </a:spcBef>
              <a:spcAft>
                <a:spcPts val="0"/>
              </a:spcAft>
              <a:buSzPts val="1400"/>
              <a:buChar char="○"/>
            </a:pPr>
            <a:r>
              <a:rPr lang="en"/>
              <a:t>If A</a:t>
            </a:r>
            <a:r>
              <a:rPr baseline="30000" lang="en"/>
              <a:t>c</a:t>
            </a:r>
            <a:r>
              <a:rPr lang="en"/>
              <a:t> occurred, A did not occur</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Combining events to create new events</a:t>
            </a:r>
            <a:endParaRPr/>
          </a:p>
        </p:txBody>
      </p:sp>
      <p:sp>
        <p:nvSpPr>
          <p:cNvPr id="107" name="Google Shape;107;p8"/>
          <p:cNvSpPr txBox="1"/>
          <p:nvPr>
            <p:ph idx="1" type="body"/>
          </p:nvPr>
        </p:nvSpPr>
        <p:spPr>
          <a:xfrm>
            <a:off x="311700" y="1152475"/>
            <a:ext cx="8520600" cy="37428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Since events are subsets, one can do complements, unions, intersections</a:t>
            </a:r>
            <a:endParaRPr/>
          </a:p>
          <a:p>
            <a:pPr indent="-342900" lvl="0" marL="457200" rtl="0" algn="l">
              <a:lnSpc>
                <a:spcPct val="115000"/>
              </a:lnSpc>
              <a:spcBef>
                <a:spcPts val="0"/>
              </a:spcBef>
              <a:spcAft>
                <a:spcPts val="0"/>
              </a:spcAft>
              <a:buSzPts val="1800"/>
              <a:buChar char="●"/>
            </a:pPr>
            <a:r>
              <a:rPr lang="en"/>
              <a:t>Union (“or” in English), denoted ∪</a:t>
            </a:r>
            <a:endParaRPr/>
          </a:p>
          <a:p>
            <a:pPr indent="-317500" lvl="1" marL="914400" rtl="0" algn="l">
              <a:lnSpc>
                <a:spcPct val="115000"/>
              </a:lnSpc>
              <a:spcBef>
                <a:spcPts val="0"/>
              </a:spcBef>
              <a:spcAft>
                <a:spcPts val="0"/>
              </a:spcAft>
              <a:buSzPts val="1400"/>
              <a:buChar char="○"/>
            </a:pPr>
            <a:r>
              <a:rPr lang="en"/>
              <a:t>Throw a die: even number or a multiple of 3, even number or a prime number</a:t>
            </a:r>
            <a:endParaRPr/>
          </a:p>
          <a:p>
            <a:pPr indent="-317500" lvl="2" marL="1371600" rtl="0" algn="l">
              <a:lnSpc>
                <a:spcPct val="115000"/>
              </a:lnSpc>
              <a:spcBef>
                <a:spcPts val="0"/>
              </a:spcBef>
              <a:spcAft>
                <a:spcPts val="0"/>
              </a:spcAft>
              <a:buSzPts val="1400"/>
              <a:buChar char="■"/>
            </a:pPr>
            <a:r>
              <a:rPr lang="en"/>
              <a:t>Can you work out the above events?</a:t>
            </a:r>
            <a:endParaRPr/>
          </a:p>
          <a:p>
            <a:pPr indent="-317500" lvl="1" marL="914400" rtl="0" algn="l">
              <a:lnSpc>
                <a:spcPct val="115000"/>
              </a:lnSpc>
              <a:spcBef>
                <a:spcPts val="0"/>
              </a:spcBef>
              <a:spcAft>
                <a:spcPts val="0"/>
              </a:spcAft>
              <a:buSzPts val="1400"/>
              <a:buChar char="○"/>
            </a:pPr>
            <a:r>
              <a:rPr lang="en"/>
              <a:t>Fisherman’s catch: more than 200 Kg or less than 50 Kg</a:t>
            </a:r>
            <a:endParaRPr/>
          </a:p>
          <a:p>
            <a:pPr indent="-342900" lvl="0" marL="457200" rtl="0" algn="l">
              <a:lnSpc>
                <a:spcPct val="115000"/>
              </a:lnSpc>
              <a:spcBef>
                <a:spcPts val="0"/>
              </a:spcBef>
              <a:spcAft>
                <a:spcPts val="0"/>
              </a:spcAft>
              <a:buSzPts val="1800"/>
              <a:buChar char="●"/>
            </a:pPr>
            <a:r>
              <a:rPr lang="en"/>
              <a:t>Intersection (“and” in English), denoted ⋂</a:t>
            </a:r>
            <a:endParaRPr/>
          </a:p>
          <a:p>
            <a:pPr indent="-317500" lvl="1" marL="914400" rtl="0" algn="l">
              <a:lnSpc>
                <a:spcPct val="115000"/>
              </a:lnSpc>
              <a:spcBef>
                <a:spcPts val="0"/>
              </a:spcBef>
              <a:spcAft>
                <a:spcPts val="0"/>
              </a:spcAft>
              <a:buSzPts val="1400"/>
              <a:buChar char="○"/>
            </a:pPr>
            <a:r>
              <a:rPr lang="en"/>
              <a:t>Throw a die: even number and a multiple of 3, even number and a prime number</a:t>
            </a:r>
            <a:endParaRPr/>
          </a:p>
          <a:p>
            <a:pPr indent="-317500" lvl="1" marL="914400" rtl="0" algn="l">
              <a:lnSpc>
                <a:spcPct val="115000"/>
              </a:lnSpc>
              <a:spcBef>
                <a:spcPts val="0"/>
              </a:spcBef>
              <a:spcAft>
                <a:spcPts val="0"/>
              </a:spcAft>
              <a:buSzPts val="1400"/>
              <a:buChar char="○"/>
            </a:pPr>
            <a:r>
              <a:rPr lang="en"/>
              <a:t>Fisherman’s catch: more than 100 Kg and less than 150 Kg</a:t>
            </a:r>
            <a:endParaRPr/>
          </a:p>
          <a:p>
            <a:pPr indent="-342900" lvl="0" marL="457200" rtl="0" algn="l">
              <a:lnSpc>
                <a:spcPct val="115000"/>
              </a:lnSpc>
              <a:spcBef>
                <a:spcPts val="0"/>
              </a:spcBef>
              <a:spcAft>
                <a:spcPts val="0"/>
              </a:spcAft>
              <a:buSzPts val="1800"/>
              <a:buChar char="●"/>
            </a:pPr>
            <a:r>
              <a:rPr lang="en"/>
              <a:t>Many interesting events can be written as intersections and unions</a:t>
            </a:r>
            <a:endParaRPr/>
          </a:p>
          <a:p>
            <a:pPr indent="-317500" lvl="1" marL="914400" rtl="0" algn="l">
              <a:lnSpc>
                <a:spcPct val="115000"/>
              </a:lnSpc>
              <a:spcBef>
                <a:spcPts val="0"/>
              </a:spcBef>
              <a:spcAft>
                <a:spcPts val="0"/>
              </a:spcAft>
              <a:buSzPts val="1400"/>
              <a:buChar char="○"/>
            </a:pPr>
            <a:r>
              <a:rPr lang="en"/>
              <a:t>Draw 5 cards from a pack without replacement: no aces</a:t>
            </a:r>
            <a:endParaRPr/>
          </a:p>
          <a:p>
            <a:pPr indent="-317500" lvl="2" marL="1371600" rtl="0" algn="l">
              <a:lnSpc>
                <a:spcPct val="115000"/>
              </a:lnSpc>
              <a:spcBef>
                <a:spcPts val="0"/>
              </a:spcBef>
              <a:spcAft>
                <a:spcPts val="0"/>
              </a:spcAft>
              <a:buSzPts val="1400"/>
              <a:buChar char="■"/>
            </a:pPr>
            <a:r>
              <a:rPr lang="en"/>
              <a:t>{1st not ace} ⋂ {2nd not ace} ⋂ {3rd not ace} ⋂ {4th not ace} ⋂ {5th not ace}</a:t>
            </a:r>
            <a:endParaRPr/>
          </a:p>
          <a:p>
            <a:pPr indent="-317500" lvl="1" marL="914400" rtl="0" algn="l">
              <a:lnSpc>
                <a:spcPct val="115000"/>
              </a:lnSpc>
              <a:spcBef>
                <a:spcPts val="0"/>
              </a:spcBef>
              <a:spcAft>
                <a:spcPts val="0"/>
              </a:spcAft>
              <a:buSzPts val="1400"/>
              <a:buChar char="○"/>
            </a:pPr>
            <a:r>
              <a:rPr lang="en"/>
              <a:t>IPL:   5 runs off the bat in two legal deliveries</a:t>
            </a:r>
            <a:endParaRPr/>
          </a:p>
          <a:p>
            <a:pPr indent="-317500" lvl="2" marL="1371600" rtl="0" algn="l">
              <a:lnSpc>
                <a:spcPct val="115000"/>
              </a:lnSpc>
              <a:spcBef>
                <a:spcPts val="0"/>
              </a:spcBef>
              <a:spcAft>
                <a:spcPts val="0"/>
              </a:spcAft>
              <a:buSzPts val="1400"/>
              <a:buChar char="■"/>
            </a:pPr>
            <a:r>
              <a:rPr lang="en"/>
              <a:t>{1 + 4} ∪ {2 + 3} ∪ {3 + 2} ∪ {4 + 1}</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Disjoint events</a:t>
            </a:r>
            <a:endParaRPr/>
          </a:p>
        </p:txBody>
      </p:sp>
      <p:sp>
        <p:nvSpPr>
          <p:cNvPr id="113" name="Google Shape;113;p9"/>
          <p:cNvSpPr txBox="1"/>
          <p:nvPr>
            <p:ph idx="1" type="body"/>
          </p:nvPr>
        </p:nvSpPr>
        <p:spPr>
          <a:xfrm>
            <a:off x="311700" y="1152475"/>
            <a:ext cx="8520600" cy="37188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Two events with an empty intersection are said to be disjoint events</a:t>
            </a:r>
            <a:endParaRPr/>
          </a:p>
          <a:p>
            <a:pPr indent="-317500" lvl="1" marL="914400" rtl="0" algn="l">
              <a:lnSpc>
                <a:spcPct val="115000"/>
              </a:lnSpc>
              <a:spcBef>
                <a:spcPts val="0"/>
              </a:spcBef>
              <a:spcAft>
                <a:spcPts val="0"/>
              </a:spcAft>
              <a:buSzPts val="1400"/>
              <a:buChar char="○"/>
            </a:pPr>
            <a:r>
              <a:rPr lang="en"/>
              <a:t>Throw a die: even number, odd number are disjoint</a:t>
            </a:r>
            <a:endParaRPr/>
          </a:p>
          <a:p>
            <a:pPr indent="-317500" lvl="1" marL="914400" rtl="0" algn="l">
              <a:lnSpc>
                <a:spcPct val="115000"/>
              </a:lnSpc>
              <a:spcBef>
                <a:spcPts val="0"/>
              </a:spcBef>
              <a:spcAft>
                <a:spcPts val="0"/>
              </a:spcAft>
              <a:buSzPts val="1400"/>
              <a:buChar char="○"/>
            </a:pPr>
            <a:r>
              <a:rPr lang="en"/>
              <a:t>Fisherman’s catch: more than 200 Kg, less than 50 Kg are disjoint</a:t>
            </a:r>
            <a:endParaRPr/>
          </a:p>
          <a:p>
            <a:pPr indent="-342900" lvl="0" marL="457200" rtl="0" algn="l">
              <a:lnSpc>
                <a:spcPct val="115000"/>
              </a:lnSpc>
              <a:spcBef>
                <a:spcPts val="0"/>
              </a:spcBef>
              <a:spcAft>
                <a:spcPts val="0"/>
              </a:spcAft>
              <a:buSzPts val="1800"/>
              <a:buChar char="●"/>
            </a:pPr>
            <a:r>
              <a:rPr lang="en"/>
              <a:t>Suppose A and B are disjoint events</a:t>
            </a:r>
            <a:endParaRPr/>
          </a:p>
          <a:p>
            <a:pPr indent="-317500" lvl="1" marL="914400" rtl="0" algn="l">
              <a:lnSpc>
                <a:spcPct val="115000"/>
              </a:lnSpc>
              <a:spcBef>
                <a:spcPts val="0"/>
              </a:spcBef>
              <a:spcAft>
                <a:spcPts val="0"/>
              </a:spcAft>
              <a:buSzPts val="1400"/>
              <a:buChar char="○"/>
            </a:pPr>
            <a:r>
              <a:rPr lang="en"/>
              <a:t>If A occurred, B did not occur</a:t>
            </a:r>
            <a:endParaRPr/>
          </a:p>
          <a:p>
            <a:pPr indent="-317500" lvl="1" marL="914400" rtl="0" algn="l">
              <a:lnSpc>
                <a:spcPct val="115000"/>
              </a:lnSpc>
              <a:spcBef>
                <a:spcPts val="0"/>
              </a:spcBef>
              <a:spcAft>
                <a:spcPts val="0"/>
              </a:spcAft>
              <a:buSzPts val="1400"/>
              <a:buChar char="○"/>
            </a:pPr>
            <a:r>
              <a:rPr lang="en"/>
              <a:t>If B occurred, A did not occur</a:t>
            </a:r>
            <a:endParaRPr/>
          </a:p>
          <a:p>
            <a:pPr indent="-342900" lvl="0" marL="457200" rtl="0" algn="l">
              <a:lnSpc>
                <a:spcPct val="115000"/>
              </a:lnSpc>
              <a:spcBef>
                <a:spcPts val="0"/>
              </a:spcBef>
              <a:spcAft>
                <a:spcPts val="0"/>
              </a:spcAft>
              <a:buSzPts val="1800"/>
              <a:buChar char="●"/>
            </a:pPr>
            <a:r>
              <a:rPr lang="en"/>
              <a:t>Event and its complement</a:t>
            </a:r>
            <a:endParaRPr/>
          </a:p>
          <a:p>
            <a:pPr indent="-317500" lvl="1" marL="914400" rtl="0" algn="l">
              <a:lnSpc>
                <a:spcPct val="115000"/>
              </a:lnSpc>
              <a:spcBef>
                <a:spcPts val="0"/>
              </a:spcBef>
              <a:spcAft>
                <a:spcPts val="0"/>
              </a:spcAft>
              <a:buSzPts val="1400"/>
              <a:buChar char="○"/>
            </a:pPr>
            <a:r>
              <a:rPr lang="en"/>
              <a:t>A and A</a:t>
            </a:r>
            <a:r>
              <a:rPr baseline="30000" lang="en"/>
              <a:t>c</a:t>
            </a:r>
            <a:r>
              <a:rPr lang="en"/>
              <a:t> are disjoint, A ⋂ A</a:t>
            </a:r>
            <a:r>
              <a:rPr baseline="30000" lang="en"/>
              <a:t>c</a:t>
            </a:r>
            <a:r>
              <a:rPr lang="en"/>
              <a:t> = empty set</a:t>
            </a:r>
            <a:endParaRPr/>
          </a:p>
          <a:p>
            <a:pPr indent="-317500" lvl="1" marL="914400" rtl="0" algn="l">
              <a:lnSpc>
                <a:spcPct val="115000"/>
              </a:lnSpc>
              <a:spcBef>
                <a:spcPts val="0"/>
              </a:spcBef>
              <a:spcAft>
                <a:spcPts val="0"/>
              </a:spcAft>
              <a:buSzPts val="1400"/>
              <a:buChar char="○"/>
            </a:pPr>
            <a:r>
              <a:rPr lang="en"/>
              <a:t>Together, they cover all outcomes, A ∪ A</a:t>
            </a:r>
            <a:r>
              <a:rPr baseline="30000" lang="en"/>
              <a:t>c</a:t>
            </a:r>
            <a:r>
              <a:rPr lang="en"/>
              <a:t> = </a:t>
            </a:r>
            <a:r>
              <a:rPr i="1" lang="en"/>
              <a:t>S</a:t>
            </a:r>
            <a:endParaRPr/>
          </a:p>
          <a:p>
            <a:pPr indent="-317500" lvl="2" marL="1371600" rtl="0" algn="l">
              <a:lnSpc>
                <a:spcPct val="115000"/>
              </a:lnSpc>
              <a:spcBef>
                <a:spcPts val="0"/>
              </a:spcBef>
              <a:spcAft>
                <a:spcPts val="0"/>
              </a:spcAft>
              <a:buSzPts val="1400"/>
              <a:buChar char="■"/>
            </a:pPr>
            <a:r>
              <a:rPr lang="en"/>
              <a:t>Either A occurs or A</a:t>
            </a:r>
            <a:r>
              <a:rPr baseline="30000" lang="en"/>
              <a:t>c</a:t>
            </a:r>
            <a:r>
              <a:rPr lang="en"/>
              <a:t> occurs</a:t>
            </a:r>
            <a:endParaRPr/>
          </a:p>
          <a:p>
            <a:pPr indent="-342900" lvl="0" marL="457200" rtl="0" algn="l">
              <a:lnSpc>
                <a:spcPct val="115000"/>
              </a:lnSpc>
              <a:spcBef>
                <a:spcPts val="0"/>
              </a:spcBef>
              <a:spcAft>
                <a:spcPts val="0"/>
              </a:spcAft>
              <a:buSzPts val="1800"/>
              <a:buChar char="●"/>
            </a:pPr>
            <a:r>
              <a:rPr lang="en"/>
              <a:t>Multiple events: E</a:t>
            </a:r>
            <a:r>
              <a:rPr baseline="-25000" lang="en"/>
              <a:t>1</a:t>
            </a:r>
            <a:r>
              <a:rPr lang="en"/>
              <a:t>, E</a:t>
            </a:r>
            <a:r>
              <a:rPr baseline="-25000" lang="en"/>
              <a:t>2</a:t>
            </a:r>
            <a:r>
              <a:rPr lang="en"/>
              <a:t>, E</a:t>
            </a:r>
            <a:r>
              <a:rPr baseline="-25000" lang="en"/>
              <a:t>3</a:t>
            </a:r>
            <a:r>
              <a:rPr lang="en"/>
              <a:t>, …. are disjoint if, for any i ≠ j , E</a:t>
            </a:r>
            <a:r>
              <a:rPr baseline="-25000" lang="en"/>
              <a:t>i</a:t>
            </a:r>
            <a:r>
              <a:rPr lang="en"/>
              <a:t> ⋂ E</a:t>
            </a:r>
            <a:r>
              <a:rPr baseline="-25000" lang="en"/>
              <a:t>j</a:t>
            </a:r>
            <a:r>
              <a:rPr lang="en"/>
              <a:t> = empty set</a:t>
            </a:r>
            <a:endParaRPr/>
          </a:p>
          <a:p>
            <a:pPr indent="-317500" lvl="1" marL="914400" rtl="0" algn="l">
              <a:lnSpc>
                <a:spcPct val="115000"/>
              </a:lnSpc>
              <a:spcBef>
                <a:spcPts val="0"/>
              </a:spcBef>
              <a:spcAft>
                <a:spcPts val="0"/>
              </a:spcAft>
              <a:buSzPts val="1400"/>
              <a:buChar char="○"/>
            </a:pPr>
            <a:r>
              <a:rPr lang="en"/>
              <a:t>Card from a pack: Spades, Hearts, Diamond, Clubs</a:t>
            </a:r>
            <a:endParaRPr/>
          </a:p>
          <a:p>
            <a:pPr indent="-342900" lvl="0" marL="457200" rtl="0" algn="l">
              <a:lnSpc>
                <a:spcPct val="115000"/>
              </a:lnSpc>
              <a:spcBef>
                <a:spcPts val="0"/>
              </a:spcBef>
              <a:spcAft>
                <a:spcPts val="0"/>
              </a:spcAft>
              <a:buSzPts val="1800"/>
              <a:buChar char="●"/>
            </a:pPr>
            <a:r>
              <a:rPr lang="en"/>
              <a:t>Large sample space: Partition into disjoint events for study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Events in Venn diagrams</a:t>
            </a:r>
            <a:endParaRPr/>
          </a:p>
        </p:txBody>
      </p:sp>
      <p:sp>
        <p:nvSpPr>
          <p:cNvPr id="119" name="Google Shape;119;p10"/>
          <p:cNvSpPr txBox="1"/>
          <p:nvPr>
            <p:ph idx="1" type="body"/>
          </p:nvPr>
        </p:nvSpPr>
        <p:spPr>
          <a:xfrm>
            <a:off x="3920250" y="1177250"/>
            <a:ext cx="43974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Union</a:t>
            </a:r>
            <a:endParaRPr/>
          </a:p>
          <a:p>
            <a:pPr indent="-317500" lvl="1" marL="914400" rtl="0" algn="l">
              <a:lnSpc>
                <a:spcPct val="115000"/>
              </a:lnSpc>
              <a:spcBef>
                <a:spcPts val="0"/>
              </a:spcBef>
              <a:spcAft>
                <a:spcPts val="0"/>
              </a:spcAft>
              <a:buSzPts val="1400"/>
              <a:buChar char="○"/>
            </a:pPr>
            <a:r>
              <a:rPr lang="en"/>
              <a:t>All covered regions</a:t>
            </a:r>
            <a:endParaRPr/>
          </a:p>
          <a:p>
            <a:pPr indent="-342900" lvl="0" marL="457200" rtl="0" algn="l">
              <a:lnSpc>
                <a:spcPct val="115000"/>
              </a:lnSpc>
              <a:spcBef>
                <a:spcPts val="0"/>
              </a:spcBef>
              <a:spcAft>
                <a:spcPts val="0"/>
              </a:spcAft>
              <a:buSzPts val="1800"/>
              <a:buChar char="●"/>
            </a:pPr>
            <a:r>
              <a:rPr lang="en"/>
              <a:t>Intersection</a:t>
            </a:r>
            <a:endParaRPr/>
          </a:p>
          <a:p>
            <a:pPr indent="-317500" lvl="1" marL="914400" rtl="0" algn="l">
              <a:lnSpc>
                <a:spcPct val="115000"/>
              </a:lnSpc>
              <a:spcBef>
                <a:spcPts val="0"/>
              </a:spcBef>
              <a:spcAft>
                <a:spcPts val="0"/>
              </a:spcAft>
              <a:buSzPts val="1400"/>
              <a:buChar char="○"/>
            </a:pPr>
            <a:r>
              <a:rPr lang="en"/>
              <a:t>Common region</a:t>
            </a:r>
            <a:endParaRPr/>
          </a:p>
          <a:p>
            <a:pPr indent="-342900" lvl="0" marL="457200" rtl="0" algn="l">
              <a:lnSpc>
                <a:spcPct val="115000"/>
              </a:lnSpc>
              <a:spcBef>
                <a:spcPts val="0"/>
              </a:spcBef>
              <a:spcAft>
                <a:spcPts val="0"/>
              </a:spcAft>
              <a:buSzPts val="1800"/>
              <a:buChar char="●"/>
            </a:pPr>
            <a:r>
              <a:rPr lang="en"/>
              <a:t>Disjoint events</a:t>
            </a:r>
            <a:endParaRPr/>
          </a:p>
          <a:p>
            <a:pPr indent="-317500" lvl="1" marL="914400" rtl="0" algn="l">
              <a:lnSpc>
                <a:spcPct val="115000"/>
              </a:lnSpc>
              <a:spcBef>
                <a:spcPts val="0"/>
              </a:spcBef>
              <a:spcAft>
                <a:spcPts val="0"/>
              </a:spcAft>
              <a:buSzPts val="1400"/>
              <a:buChar char="○"/>
            </a:pPr>
            <a:r>
              <a:rPr lang="en"/>
              <a:t>No overlap in regions</a:t>
            </a:r>
            <a:endParaRPr/>
          </a:p>
          <a:p>
            <a:pPr indent="-317500" lvl="1" marL="914400" rtl="0" algn="l">
              <a:lnSpc>
                <a:spcPct val="115000"/>
              </a:lnSpc>
              <a:spcBef>
                <a:spcPts val="0"/>
              </a:spcBef>
              <a:spcAft>
                <a:spcPts val="0"/>
              </a:spcAft>
              <a:buSzPts val="1400"/>
              <a:buChar char="○"/>
            </a:pPr>
            <a:r>
              <a:rPr lang="en"/>
              <a:t>A and C are disjoint, B and C are disjoint</a:t>
            </a:r>
            <a:endParaRPr/>
          </a:p>
          <a:p>
            <a:pPr indent="-317500" lvl="1" marL="914400" rtl="0" algn="l">
              <a:lnSpc>
                <a:spcPct val="115000"/>
              </a:lnSpc>
              <a:spcBef>
                <a:spcPts val="0"/>
              </a:spcBef>
              <a:spcAft>
                <a:spcPts val="0"/>
              </a:spcAft>
              <a:buSzPts val="1400"/>
              <a:buChar char="○"/>
            </a:pPr>
            <a:r>
              <a:rPr lang="en"/>
              <a:t>A ∪ C: both regions, A ⋂ C: empty</a:t>
            </a:r>
            <a:endParaRPr/>
          </a:p>
          <a:p>
            <a:pPr indent="-342900" lvl="0" marL="457200" rtl="0" algn="l">
              <a:lnSpc>
                <a:spcPct val="115000"/>
              </a:lnSpc>
              <a:spcBef>
                <a:spcPts val="0"/>
              </a:spcBef>
              <a:spcAft>
                <a:spcPts val="0"/>
              </a:spcAft>
              <a:buSzPts val="1800"/>
              <a:buChar char="●"/>
            </a:pPr>
            <a:r>
              <a:rPr lang="en" sz="1400"/>
              <a:t>A ⋂ B</a:t>
            </a:r>
            <a:r>
              <a:rPr baseline="30000" lang="en" sz="1400"/>
              <a:t>c</a:t>
            </a:r>
            <a:endParaRPr sz="1400"/>
          </a:p>
          <a:p>
            <a:pPr indent="-317500" lvl="1" marL="914400" rtl="0" algn="l">
              <a:lnSpc>
                <a:spcPct val="115000"/>
              </a:lnSpc>
              <a:spcBef>
                <a:spcPts val="0"/>
              </a:spcBef>
              <a:spcAft>
                <a:spcPts val="0"/>
              </a:spcAft>
              <a:buSzPts val="1400"/>
              <a:buChar char="○"/>
            </a:pPr>
            <a:r>
              <a:rPr lang="en"/>
              <a:t>Region of A outside of B</a:t>
            </a:r>
            <a:endParaRPr/>
          </a:p>
          <a:p>
            <a:pPr indent="-317500" lvl="1" marL="914400" rtl="0" algn="l">
              <a:lnSpc>
                <a:spcPct val="115000"/>
              </a:lnSpc>
              <a:spcBef>
                <a:spcPts val="0"/>
              </a:spcBef>
              <a:spcAft>
                <a:spcPts val="0"/>
              </a:spcAft>
              <a:buSzPts val="1400"/>
              <a:buChar char="○"/>
            </a:pPr>
            <a:r>
              <a:rPr lang="en"/>
              <a:t>Throw a die: even but not a multiple of 3</a:t>
            </a:r>
            <a:endParaRPr/>
          </a:p>
        </p:txBody>
      </p:sp>
      <p:sp>
        <p:nvSpPr>
          <p:cNvPr id="120" name="Google Shape;120;p10"/>
          <p:cNvSpPr/>
          <p:nvPr/>
        </p:nvSpPr>
        <p:spPr>
          <a:xfrm>
            <a:off x="799325" y="1129300"/>
            <a:ext cx="2681700" cy="3452400"/>
          </a:xfrm>
          <a:prstGeom prst="ellipse">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10"/>
          <p:cNvSpPr/>
          <p:nvPr/>
        </p:nvSpPr>
        <p:spPr>
          <a:xfrm>
            <a:off x="1616025" y="1766625"/>
            <a:ext cx="857400" cy="1187400"/>
          </a:xfrm>
          <a:prstGeom prst="ellipse">
            <a:avLst/>
          </a:prstGeom>
          <a:no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10"/>
          <p:cNvSpPr/>
          <p:nvPr/>
        </p:nvSpPr>
        <p:spPr>
          <a:xfrm rot="-4439641">
            <a:off x="1965471" y="2196996"/>
            <a:ext cx="857336" cy="1187496"/>
          </a:xfrm>
          <a:prstGeom prst="ellipse">
            <a:avLst/>
          </a:prstGeom>
          <a:noFill/>
          <a:ln cap="flat" cmpd="sng" w="9525">
            <a:solidFill>
              <a:srgbClr val="980000"/>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10"/>
          <p:cNvSpPr/>
          <p:nvPr/>
        </p:nvSpPr>
        <p:spPr>
          <a:xfrm rot="-1511043">
            <a:off x="1131359" y="2954067"/>
            <a:ext cx="857289" cy="1187559"/>
          </a:xfrm>
          <a:prstGeom prst="ellipse">
            <a:avLst/>
          </a:prstGeom>
          <a:noFill/>
          <a:ln cap="flat" cmpd="sng" w="952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10"/>
          <p:cNvSpPr txBox="1"/>
          <p:nvPr/>
        </p:nvSpPr>
        <p:spPr>
          <a:xfrm>
            <a:off x="2125750" y="1546525"/>
            <a:ext cx="399600" cy="289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10"/>
          <p:cNvSpPr txBox="1"/>
          <p:nvPr/>
        </p:nvSpPr>
        <p:spPr>
          <a:xfrm>
            <a:off x="1865100" y="1465425"/>
            <a:ext cx="335400" cy="34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A</a:t>
            </a:r>
            <a:endParaRPr b="0" i="0" sz="1400" u="none" cap="none" strike="noStrike">
              <a:solidFill>
                <a:srgbClr val="FFFFFF"/>
              </a:solidFill>
              <a:latin typeface="Arial"/>
              <a:ea typeface="Arial"/>
              <a:cs typeface="Arial"/>
              <a:sym typeface="Arial"/>
            </a:endParaRPr>
          </a:p>
        </p:txBody>
      </p:sp>
      <p:sp>
        <p:nvSpPr>
          <p:cNvPr id="126" name="Google Shape;126;p10"/>
          <p:cNvSpPr txBox="1"/>
          <p:nvPr/>
        </p:nvSpPr>
        <p:spPr>
          <a:xfrm>
            <a:off x="2845800" y="2324700"/>
            <a:ext cx="335400" cy="34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B</a:t>
            </a:r>
            <a:endParaRPr b="0" i="0" sz="1400" u="none" cap="none" strike="noStrike">
              <a:solidFill>
                <a:srgbClr val="FFFFFF"/>
              </a:solidFill>
              <a:latin typeface="Arial"/>
              <a:ea typeface="Arial"/>
              <a:cs typeface="Arial"/>
              <a:sym typeface="Arial"/>
            </a:endParaRPr>
          </a:p>
        </p:txBody>
      </p:sp>
      <p:sp>
        <p:nvSpPr>
          <p:cNvPr id="127" name="Google Shape;127;p10"/>
          <p:cNvSpPr txBox="1"/>
          <p:nvPr/>
        </p:nvSpPr>
        <p:spPr>
          <a:xfrm>
            <a:off x="1017250" y="2714600"/>
            <a:ext cx="335400" cy="34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C</a:t>
            </a:r>
            <a:endParaRPr b="0" i="0" sz="1400" u="none" cap="none" strike="noStrike">
              <a:solidFill>
                <a:srgbClr val="FFFFFF"/>
              </a:solidFill>
              <a:latin typeface="Arial"/>
              <a:ea typeface="Arial"/>
              <a:cs typeface="Arial"/>
              <a:sym typeface="Arial"/>
            </a:endParaRPr>
          </a:p>
        </p:txBody>
      </p:sp>
      <p:grpSp>
        <p:nvGrpSpPr>
          <p:cNvPr id="128" name="Google Shape;128;p10"/>
          <p:cNvGrpSpPr/>
          <p:nvPr/>
        </p:nvGrpSpPr>
        <p:grpSpPr>
          <a:xfrm>
            <a:off x="1619867" y="1766272"/>
            <a:ext cx="1467044" cy="1599887"/>
            <a:chOff x="1844625" y="1766625"/>
            <a:chExt cx="1467044" cy="1599887"/>
          </a:xfrm>
        </p:grpSpPr>
        <p:sp>
          <p:nvSpPr>
            <p:cNvPr id="129" name="Google Shape;129;p10"/>
            <p:cNvSpPr/>
            <p:nvPr/>
          </p:nvSpPr>
          <p:spPr>
            <a:xfrm>
              <a:off x="1844625" y="1766625"/>
              <a:ext cx="857400" cy="1187400"/>
            </a:xfrm>
            <a:prstGeom prst="ellipse">
              <a:avLst/>
            </a:prstGeom>
            <a:solidFill>
              <a:srgbClr val="99999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10"/>
            <p:cNvSpPr/>
            <p:nvPr/>
          </p:nvSpPr>
          <p:spPr>
            <a:xfrm rot="-4439641">
              <a:off x="2194071" y="2196996"/>
              <a:ext cx="857336" cy="1187496"/>
            </a:xfrm>
            <a:prstGeom prst="ellipse">
              <a:avLst/>
            </a:prstGeom>
            <a:solidFill>
              <a:srgbClr val="99999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1" name="Google Shape;131;p10"/>
          <p:cNvSpPr/>
          <p:nvPr/>
        </p:nvSpPr>
        <p:spPr>
          <a:xfrm>
            <a:off x="1819275" y="2347925"/>
            <a:ext cx="657225" cy="609600"/>
          </a:xfrm>
          <a:custGeom>
            <a:rect b="b" l="l" r="r" t="t"/>
            <a:pathLst>
              <a:path extrusionOk="0" h="24384" w="26289">
                <a:moveTo>
                  <a:pt x="1905" y="22098"/>
                </a:moveTo>
                <a:lnTo>
                  <a:pt x="4953" y="23622"/>
                </a:lnTo>
                <a:lnTo>
                  <a:pt x="8382" y="24384"/>
                </a:lnTo>
                <a:lnTo>
                  <a:pt x="12002" y="24384"/>
                </a:lnTo>
                <a:lnTo>
                  <a:pt x="15240" y="22860"/>
                </a:lnTo>
                <a:lnTo>
                  <a:pt x="17336" y="21145"/>
                </a:lnTo>
                <a:lnTo>
                  <a:pt x="19622" y="18859"/>
                </a:lnTo>
                <a:lnTo>
                  <a:pt x="21527" y="16192"/>
                </a:lnTo>
                <a:lnTo>
                  <a:pt x="23051" y="13144"/>
                </a:lnTo>
                <a:lnTo>
                  <a:pt x="24956" y="8572"/>
                </a:lnTo>
                <a:lnTo>
                  <a:pt x="25908" y="4762"/>
                </a:lnTo>
                <a:lnTo>
                  <a:pt x="26289" y="762"/>
                </a:lnTo>
                <a:lnTo>
                  <a:pt x="22670" y="190"/>
                </a:lnTo>
                <a:lnTo>
                  <a:pt x="17145" y="0"/>
                </a:lnTo>
                <a:lnTo>
                  <a:pt x="12764" y="571"/>
                </a:lnTo>
                <a:lnTo>
                  <a:pt x="9525" y="1524"/>
                </a:lnTo>
                <a:lnTo>
                  <a:pt x="5906" y="3429"/>
                </a:lnTo>
                <a:lnTo>
                  <a:pt x="3048" y="5905"/>
                </a:lnTo>
                <a:lnTo>
                  <a:pt x="1905" y="7810"/>
                </a:lnTo>
                <a:lnTo>
                  <a:pt x="191" y="11049"/>
                </a:lnTo>
                <a:lnTo>
                  <a:pt x="0" y="15621"/>
                </a:lnTo>
                <a:lnTo>
                  <a:pt x="572" y="19240"/>
                </a:lnTo>
                <a:close/>
              </a:path>
            </a:pathLst>
          </a:custGeom>
          <a:solidFill>
            <a:schemeClr val="lt2"/>
          </a:solidFill>
          <a:ln>
            <a:noFill/>
          </a:ln>
        </p:spPr>
      </p:sp>
      <p:sp>
        <p:nvSpPr>
          <p:cNvPr id="132" name="Google Shape;132;p10"/>
          <p:cNvSpPr txBox="1"/>
          <p:nvPr/>
        </p:nvSpPr>
        <p:spPr>
          <a:xfrm>
            <a:off x="2633950" y="930750"/>
            <a:ext cx="335400" cy="34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n" sz="1400" u="none" cap="none" strike="noStrike">
                <a:solidFill>
                  <a:srgbClr val="FFFFFF"/>
                </a:solidFill>
                <a:latin typeface="Arial"/>
                <a:ea typeface="Arial"/>
                <a:cs typeface="Arial"/>
                <a:sym typeface="Arial"/>
              </a:rPr>
              <a:t>S</a:t>
            </a:r>
            <a:endParaRPr b="0" i="0" sz="1400" u="none" cap="none" strike="noStrike">
              <a:solidFill>
                <a:srgbClr val="FFFFFF"/>
              </a:solidFill>
              <a:latin typeface="Arial"/>
              <a:ea typeface="Arial"/>
              <a:cs typeface="Arial"/>
              <a:sym typeface="Arial"/>
            </a:endParaRPr>
          </a:p>
        </p:txBody>
      </p:sp>
      <p:sp>
        <p:nvSpPr>
          <p:cNvPr id="133" name="Google Shape;133;p10"/>
          <p:cNvSpPr txBox="1"/>
          <p:nvPr/>
        </p:nvSpPr>
        <p:spPr>
          <a:xfrm>
            <a:off x="2345825" y="1766275"/>
            <a:ext cx="657300" cy="34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A ∪ B</a:t>
            </a:r>
            <a:endParaRPr b="0" i="0" sz="1400" u="none" cap="none" strike="noStrike">
              <a:solidFill>
                <a:srgbClr val="FFFFFF"/>
              </a:solidFill>
              <a:latin typeface="Arial"/>
              <a:ea typeface="Arial"/>
              <a:cs typeface="Arial"/>
              <a:sym typeface="Arial"/>
            </a:endParaRPr>
          </a:p>
        </p:txBody>
      </p:sp>
      <p:sp>
        <p:nvSpPr>
          <p:cNvPr id="134" name="Google Shape;134;p10"/>
          <p:cNvSpPr txBox="1"/>
          <p:nvPr/>
        </p:nvSpPr>
        <p:spPr>
          <a:xfrm>
            <a:off x="1627950" y="2082290"/>
            <a:ext cx="657300" cy="34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A ⋂ B</a:t>
            </a:r>
            <a:endParaRPr b="0" i="0" sz="1400" u="none" cap="none" strike="noStrike">
              <a:solidFill>
                <a:srgbClr val="FFFFFF"/>
              </a:solidFill>
              <a:latin typeface="Arial"/>
              <a:ea typeface="Arial"/>
              <a:cs typeface="Arial"/>
              <a:sym typeface="Arial"/>
            </a:endParaRPr>
          </a:p>
        </p:txBody>
      </p:sp>
      <p:grpSp>
        <p:nvGrpSpPr>
          <p:cNvPr id="135" name="Google Shape;135;p10"/>
          <p:cNvGrpSpPr/>
          <p:nvPr/>
        </p:nvGrpSpPr>
        <p:grpSpPr>
          <a:xfrm>
            <a:off x="1624089" y="1771187"/>
            <a:ext cx="1467044" cy="1599887"/>
            <a:chOff x="3269867" y="3390022"/>
            <a:chExt cx="1467044" cy="1599887"/>
          </a:xfrm>
        </p:grpSpPr>
        <p:sp>
          <p:nvSpPr>
            <p:cNvPr id="136" name="Google Shape;136;p10"/>
            <p:cNvSpPr/>
            <p:nvPr/>
          </p:nvSpPr>
          <p:spPr>
            <a:xfrm>
              <a:off x="3269867" y="3390022"/>
              <a:ext cx="857400" cy="1187400"/>
            </a:xfrm>
            <a:prstGeom prst="ellipse">
              <a:avLst/>
            </a:prstGeom>
            <a:solidFill>
              <a:srgbClr val="99999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10"/>
            <p:cNvSpPr/>
            <p:nvPr/>
          </p:nvSpPr>
          <p:spPr>
            <a:xfrm rot="-4439641">
              <a:off x="3619313" y="3820393"/>
              <a:ext cx="857336" cy="1187496"/>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8" name="Google Shape;138;p10"/>
          <p:cNvSpPr txBox="1"/>
          <p:nvPr/>
        </p:nvSpPr>
        <p:spPr>
          <a:xfrm>
            <a:off x="1091475" y="1695313"/>
            <a:ext cx="727800" cy="34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A ⋂ B</a:t>
            </a:r>
            <a:r>
              <a:rPr b="0" baseline="30000" i="0" lang="en" sz="1400" u="none" cap="none" strike="noStrike">
                <a:solidFill>
                  <a:srgbClr val="FFFFFF"/>
                </a:solidFill>
                <a:latin typeface="Arial"/>
                <a:ea typeface="Arial"/>
                <a:cs typeface="Arial"/>
                <a:sym typeface="Arial"/>
              </a:rPr>
              <a:t>c</a:t>
            </a:r>
            <a:endParaRPr b="0" baseline="30000" i="0" sz="1400" u="none" cap="none" strike="noStrike">
              <a:solidFill>
                <a:srgbClr val="FFFFFF"/>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1"/>
                                          </p:stCondLst>
                                        </p:cTn>
                                        <p:tgtEl>
                                          <p:spTgt spid="128"/>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13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3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13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3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13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Useful skill: Translate “English” to events</a:t>
            </a:r>
            <a:endParaRPr/>
          </a:p>
        </p:txBody>
      </p:sp>
      <p:sp>
        <p:nvSpPr>
          <p:cNvPr id="144" name="Google Shape;144;p11"/>
          <p:cNvSpPr txBox="1"/>
          <p:nvPr>
            <p:ph idx="1" type="body"/>
          </p:nvPr>
        </p:nvSpPr>
        <p:spPr>
          <a:xfrm>
            <a:off x="311700" y="1152475"/>
            <a:ext cx="8520600" cy="3869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The hats of 5 persons are identical and get mixed up. Each person picks a hat at random.</a:t>
            </a:r>
            <a:endParaRPr/>
          </a:p>
          <a:p>
            <a:pPr indent="-317500" lvl="1" marL="914400" rtl="0" algn="l">
              <a:lnSpc>
                <a:spcPct val="115000"/>
              </a:lnSpc>
              <a:spcBef>
                <a:spcPts val="0"/>
              </a:spcBef>
              <a:spcAft>
                <a:spcPts val="0"/>
              </a:spcAft>
              <a:buSzPts val="1400"/>
              <a:buChar char="○"/>
            </a:pPr>
            <a:r>
              <a:rPr lang="en"/>
              <a:t>Event A: No person gets their own hat </a:t>
            </a:r>
            <a:endParaRPr/>
          </a:p>
          <a:p>
            <a:pPr indent="-317500" lvl="1" marL="914400" rtl="0" algn="l">
              <a:lnSpc>
                <a:spcPct val="115000"/>
              </a:lnSpc>
              <a:spcBef>
                <a:spcPts val="0"/>
              </a:spcBef>
              <a:spcAft>
                <a:spcPts val="0"/>
              </a:spcAft>
              <a:buSzPts val="1400"/>
              <a:buChar char="○"/>
            </a:pPr>
            <a:r>
              <a:rPr lang="en"/>
              <a:t>Event B: Every person gets their own hat</a:t>
            </a:r>
            <a:endParaRPr/>
          </a:p>
          <a:p>
            <a:pPr indent="-317500" lvl="1" marL="914400" rtl="0" algn="l">
              <a:lnSpc>
                <a:spcPct val="115000"/>
              </a:lnSpc>
              <a:spcBef>
                <a:spcPts val="0"/>
              </a:spcBef>
              <a:spcAft>
                <a:spcPts val="0"/>
              </a:spcAft>
              <a:buSzPts val="1400"/>
              <a:buChar char="○"/>
            </a:pPr>
            <a:r>
              <a:rPr lang="en"/>
              <a:t>Event C: At least one person does not get their own hat</a:t>
            </a:r>
            <a:endParaRPr/>
          </a:p>
          <a:p>
            <a:pPr indent="-317500" lvl="1" marL="914400" rtl="0" algn="l">
              <a:lnSpc>
                <a:spcPct val="115000"/>
              </a:lnSpc>
              <a:spcBef>
                <a:spcPts val="0"/>
              </a:spcBef>
              <a:spcAft>
                <a:spcPts val="0"/>
              </a:spcAft>
              <a:buSzPts val="1400"/>
              <a:buChar char="○"/>
            </a:pPr>
            <a:r>
              <a:rPr lang="en"/>
              <a:t>Event D: At least one person gets their own hat</a:t>
            </a:r>
            <a:br>
              <a:rPr lang="en"/>
            </a:br>
            <a:r>
              <a:rPr lang="en"/>
              <a:t>[Sample space for this experiment?]</a:t>
            </a:r>
            <a:br>
              <a:rPr lang="en"/>
            </a:br>
            <a:endParaRPr/>
          </a:p>
          <a:p>
            <a:pPr indent="-342900" lvl="0" marL="457200" rtl="0" algn="l">
              <a:lnSpc>
                <a:spcPct val="115000"/>
              </a:lnSpc>
              <a:spcBef>
                <a:spcPts val="0"/>
              </a:spcBef>
              <a:spcAft>
                <a:spcPts val="0"/>
              </a:spcAft>
              <a:buSzPts val="1800"/>
              <a:buChar char="●"/>
            </a:pPr>
            <a:r>
              <a:rPr lang="en"/>
              <a:t>What is A</a:t>
            </a:r>
            <a:r>
              <a:rPr baseline="30000" lang="en"/>
              <a:t>c</a:t>
            </a:r>
            <a:r>
              <a:rPr lang="en"/>
              <a:t>? What is B</a:t>
            </a:r>
            <a:r>
              <a:rPr baseline="30000" lang="en"/>
              <a:t>c</a:t>
            </a:r>
            <a:r>
              <a:rPr lang="en"/>
              <a:t>?</a:t>
            </a:r>
            <a:br>
              <a:rPr lang="en"/>
            </a:br>
            <a:endParaRPr/>
          </a:p>
          <a:p>
            <a:pPr indent="-342900" lvl="0" marL="457200" rtl="0" algn="l">
              <a:lnSpc>
                <a:spcPct val="115000"/>
              </a:lnSpc>
              <a:spcBef>
                <a:spcPts val="0"/>
              </a:spcBef>
              <a:spcAft>
                <a:spcPts val="0"/>
              </a:spcAft>
              <a:buSzPts val="1800"/>
              <a:buChar char="●"/>
            </a:pPr>
            <a:r>
              <a:rPr lang="en"/>
              <a:t>Are A and B disjoint?</a:t>
            </a:r>
            <a:br>
              <a:rPr lang="en"/>
            </a:br>
            <a:endParaRPr/>
          </a:p>
          <a:p>
            <a:pPr indent="-342900" lvl="0" marL="457200" rtl="0" algn="l">
              <a:lnSpc>
                <a:spcPct val="115000"/>
              </a:lnSpc>
              <a:spcBef>
                <a:spcPts val="0"/>
              </a:spcBef>
              <a:spcAft>
                <a:spcPts val="0"/>
              </a:spcAft>
              <a:buSzPts val="1800"/>
              <a:buChar char="●"/>
            </a:pPr>
            <a:r>
              <a:rPr lang="en"/>
              <a:t>What is A ⋂ B</a:t>
            </a:r>
            <a:r>
              <a:rPr baseline="30000" lang="en"/>
              <a:t>c</a:t>
            </a:r>
            <a:r>
              <a:rPr lang="en"/>
              <a: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IPL example</a:t>
            </a:r>
            <a:endParaRPr/>
          </a:p>
        </p:txBody>
      </p:sp>
      <p:sp>
        <p:nvSpPr>
          <p:cNvPr id="150" name="Google Shape;150;p12"/>
          <p:cNvSpPr txBox="1"/>
          <p:nvPr>
            <p:ph idx="1" type="body"/>
          </p:nvPr>
        </p:nvSpPr>
        <p:spPr>
          <a:xfrm>
            <a:off x="311700" y="1152475"/>
            <a:ext cx="8520600" cy="38481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One over with 6 deliveries; in each delivery, 0, 1, 2, 3, 4 or 6 runs may be scored</a:t>
            </a:r>
            <a:endParaRPr/>
          </a:p>
          <a:p>
            <a:pPr indent="-317500" lvl="1" marL="914400" rtl="0" algn="l">
              <a:lnSpc>
                <a:spcPct val="115000"/>
              </a:lnSpc>
              <a:spcBef>
                <a:spcPts val="0"/>
              </a:spcBef>
              <a:spcAft>
                <a:spcPts val="0"/>
              </a:spcAft>
              <a:buSzPts val="1400"/>
              <a:buChar char="○"/>
            </a:pPr>
            <a:r>
              <a:rPr lang="en"/>
              <a:t>Event A: no 4s</a:t>
            </a:r>
            <a:endParaRPr/>
          </a:p>
          <a:p>
            <a:pPr indent="-317500" lvl="1" marL="914400" rtl="0" algn="l">
              <a:lnSpc>
                <a:spcPct val="115000"/>
              </a:lnSpc>
              <a:spcBef>
                <a:spcPts val="0"/>
              </a:spcBef>
              <a:spcAft>
                <a:spcPts val="0"/>
              </a:spcAft>
              <a:buSzPts val="1400"/>
              <a:buChar char="○"/>
            </a:pPr>
            <a:r>
              <a:rPr lang="en"/>
              <a:t>Event B: no 6s</a:t>
            </a:r>
            <a:endParaRPr/>
          </a:p>
          <a:p>
            <a:pPr indent="-317500" lvl="1" marL="914400" rtl="0" algn="l">
              <a:lnSpc>
                <a:spcPct val="115000"/>
              </a:lnSpc>
              <a:spcBef>
                <a:spcPts val="0"/>
              </a:spcBef>
              <a:spcAft>
                <a:spcPts val="0"/>
              </a:spcAft>
              <a:buSzPts val="1400"/>
              <a:buChar char="○"/>
            </a:pPr>
            <a:r>
              <a:rPr lang="en"/>
              <a:t>Event C: exactly 20 runs scored</a:t>
            </a:r>
            <a:br>
              <a:rPr lang="en"/>
            </a:br>
            <a:endParaRPr/>
          </a:p>
          <a:p>
            <a:pPr indent="-342900" lvl="0" marL="457200" rtl="0" algn="l">
              <a:lnSpc>
                <a:spcPct val="115000"/>
              </a:lnSpc>
              <a:spcBef>
                <a:spcPts val="0"/>
              </a:spcBef>
              <a:spcAft>
                <a:spcPts val="0"/>
              </a:spcAft>
              <a:buSzPts val="1800"/>
              <a:buChar char="●"/>
            </a:pPr>
            <a:r>
              <a:rPr lang="en"/>
              <a:t>What is A ∪ B? Over had no 4s or over had no 6s </a:t>
            </a:r>
            <a:endParaRPr/>
          </a:p>
          <a:p>
            <a:pPr indent="-342900" lvl="0" marL="457200" rtl="0" algn="l">
              <a:lnSpc>
                <a:spcPct val="115000"/>
              </a:lnSpc>
              <a:spcBef>
                <a:spcPts val="0"/>
              </a:spcBef>
              <a:spcAft>
                <a:spcPts val="0"/>
              </a:spcAft>
              <a:buSzPts val="1800"/>
              <a:buChar char="●"/>
            </a:pPr>
            <a:r>
              <a:rPr lang="en"/>
              <a:t>What is A ⋂ B? No 4s and no 6s in the over</a:t>
            </a:r>
            <a:endParaRPr/>
          </a:p>
          <a:p>
            <a:pPr indent="-342900" lvl="0" marL="457200" rtl="0" algn="l">
              <a:lnSpc>
                <a:spcPct val="115000"/>
              </a:lnSpc>
              <a:spcBef>
                <a:spcPts val="0"/>
              </a:spcBef>
              <a:spcAft>
                <a:spcPts val="0"/>
              </a:spcAft>
              <a:buSzPts val="1800"/>
              <a:buChar char="●"/>
            </a:pPr>
            <a:r>
              <a:rPr lang="en"/>
              <a:t>Can A ⋂ B ⋂ C occur?</a:t>
            </a:r>
            <a:br>
              <a:rPr lang="en"/>
            </a:br>
            <a:endParaRPr/>
          </a:p>
          <a:p>
            <a:pPr indent="-342900" lvl="0" marL="457200" rtl="0" algn="l">
              <a:lnSpc>
                <a:spcPct val="115000"/>
              </a:lnSpc>
              <a:spcBef>
                <a:spcPts val="0"/>
              </a:spcBef>
              <a:spcAft>
                <a:spcPts val="0"/>
              </a:spcAft>
              <a:buSzPts val="1800"/>
              <a:buChar char="●"/>
            </a:pPr>
            <a:r>
              <a:rPr lang="en"/>
              <a:t>What is the complement of A ∪ B and A ⋂ B? Use De Morgan’s laws</a:t>
            </a:r>
            <a:endParaRPr/>
          </a:p>
          <a:p>
            <a:pPr indent="-317500" lvl="1" marL="914400" rtl="0" algn="l">
              <a:lnSpc>
                <a:spcPct val="115000"/>
              </a:lnSpc>
              <a:spcBef>
                <a:spcPts val="0"/>
              </a:spcBef>
              <a:spcAft>
                <a:spcPts val="0"/>
              </a:spcAft>
              <a:buSzPts val="1400"/>
              <a:buChar char="○"/>
            </a:pPr>
            <a:r>
              <a:rPr lang="en"/>
              <a:t>(A ∪ B)</a:t>
            </a:r>
            <a:r>
              <a:rPr baseline="30000" lang="en"/>
              <a:t>c</a:t>
            </a:r>
            <a:r>
              <a:rPr lang="en"/>
              <a:t> = A</a:t>
            </a:r>
            <a:r>
              <a:rPr baseline="30000" lang="en"/>
              <a:t>c</a:t>
            </a:r>
            <a:r>
              <a:rPr lang="en"/>
              <a:t> ⋂ B</a:t>
            </a:r>
            <a:r>
              <a:rPr baseline="30000" lang="en"/>
              <a:t>c</a:t>
            </a:r>
            <a:r>
              <a:rPr lang="en"/>
              <a:t> and (A ⋂ B)</a:t>
            </a:r>
            <a:r>
              <a:rPr baseline="30000" lang="en"/>
              <a:t>c</a:t>
            </a:r>
            <a:r>
              <a:rPr lang="en"/>
              <a:t> = A</a:t>
            </a:r>
            <a:r>
              <a:rPr baseline="30000" lang="en"/>
              <a:t>c</a:t>
            </a:r>
            <a:r>
              <a:rPr lang="en"/>
              <a:t> ∪ B</a:t>
            </a:r>
            <a:r>
              <a:rPr baseline="30000" lang="en"/>
              <a:t>c</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a:t>Probability</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Events and chance</a:t>
            </a:r>
            <a:endParaRPr/>
          </a:p>
        </p:txBody>
      </p:sp>
      <p:sp>
        <p:nvSpPr>
          <p:cNvPr id="161" name="Google Shape;161;p14"/>
          <p:cNvSpPr txBox="1"/>
          <p:nvPr>
            <p:ph idx="1" type="body"/>
          </p:nvPr>
        </p:nvSpPr>
        <p:spPr>
          <a:xfrm>
            <a:off x="311700" y="1000075"/>
            <a:ext cx="8520600" cy="39645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Given an event, we may have an idea of how likely it is to occur</a:t>
            </a:r>
            <a:endParaRPr/>
          </a:p>
          <a:p>
            <a:pPr indent="-317500" lvl="1" marL="914400" rtl="0" algn="l">
              <a:lnSpc>
                <a:spcPct val="115000"/>
              </a:lnSpc>
              <a:spcBef>
                <a:spcPts val="0"/>
              </a:spcBef>
              <a:spcAft>
                <a:spcPts val="0"/>
              </a:spcAft>
              <a:buSzPts val="1400"/>
              <a:buChar char="○"/>
            </a:pPr>
            <a:r>
              <a:rPr lang="en"/>
              <a:t>Toss a coin: we expect (over several tosses) heads occurring about half the time </a:t>
            </a:r>
            <a:endParaRPr/>
          </a:p>
          <a:p>
            <a:pPr indent="-317500" lvl="1" marL="914400" rtl="0" algn="l">
              <a:lnSpc>
                <a:spcPct val="115000"/>
              </a:lnSpc>
              <a:spcBef>
                <a:spcPts val="0"/>
              </a:spcBef>
              <a:spcAft>
                <a:spcPts val="0"/>
              </a:spcAft>
              <a:buSzPts val="1400"/>
              <a:buChar char="○"/>
            </a:pPr>
            <a:r>
              <a:rPr lang="en"/>
              <a:t>Distribute a pack of cards to 4 players: the chance of getting all 13 cards of one suit is very very low</a:t>
            </a:r>
            <a:endParaRPr/>
          </a:p>
          <a:p>
            <a:pPr indent="-317500" lvl="1" marL="914400" rtl="0" algn="l">
              <a:lnSpc>
                <a:spcPct val="115000"/>
              </a:lnSpc>
              <a:spcBef>
                <a:spcPts val="0"/>
              </a:spcBef>
              <a:spcAft>
                <a:spcPts val="0"/>
              </a:spcAft>
              <a:buSzPts val="1400"/>
              <a:buChar char="○"/>
            </a:pPr>
            <a:r>
              <a:rPr lang="en"/>
              <a:t>Football world cup: chance of India winning?</a:t>
            </a:r>
            <a:endParaRPr/>
          </a:p>
          <a:p>
            <a:pPr indent="-317500" lvl="1" marL="914400" rtl="0" algn="l">
              <a:lnSpc>
                <a:spcPct val="115000"/>
              </a:lnSpc>
              <a:spcBef>
                <a:spcPts val="0"/>
              </a:spcBef>
              <a:spcAft>
                <a:spcPts val="0"/>
              </a:spcAft>
              <a:buSzPts val="1400"/>
              <a:buChar char="○"/>
            </a:pPr>
            <a:r>
              <a:rPr lang="en"/>
              <a:t>Cricket world cup: chance of India winning?</a:t>
            </a:r>
            <a:endParaRPr/>
          </a:p>
          <a:p>
            <a:pPr indent="-342900" lvl="0" marL="457200" rtl="0" algn="l">
              <a:lnSpc>
                <a:spcPct val="115000"/>
              </a:lnSpc>
              <a:spcBef>
                <a:spcPts val="0"/>
              </a:spcBef>
              <a:spcAft>
                <a:spcPts val="0"/>
              </a:spcAft>
              <a:buSzPts val="1800"/>
              <a:buChar char="●"/>
            </a:pPr>
            <a:r>
              <a:rPr lang="en"/>
              <a:t>Probability theory</a:t>
            </a:r>
            <a:endParaRPr/>
          </a:p>
          <a:p>
            <a:pPr indent="-317500" lvl="1" marL="914400" rtl="0" algn="l">
              <a:lnSpc>
                <a:spcPct val="115000"/>
              </a:lnSpc>
              <a:spcBef>
                <a:spcPts val="0"/>
              </a:spcBef>
              <a:spcAft>
                <a:spcPts val="0"/>
              </a:spcAft>
              <a:buSzPts val="1400"/>
              <a:buChar char="○"/>
            </a:pPr>
            <a:r>
              <a:rPr lang="en"/>
              <a:t>“Mathematical” theory to assign chances to events of an experiment</a:t>
            </a:r>
            <a:endParaRPr/>
          </a:p>
          <a:p>
            <a:pPr indent="-342900" lvl="0" marL="457200" rtl="0" algn="l">
              <a:lnSpc>
                <a:spcPct val="115000"/>
              </a:lnSpc>
              <a:spcBef>
                <a:spcPts val="0"/>
              </a:spcBef>
              <a:spcAft>
                <a:spcPts val="0"/>
              </a:spcAft>
              <a:buSzPts val="1800"/>
              <a:buChar char="●"/>
            </a:pPr>
            <a:r>
              <a:rPr lang="en"/>
              <a:t>What is a “mathematical” theory?</a:t>
            </a:r>
            <a:endParaRPr/>
          </a:p>
          <a:p>
            <a:pPr indent="-317500" lvl="1" marL="914400" rtl="0" algn="l">
              <a:lnSpc>
                <a:spcPct val="115000"/>
              </a:lnSpc>
              <a:spcBef>
                <a:spcPts val="0"/>
              </a:spcBef>
              <a:spcAft>
                <a:spcPts val="0"/>
              </a:spcAft>
              <a:buSzPts val="1400"/>
              <a:buChar char="○"/>
            </a:pPr>
            <a:r>
              <a:rPr lang="en"/>
              <a:t>Define the basic objects of interest precisely</a:t>
            </a:r>
            <a:endParaRPr/>
          </a:p>
          <a:p>
            <a:pPr indent="-317500" lvl="1" marL="914400" rtl="0" algn="l">
              <a:lnSpc>
                <a:spcPct val="115000"/>
              </a:lnSpc>
              <a:spcBef>
                <a:spcPts val="0"/>
              </a:spcBef>
              <a:spcAft>
                <a:spcPts val="0"/>
              </a:spcAft>
              <a:buSzPts val="1400"/>
              <a:buChar char="○"/>
            </a:pPr>
            <a:r>
              <a:rPr b="1" lang="en"/>
              <a:t>Assume a few things - these are called axioms</a:t>
            </a:r>
            <a:endParaRPr b="1"/>
          </a:p>
          <a:p>
            <a:pPr indent="-317500" lvl="1" marL="914400" rtl="0" algn="l">
              <a:lnSpc>
                <a:spcPct val="115000"/>
              </a:lnSpc>
              <a:spcBef>
                <a:spcPts val="0"/>
              </a:spcBef>
              <a:spcAft>
                <a:spcPts val="0"/>
              </a:spcAft>
              <a:buSzPts val="1400"/>
              <a:buChar char="○"/>
            </a:pPr>
            <a:r>
              <a:rPr lang="en"/>
              <a:t>Deduce everything else with logical proof</a:t>
            </a:r>
            <a:endParaRPr/>
          </a:p>
          <a:p>
            <a:pPr indent="-342900" lvl="0" marL="457200" rtl="0" algn="l">
              <a:lnSpc>
                <a:spcPct val="115000"/>
              </a:lnSpc>
              <a:spcBef>
                <a:spcPts val="0"/>
              </a:spcBef>
              <a:spcAft>
                <a:spcPts val="0"/>
              </a:spcAft>
              <a:buSzPts val="1800"/>
              <a:buChar char="●"/>
            </a:pPr>
            <a:r>
              <a:rPr lang="en"/>
              <a:t>Successful theories have “natural” axioms that respect intuition and end up having a wide range of applications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Probability</a:t>
            </a:r>
            <a:endParaRPr/>
          </a:p>
        </p:txBody>
      </p:sp>
      <p:sp>
        <p:nvSpPr>
          <p:cNvPr id="167" name="Google Shape;167;p15"/>
          <p:cNvSpPr txBox="1"/>
          <p:nvPr>
            <p:ph idx="1" type="body"/>
          </p:nvPr>
        </p:nvSpPr>
        <p:spPr>
          <a:xfrm>
            <a:off x="311700" y="2470725"/>
            <a:ext cx="8520600" cy="24939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Value assigned by the probability function is supposed to represent the “chance” of the event occurring</a:t>
            </a:r>
            <a:endParaRPr/>
          </a:p>
          <a:p>
            <a:pPr indent="-317500" lvl="1" marL="914400" rtl="0" algn="l">
              <a:lnSpc>
                <a:spcPct val="115000"/>
              </a:lnSpc>
              <a:spcBef>
                <a:spcPts val="0"/>
              </a:spcBef>
              <a:spcAft>
                <a:spcPts val="0"/>
              </a:spcAft>
              <a:buSzPts val="1400"/>
              <a:buChar char="○"/>
            </a:pPr>
            <a:r>
              <a:rPr lang="en"/>
              <a:t>Higher value means higher chance</a:t>
            </a:r>
            <a:endParaRPr/>
          </a:p>
          <a:p>
            <a:pPr indent="-317500" lvl="1" marL="914400" rtl="0" algn="l">
              <a:lnSpc>
                <a:spcPct val="115000"/>
              </a:lnSpc>
              <a:spcBef>
                <a:spcPts val="0"/>
              </a:spcBef>
              <a:spcAft>
                <a:spcPts val="0"/>
              </a:spcAft>
              <a:buSzPts val="1400"/>
              <a:buChar char="○"/>
            </a:pPr>
            <a:r>
              <a:rPr lang="en"/>
              <a:t>0 means event cannot occur and 1 means event always occurs</a:t>
            </a:r>
            <a:endParaRPr/>
          </a:p>
          <a:p>
            <a:pPr indent="-317500" lvl="1" marL="914400" rtl="0" algn="l">
              <a:lnSpc>
                <a:spcPct val="115000"/>
              </a:lnSpc>
              <a:spcBef>
                <a:spcPts val="0"/>
              </a:spcBef>
              <a:spcAft>
                <a:spcPts val="0"/>
              </a:spcAft>
              <a:buSzPts val="1400"/>
              <a:buChar char="○"/>
            </a:pPr>
            <a:r>
              <a:rPr lang="en"/>
              <a:t>Often, probability is mentioned as percentage</a:t>
            </a:r>
            <a:endParaRPr/>
          </a:p>
          <a:p>
            <a:pPr indent="-317500" lvl="1" marL="914400" rtl="0" algn="l">
              <a:lnSpc>
                <a:spcPct val="115000"/>
              </a:lnSpc>
              <a:spcBef>
                <a:spcPts val="0"/>
              </a:spcBef>
              <a:spcAft>
                <a:spcPts val="0"/>
              </a:spcAft>
              <a:buSzPts val="1400"/>
              <a:buChar char="○"/>
            </a:pPr>
            <a:r>
              <a:rPr lang="en"/>
              <a:t>Warning: This kind of “meaning” of an object is not important for the mathematical theory</a:t>
            </a:r>
            <a:endParaRPr/>
          </a:p>
          <a:p>
            <a:pPr indent="-342900" lvl="0" marL="457200" rtl="0" algn="l">
              <a:lnSpc>
                <a:spcPct val="115000"/>
              </a:lnSpc>
              <a:spcBef>
                <a:spcPts val="0"/>
              </a:spcBef>
              <a:spcAft>
                <a:spcPts val="0"/>
              </a:spcAft>
              <a:buSzPts val="1800"/>
              <a:buChar char="●"/>
            </a:pPr>
            <a:r>
              <a:rPr lang="en"/>
              <a:t>All ingredients of the theory have been defined now</a:t>
            </a:r>
            <a:endParaRPr/>
          </a:p>
          <a:p>
            <a:pPr indent="-317500" lvl="1" marL="914400" rtl="0" algn="l">
              <a:lnSpc>
                <a:spcPct val="115000"/>
              </a:lnSpc>
              <a:spcBef>
                <a:spcPts val="0"/>
              </a:spcBef>
              <a:spcAft>
                <a:spcPts val="0"/>
              </a:spcAft>
              <a:buSzPts val="1400"/>
              <a:buChar char="○"/>
            </a:pPr>
            <a:r>
              <a:rPr lang="en"/>
              <a:t>Sample space, events, probability - these together are called “probability space”</a:t>
            </a:r>
            <a:endParaRPr/>
          </a:p>
        </p:txBody>
      </p:sp>
      <p:sp>
        <p:nvSpPr>
          <p:cNvPr id="168" name="Google Shape;168;p15"/>
          <p:cNvSpPr txBox="1"/>
          <p:nvPr/>
        </p:nvSpPr>
        <p:spPr>
          <a:xfrm>
            <a:off x="323275" y="1096825"/>
            <a:ext cx="8508900" cy="12534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980000"/>
                </a:solidFill>
                <a:latin typeface="Arial"/>
                <a:ea typeface="Arial"/>
                <a:cs typeface="Arial"/>
                <a:sym typeface="Arial"/>
              </a:rPr>
              <a:t>DEFINITION</a:t>
            </a:r>
            <a:r>
              <a:rPr b="0" i="0" lang="en" sz="1800" u="none" cap="none" strike="noStrike">
                <a:solidFill>
                  <a:srgbClr val="000000"/>
                </a:solidFill>
                <a:latin typeface="Arial"/>
                <a:ea typeface="Arial"/>
                <a:cs typeface="Arial"/>
                <a:sym typeface="Arial"/>
              </a:rPr>
              <a:t> (</a:t>
            </a:r>
            <a:r>
              <a:rPr b="1" i="0" lang="en" sz="1800" u="none" cap="none" strike="noStrike">
                <a:solidFill>
                  <a:srgbClr val="000000"/>
                </a:solidFill>
                <a:latin typeface="Arial"/>
                <a:ea typeface="Arial"/>
                <a:cs typeface="Arial"/>
                <a:sym typeface="Arial"/>
              </a:rPr>
              <a:t>Probability</a:t>
            </a:r>
            <a:r>
              <a:rPr b="0" i="0" lang="en" sz="1800" u="none" cap="none" strike="noStrike">
                <a:solidFill>
                  <a:srgbClr val="000000"/>
                </a:solidFill>
                <a:latin typeface="Arial"/>
                <a:ea typeface="Arial"/>
                <a:cs typeface="Arial"/>
                <a:sym typeface="Arial"/>
              </a:rPr>
              <a:t>) “Probability” is a function </a:t>
            </a:r>
            <a:r>
              <a:rPr b="0" i="1" lang="en" sz="1800" u="none" cap="none" strike="noStrike">
                <a:solidFill>
                  <a:srgbClr val="000000"/>
                </a:solidFill>
                <a:latin typeface="Arial"/>
                <a:ea typeface="Arial"/>
                <a:cs typeface="Arial"/>
                <a:sym typeface="Arial"/>
              </a:rPr>
              <a:t>P</a:t>
            </a:r>
            <a:r>
              <a:rPr b="0" i="0" lang="en" sz="1800" u="none" cap="none" strike="noStrike">
                <a:solidFill>
                  <a:srgbClr val="000000"/>
                </a:solidFill>
                <a:latin typeface="Arial"/>
                <a:ea typeface="Arial"/>
                <a:cs typeface="Arial"/>
                <a:sym typeface="Arial"/>
              </a:rPr>
              <a:t> that assigns to each event a real number between 0 and 1. The entire probability space (sample space, events and probability function) should satisfy two axioms, which will be specified soon.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Towards axioms for probability</a:t>
            </a:r>
            <a:endParaRPr/>
          </a:p>
        </p:txBody>
      </p:sp>
      <p:sp>
        <p:nvSpPr>
          <p:cNvPr id="174" name="Google Shape;174;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Probability function</a:t>
            </a:r>
            <a:endParaRPr/>
          </a:p>
          <a:p>
            <a:pPr indent="-317500" lvl="1" marL="914400" rtl="0" algn="l">
              <a:lnSpc>
                <a:spcPct val="115000"/>
              </a:lnSpc>
              <a:spcBef>
                <a:spcPts val="0"/>
              </a:spcBef>
              <a:spcAft>
                <a:spcPts val="0"/>
              </a:spcAft>
              <a:buSzPts val="1400"/>
              <a:buChar char="○"/>
            </a:pPr>
            <a:r>
              <a:rPr lang="en"/>
              <a:t>Assigns a value that represents chance of occurence of the event</a:t>
            </a:r>
            <a:endParaRPr/>
          </a:p>
          <a:p>
            <a:pPr indent="-317500" lvl="1" marL="914400" rtl="0" algn="l">
              <a:lnSpc>
                <a:spcPct val="115000"/>
              </a:lnSpc>
              <a:spcBef>
                <a:spcPts val="0"/>
              </a:spcBef>
              <a:spcAft>
                <a:spcPts val="0"/>
              </a:spcAft>
              <a:buSzPts val="1400"/>
              <a:buChar char="○"/>
            </a:pPr>
            <a:r>
              <a:rPr lang="en"/>
              <a:t>Axioms will place conditions on the probability function</a:t>
            </a:r>
            <a:endParaRPr/>
          </a:p>
          <a:p>
            <a:pPr indent="-342900" lvl="0" marL="457200" rtl="0" algn="l">
              <a:lnSpc>
                <a:spcPct val="115000"/>
              </a:lnSpc>
              <a:spcBef>
                <a:spcPts val="0"/>
              </a:spcBef>
              <a:spcAft>
                <a:spcPts val="0"/>
              </a:spcAft>
              <a:buSzPts val="1800"/>
              <a:buChar char="●"/>
            </a:pPr>
            <a:r>
              <a:rPr lang="en"/>
              <a:t>The axioms should be intuitive with respect to combination of events and relationships between events </a:t>
            </a:r>
            <a:endParaRPr/>
          </a:p>
          <a:p>
            <a:pPr indent="-317500" lvl="1" marL="914400" rtl="0" algn="l">
              <a:lnSpc>
                <a:spcPct val="115000"/>
              </a:lnSpc>
              <a:spcBef>
                <a:spcPts val="0"/>
              </a:spcBef>
              <a:spcAft>
                <a:spcPts val="0"/>
              </a:spcAft>
              <a:buSzPts val="1400"/>
              <a:buChar char="○"/>
            </a:pPr>
            <a:r>
              <a:rPr lang="en"/>
              <a:t>For instance, if A is a subset of B, P(B) should be higher than P(A)?</a:t>
            </a:r>
            <a:endParaRPr/>
          </a:p>
          <a:p>
            <a:pPr indent="-317500" lvl="1" marL="914400" rtl="0" algn="l">
              <a:lnSpc>
                <a:spcPct val="115000"/>
              </a:lnSpc>
              <a:spcBef>
                <a:spcPts val="0"/>
              </a:spcBef>
              <a:spcAft>
                <a:spcPts val="0"/>
              </a:spcAft>
              <a:buSzPts val="1400"/>
              <a:buChar char="○"/>
            </a:pPr>
            <a:r>
              <a:rPr lang="en"/>
              <a:t>Given P(A) and P(B), what can one say about P(A ∪ B)?</a:t>
            </a:r>
            <a:endParaRPr/>
          </a:p>
          <a:p>
            <a:pPr indent="-342900" lvl="0" marL="457200" rtl="0" algn="l">
              <a:lnSpc>
                <a:spcPct val="115000"/>
              </a:lnSpc>
              <a:spcBef>
                <a:spcPts val="0"/>
              </a:spcBef>
              <a:spcAft>
                <a:spcPts val="0"/>
              </a:spcAft>
              <a:buSzPts val="1800"/>
              <a:buChar char="●"/>
            </a:pPr>
            <a:r>
              <a:rPr lang="en"/>
              <a:t>A few basic scenarios</a:t>
            </a:r>
            <a:endParaRPr/>
          </a:p>
          <a:p>
            <a:pPr indent="-317500" lvl="1" marL="914400" rtl="0" algn="l">
              <a:lnSpc>
                <a:spcPct val="115000"/>
              </a:lnSpc>
              <a:spcBef>
                <a:spcPts val="0"/>
              </a:spcBef>
              <a:spcAft>
                <a:spcPts val="0"/>
              </a:spcAft>
              <a:buSzPts val="1400"/>
              <a:buChar char="○"/>
            </a:pPr>
            <a:r>
              <a:rPr lang="en"/>
              <a:t>P(empty set) = ?</a:t>
            </a:r>
            <a:endParaRPr/>
          </a:p>
          <a:p>
            <a:pPr indent="-317500" lvl="1" marL="914400" rtl="0" algn="l">
              <a:lnSpc>
                <a:spcPct val="115000"/>
              </a:lnSpc>
              <a:spcBef>
                <a:spcPts val="0"/>
              </a:spcBef>
              <a:spcAft>
                <a:spcPts val="0"/>
              </a:spcAft>
              <a:buSzPts val="1400"/>
              <a:buChar char="○"/>
            </a:pPr>
            <a:r>
              <a:rPr lang="en"/>
              <a:t>P( </a:t>
            </a:r>
            <a:r>
              <a:rPr i="1" lang="en"/>
              <a:t>S</a:t>
            </a:r>
            <a:r>
              <a:rPr lang="en"/>
              <a:t> ) = ?</a:t>
            </a:r>
            <a:endParaRPr/>
          </a:p>
          <a:p>
            <a:pPr indent="-317500" lvl="1" marL="914400" rtl="0" algn="l">
              <a:lnSpc>
                <a:spcPct val="115000"/>
              </a:lnSpc>
              <a:spcBef>
                <a:spcPts val="0"/>
              </a:spcBef>
              <a:spcAft>
                <a:spcPts val="0"/>
              </a:spcAft>
              <a:buSzPts val="1400"/>
              <a:buChar char="○"/>
            </a:pPr>
            <a:r>
              <a:rPr lang="en"/>
              <a:t>If A and B are disjoint, are there constraints on P(A), P(B)?</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Probability space axioms</a:t>
            </a:r>
            <a:endParaRPr/>
          </a:p>
        </p:txBody>
      </p:sp>
      <p:sp>
        <p:nvSpPr>
          <p:cNvPr id="180" name="Google Shape;180;p17"/>
          <p:cNvSpPr txBox="1"/>
          <p:nvPr>
            <p:ph idx="1" type="body"/>
          </p:nvPr>
        </p:nvSpPr>
        <p:spPr>
          <a:xfrm>
            <a:off x="311700" y="3828475"/>
            <a:ext cx="8520600" cy="10437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Axioms are intuitive and restrict the functions that can be probability functions</a:t>
            </a:r>
            <a:endParaRPr/>
          </a:p>
          <a:p>
            <a:pPr indent="-342900" lvl="0" marL="457200" rtl="0" algn="l">
              <a:lnSpc>
                <a:spcPct val="115000"/>
              </a:lnSpc>
              <a:spcBef>
                <a:spcPts val="0"/>
              </a:spcBef>
              <a:spcAft>
                <a:spcPts val="0"/>
              </a:spcAft>
              <a:buSzPts val="1800"/>
              <a:buChar char="●"/>
            </a:pPr>
            <a:r>
              <a:rPr lang="en"/>
              <a:t>They result in several intuitive deductions on probabilities of combination of events, probabilities of subsets of events etc. </a:t>
            </a:r>
            <a:endParaRPr/>
          </a:p>
        </p:txBody>
      </p:sp>
      <p:sp>
        <p:nvSpPr>
          <p:cNvPr id="181" name="Google Shape;181;p17"/>
          <p:cNvSpPr txBox="1"/>
          <p:nvPr/>
        </p:nvSpPr>
        <p:spPr>
          <a:xfrm>
            <a:off x="323275" y="1096825"/>
            <a:ext cx="8508900" cy="27315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980000"/>
                </a:solidFill>
                <a:latin typeface="Arial"/>
                <a:ea typeface="Arial"/>
                <a:cs typeface="Arial"/>
                <a:sym typeface="Arial"/>
              </a:rPr>
              <a:t>DEFINITION</a:t>
            </a:r>
            <a:r>
              <a:rPr b="0" i="0" lang="en" sz="1800" u="none" cap="none" strike="noStrike">
                <a:solidFill>
                  <a:srgbClr val="000000"/>
                </a:solidFill>
                <a:latin typeface="Arial"/>
                <a:ea typeface="Arial"/>
                <a:cs typeface="Arial"/>
                <a:sym typeface="Arial"/>
              </a:rPr>
              <a:t> (</a:t>
            </a:r>
            <a:r>
              <a:rPr b="1" i="0" lang="en" sz="1800" u="none" cap="none" strike="noStrike">
                <a:solidFill>
                  <a:srgbClr val="000000"/>
                </a:solidFill>
                <a:latin typeface="Arial"/>
                <a:ea typeface="Arial"/>
                <a:cs typeface="Arial"/>
                <a:sym typeface="Arial"/>
              </a:rPr>
              <a:t>Probability</a:t>
            </a:r>
            <a:r>
              <a:rPr b="0" i="0" lang="en" sz="1800" u="none" cap="none" strike="noStrike">
                <a:solidFill>
                  <a:srgbClr val="000000"/>
                </a:solidFill>
                <a:latin typeface="Arial"/>
                <a:ea typeface="Arial"/>
                <a:cs typeface="Arial"/>
                <a:sym typeface="Arial"/>
              </a:rPr>
              <a:t>) “Probability” is a function </a:t>
            </a:r>
            <a:r>
              <a:rPr b="0" i="1" lang="en" sz="1800" u="none" cap="none" strike="noStrike">
                <a:solidFill>
                  <a:srgbClr val="000000"/>
                </a:solidFill>
                <a:latin typeface="Arial"/>
                <a:ea typeface="Arial"/>
                <a:cs typeface="Arial"/>
                <a:sym typeface="Arial"/>
              </a:rPr>
              <a:t>P</a:t>
            </a:r>
            <a:r>
              <a:rPr b="0" i="0" lang="en" sz="1800" u="none" cap="none" strike="noStrike">
                <a:solidFill>
                  <a:srgbClr val="000000"/>
                </a:solidFill>
                <a:latin typeface="Arial"/>
                <a:ea typeface="Arial"/>
                <a:cs typeface="Arial"/>
                <a:sym typeface="Arial"/>
              </a:rPr>
              <a:t> that assigns to each event a real number between 0 and 1 and satisfies the following two axioms: </a:t>
            </a:r>
            <a:br>
              <a:rPr b="0" i="0" lang="en" sz="1800" u="none" cap="none" strike="noStrike">
                <a:solidFill>
                  <a:srgbClr val="000000"/>
                </a:solidFill>
                <a:latin typeface="Arial"/>
                <a:ea typeface="Arial"/>
                <a:cs typeface="Arial"/>
                <a:sym typeface="Arial"/>
              </a:rPr>
            </a:b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000000"/>
              </a:buClr>
              <a:buSzPts val="1800"/>
              <a:buFont typeface="Arial"/>
              <a:buAutoNum type="arabicPeriod"/>
            </a:pPr>
            <a:r>
              <a:rPr b="0" i="0" lang="en" sz="1800" u="none" cap="none" strike="noStrike">
                <a:solidFill>
                  <a:srgbClr val="000000"/>
                </a:solidFill>
                <a:latin typeface="Arial"/>
                <a:ea typeface="Arial"/>
                <a:cs typeface="Arial"/>
                <a:sym typeface="Arial"/>
              </a:rPr>
              <a:t>P(</a:t>
            </a:r>
            <a:r>
              <a:rPr b="0" i="1" lang="en" sz="1800" u="none" cap="none" strike="noStrike">
                <a:solidFill>
                  <a:srgbClr val="000000"/>
                </a:solidFill>
                <a:latin typeface="Arial"/>
                <a:ea typeface="Arial"/>
                <a:cs typeface="Arial"/>
                <a:sym typeface="Arial"/>
              </a:rPr>
              <a:t> S </a:t>
            </a:r>
            <a:r>
              <a:rPr b="0" i="0" lang="en" sz="1800" u="none" cap="none" strike="noStrike">
                <a:solidFill>
                  <a:srgbClr val="000000"/>
                </a:solidFill>
                <a:latin typeface="Arial"/>
                <a:ea typeface="Arial"/>
                <a:cs typeface="Arial"/>
                <a:sym typeface="Arial"/>
              </a:rPr>
              <a:t>) = 1 (probability of the entire sample space equals 1)</a:t>
            </a:r>
            <a:br>
              <a:rPr b="0" i="0" lang="en" sz="1800" u="none" cap="none" strike="noStrike">
                <a:solidFill>
                  <a:srgbClr val="000000"/>
                </a:solidFill>
                <a:latin typeface="Arial"/>
                <a:ea typeface="Arial"/>
                <a:cs typeface="Arial"/>
                <a:sym typeface="Arial"/>
              </a:rPr>
            </a:b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000000"/>
              </a:buClr>
              <a:buSzPts val="1800"/>
              <a:buFont typeface="Arial"/>
              <a:buAutoNum type="arabicPeriod"/>
            </a:pPr>
            <a:r>
              <a:rPr b="0" i="0" lang="en" sz="1800" u="none" cap="none" strike="noStrike">
                <a:solidFill>
                  <a:srgbClr val="000000"/>
                </a:solidFill>
                <a:latin typeface="Arial"/>
                <a:ea typeface="Arial"/>
                <a:cs typeface="Arial"/>
                <a:sym typeface="Arial"/>
              </a:rPr>
              <a:t>If E</a:t>
            </a:r>
            <a:r>
              <a:rPr b="0" baseline="-25000" i="0" lang="en" sz="1800" u="none" cap="none" strike="noStrike">
                <a:solidFill>
                  <a:srgbClr val="000000"/>
                </a:solidFill>
                <a:latin typeface="Arial"/>
                <a:ea typeface="Arial"/>
                <a:cs typeface="Arial"/>
                <a:sym typeface="Arial"/>
              </a:rPr>
              <a:t>1</a:t>
            </a:r>
            <a:r>
              <a:rPr b="0" i="0" lang="en" sz="1800" u="none" cap="none" strike="noStrike">
                <a:solidFill>
                  <a:srgbClr val="000000"/>
                </a:solidFill>
                <a:latin typeface="Arial"/>
                <a:ea typeface="Arial"/>
                <a:cs typeface="Arial"/>
                <a:sym typeface="Arial"/>
              </a:rPr>
              <a:t>, E</a:t>
            </a:r>
            <a:r>
              <a:rPr b="0" baseline="-25000" i="0" lang="en" sz="1800" u="none" cap="none" strike="noStrike">
                <a:solidFill>
                  <a:srgbClr val="000000"/>
                </a:solidFill>
                <a:latin typeface="Arial"/>
                <a:ea typeface="Arial"/>
                <a:cs typeface="Arial"/>
                <a:sym typeface="Arial"/>
              </a:rPr>
              <a:t>2</a:t>
            </a:r>
            <a:r>
              <a:rPr b="0" i="0" lang="en" sz="1800" u="none" cap="none" strike="noStrike">
                <a:solidFill>
                  <a:srgbClr val="000000"/>
                </a:solidFill>
                <a:latin typeface="Arial"/>
                <a:ea typeface="Arial"/>
                <a:cs typeface="Arial"/>
                <a:sym typeface="Arial"/>
              </a:rPr>
              <a:t>, E</a:t>
            </a:r>
            <a:r>
              <a:rPr b="0" baseline="-25000" i="0" lang="en" sz="1800" u="none" cap="none" strike="noStrike">
                <a:solidFill>
                  <a:srgbClr val="000000"/>
                </a:solidFill>
                <a:latin typeface="Arial"/>
                <a:ea typeface="Arial"/>
                <a:cs typeface="Arial"/>
                <a:sym typeface="Arial"/>
              </a:rPr>
              <a:t>3</a:t>
            </a:r>
            <a:r>
              <a:rPr b="0" i="0" lang="en" sz="1800" u="none" cap="none" strike="noStrike">
                <a:solidFill>
                  <a:srgbClr val="000000"/>
                </a:solidFill>
                <a:latin typeface="Arial"/>
                <a:ea typeface="Arial"/>
                <a:cs typeface="Arial"/>
                <a:sym typeface="Arial"/>
              </a:rPr>
              <a:t>, ... are disjoint events (how many events? Could be infinitely many),</a:t>
            </a:r>
            <a:br>
              <a:rPr b="0" i="0" lang="en" sz="1800" u="none" cap="none" strike="noStrike">
                <a:solidFill>
                  <a:srgbClr val="000000"/>
                </a:solidFill>
                <a:latin typeface="Arial"/>
                <a:ea typeface="Arial"/>
                <a:cs typeface="Arial"/>
                <a:sym typeface="Arial"/>
              </a:rPr>
            </a:br>
            <a:r>
              <a:rPr b="0" i="0" lang="en" sz="1800" u="none" cap="none" strike="noStrike">
                <a:solidFill>
                  <a:srgbClr val="000000"/>
                </a:solidFill>
                <a:latin typeface="Arial"/>
                <a:ea typeface="Arial"/>
                <a:cs typeface="Arial"/>
                <a:sym typeface="Arial"/>
              </a:rPr>
              <a:t>		</a:t>
            </a:r>
            <a:br>
              <a:rPr b="0" i="0" lang="en" sz="1800" u="none" cap="none" strike="noStrike">
                <a:solidFill>
                  <a:srgbClr val="000000"/>
                </a:solidFill>
                <a:latin typeface="Arial"/>
                <a:ea typeface="Arial"/>
                <a:cs typeface="Arial"/>
                <a:sym typeface="Arial"/>
              </a:rPr>
            </a:br>
            <a:r>
              <a:rPr b="0" i="0" lang="en" sz="1800" u="none" cap="none" strike="noStrike">
                <a:solidFill>
                  <a:srgbClr val="000000"/>
                </a:solidFill>
                <a:latin typeface="Arial"/>
                <a:ea typeface="Arial"/>
                <a:cs typeface="Arial"/>
                <a:sym typeface="Arial"/>
              </a:rPr>
              <a:t>			P(E</a:t>
            </a:r>
            <a:r>
              <a:rPr b="0" baseline="-25000" i="0" lang="en" sz="1800" u="none" cap="none" strike="noStrike">
                <a:solidFill>
                  <a:srgbClr val="000000"/>
                </a:solidFill>
                <a:latin typeface="Arial"/>
                <a:ea typeface="Arial"/>
                <a:cs typeface="Arial"/>
                <a:sym typeface="Arial"/>
              </a:rPr>
              <a:t>1</a:t>
            </a:r>
            <a:r>
              <a:rPr b="0" i="0" lang="en" sz="1800" u="none" cap="none" strike="noStrike">
                <a:solidFill>
                  <a:srgbClr val="000000"/>
                </a:solidFill>
                <a:latin typeface="Arial"/>
                <a:ea typeface="Arial"/>
                <a:cs typeface="Arial"/>
                <a:sym typeface="Arial"/>
              </a:rPr>
              <a:t>∪ E</a:t>
            </a:r>
            <a:r>
              <a:rPr b="0" baseline="-25000" i="0" lang="en" sz="1800" u="none" cap="none" strike="noStrike">
                <a:solidFill>
                  <a:srgbClr val="000000"/>
                </a:solidFill>
                <a:latin typeface="Arial"/>
                <a:ea typeface="Arial"/>
                <a:cs typeface="Arial"/>
                <a:sym typeface="Arial"/>
              </a:rPr>
              <a:t>2</a:t>
            </a:r>
            <a:r>
              <a:rPr b="0" i="0" lang="en" sz="1800" u="none" cap="none" strike="noStrike">
                <a:solidFill>
                  <a:srgbClr val="000000"/>
                </a:solidFill>
                <a:latin typeface="Arial"/>
                <a:ea typeface="Arial"/>
                <a:cs typeface="Arial"/>
                <a:sym typeface="Arial"/>
              </a:rPr>
              <a:t> ∪ E</a:t>
            </a:r>
            <a:r>
              <a:rPr b="0" baseline="-25000" i="0" lang="en" sz="1800" u="none" cap="none" strike="noStrike">
                <a:solidFill>
                  <a:srgbClr val="000000"/>
                </a:solidFill>
                <a:latin typeface="Arial"/>
                <a:ea typeface="Arial"/>
                <a:cs typeface="Arial"/>
                <a:sym typeface="Arial"/>
              </a:rPr>
              <a:t>3</a:t>
            </a:r>
            <a:r>
              <a:rPr b="0" i="0" lang="en" sz="1800" u="none" cap="none" strike="noStrike">
                <a:solidFill>
                  <a:srgbClr val="000000"/>
                </a:solidFill>
                <a:latin typeface="Arial"/>
                <a:ea typeface="Arial"/>
                <a:cs typeface="Arial"/>
                <a:sym typeface="Arial"/>
              </a:rPr>
              <a:t> ∪ …) = P(E</a:t>
            </a:r>
            <a:r>
              <a:rPr b="0" baseline="-25000" i="0" lang="en" sz="1800" u="none" cap="none" strike="noStrike">
                <a:solidFill>
                  <a:srgbClr val="000000"/>
                </a:solidFill>
                <a:latin typeface="Arial"/>
                <a:ea typeface="Arial"/>
                <a:cs typeface="Arial"/>
                <a:sym typeface="Arial"/>
              </a:rPr>
              <a:t>1</a:t>
            </a:r>
            <a:r>
              <a:rPr b="0" i="0" lang="en" sz="1800" u="none" cap="none" strike="noStrike">
                <a:solidFill>
                  <a:srgbClr val="000000"/>
                </a:solidFill>
                <a:latin typeface="Arial"/>
                <a:ea typeface="Arial"/>
                <a:cs typeface="Arial"/>
                <a:sym typeface="Arial"/>
              </a:rPr>
              <a:t>) + P(E</a:t>
            </a:r>
            <a:r>
              <a:rPr b="0" baseline="-25000" i="0" lang="en" sz="1800" u="none" cap="none" strike="noStrike">
                <a:solidFill>
                  <a:srgbClr val="000000"/>
                </a:solidFill>
                <a:latin typeface="Arial"/>
                <a:ea typeface="Arial"/>
                <a:cs typeface="Arial"/>
                <a:sym typeface="Arial"/>
              </a:rPr>
              <a:t>2</a:t>
            </a:r>
            <a:r>
              <a:rPr b="0" i="0" lang="en" sz="1800" u="none" cap="none" strike="noStrike">
                <a:solidFill>
                  <a:srgbClr val="000000"/>
                </a:solidFill>
                <a:latin typeface="Arial"/>
                <a:ea typeface="Arial"/>
                <a:cs typeface="Arial"/>
                <a:sym typeface="Arial"/>
              </a:rPr>
              <a:t>) + P(E</a:t>
            </a:r>
            <a:r>
              <a:rPr b="0" baseline="-25000" i="0" lang="en" sz="1800" u="none" cap="none" strike="noStrike">
                <a:solidFill>
                  <a:srgbClr val="000000"/>
                </a:solidFill>
                <a:latin typeface="Arial"/>
                <a:ea typeface="Arial"/>
                <a:cs typeface="Arial"/>
                <a:sym typeface="Arial"/>
              </a:rPr>
              <a:t>3</a:t>
            </a:r>
            <a:r>
              <a:rPr b="0" i="0" lang="en" sz="1800" u="none" cap="none" strike="noStrike">
                <a:solidFill>
                  <a:srgbClr val="000000"/>
                </a:solidFill>
                <a:latin typeface="Arial"/>
                <a:ea typeface="Arial"/>
                <a:cs typeface="Arial"/>
                <a:sym typeface="Arial"/>
              </a:rPr>
              <a:t>) +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Examples</a:t>
            </a:r>
            <a:endParaRPr/>
          </a:p>
        </p:txBody>
      </p:sp>
      <p:sp>
        <p:nvSpPr>
          <p:cNvPr id="187" name="Google Shape;187;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Toss a coin: </a:t>
            </a:r>
            <a:r>
              <a:rPr i="1" lang="en"/>
              <a:t>S </a:t>
            </a:r>
            <a:r>
              <a:rPr lang="en"/>
              <a:t>= { H, T }</a:t>
            </a:r>
            <a:endParaRPr/>
          </a:p>
          <a:p>
            <a:pPr indent="-317500" lvl="1" marL="914400" rtl="0" algn="l">
              <a:lnSpc>
                <a:spcPct val="115000"/>
              </a:lnSpc>
              <a:spcBef>
                <a:spcPts val="0"/>
              </a:spcBef>
              <a:spcAft>
                <a:spcPts val="0"/>
              </a:spcAft>
              <a:buSzPts val="1400"/>
              <a:buChar char="○"/>
            </a:pPr>
            <a:r>
              <a:rPr lang="en"/>
              <a:t>Valid as per axioms: P(empty) = 0, P({H}) = 0.5, P({T}) = 0.5, P({H,T}) = 1</a:t>
            </a:r>
            <a:endParaRPr/>
          </a:p>
          <a:p>
            <a:pPr indent="-317500" lvl="1" marL="914400" rtl="0" algn="l">
              <a:lnSpc>
                <a:spcPct val="115000"/>
              </a:lnSpc>
              <a:spcBef>
                <a:spcPts val="0"/>
              </a:spcBef>
              <a:spcAft>
                <a:spcPts val="0"/>
              </a:spcAft>
              <a:buSzPts val="1400"/>
              <a:buChar char="○"/>
            </a:pPr>
            <a:r>
              <a:rPr lang="en"/>
              <a:t>Valid as per axioms: P(empty) = 0, P({H}) = </a:t>
            </a:r>
            <a:r>
              <a:rPr i="1" lang="en"/>
              <a:t>p</a:t>
            </a:r>
            <a:r>
              <a:rPr lang="en"/>
              <a:t>, P({T}) = 1 - </a:t>
            </a:r>
            <a:r>
              <a:rPr i="1" lang="en"/>
              <a:t>p</a:t>
            </a:r>
            <a:r>
              <a:rPr lang="en"/>
              <a:t>, P({H,T}) = 1 (0 ≤ </a:t>
            </a:r>
            <a:r>
              <a:rPr i="1" lang="en"/>
              <a:t>p</a:t>
            </a:r>
            <a:r>
              <a:rPr lang="en"/>
              <a:t> ≤ 1)</a:t>
            </a:r>
            <a:endParaRPr/>
          </a:p>
          <a:p>
            <a:pPr indent="-317500" lvl="1" marL="914400" rtl="0" algn="l">
              <a:lnSpc>
                <a:spcPct val="115000"/>
              </a:lnSpc>
              <a:spcBef>
                <a:spcPts val="0"/>
              </a:spcBef>
              <a:spcAft>
                <a:spcPts val="0"/>
              </a:spcAft>
              <a:buSzPts val="1400"/>
              <a:buChar char="○"/>
            </a:pPr>
            <a:r>
              <a:rPr lang="en"/>
              <a:t>Invalid: P(empty) = 0, P({H}) = 0.5, P({T}) = 0.6, P({H,T}) = 1 (why?)</a:t>
            </a:r>
            <a:endParaRPr/>
          </a:p>
          <a:p>
            <a:pPr indent="-342900" lvl="0" marL="457200" rtl="0" algn="l">
              <a:lnSpc>
                <a:spcPct val="115000"/>
              </a:lnSpc>
              <a:spcBef>
                <a:spcPts val="0"/>
              </a:spcBef>
              <a:spcAft>
                <a:spcPts val="0"/>
              </a:spcAft>
              <a:buSzPts val="1800"/>
              <a:buChar char="●"/>
            </a:pPr>
            <a:r>
              <a:rPr lang="en"/>
              <a:t>Throw a die: </a:t>
            </a:r>
            <a:r>
              <a:rPr i="1" lang="en"/>
              <a:t>S</a:t>
            </a:r>
            <a:r>
              <a:rPr lang="en"/>
              <a:t> = { 1, 2, 3, 4, 5, 6 }</a:t>
            </a:r>
            <a:endParaRPr/>
          </a:p>
          <a:p>
            <a:pPr indent="-317500" lvl="1" marL="914400" rtl="0" algn="l">
              <a:lnSpc>
                <a:spcPct val="115000"/>
              </a:lnSpc>
              <a:spcBef>
                <a:spcPts val="0"/>
              </a:spcBef>
              <a:spcAft>
                <a:spcPts val="0"/>
              </a:spcAft>
              <a:buSzPts val="1400"/>
              <a:buChar char="○"/>
            </a:pPr>
            <a:r>
              <a:rPr lang="en"/>
              <a:t>There are 64 events. How to specify the probability function?</a:t>
            </a:r>
            <a:endParaRPr/>
          </a:p>
          <a:p>
            <a:pPr indent="-317500" lvl="1" marL="914400" rtl="0" algn="l">
              <a:lnSpc>
                <a:spcPct val="115000"/>
              </a:lnSpc>
              <a:spcBef>
                <a:spcPts val="0"/>
              </a:spcBef>
              <a:spcAft>
                <a:spcPts val="0"/>
              </a:spcAft>
              <a:buSzPts val="1400"/>
              <a:buChar char="○"/>
            </a:pPr>
            <a:r>
              <a:rPr lang="en"/>
              <a:t>How to ensure that the axioms are satisfied?</a:t>
            </a:r>
            <a:endParaRPr/>
          </a:p>
          <a:p>
            <a:pPr indent="-317500" lvl="1" marL="914400" rtl="0" algn="l">
              <a:lnSpc>
                <a:spcPct val="115000"/>
              </a:lnSpc>
              <a:spcBef>
                <a:spcPts val="0"/>
              </a:spcBef>
              <a:spcAft>
                <a:spcPts val="0"/>
              </a:spcAft>
              <a:buSzPts val="1400"/>
              <a:buChar char="○"/>
            </a:pPr>
            <a:r>
              <a:rPr lang="en"/>
              <a:t>How will valid probability functions look?</a:t>
            </a:r>
            <a:endParaRPr/>
          </a:p>
          <a:p>
            <a:pPr indent="-342900" lvl="0" marL="457200" rtl="0" algn="l">
              <a:lnSpc>
                <a:spcPct val="115000"/>
              </a:lnSpc>
              <a:spcBef>
                <a:spcPts val="0"/>
              </a:spcBef>
              <a:spcAft>
                <a:spcPts val="0"/>
              </a:spcAft>
              <a:buSzPts val="1800"/>
              <a:buChar char="●"/>
            </a:pPr>
            <a:r>
              <a:rPr lang="en"/>
              <a:t>We will answer the above questions for several types of sample spaces in the ensuing lectures</a:t>
            </a:r>
            <a:endParaRPr/>
          </a:p>
          <a:p>
            <a:pPr indent="-317500" lvl="1" marL="914400" rtl="0" algn="l">
              <a:lnSpc>
                <a:spcPct val="115000"/>
              </a:lnSpc>
              <a:spcBef>
                <a:spcPts val="0"/>
              </a:spcBef>
              <a:spcAft>
                <a:spcPts val="0"/>
              </a:spcAft>
              <a:buSzPts val="1400"/>
              <a:buChar char="○"/>
            </a:pPr>
            <a:r>
              <a:rPr lang="en"/>
              <a:t>Only the axioms will be used as assumptions</a:t>
            </a:r>
            <a:endParaRPr/>
          </a:p>
          <a:p>
            <a:pPr indent="-317500" lvl="1" marL="914400" rtl="0" algn="l">
              <a:lnSpc>
                <a:spcPct val="115000"/>
              </a:lnSpc>
              <a:spcBef>
                <a:spcPts val="0"/>
              </a:spcBef>
              <a:spcAft>
                <a:spcPts val="0"/>
              </a:spcAft>
              <a:buSzPts val="1400"/>
              <a:buChar char="○"/>
            </a:pPr>
            <a:r>
              <a:rPr lang="en"/>
              <a:t>Everything else can be deduced from them!</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9"/>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a:t>Basic properties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Recap</a:t>
            </a:r>
            <a:endParaRPr/>
          </a:p>
        </p:txBody>
      </p:sp>
      <p:sp>
        <p:nvSpPr>
          <p:cNvPr id="198" name="Google Shape;198;p20"/>
          <p:cNvSpPr txBox="1"/>
          <p:nvPr>
            <p:ph idx="1" type="body"/>
          </p:nvPr>
        </p:nvSpPr>
        <p:spPr>
          <a:xfrm>
            <a:off x="311700" y="1152475"/>
            <a:ext cx="8520600" cy="36837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Physical setting</a:t>
            </a:r>
            <a:endParaRPr/>
          </a:p>
          <a:p>
            <a:pPr indent="-317500" lvl="1" marL="914400" rtl="0" algn="l">
              <a:lnSpc>
                <a:spcPct val="115000"/>
              </a:lnSpc>
              <a:spcBef>
                <a:spcPts val="0"/>
              </a:spcBef>
              <a:spcAft>
                <a:spcPts val="0"/>
              </a:spcAft>
              <a:buSzPts val="1400"/>
              <a:buChar char="○"/>
            </a:pPr>
            <a:r>
              <a:rPr lang="en"/>
              <a:t>Experiment -  Process to be studied statistically</a:t>
            </a:r>
            <a:endParaRPr/>
          </a:p>
          <a:p>
            <a:pPr indent="-317500" lvl="1" marL="914400" rtl="0" algn="l">
              <a:lnSpc>
                <a:spcPct val="115000"/>
              </a:lnSpc>
              <a:spcBef>
                <a:spcPts val="0"/>
              </a:spcBef>
              <a:spcAft>
                <a:spcPts val="0"/>
              </a:spcAft>
              <a:buSzPts val="1400"/>
              <a:buChar char="○"/>
            </a:pPr>
            <a:r>
              <a:rPr lang="en"/>
              <a:t>Outcome - result of experiment</a:t>
            </a:r>
            <a:endParaRPr/>
          </a:p>
          <a:p>
            <a:pPr indent="-342900" lvl="0" marL="457200" rtl="0" algn="l">
              <a:lnSpc>
                <a:spcPct val="115000"/>
              </a:lnSpc>
              <a:spcBef>
                <a:spcPts val="0"/>
              </a:spcBef>
              <a:spcAft>
                <a:spcPts val="0"/>
              </a:spcAft>
              <a:buSzPts val="1800"/>
              <a:buChar char="●"/>
            </a:pPr>
            <a:r>
              <a:rPr lang="en"/>
              <a:t>Probability space</a:t>
            </a:r>
            <a:endParaRPr/>
          </a:p>
          <a:p>
            <a:pPr indent="-317500" lvl="1" marL="914400" rtl="0" algn="l">
              <a:lnSpc>
                <a:spcPct val="115000"/>
              </a:lnSpc>
              <a:spcBef>
                <a:spcPts val="0"/>
              </a:spcBef>
              <a:spcAft>
                <a:spcPts val="0"/>
              </a:spcAft>
              <a:buSzPts val="1400"/>
              <a:buChar char="○"/>
            </a:pPr>
            <a:r>
              <a:rPr lang="en"/>
              <a:t>Sample space </a:t>
            </a:r>
            <a:r>
              <a:rPr i="1" lang="en"/>
              <a:t>S</a:t>
            </a:r>
            <a:r>
              <a:rPr lang="en"/>
              <a:t> - set of outcomes</a:t>
            </a:r>
            <a:endParaRPr/>
          </a:p>
          <a:p>
            <a:pPr indent="-317500" lvl="1" marL="914400" rtl="0" algn="l">
              <a:lnSpc>
                <a:spcPct val="115000"/>
              </a:lnSpc>
              <a:spcBef>
                <a:spcPts val="0"/>
              </a:spcBef>
              <a:spcAft>
                <a:spcPts val="0"/>
              </a:spcAft>
              <a:buSzPts val="1400"/>
              <a:buChar char="○"/>
            </a:pPr>
            <a:r>
              <a:rPr lang="en"/>
              <a:t>Events - subsets of sample space (technical condition)</a:t>
            </a:r>
            <a:endParaRPr/>
          </a:p>
          <a:p>
            <a:pPr indent="-317500" lvl="1" marL="914400" rtl="0" algn="l">
              <a:lnSpc>
                <a:spcPct val="115000"/>
              </a:lnSpc>
              <a:spcBef>
                <a:spcPts val="0"/>
              </a:spcBef>
              <a:spcAft>
                <a:spcPts val="0"/>
              </a:spcAft>
              <a:buSzPts val="1400"/>
              <a:buChar char="○"/>
            </a:pPr>
            <a:r>
              <a:rPr lang="en"/>
              <a:t>Probability P - function from events to the closed interval [0,1] </a:t>
            </a:r>
            <a:endParaRPr/>
          </a:p>
          <a:p>
            <a:pPr indent="-317500" lvl="1" marL="914400" rtl="0" algn="l">
              <a:lnSpc>
                <a:spcPct val="115000"/>
              </a:lnSpc>
              <a:spcBef>
                <a:spcPts val="0"/>
              </a:spcBef>
              <a:spcAft>
                <a:spcPts val="0"/>
              </a:spcAft>
              <a:buSzPts val="1400"/>
              <a:buChar char="○"/>
            </a:pPr>
            <a:r>
              <a:rPr lang="en"/>
              <a:t>Axioms</a:t>
            </a:r>
            <a:endParaRPr/>
          </a:p>
          <a:p>
            <a:pPr indent="-317500" lvl="2" marL="1371600" rtl="0" algn="l">
              <a:lnSpc>
                <a:spcPct val="115000"/>
              </a:lnSpc>
              <a:spcBef>
                <a:spcPts val="0"/>
              </a:spcBef>
              <a:spcAft>
                <a:spcPts val="0"/>
              </a:spcAft>
              <a:buSzPts val="1400"/>
              <a:buChar char="■"/>
            </a:pPr>
            <a:r>
              <a:rPr lang="en"/>
              <a:t>P(</a:t>
            </a:r>
            <a:r>
              <a:rPr i="1" lang="en"/>
              <a:t>S</a:t>
            </a:r>
            <a:r>
              <a:rPr lang="en"/>
              <a:t>) = 1</a:t>
            </a:r>
            <a:endParaRPr/>
          </a:p>
          <a:p>
            <a:pPr indent="-317500" lvl="2" marL="1371600" rtl="0" algn="l">
              <a:lnSpc>
                <a:spcPct val="115000"/>
              </a:lnSpc>
              <a:spcBef>
                <a:spcPts val="0"/>
              </a:spcBef>
              <a:spcAft>
                <a:spcPts val="0"/>
              </a:spcAft>
              <a:buSzPts val="1400"/>
              <a:buChar char="■"/>
            </a:pPr>
            <a:r>
              <a:rPr lang="en"/>
              <a:t>E</a:t>
            </a:r>
            <a:r>
              <a:rPr baseline="-25000" lang="en"/>
              <a:t>1</a:t>
            </a:r>
            <a:r>
              <a:rPr lang="en"/>
              <a:t>, E</a:t>
            </a:r>
            <a:r>
              <a:rPr baseline="-25000" lang="en"/>
              <a:t>2</a:t>
            </a:r>
            <a:r>
              <a:rPr lang="en"/>
              <a:t>, …. disjoint: P(E</a:t>
            </a:r>
            <a:r>
              <a:rPr baseline="-25000" lang="en"/>
              <a:t>1</a:t>
            </a:r>
            <a:r>
              <a:rPr lang="en"/>
              <a:t> ∪ E</a:t>
            </a:r>
            <a:r>
              <a:rPr baseline="-25000" lang="en"/>
              <a:t>2</a:t>
            </a:r>
            <a:r>
              <a:rPr lang="en"/>
              <a:t> ∪ … ) = P(E</a:t>
            </a:r>
            <a:r>
              <a:rPr baseline="-25000" lang="en"/>
              <a:t>1</a:t>
            </a:r>
            <a:r>
              <a:rPr lang="en"/>
              <a:t>) + P(E</a:t>
            </a:r>
            <a:r>
              <a:rPr baseline="-25000" lang="en"/>
              <a:t>2</a:t>
            </a:r>
            <a:r>
              <a:rPr lang="en"/>
              <a:t>) + …</a:t>
            </a:r>
            <a:endParaRPr/>
          </a:p>
          <a:p>
            <a:pPr indent="-342900" lvl="0" marL="457200" rtl="0" algn="l">
              <a:lnSpc>
                <a:spcPct val="115000"/>
              </a:lnSpc>
              <a:spcBef>
                <a:spcPts val="0"/>
              </a:spcBef>
              <a:spcAft>
                <a:spcPts val="0"/>
              </a:spcAft>
              <a:buSzPts val="1800"/>
              <a:buChar char="●"/>
            </a:pPr>
            <a:r>
              <a:rPr lang="en"/>
              <a:t>This lecture</a:t>
            </a:r>
            <a:endParaRPr/>
          </a:p>
          <a:p>
            <a:pPr indent="-317500" lvl="1" marL="914400" rtl="0" algn="l">
              <a:lnSpc>
                <a:spcPct val="115000"/>
              </a:lnSpc>
              <a:spcBef>
                <a:spcPts val="0"/>
              </a:spcBef>
              <a:spcAft>
                <a:spcPts val="0"/>
              </a:spcAft>
              <a:buSzPts val="1400"/>
              <a:buChar char="○"/>
            </a:pPr>
            <a:r>
              <a:rPr lang="en"/>
              <a:t>Basic properties of probability space</a:t>
            </a:r>
            <a:endParaRPr/>
          </a:p>
          <a:p>
            <a:pPr indent="-317500" lvl="1" marL="914400" rtl="0" algn="l">
              <a:lnSpc>
                <a:spcPct val="115000"/>
              </a:lnSpc>
              <a:spcBef>
                <a:spcPts val="0"/>
              </a:spcBef>
              <a:spcAft>
                <a:spcPts val="0"/>
              </a:spcAft>
              <a:buSzPts val="1400"/>
              <a:buChar char="○"/>
            </a:pPr>
            <a:r>
              <a:rPr lang="en"/>
              <a:t>These are critical for computing probabilities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Property 1: Empty set</a:t>
            </a:r>
            <a:endParaRPr/>
          </a:p>
        </p:txBody>
      </p:sp>
      <p:sp>
        <p:nvSpPr>
          <p:cNvPr id="204" name="Google Shape;204;p21"/>
          <p:cNvSpPr txBox="1"/>
          <p:nvPr>
            <p:ph idx="1" type="body"/>
          </p:nvPr>
        </p:nvSpPr>
        <p:spPr>
          <a:xfrm>
            <a:off x="311700" y="2219000"/>
            <a:ext cx="8520600" cy="23496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Proof</a:t>
            </a:r>
            <a:endParaRPr/>
          </a:p>
          <a:p>
            <a:pPr indent="-317500" lvl="1" marL="914400" rtl="0" algn="l">
              <a:lnSpc>
                <a:spcPct val="115000"/>
              </a:lnSpc>
              <a:spcBef>
                <a:spcPts val="0"/>
              </a:spcBef>
              <a:spcAft>
                <a:spcPts val="0"/>
              </a:spcAft>
              <a:buSzPts val="1400"/>
              <a:buChar char="○"/>
            </a:pPr>
            <a:r>
              <a:rPr lang="en"/>
              <a:t>Φ</a:t>
            </a:r>
            <a:r>
              <a:rPr baseline="30000" lang="en"/>
              <a:t>c</a:t>
            </a:r>
            <a:r>
              <a:rPr lang="en"/>
              <a:t> = </a:t>
            </a:r>
            <a:r>
              <a:rPr i="1" lang="en"/>
              <a:t>S</a:t>
            </a:r>
            <a:r>
              <a:rPr lang="en"/>
              <a:t> and Φ, </a:t>
            </a:r>
            <a:r>
              <a:rPr i="1" lang="en"/>
              <a:t>S</a:t>
            </a:r>
            <a:r>
              <a:rPr lang="en"/>
              <a:t> are disjoint and Φ ∪ </a:t>
            </a:r>
            <a:r>
              <a:rPr i="1" lang="en"/>
              <a:t>S</a:t>
            </a:r>
            <a:r>
              <a:rPr lang="en"/>
              <a:t> = </a:t>
            </a:r>
            <a:r>
              <a:rPr i="1" lang="en"/>
              <a:t>S</a:t>
            </a:r>
            <a:endParaRPr/>
          </a:p>
          <a:p>
            <a:pPr indent="-317500" lvl="1" marL="914400" rtl="0" algn="l">
              <a:lnSpc>
                <a:spcPct val="115000"/>
              </a:lnSpc>
              <a:spcBef>
                <a:spcPts val="0"/>
              </a:spcBef>
              <a:spcAft>
                <a:spcPts val="0"/>
              </a:spcAft>
              <a:buSzPts val="1400"/>
              <a:buChar char="○"/>
            </a:pPr>
            <a:r>
              <a:rPr lang="en"/>
              <a:t>By Axiom 2, P(Φ ∪ </a:t>
            </a:r>
            <a:r>
              <a:rPr i="1" lang="en"/>
              <a:t>S</a:t>
            </a:r>
            <a:r>
              <a:rPr lang="en"/>
              <a:t>) = P(Φ) + P(</a:t>
            </a:r>
            <a:r>
              <a:rPr i="1" lang="en"/>
              <a:t>S</a:t>
            </a:r>
            <a:r>
              <a:rPr lang="en"/>
              <a:t>) or P(</a:t>
            </a:r>
            <a:r>
              <a:rPr i="1" lang="en"/>
              <a:t>S</a:t>
            </a:r>
            <a:r>
              <a:rPr lang="en"/>
              <a:t>) = P(Φ) + P(</a:t>
            </a:r>
            <a:r>
              <a:rPr i="1" lang="en"/>
              <a:t>S</a:t>
            </a:r>
            <a:r>
              <a:rPr lang="en"/>
              <a:t>) or P(Φ) = 0</a:t>
            </a:r>
            <a:endParaRPr/>
          </a:p>
        </p:txBody>
      </p:sp>
      <p:sp>
        <p:nvSpPr>
          <p:cNvPr id="205" name="Google Shape;205;p21"/>
          <p:cNvSpPr txBox="1"/>
          <p:nvPr/>
        </p:nvSpPr>
        <p:spPr>
          <a:xfrm>
            <a:off x="1149325" y="1096825"/>
            <a:ext cx="6429300" cy="792000"/>
          </a:xfrm>
          <a:prstGeom prst="rect">
            <a:avLst/>
          </a:prstGeom>
          <a:noFill/>
          <a:ln cap="flat" cmpd="sng" w="38100">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Arial"/>
                <a:ea typeface="Arial"/>
                <a:cs typeface="Arial"/>
                <a:sym typeface="Arial"/>
              </a:rPr>
              <a:t>Probability of the empty set (denoted Φ) equals 0.</a:t>
            </a:r>
            <a:endParaRPr b="0" i="0" sz="180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Arial"/>
                <a:ea typeface="Arial"/>
                <a:cs typeface="Arial"/>
                <a:sym typeface="Arial"/>
              </a:rPr>
              <a:t>P(Φ) = 0</a:t>
            </a:r>
            <a:endParaRPr b="0" i="0" sz="1800" u="none" cap="none" strike="noStrike">
              <a:solidFill>
                <a:srgbClr val="FFFFFF"/>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Property 2: Complement</a:t>
            </a:r>
            <a:endParaRPr/>
          </a:p>
        </p:txBody>
      </p:sp>
      <p:sp>
        <p:nvSpPr>
          <p:cNvPr id="211" name="Google Shape;211;p22"/>
          <p:cNvSpPr txBox="1"/>
          <p:nvPr>
            <p:ph idx="1" type="body"/>
          </p:nvPr>
        </p:nvSpPr>
        <p:spPr>
          <a:xfrm>
            <a:off x="311700" y="2219000"/>
            <a:ext cx="6561600" cy="26742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Proof</a:t>
            </a:r>
            <a:endParaRPr/>
          </a:p>
          <a:p>
            <a:pPr indent="-317500" lvl="1" marL="914400" rtl="0" algn="l">
              <a:lnSpc>
                <a:spcPct val="115000"/>
              </a:lnSpc>
              <a:spcBef>
                <a:spcPts val="0"/>
              </a:spcBef>
              <a:spcAft>
                <a:spcPts val="0"/>
              </a:spcAft>
              <a:buSzPts val="1400"/>
              <a:buChar char="○"/>
            </a:pPr>
            <a:r>
              <a:rPr lang="en"/>
              <a:t>E and E</a:t>
            </a:r>
            <a:r>
              <a:rPr baseline="30000" lang="en"/>
              <a:t>c</a:t>
            </a:r>
            <a:r>
              <a:rPr lang="en"/>
              <a:t> are disjoint and E ∪ E</a:t>
            </a:r>
            <a:r>
              <a:rPr baseline="30000" lang="en"/>
              <a:t>c</a:t>
            </a:r>
            <a:r>
              <a:rPr lang="en"/>
              <a:t> = </a:t>
            </a:r>
            <a:r>
              <a:rPr i="1" lang="en"/>
              <a:t>S</a:t>
            </a:r>
            <a:endParaRPr i="1"/>
          </a:p>
          <a:p>
            <a:pPr indent="-317500" lvl="1" marL="914400" rtl="0" algn="l">
              <a:lnSpc>
                <a:spcPct val="115000"/>
              </a:lnSpc>
              <a:spcBef>
                <a:spcPts val="0"/>
              </a:spcBef>
              <a:spcAft>
                <a:spcPts val="0"/>
              </a:spcAft>
              <a:buSzPts val="1400"/>
              <a:buChar char="○"/>
            </a:pPr>
            <a:r>
              <a:rPr lang="en"/>
              <a:t>By Axiom 2, P(E ∪ E</a:t>
            </a:r>
            <a:r>
              <a:rPr baseline="30000" lang="en"/>
              <a:t>c</a:t>
            </a:r>
            <a:r>
              <a:rPr lang="en"/>
              <a:t>) = P(E) + P(E</a:t>
            </a:r>
            <a:r>
              <a:rPr baseline="30000" lang="en"/>
              <a:t>c</a:t>
            </a:r>
            <a:r>
              <a:rPr lang="en"/>
              <a:t>) or P(</a:t>
            </a:r>
            <a:r>
              <a:rPr i="1" lang="en"/>
              <a:t>S</a:t>
            </a:r>
            <a:r>
              <a:rPr lang="en"/>
              <a:t>) = P(E) + P(E</a:t>
            </a:r>
            <a:r>
              <a:rPr baseline="30000" lang="en"/>
              <a:t>c</a:t>
            </a:r>
            <a:r>
              <a:rPr lang="en"/>
              <a:t>)</a:t>
            </a:r>
            <a:endParaRPr/>
          </a:p>
          <a:p>
            <a:pPr indent="-317500" lvl="1" marL="914400" rtl="0" algn="l">
              <a:lnSpc>
                <a:spcPct val="115000"/>
              </a:lnSpc>
              <a:spcBef>
                <a:spcPts val="0"/>
              </a:spcBef>
              <a:spcAft>
                <a:spcPts val="0"/>
              </a:spcAft>
              <a:buSzPts val="1400"/>
              <a:buChar char="○"/>
            </a:pPr>
            <a:r>
              <a:rPr lang="en"/>
              <a:t>By Axiom 1, 1 = P(</a:t>
            </a:r>
            <a:r>
              <a:rPr i="1" lang="en"/>
              <a:t>S</a:t>
            </a:r>
            <a:r>
              <a:rPr lang="en"/>
              <a:t>) = P(E) + P(E</a:t>
            </a:r>
            <a:r>
              <a:rPr baseline="30000" lang="en"/>
              <a:t>c</a:t>
            </a:r>
            <a:r>
              <a:rPr lang="en"/>
              <a:t>)</a:t>
            </a:r>
            <a:endParaRPr/>
          </a:p>
          <a:p>
            <a:pPr indent="-317500" lvl="1" marL="914400" rtl="0" algn="l">
              <a:lnSpc>
                <a:spcPct val="115000"/>
              </a:lnSpc>
              <a:spcBef>
                <a:spcPts val="0"/>
              </a:spcBef>
              <a:spcAft>
                <a:spcPts val="0"/>
              </a:spcAft>
              <a:buSzPts val="1400"/>
              <a:buChar char="○"/>
            </a:pPr>
            <a:r>
              <a:rPr lang="en"/>
              <a:t>So, P(E</a:t>
            </a:r>
            <a:r>
              <a:rPr baseline="30000" lang="en"/>
              <a:t>c</a:t>
            </a:r>
            <a:r>
              <a:rPr lang="en"/>
              <a:t>) = 1 - P(E) </a:t>
            </a:r>
            <a:endParaRPr/>
          </a:p>
        </p:txBody>
      </p:sp>
      <p:sp>
        <p:nvSpPr>
          <p:cNvPr id="212" name="Google Shape;212;p22"/>
          <p:cNvSpPr txBox="1"/>
          <p:nvPr/>
        </p:nvSpPr>
        <p:spPr>
          <a:xfrm>
            <a:off x="1149325" y="1096825"/>
            <a:ext cx="6429300" cy="792000"/>
          </a:xfrm>
          <a:prstGeom prst="rect">
            <a:avLst/>
          </a:prstGeom>
          <a:noFill/>
          <a:ln cap="flat" cmpd="sng" w="38100">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Arial"/>
                <a:ea typeface="Arial"/>
                <a:cs typeface="Arial"/>
                <a:sym typeface="Arial"/>
              </a:rPr>
              <a:t>Let E</a:t>
            </a:r>
            <a:r>
              <a:rPr b="0" baseline="30000" i="0" lang="en" sz="1800" u="none" cap="none" strike="noStrike">
                <a:solidFill>
                  <a:srgbClr val="FFFFFF"/>
                </a:solidFill>
                <a:latin typeface="Arial"/>
                <a:ea typeface="Arial"/>
                <a:cs typeface="Arial"/>
                <a:sym typeface="Arial"/>
              </a:rPr>
              <a:t>c</a:t>
            </a:r>
            <a:r>
              <a:rPr b="0" i="0" lang="en" sz="1800" u="none" cap="none" strike="noStrike">
                <a:solidFill>
                  <a:srgbClr val="FFFFFF"/>
                </a:solidFill>
                <a:latin typeface="Arial"/>
                <a:ea typeface="Arial"/>
                <a:cs typeface="Arial"/>
                <a:sym typeface="Arial"/>
              </a:rPr>
              <a:t> be the complement of Event E. Then,</a:t>
            </a:r>
            <a:endParaRPr b="0" i="0" sz="180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Arial"/>
                <a:ea typeface="Arial"/>
                <a:cs typeface="Arial"/>
                <a:sym typeface="Arial"/>
              </a:rPr>
              <a:t>P(E</a:t>
            </a:r>
            <a:r>
              <a:rPr b="0" baseline="30000" i="0" lang="en" sz="1800" u="none" cap="none" strike="noStrike">
                <a:solidFill>
                  <a:srgbClr val="FFFFFF"/>
                </a:solidFill>
                <a:latin typeface="Arial"/>
                <a:ea typeface="Arial"/>
                <a:cs typeface="Arial"/>
                <a:sym typeface="Arial"/>
              </a:rPr>
              <a:t>c</a:t>
            </a:r>
            <a:r>
              <a:rPr b="0" i="0" lang="en" sz="1800" u="none" cap="none" strike="noStrike">
                <a:solidFill>
                  <a:srgbClr val="FFFFFF"/>
                </a:solidFill>
                <a:latin typeface="Arial"/>
                <a:ea typeface="Arial"/>
                <a:cs typeface="Arial"/>
                <a:sym typeface="Arial"/>
              </a:rPr>
              <a:t>) = 1 - P(E)</a:t>
            </a:r>
            <a:endParaRPr b="0" i="0" sz="1800" u="none" cap="none" strike="noStrike">
              <a:solidFill>
                <a:srgbClr val="FFFFFF"/>
              </a:solidFill>
              <a:latin typeface="Arial"/>
              <a:ea typeface="Arial"/>
              <a:cs typeface="Arial"/>
              <a:sym typeface="Arial"/>
            </a:endParaRPr>
          </a:p>
        </p:txBody>
      </p:sp>
      <p:sp>
        <p:nvSpPr>
          <p:cNvPr id="213" name="Google Shape;213;p22"/>
          <p:cNvSpPr/>
          <p:nvPr/>
        </p:nvSpPr>
        <p:spPr>
          <a:xfrm>
            <a:off x="7043875" y="2196225"/>
            <a:ext cx="1843500" cy="2526300"/>
          </a:xfrm>
          <a:prstGeom prst="ellipse">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22"/>
          <p:cNvSpPr/>
          <p:nvPr/>
        </p:nvSpPr>
        <p:spPr>
          <a:xfrm>
            <a:off x="7943725" y="3343075"/>
            <a:ext cx="541800" cy="696600"/>
          </a:xfrm>
          <a:prstGeom prst="ellipse">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E</a:t>
            </a:r>
            <a:endParaRPr b="0" i="0" sz="1400" u="none" cap="none" strike="noStrike">
              <a:solidFill>
                <a:srgbClr val="FFFFFF"/>
              </a:solidFill>
              <a:latin typeface="Arial"/>
              <a:ea typeface="Arial"/>
              <a:cs typeface="Arial"/>
              <a:sym typeface="Arial"/>
            </a:endParaRPr>
          </a:p>
        </p:txBody>
      </p:sp>
      <p:sp>
        <p:nvSpPr>
          <p:cNvPr id="215" name="Google Shape;215;p22"/>
          <p:cNvSpPr txBox="1"/>
          <p:nvPr/>
        </p:nvSpPr>
        <p:spPr>
          <a:xfrm>
            <a:off x="8329750" y="1957250"/>
            <a:ext cx="541800" cy="47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n" sz="1400" u="none" cap="none" strike="noStrike">
                <a:solidFill>
                  <a:srgbClr val="FFFFFF"/>
                </a:solidFill>
                <a:latin typeface="Arial"/>
                <a:ea typeface="Arial"/>
                <a:cs typeface="Arial"/>
                <a:sym typeface="Arial"/>
              </a:rPr>
              <a:t>S</a:t>
            </a:r>
            <a:endParaRPr b="0" i="1" sz="1400" u="none" cap="none" strike="noStrike">
              <a:solidFill>
                <a:srgbClr val="FFFFFF"/>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Property 3: Subset</a:t>
            </a:r>
            <a:endParaRPr/>
          </a:p>
        </p:txBody>
      </p:sp>
      <p:sp>
        <p:nvSpPr>
          <p:cNvPr id="221" name="Google Shape;221;p23"/>
          <p:cNvSpPr txBox="1"/>
          <p:nvPr>
            <p:ph idx="1" type="body"/>
          </p:nvPr>
        </p:nvSpPr>
        <p:spPr>
          <a:xfrm>
            <a:off x="311700" y="2219000"/>
            <a:ext cx="6561600" cy="26742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Proof</a:t>
            </a:r>
            <a:endParaRPr/>
          </a:p>
          <a:p>
            <a:pPr indent="-317500" lvl="1" marL="914400" rtl="0" algn="l">
              <a:lnSpc>
                <a:spcPct val="115000"/>
              </a:lnSpc>
              <a:spcBef>
                <a:spcPts val="0"/>
              </a:spcBef>
              <a:spcAft>
                <a:spcPts val="0"/>
              </a:spcAft>
              <a:buSzPts val="1400"/>
              <a:buChar char="○"/>
            </a:pPr>
            <a:r>
              <a:rPr lang="en"/>
              <a:t>F \ E = F ⋂ E</a:t>
            </a:r>
            <a:r>
              <a:rPr baseline="30000" lang="en"/>
              <a:t>c</a:t>
            </a:r>
            <a:r>
              <a:rPr lang="en"/>
              <a:t> (outside of E and inside of F)</a:t>
            </a:r>
            <a:endParaRPr/>
          </a:p>
          <a:p>
            <a:pPr indent="-317500" lvl="1" marL="914400" rtl="0" algn="l">
              <a:lnSpc>
                <a:spcPct val="115000"/>
              </a:lnSpc>
              <a:spcBef>
                <a:spcPts val="0"/>
              </a:spcBef>
              <a:spcAft>
                <a:spcPts val="0"/>
              </a:spcAft>
              <a:buSzPts val="1400"/>
              <a:buChar char="○"/>
            </a:pPr>
            <a:r>
              <a:rPr lang="en"/>
              <a:t>E and F \ E are disjoint and E ∪ (F \ E) = F</a:t>
            </a:r>
            <a:endParaRPr/>
          </a:p>
          <a:p>
            <a:pPr indent="-317500" lvl="1" marL="914400" rtl="0" algn="l">
              <a:lnSpc>
                <a:spcPct val="115000"/>
              </a:lnSpc>
              <a:spcBef>
                <a:spcPts val="0"/>
              </a:spcBef>
              <a:spcAft>
                <a:spcPts val="0"/>
              </a:spcAft>
              <a:buSzPts val="1400"/>
              <a:buChar char="○"/>
            </a:pPr>
            <a:r>
              <a:rPr lang="en"/>
              <a:t>By Axiom 2, P(E ∪ (F \ E)) = P(E) + P(F \ E) or P(F) = P(E) + P(F \ E)</a:t>
            </a:r>
            <a:endParaRPr/>
          </a:p>
        </p:txBody>
      </p:sp>
      <p:sp>
        <p:nvSpPr>
          <p:cNvPr id="222" name="Google Shape;222;p23"/>
          <p:cNvSpPr txBox="1"/>
          <p:nvPr/>
        </p:nvSpPr>
        <p:spPr>
          <a:xfrm>
            <a:off x="1149325" y="1096825"/>
            <a:ext cx="6429300" cy="1099500"/>
          </a:xfrm>
          <a:prstGeom prst="rect">
            <a:avLst/>
          </a:prstGeom>
          <a:noFill/>
          <a:ln cap="flat" cmpd="sng" w="38100">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Arial"/>
                <a:ea typeface="Arial"/>
                <a:cs typeface="Arial"/>
                <a:sym typeface="Arial"/>
              </a:rPr>
              <a:t>If Event E is a subset of Event F, i.e. E ⊆ F, then</a:t>
            </a:r>
            <a:endParaRPr b="0" i="0" sz="180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Arial"/>
                <a:ea typeface="Arial"/>
                <a:cs typeface="Arial"/>
                <a:sym typeface="Arial"/>
              </a:rPr>
              <a:t>P(F) = P(E) + P(F \ E),</a:t>
            </a:r>
            <a:endParaRPr b="0" i="0" sz="180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Arial"/>
                <a:ea typeface="Arial"/>
                <a:cs typeface="Arial"/>
                <a:sym typeface="Arial"/>
              </a:rPr>
              <a:t>which implies that P(E) ≤ P(F)</a:t>
            </a:r>
            <a:endParaRPr b="0" i="0" sz="1800" u="none" cap="none" strike="noStrike">
              <a:solidFill>
                <a:srgbClr val="FFFFFF"/>
              </a:solidFill>
              <a:latin typeface="Arial"/>
              <a:ea typeface="Arial"/>
              <a:cs typeface="Arial"/>
              <a:sym typeface="Arial"/>
            </a:endParaRPr>
          </a:p>
        </p:txBody>
      </p:sp>
      <p:sp>
        <p:nvSpPr>
          <p:cNvPr id="223" name="Google Shape;223;p23"/>
          <p:cNvSpPr/>
          <p:nvPr/>
        </p:nvSpPr>
        <p:spPr>
          <a:xfrm>
            <a:off x="7043875" y="2196225"/>
            <a:ext cx="1843500" cy="2526300"/>
          </a:xfrm>
          <a:prstGeom prst="ellipse">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23"/>
          <p:cNvSpPr/>
          <p:nvPr/>
        </p:nvSpPr>
        <p:spPr>
          <a:xfrm>
            <a:off x="7487650" y="2571750"/>
            <a:ext cx="1058100" cy="1752600"/>
          </a:xfrm>
          <a:prstGeom prst="ellipse">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F</a:t>
            </a:r>
            <a:endParaRPr b="0" i="0" sz="1400" u="none" cap="none" strike="noStrike">
              <a:solidFill>
                <a:srgbClr val="FFFFFF"/>
              </a:solidFill>
              <a:latin typeface="Arial"/>
              <a:ea typeface="Arial"/>
              <a:cs typeface="Arial"/>
              <a:sym typeface="Arial"/>
            </a:endParaRPr>
          </a:p>
        </p:txBody>
      </p:sp>
      <p:sp>
        <p:nvSpPr>
          <p:cNvPr id="225" name="Google Shape;225;p23"/>
          <p:cNvSpPr/>
          <p:nvPr/>
        </p:nvSpPr>
        <p:spPr>
          <a:xfrm>
            <a:off x="7943725" y="3343075"/>
            <a:ext cx="541800" cy="696600"/>
          </a:xfrm>
          <a:prstGeom prst="ellipse">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E</a:t>
            </a:r>
            <a:endParaRPr b="0" i="0" sz="1400" u="none" cap="none" strike="noStrike">
              <a:solidFill>
                <a:srgbClr val="FFFFFF"/>
              </a:solidFill>
              <a:latin typeface="Arial"/>
              <a:ea typeface="Arial"/>
              <a:cs typeface="Arial"/>
              <a:sym typeface="Arial"/>
            </a:endParaRPr>
          </a:p>
        </p:txBody>
      </p:sp>
      <p:sp>
        <p:nvSpPr>
          <p:cNvPr id="226" name="Google Shape;226;p23"/>
          <p:cNvSpPr txBox="1"/>
          <p:nvPr/>
        </p:nvSpPr>
        <p:spPr>
          <a:xfrm>
            <a:off x="8329750" y="1957250"/>
            <a:ext cx="541800" cy="47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n" sz="1400" u="none" cap="none" strike="noStrike">
                <a:solidFill>
                  <a:srgbClr val="FFFFFF"/>
                </a:solidFill>
                <a:latin typeface="Arial"/>
                <a:ea typeface="Arial"/>
                <a:cs typeface="Arial"/>
                <a:sym typeface="Arial"/>
              </a:rPr>
              <a:t>S</a:t>
            </a:r>
            <a:endParaRPr b="0" i="1" sz="1400" u="none" cap="none" strike="noStrike">
              <a:solidFill>
                <a:srgbClr val="FFFFFF"/>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Property 3a: Difference and intersection</a:t>
            </a:r>
            <a:endParaRPr/>
          </a:p>
        </p:txBody>
      </p:sp>
      <p:sp>
        <p:nvSpPr>
          <p:cNvPr id="232" name="Google Shape;232;p24"/>
          <p:cNvSpPr txBox="1"/>
          <p:nvPr>
            <p:ph idx="1" type="body"/>
          </p:nvPr>
        </p:nvSpPr>
        <p:spPr>
          <a:xfrm>
            <a:off x="311700" y="2219000"/>
            <a:ext cx="6561600" cy="26742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Proof</a:t>
            </a:r>
            <a:endParaRPr/>
          </a:p>
          <a:p>
            <a:pPr indent="-317500" lvl="1" marL="914400" rtl="0" algn="l">
              <a:lnSpc>
                <a:spcPct val="115000"/>
              </a:lnSpc>
              <a:spcBef>
                <a:spcPts val="0"/>
              </a:spcBef>
              <a:spcAft>
                <a:spcPts val="0"/>
              </a:spcAft>
              <a:buSzPts val="1400"/>
              <a:buChar char="○"/>
            </a:pPr>
            <a:r>
              <a:rPr lang="en"/>
              <a:t>E ⋂ F is a subset of E </a:t>
            </a:r>
            <a:endParaRPr/>
          </a:p>
          <a:p>
            <a:pPr indent="-317500" lvl="1" marL="914400" rtl="0" algn="l">
              <a:lnSpc>
                <a:spcPct val="115000"/>
              </a:lnSpc>
              <a:spcBef>
                <a:spcPts val="0"/>
              </a:spcBef>
              <a:spcAft>
                <a:spcPts val="0"/>
              </a:spcAft>
              <a:buSzPts val="1400"/>
              <a:buChar char="○"/>
            </a:pPr>
            <a:r>
              <a:rPr lang="en"/>
              <a:t>By subset property, P(E) = P(E ⋂ F) + P(E \ (E ⋂ F))</a:t>
            </a:r>
            <a:endParaRPr/>
          </a:p>
          <a:p>
            <a:pPr indent="-317500" lvl="1" marL="914400" rtl="0" algn="l">
              <a:lnSpc>
                <a:spcPct val="115000"/>
              </a:lnSpc>
              <a:spcBef>
                <a:spcPts val="0"/>
              </a:spcBef>
              <a:spcAft>
                <a:spcPts val="0"/>
              </a:spcAft>
              <a:buSzPts val="1400"/>
              <a:buChar char="○"/>
            </a:pPr>
            <a:r>
              <a:rPr lang="en"/>
              <a:t>Now, E \ (E ⋂ F) = E \ F</a:t>
            </a:r>
            <a:endParaRPr/>
          </a:p>
          <a:p>
            <a:pPr indent="-317500" lvl="1" marL="914400" rtl="0" algn="l">
              <a:lnSpc>
                <a:spcPct val="115000"/>
              </a:lnSpc>
              <a:spcBef>
                <a:spcPts val="0"/>
              </a:spcBef>
              <a:spcAft>
                <a:spcPts val="0"/>
              </a:spcAft>
              <a:buSzPts val="1400"/>
              <a:buChar char="○"/>
            </a:pPr>
            <a:r>
              <a:rPr lang="en"/>
              <a:t>So, P(E) = P(E ⋂ F) + P(E \ F)</a:t>
            </a:r>
            <a:endParaRPr/>
          </a:p>
        </p:txBody>
      </p:sp>
      <p:sp>
        <p:nvSpPr>
          <p:cNvPr id="233" name="Google Shape;233;p24"/>
          <p:cNvSpPr txBox="1"/>
          <p:nvPr/>
        </p:nvSpPr>
        <p:spPr>
          <a:xfrm>
            <a:off x="787525" y="1057225"/>
            <a:ext cx="6429300" cy="1099500"/>
          </a:xfrm>
          <a:prstGeom prst="rect">
            <a:avLst/>
          </a:prstGeom>
          <a:noFill/>
          <a:ln cap="flat" cmpd="sng" w="38100">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Arial"/>
                <a:ea typeface="Arial"/>
                <a:cs typeface="Arial"/>
                <a:sym typeface="Arial"/>
              </a:rPr>
              <a:t>If E and F are events, then</a:t>
            </a:r>
            <a:endParaRPr b="0" i="0" sz="180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Arial"/>
                <a:ea typeface="Arial"/>
                <a:cs typeface="Arial"/>
                <a:sym typeface="Arial"/>
              </a:rPr>
              <a:t>P(E) = P(E ⋂ F) + P(E \ F),</a:t>
            </a:r>
            <a:endParaRPr b="0" i="0" sz="180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Arial"/>
                <a:ea typeface="Arial"/>
                <a:cs typeface="Arial"/>
                <a:sym typeface="Arial"/>
              </a:rPr>
              <a:t>P(F) = P(E ⋂ F) + P(F \ E)</a:t>
            </a:r>
            <a:endParaRPr b="0" i="0" sz="1800" u="none" cap="none" strike="noStrike">
              <a:solidFill>
                <a:srgbClr val="FFFFFF"/>
              </a:solidFill>
              <a:latin typeface="Arial"/>
              <a:ea typeface="Arial"/>
              <a:cs typeface="Arial"/>
              <a:sym typeface="Arial"/>
            </a:endParaRPr>
          </a:p>
        </p:txBody>
      </p:sp>
      <p:sp>
        <p:nvSpPr>
          <p:cNvPr id="234" name="Google Shape;234;p24"/>
          <p:cNvSpPr/>
          <p:nvPr/>
        </p:nvSpPr>
        <p:spPr>
          <a:xfrm>
            <a:off x="7196275" y="2196225"/>
            <a:ext cx="1843500" cy="2526300"/>
          </a:xfrm>
          <a:prstGeom prst="ellipse">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24"/>
          <p:cNvSpPr/>
          <p:nvPr/>
        </p:nvSpPr>
        <p:spPr>
          <a:xfrm>
            <a:off x="7640050" y="2571750"/>
            <a:ext cx="762300" cy="1365600"/>
          </a:xfrm>
          <a:prstGeom prst="ellipse">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F</a:t>
            </a:r>
            <a:endParaRPr b="0" i="0" sz="1400" u="none" cap="none" strike="noStrike">
              <a:solidFill>
                <a:srgbClr val="FFFFFF"/>
              </a:solidFill>
              <a:latin typeface="Arial"/>
              <a:ea typeface="Arial"/>
              <a:cs typeface="Arial"/>
              <a:sym typeface="Arial"/>
            </a:endParaRPr>
          </a:p>
        </p:txBody>
      </p:sp>
      <p:sp>
        <p:nvSpPr>
          <p:cNvPr id="236" name="Google Shape;236;p24"/>
          <p:cNvSpPr/>
          <p:nvPr/>
        </p:nvSpPr>
        <p:spPr>
          <a:xfrm rot="-2989419">
            <a:off x="8130875" y="3334005"/>
            <a:ext cx="605448" cy="931373"/>
          </a:xfrm>
          <a:prstGeom prst="ellipse">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237" name="Google Shape;237;p24"/>
          <p:cNvSpPr txBox="1"/>
          <p:nvPr/>
        </p:nvSpPr>
        <p:spPr>
          <a:xfrm>
            <a:off x="8482150" y="1957250"/>
            <a:ext cx="541800" cy="47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n" sz="1400" u="none" cap="none" strike="noStrike">
                <a:solidFill>
                  <a:srgbClr val="FFFFFF"/>
                </a:solidFill>
                <a:latin typeface="Arial"/>
                <a:ea typeface="Arial"/>
                <a:cs typeface="Arial"/>
                <a:sym typeface="Arial"/>
              </a:rPr>
              <a:t>S</a:t>
            </a:r>
            <a:endParaRPr b="0" i="1" sz="1400" u="none" cap="none" strike="noStrike">
              <a:solidFill>
                <a:srgbClr val="FFFFFF"/>
              </a:solidFill>
              <a:latin typeface="Arial"/>
              <a:ea typeface="Arial"/>
              <a:cs typeface="Arial"/>
              <a:sym typeface="Arial"/>
            </a:endParaRPr>
          </a:p>
        </p:txBody>
      </p:sp>
      <p:sp>
        <p:nvSpPr>
          <p:cNvPr id="238" name="Google Shape;238;p24"/>
          <p:cNvSpPr txBox="1"/>
          <p:nvPr/>
        </p:nvSpPr>
        <p:spPr>
          <a:xfrm>
            <a:off x="8380750" y="3710700"/>
            <a:ext cx="541800" cy="47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E</a:t>
            </a:r>
            <a:endParaRPr b="0" i="0" sz="1400" u="none" cap="none" strike="noStrike">
              <a:solidFill>
                <a:srgbClr val="FFFFFF"/>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Property 4: Union and intersection</a:t>
            </a:r>
            <a:endParaRPr/>
          </a:p>
        </p:txBody>
      </p:sp>
      <p:sp>
        <p:nvSpPr>
          <p:cNvPr id="244" name="Google Shape;244;p25"/>
          <p:cNvSpPr txBox="1"/>
          <p:nvPr>
            <p:ph idx="1" type="body"/>
          </p:nvPr>
        </p:nvSpPr>
        <p:spPr>
          <a:xfrm>
            <a:off x="311700" y="2219000"/>
            <a:ext cx="6884700" cy="27879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Proof</a:t>
            </a:r>
            <a:endParaRPr/>
          </a:p>
          <a:p>
            <a:pPr indent="-317500" lvl="1" marL="914400" rtl="0" algn="l">
              <a:lnSpc>
                <a:spcPct val="115000"/>
              </a:lnSpc>
              <a:spcBef>
                <a:spcPts val="0"/>
              </a:spcBef>
              <a:spcAft>
                <a:spcPts val="0"/>
              </a:spcAft>
              <a:buSzPts val="1400"/>
              <a:buChar char="○"/>
            </a:pPr>
            <a:r>
              <a:rPr lang="en"/>
              <a:t>E ∪ F = (E \ F) ∪ (E ⋂ F) ∪ (F \ E) and the 3 events on RHS are disjoint</a:t>
            </a:r>
            <a:endParaRPr/>
          </a:p>
          <a:p>
            <a:pPr indent="-317500" lvl="1" marL="914400" rtl="0" algn="l">
              <a:lnSpc>
                <a:spcPct val="115000"/>
              </a:lnSpc>
              <a:spcBef>
                <a:spcPts val="0"/>
              </a:spcBef>
              <a:spcAft>
                <a:spcPts val="0"/>
              </a:spcAft>
              <a:buSzPts val="1400"/>
              <a:buChar char="○"/>
            </a:pPr>
            <a:r>
              <a:rPr lang="en"/>
              <a:t>P(E ∪ F) = P(E \ F) + P(E ⋂ F) + P(F \ E) </a:t>
            </a:r>
            <a:endParaRPr/>
          </a:p>
          <a:p>
            <a:pPr indent="-317500" lvl="1" marL="914400" rtl="0" algn="l">
              <a:lnSpc>
                <a:spcPct val="115000"/>
              </a:lnSpc>
              <a:spcBef>
                <a:spcPts val="0"/>
              </a:spcBef>
              <a:spcAft>
                <a:spcPts val="0"/>
              </a:spcAft>
              <a:buSzPts val="1400"/>
              <a:buChar char="○"/>
            </a:pPr>
            <a:r>
              <a:rPr lang="en"/>
              <a:t>Use P(E \ F) = P(E) - P(E ⋂ F) and P(F \ E) = P(F) - P(E ⋂ F)</a:t>
            </a:r>
            <a:endParaRPr/>
          </a:p>
        </p:txBody>
      </p:sp>
      <p:sp>
        <p:nvSpPr>
          <p:cNvPr id="245" name="Google Shape;245;p25"/>
          <p:cNvSpPr txBox="1"/>
          <p:nvPr/>
        </p:nvSpPr>
        <p:spPr>
          <a:xfrm>
            <a:off x="1149325" y="1096825"/>
            <a:ext cx="6429300" cy="803700"/>
          </a:xfrm>
          <a:prstGeom prst="rect">
            <a:avLst/>
          </a:prstGeom>
          <a:noFill/>
          <a:ln cap="flat" cmpd="sng" w="38100">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Arial"/>
                <a:ea typeface="Arial"/>
                <a:cs typeface="Arial"/>
                <a:sym typeface="Arial"/>
              </a:rPr>
              <a:t>If E and F are events, then</a:t>
            </a:r>
            <a:endParaRPr b="0" i="0" sz="180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Arial"/>
                <a:ea typeface="Arial"/>
                <a:cs typeface="Arial"/>
                <a:sym typeface="Arial"/>
              </a:rPr>
              <a:t>P(E ∪ F) = P(E) + P(F) - P(E ⋂ F)</a:t>
            </a:r>
            <a:endParaRPr b="0" i="0" sz="1800" u="none" cap="none" strike="noStrike">
              <a:solidFill>
                <a:srgbClr val="FFFFFF"/>
              </a:solidFill>
              <a:latin typeface="Arial"/>
              <a:ea typeface="Arial"/>
              <a:cs typeface="Arial"/>
              <a:sym typeface="Arial"/>
            </a:endParaRPr>
          </a:p>
        </p:txBody>
      </p:sp>
      <p:sp>
        <p:nvSpPr>
          <p:cNvPr id="246" name="Google Shape;246;p25"/>
          <p:cNvSpPr/>
          <p:nvPr/>
        </p:nvSpPr>
        <p:spPr>
          <a:xfrm>
            <a:off x="7196275" y="2196225"/>
            <a:ext cx="1843500" cy="2526300"/>
          </a:xfrm>
          <a:prstGeom prst="ellipse">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25"/>
          <p:cNvSpPr/>
          <p:nvPr/>
        </p:nvSpPr>
        <p:spPr>
          <a:xfrm>
            <a:off x="7640050" y="2571750"/>
            <a:ext cx="762300" cy="1365600"/>
          </a:xfrm>
          <a:prstGeom prst="ellipse">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F</a:t>
            </a:r>
            <a:endParaRPr b="0" i="0" sz="1400" u="none" cap="none" strike="noStrike">
              <a:solidFill>
                <a:srgbClr val="FFFFFF"/>
              </a:solidFill>
              <a:latin typeface="Arial"/>
              <a:ea typeface="Arial"/>
              <a:cs typeface="Arial"/>
              <a:sym typeface="Arial"/>
            </a:endParaRPr>
          </a:p>
        </p:txBody>
      </p:sp>
      <p:sp>
        <p:nvSpPr>
          <p:cNvPr id="248" name="Google Shape;248;p25"/>
          <p:cNvSpPr/>
          <p:nvPr/>
        </p:nvSpPr>
        <p:spPr>
          <a:xfrm rot="-2989419">
            <a:off x="8130875" y="3334005"/>
            <a:ext cx="605448" cy="931373"/>
          </a:xfrm>
          <a:prstGeom prst="ellipse">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249" name="Google Shape;249;p25"/>
          <p:cNvSpPr txBox="1"/>
          <p:nvPr/>
        </p:nvSpPr>
        <p:spPr>
          <a:xfrm>
            <a:off x="8482150" y="1957250"/>
            <a:ext cx="541800" cy="47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n" sz="1400" u="none" cap="none" strike="noStrike">
                <a:solidFill>
                  <a:srgbClr val="FFFFFF"/>
                </a:solidFill>
                <a:latin typeface="Arial"/>
                <a:ea typeface="Arial"/>
                <a:cs typeface="Arial"/>
                <a:sym typeface="Arial"/>
              </a:rPr>
              <a:t>S</a:t>
            </a:r>
            <a:endParaRPr b="0" i="1" sz="1400" u="none" cap="none" strike="noStrike">
              <a:solidFill>
                <a:srgbClr val="FFFFFF"/>
              </a:solidFill>
              <a:latin typeface="Arial"/>
              <a:ea typeface="Arial"/>
              <a:cs typeface="Arial"/>
              <a:sym typeface="Arial"/>
            </a:endParaRPr>
          </a:p>
        </p:txBody>
      </p:sp>
      <p:sp>
        <p:nvSpPr>
          <p:cNvPr id="250" name="Google Shape;250;p25"/>
          <p:cNvSpPr txBox="1"/>
          <p:nvPr/>
        </p:nvSpPr>
        <p:spPr>
          <a:xfrm>
            <a:off x="8380750" y="3710700"/>
            <a:ext cx="541800" cy="47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E</a:t>
            </a:r>
            <a:endParaRPr b="0" i="0" sz="1400" u="none" cap="none" strike="noStrike">
              <a:solidFill>
                <a:srgbClr val="FFFFFF"/>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6"/>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a:t>Working with probability spaces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Toss a coin</a:t>
            </a:r>
            <a:endParaRPr/>
          </a:p>
        </p:txBody>
      </p:sp>
      <p:sp>
        <p:nvSpPr>
          <p:cNvPr id="261" name="Google Shape;261;p2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Sample space: </a:t>
            </a:r>
            <a:r>
              <a:rPr i="1" lang="en"/>
              <a:t>S</a:t>
            </a:r>
            <a:r>
              <a:rPr lang="en"/>
              <a:t> = { H, T }</a:t>
            </a:r>
            <a:endParaRPr/>
          </a:p>
          <a:p>
            <a:pPr indent="-342900" lvl="0" marL="457200" rtl="0" algn="l">
              <a:lnSpc>
                <a:spcPct val="115000"/>
              </a:lnSpc>
              <a:spcBef>
                <a:spcPts val="0"/>
              </a:spcBef>
              <a:spcAft>
                <a:spcPts val="0"/>
              </a:spcAft>
              <a:buSzPts val="1800"/>
              <a:buChar char="●"/>
            </a:pPr>
            <a:r>
              <a:rPr lang="en"/>
              <a:t>Events: Φ, E = {H}, F = {T}, </a:t>
            </a:r>
            <a:r>
              <a:rPr i="1" lang="en"/>
              <a:t>S</a:t>
            </a:r>
            <a:r>
              <a:rPr lang="en"/>
              <a:t> = {H, T}</a:t>
            </a:r>
            <a:endParaRPr/>
          </a:p>
          <a:p>
            <a:pPr indent="-342900" lvl="0" marL="457200" rtl="0" algn="l">
              <a:lnSpc>
                <a:spcPct val="115000"/>
              </a:lnSpc>
              <a:spcBef>
                <a:spcPts val="0"/>
              </a:spcBef>
              <a:spcAft>
                <a:spcPts val="0"/>
              </a:spcAft>
              <a:buSzPts val="1800"/>
              <a:buChar char="●"/>
            </a:pPr>
            <a:r>
              <a:rPr lang="en"/>
              <a:t>By Axiom 1, P(</a:t>
            </a:r>
            <a:r>
              <a:rPr i="1" lang="en"/>
              <a:t>S</a:t>
            </a:r>
            <a:r>
              <a:rPr lang="en"/>
              <a:t>) = 1</a:t>
            </a:r>
            <a:endParaRPr/>
          </a:p>
          <a:p>
            <a:pPr indent="-342900" lvl="0" marL="457200" rtl="0" algn="l">
              <a:lnSpc>
                <a:spcPct val="115000"/>
              </a:lnSpc>
              <a:spcBef>
                <a:spcPts val="0"/>
              </a:spcBef>
              <a:spcAft>
                <a:spcPts val="0"/>
              </a:spcAft>
              <a:buSzPts val="1800"/>
              <a:buChar char="●"/>
            </a:pPr>
            <a:r>
              <a:rPr lang="en"/>
              <a:t>By empty set property, P(Φ) = 0</a:t>
            </a:r>
            <a:endParaRPr/>
          </a:p>
          <a:p>
            <a:pPr indent="-342900" lvl="0" marL="457200" rtl="0" algn="l">
              <a:lnSpc>
                <a:spcPct val="115000"/>
              </a:lnSpc>
              <a:spcBef>
                <a:spcPts val="0"/>
              </a:spcBef>
              <a:spcAft>
                <a:spcPts val="0"/>
              </a:spcAft>
              <a:buSzPts val="1800"/>
              <a:buChar char="●"/>
            </a:pPr>
            <a:r>
              <a:rPr lang="en"/>
              <a:t>By complement property, since F = E</a:t>
            </a:r>
            <a:r>
              <a:rPr baseline="30000" lang="en"/>
              <a:t>c</a:t>
            </a:r>
            <a:r>
              <a:rPr lang="en"/>
              <a:t>, P(F) = 1 - P(E)</a:t>
            </a:r>
            <a:endParaRPr/>
          </a:p>
          <a:p>
            <a:pPr indent="-342900" lvl="0" marL="457200" rtl="0" algn="l">
              <a:lnSpc>
                <a:spcPct val="115000"/>
              </a:lnSpc>
              <a:spcBef>
                <a:spcPts val="0"/>
              </a:spcBef>
              <a:spcAft>
                <a:spcPts val="0"/>
              </a:spcAft>
              <a:buSzPts val="1800"/>
              <a:buChar char="●"/>
            </a:pPr>
            <a:r>
              <a:rPr lang="en"/>
              <a:t>Probability function has to be the following</a:t>
            </a:r>
            <a:endParaRPr/>
          </a:p>
          <a:p>
            <a:pPr indent="-317500" lvl="1" marL="914400" rtl="0" algn="l">
              <a:lnSpc>
                <a:spcPct val="115000"/>
              </a:lnSpc>
              <a:spcBef>
                <a:spcPts val="0"/>
              </a:spcBef>
              <a:spcAft>
                <a:spcPts val="0"/>
              </a:spcAft>
              <a:buSzPts val="1400"/>
              <a:buChar char="○"/>
            </a:pPr>
            <a:r>
              <a:rPr lang="en"/>
              <a:t>Let </a:t>
            </a:r>
            <a:r>
              <a:rPr i="1" lang="en"/>
              <a:t>p</a:t>
            </a:r>
            <a:r>
              <a:rPr lang="en"/>
              <a:t> = P(E) (probability of heads is </a:t>
            </a:r>
            <a:r>
              <a:rPr i="1" lang="en"/>
              <a:t>p</a:t>
            </a:r>
            <a:r>
              <a:rPr lang="en"/>
              <a:t>) for some 0 ≤ </a:t>
            </a:r>
            <a:r>
              <a:rPr i="1" lang="en"/>
              <a:t>p</a:t>
            </a:r>
            <a:r>
              <a:rPr lang="en"/>
              <a:t> ≤ 1</a:t>
            </a:r>
            <a:endParaRPr/>
          </a:p>
          <a:p>
            <a:pPr indent="-317500" lvl="1" marL="914400" rtl="0" algn="l">
              <a:lnSpc>
                <a:spcPct val="115000"/>
              </a:lnSpc>
              <a:spcBef>
                <a:spcPts val="0"/>
              </a:spcBef>
              <a:spcAft>
                <a:spcPts val="0"/>
              </a:spcAft>
              <a:buSzPts val="1400"/>
              <a:buChar char="○"/>
            </a:pPr>
            <a:r>
              <a:rPr lang="en"/>
              <a:t>P(Φ) = 0, P(E) = </a:t>
            </a:r>
            <a:r>
              <a:rPr i="1" lang="en"/>
              <a:t>p</a:t>
            </a:r>
            <a:r>
              <a:rPr lang="en"/>
              <a:t>, P(F) = 1 - </a:t>
            </a:r>
            <a:r>
              <a:rPr i="1" lang="en"/>
              <a:t>p</a:t>
            </a:r>
            <a:r>
              <a:rPr lang="en"/>
              <a:t>, P(</a:t>
            </a:r>
            <a:r>
              <a:rPr i="1" lang="en"/>
              <a:t>S</a:t>
            </a:r>
            <a:r>
              <a:rPr lang="en"/>
              <a:t>) = 1</a:t>
            </a:r>
            <a:endParaRPr/>
          </a:p>
          <a:p>
            <a:pPr indent="-342900" lvl="0" marL="457200" rtl="0" algn="l">
              <a:lnSpc>
                <a:spcPct val="115000"/>
              </a:lnSpc>
              <a:spcBef>
                <a:spcPts val="0"/>
              </a:spcBef>
              <a:spcAft>
                <a:spcPts val="0"/>
              </a:spcAft>
              <a:buSzPts val="1800"/>
              <a:buChar char="●"/>
            </a:pPr>
            <a:r>
              <a:rPr lang="en"/>
              <a:t>In an actual application, we need to choose </a:t>
            </a:r>
            <a:r>
              <a:rPr i="1" lang="en"/>
              <a:t>p</a:t>
            </a:r>
            <a:r>
              <a:rPr lang="en"/>
              <a:t>. How?</a:t>
            </a:r>
            <a:endParaRPr/>
          </a:p>
          <a:p>
            <a:pPr indent="-317500" lvl="1" marL="914400" rtl="0" algn="l">
              <a:lnSpc>
                <a:spcPct val="115000"/>
              </a:lnSpc>
              <a:spcBef>
                <a:spcPts val="0"/>
              </a:spcBef>
              <a:spcAft>
                <a:spcPts val="0"/>
              </a:spcAft>
              <a:buSzPts val="1400"/>
              <a:buChar char="○"/>
            </a:pPr>
            <a:r>
              <a:rPr lang="en"/>
              <a:t>Suppose coin is fair. Then, probability of heads = probability of tails</a:t>
            </a:r>
            <a:endParaRPr/>
          </a:p>
          <a:p>
            <a:pPr indent="-317500" lvl="1" marL="914400" rtl="0" algn="l">
              <a:lnSpc>
                <a:spcPct val="115000"/>
              </a:lnSpc>
              <a:spcBef>
                <a:spcPts val="0"/>
              </a:spcBef>
              <a:spcAft>
                <a:spcPts val="0"/>
              </a:spcAft>
              <a:buSzPts val="1400"/>
              <a:buChar char="○"/>
            </a:pPr>
            <a:r>
              <a:rPr lang="en"/>
              <a:t>So, </a:t>
            </a:r>
            <a:r>
              <a:rPr i="1" lang="en"/>
              <a:t>p</a:t>
            </a:r>
            <a:r>
              <a:rPr lang="en"/>
              <a:t> = 1 - </a:t>
            </a:r>
            <a:r>
              <a:rPr i="1" lang="en"/>
              <a:t>p</a:t>
            </a:r>
            <a:r>
              <a:rPr lang="en"/>
              <a:t>, which results in </a:t>
            </a:r>
            <a:r>
              <a:rPr i="1" lang="en"/>
              <a:t>p</a:t>
            </a:r>
            <a:r>
              <a:rPr lang="en"/>
              <a:t> = 0.5</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Restaurant hiring</a:t>
            </a:r>
            <a:endParaRPr/>
          </a:p>
        </p:txBody>
      </p:sp>
      <p:sp>
        <p:nvSpPr>
          <p:cNvPr id="267" name="Google Shape;267;p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a:t>A waiter and a cashier are to be hired. There are 4 applicants - David and Megha from Delhi, and Rajesh and Veronica from Mumbai. The restaurant hires one person at random as waiter, and another from the remaining as cashier. </a:t>
            </a:r>
            <a:endParaRPr/>
          </a:p>
          <a:p>
            <a:pPr indent="-342900" lvl="0" marL="457200" rtl="0" algn="l">
              <a:lnSpc>
                <a:spcPct val="115000"/>
              </a:lnSpc>
              <a:spcBef>
                <a:spcPts val="1600"/>
              </a:spcBef>
              <a:spcAft>
                <a:spcPts val="0"/>
              </a:spcAft>
              <a:buSzPts val="1800"/>
              <a:buChar char="●"/>
            </a:pPr>
            <a:r>
              <a:rPr lang="en"/>
              <a:t>Write out the sample space</a:t>
            </a:r>
            <a:endParaRPr/>
          </a:p>
          <a:p>
            <a:pPr indent="-342900" lvl="0" marL="457200" rtl="0" algn="l">
              <a:lnSpc>
                <a:spcPct val="115000"/>
              </a:lnSpc>
              <a:spcBef>
                <a:spcPts val="0"/>
              </a:spcBef>
              <a:spcAft>
                <a:spcPts val="0"/>
              </a:spcAft>
              <a:buSzPts val="1800"/>
              <a:buChar char="●"/>
            </a:pPr>
            <a:r>
              <a:rPr lang="en"/>
              <a:t>Event A: Cashier is from Delhi</a:t>
            </a:r>
            <a:endParaRPr/>
          </a:p>
          <a:p>
            <a:pPr indent="-342900" lvl="0" marL="457200" rtl="0" algn="l">
              <a:lnSpc>
                <a:spcPct val="115000"/>
              </a:lnSpc>
              <a:spcBef>
                <a:spcPts val="0"/>
              </a:spcBef>
              <a:spcAft>
                <a:spcPts val="0"/>
              </a:spcAft>
              <a:buSzPts val="1800"/>
              <a:buChar char="●"/>
            </a:pPr>
            <a:r>
              <a:rPr lang="en"/>
              <a:t>Event B: Exactly one position is filled by a Delhiite</a:t>
            </a:r>
            <a:endParaRPr/>
          </a:p>
          <a:p>
            <a:pPr indent="-342900" lvl="0" marL="457200" rtl="0" algn="l">
              <a:lnSpc>
                <a:spcPct val="115000"/>
              </a:lnSpc>
              <a:spcBef>
                <a:spcPts val="0"/>
              </a:spcBef>
              <a:spcAft>
                <a:spcPts val="0"/>
              </a:spcAft>
              <a:buSzPts val="1800"/>
              <a:buChar char="●"/>
            </a:pPr>
            <a:r>
              <a:rPr lang="en"/>
              <a:t>Event C: Neither position is filled by a Delhiite</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Fishing town</a:t>
            </a:r>
            <a:endParaRPr/>
          </a:p>
        </p:txBody>
      </p:sp>
      <p:sp>
        <p:nvSpPr>
          <p:cNvPr id="273" name="Google Shape;273;p29"/>
          <p:cNvSpPr txBox="1"/>
          <p:nvPr>
            <p:ph idx="1" type="body"/>
          </p:nvPr>
        </p:nvSpPr>
        <p:spPr>
          <a:xfrm>
            <a:off x="311700" y="1152475"/>
            <a:ext cx="8520600" cy="16740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Town with a few fishing boats going out to catch fish everyday. </a:t>
            </a:r>
            <a:endParaRPr/>
          </a:p>
          <a:p>
            <a:pPr indent="-342900" lvl="0" marL="457200" rtl="0" algn="l">
              <a:lnSpc>
                <a:spcPct val="115000"/>
              </a:lnSpc>
              <a:spcBef>
                <a:spcPts val="0"/>
              </a:spcBef>
              <a:spcAft>
                <a:spcPts val="0"/>
              </a:spcAft>
              <a:buSzPts val="1800"/>
              <a:buChar char="●"/>
            </a:pPr>
            <a:r>
              <a:rPr lang="en"/>
              <a:t>Over the years, folks have observed the following:</a:t>
            </a:r>
            <a:endParaRPr/>
          </a:p>
          <a:p>
            <a:pPr indent="-317500" lvl="1" marL="914400" rtl="0" algn="l">
              <a:lnSpc>
                <a:spcPct val="115000"/>
              </a:lnSpc>
              <a:spcBef>
                <a:spcPts val="0"/>
              </a:spcBef>
              <a:spcAft>
                <a:spcPts val="0"/>
              </a:spcAft>
              <a:buSzPts val="1400"/>
              <a:buChar char="○"/>
            </a:pPr>
            <a:r>
              <a:rPr lang="en"/>
              <a:t>Chance of catching more than 400 Kg of fish in a day is 35%</a:t>
            </a:r>
            <a:endParaRPr/>
          </a:p>
          <a:p>
            <a:pPr indent="-317500" lvl="1" marL="914400" rtl="0" algn="l">
              <a:lnSpc>
                <a:spcPct val="115000"/>
              </a:lnSpc>
              <a:spcBef>
                <a:spcPts val="0"/>
              </a:spcBef>
              <a:spcAft>
                <a:spcPts val="0"/>
              </a:spcAft>
              <a:buSzPts val="1400"/>
              <a:buChar char="○"/>
            </a:pPr>
            <a:r>
              <a:rPr lang="en"/>
              <a:t>Chance of catching more than 500 Kg of fish in a day is 10%</a:t>
            </a:r>
            <a:endParaRPr/>
          </a:p>
          <a:p>
            <a:pPr indent="-342900" lvl="0" marL="457200" rtl="0" algn="l">
              <a:lnSpc>
                <a:spcPct val="115000"/>
              </a:lnSpc>
              <a:spcBef>
                <a:spcPts val="0"/>
              </a:spcBef>
              <a:spcAft>
                <a:spcPts val="0"/>
              </a:spcAft>
              <a:buSzPts val="1800"/>
              <a:buChar char="●"/>
            </a:pPr>
            <a:r>
              <a:rPr lang="en"/>
              <a:t>What is the chance of catching between 400 and 500 Kg of fish in a day?</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Weather forecast</a:t>
            </a:r>
            <a:endParaRPr/>
          </a:p>
        </p:txBody>
      </p:sp>
      <p:sp>
        <p:nvSpPr>
          <p:cNvPr id="279" name="Google Shape;279;p30"/>
          <p:cNvSpPr txBox="1"/>
          <p:nvPr>
            <p:ph idx="1" type="body"/>
          </p:nvPr>
        </p:nvSpPr>
        <p:spPr>
          <a:xfrm>
            <a:off x="311700" y="1152475"/>
            <a:ext cx="8520600" cy="15642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Supposing you hear the following forecast for rain and temperature</a:t>
            </a:r>
            <a:endParaRPr/>
          </a:p>
          <a:p>
            <a:pPr indent="-317500" lvl="1" marL="914400" rtl="0" algn="l">
              <a:lnSpc>
                <a:spcPct val="115000"/>
              </a:lnSpc>
              <a:spcBef>
                <a:spcPts val="0"/>
              </a:spcBef>
              <a:spcAft>
                <a:spcPts val="0"/>
              </a:spcAft>
              <a:buSzPts val="1400"/>
              <a:buChar char="○"/>
            </a:pPr>
            <a:r>
              <a:rPr lang="en"/>
              <a:t>Chance of rain tomorrow: 60%</a:t>
            </a:r>
            <a:endParaRPr/>
          </a:p>
          <a:p>
            <a:pPr indent="-317500" lvl="1" marL="914400" rtl="0" algn="l">
              <a:lnSpc>
                <a:spcPct val="115000"/>
              </a:lnSpc>
              <a:spcBef>
                <a:spcPts val="0"/>
              </a:spcBef>
              <a:spcAft>
                <a:spcPts val="0"/>
              </a:spcAft>
              <a:buSzPts val="1400"/>
              <a:buChar char="○"/>
            </a:pPr>
            <a:r>
              <a:rPr lang="en"/>
              <a:t>Chance of max temperature above 30 deg: 70%</a:t>
            </a:r>
            <a:endParaRPr/>
          </a:p>
          <a:p>
            <a:pPr indent="-317500" lvl="1" marL="914400" rtl="0" algn="l">
              <a:lnSpc>
                <a:spcPct val="115000"/>
              </a:lnSpc>
              <a:spcBef>
                <a:spcPts val="0"/>
              </a:spcBef>
              <a:spcAft>
                <a:spcPts val="0"/>
              </a:spcAft>
              <a:buSzPts val="1400"/>
              <a:buChar char="○"/>
            </a:pPr>
            <a:r>
              <a:rPr lang="en"/>
              <a:t>Chance of rain and max temperature above 30 deg: 40%</a:t>
            </a:r>
            <a:endParaRPr/>
          </a:p>
          <a:p>
            <a:pPr indent="-342900" lvl="0" marL="457200" rtl="0" algn="l">
              <a:lnSpc>
                <a:spcPct val="115000"/>
              </a:lnSpc>
              <a:spcBef>
                <a:spcPts val="0"/>
              </a:spcBef>
              <a:spcAft>
                <a:spcPts val="0"/>
              </a:spcAft>
              <a:buSzPts val="1800"/>
              <a:buChar char="●"/>
            </a:pPr>
            <a:r>
              <a:rPr lang="en"/>
              <a:t>What is the chance of no rain and max temperature below 30 deg?</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Manipulating events to get more events</a:t>
            </a:r>
            <a:endParaRPr/>
          </a:p>
        </p:txBody>
      </p:sp>
      <p:sp>
        <p:nvSpPr>
          <p:cNvPr id="285" name="Google Shape;285;p31"/>
          <p:cNvSpPr txBox="1"/>
          <p:nvPr>
            <p:ph idx="1" type="body"/>
          </p:nvPr>
        </p:nvSpPr>
        <p:spPr>
          <a:xfrm>
            <a:off x="311700" y="1152475"/>
            <a:ext cx="8520600" cy="927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800"/>
              <a:buNone/>
            </a:pPr>
            <a:r>
              <a:rPr lang="en"/>
              <a:t>Suppose </a:t>
            </a:r>
            <a:r>
              <a:rPr i="1" lang="en"/>
              <a:t>S</a:t>
            </a:r>
            <a:r>
              <a:rPr lang="en"/>
              <a:t> = {a,b,c,d,e} and let E = {a,b,e} and F = {b,c} be events. What other events can be obtained starting from E and F by various operations?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2"/>
          <p:cNvSpPr txBox="1"/>
          <p:nvPr>
            <p:ph type="title"/>
          </p:nvPr>
        </p:nvSpPr>
        <p:spPr>
          <a:xfrm>
            <a:off x="311700" y="2150850"/>
            <a:ext cx="8520600" cy="10812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a:t>Distributions</a:t>
            </a:r>
            <a:endParaRPr/>
          </a:p>
        </p:txBody>
      </p:sp>
      <p:sp>
        <p:nvSpPr>
          <p:cNvPr id="291" name="Google Shape;291;p32">
            <a:hlinkClick r:id="rId3"/>
          </p:cNvPr>
          <p:cNvSpPr/>
          <p:nvPr/>
        </p:nvSpPr>
        <p:spPr>
          <a:xfrm>
            <a:off x="0" y="5207000"/>
            <a:ext cx="12600" cy="12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Example: Throw a die</a:t>
            </a:r>
            <a:endParaRPr/>
          </a:p>
        </p:txBody>
      </p:sp>
      <p:sp>
        <p:nvSpPr>
          <p:cNvPr id="297" name="Google Shape;297;p33"/>
          <p:cNvSpPr txBox="1"/>
          <p:nvPr>
            <p:ph idx="1" type="body"/>
          </p:nvPr>
        </p:nvSpPr>
        <p:spPr>
          <a:xfrm>
            <a:off x="311700" y="1152475"/>
            <a:ext cx="8520600" cy="3886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a:t>Sample space </a:t>
            </a:r>
            <a:r>
              <a:rPr i="1" lang="en"/>
              <a:t>S</a:t>
            </a:r>
            <a:r>
              <a:rPr lang="en"/>
              <a:t> = { 1, 2, 3, 4, 5, 6 }</a:t>
            </a:r>
            <a:endParaRPr/>
          </a:p>
          <a:p>
            <a:pPr indent="-342900" lvl="0" marL="457200" rtl="0" algn="l">
              <a:lnSpc>
                <a:spcPct val="115000"/>
              </a:lnSpc>
              <a:spcBef>
                <a:spcPts val="1600"/>
              </a:spcBef>
              <a:spcAft>
                <a:spcPts val="0"/>
              </a:spcAft>
              <a:buSzPts val="1800"/>
              <a:buChar char="●"/>
            </a:pPr>
            <a:r>
              <a:rPr lang="en"/>
              <a:t>Suppose that all individual outcomes are events</a:t>
            </a:r>
            <a:endParaRPr/>
          </a:p>
          <a:p>
            <a:pPr indent="-317500" lvl="1" marL="914400" rtl="0" algn="l">
              <a:lnSpc>
                <a:spcPct val="115000"/>
              </a:lnSpc>
              <a:spcBef>
                <a:spcPts val="0"/>
              </a:spcBef>
              <a:spcAft>
                <a:spcPts val="0"/>
              </a:spcAft>
              <a:buSzPts val="1400"/>
              <a:buChar char="○"/>
            </a:pPr>
            <a:r>
              <a:rPr lang="en"/>
              <a:t>This implies that all subsets are events (take unions of the individual outcomes in the subset)</a:t>
            </a:r>
            <a:endParaRPr/>
          </a:p>
          <a:p>
            <a:pPr indent="-342900" lvl="0" marL="457200" rtl="0" algn="l">
              <a:lnSpc>
                <a:spcPct val="115000"/>
              </a:lnSpc>
              <a:spcBef>
                <a:spcPts val="0"/>
              </a:spcBef>
              <a:spcAft>
                <a:spcPts val="0"/>
              </a:spcAft>
              <a:buSzPts val="1800"/>
              <a:buChar char="●"/>
            </a:pPr>
            <a:r>
              <a:rPr lang="en"/>
              <a:t>Let</a:t>
            </a:r>
            <a:br>
              <a:rPr lang="en"/>
            </a:br>
            <a:r>
              <a:rPr i="1" lang="en"/>
              <a:t>p</a:t>
            </a:r>
            <a:r>
              <a:rPr baseline="-25000" lang="en"/>
              <a:t>1</a:t>
            </a:r>
            <a:r>
              <a:rPr lang="en"/>
              <a:t> = P({1}), </a:t>
            </a:r>
            <a:r>
              <a:rPr i="1" lang="en"/>
              <a:t>p</a:t>
            </a:r>
            <a:r>
              <a:rPr baseline="-25000" lang="en"/>
              <a:t>2</a:t>
            </a:r>
            <a:r>
              <a:rPr lang="en"/>
              <a:t> = P({2}), </a:t>
            </a:r>
            <a:r>
              <a:rPr i="1" lang="en"/>
              <a:t>p</a:t>
            </a:r>
            <a:r>
              <a:rPr baseline="-25000" lang="en"/>
              <a:t>3</a:t>
            </a:r>
            <a:r>
              <a:rPr lang="en"/>
              <a:t> = P({3}), </a:t>
            </a:r>
            <a:r>
              <a:rPr i="1" lang="en"/>
              <a:t>p</a:t>
            </a:r>
            <a:r>
              <a:rPr baseline="-25000" lang="en"/>
              <a:t>4</a:t>
            </a:r>
            <a:r>
              <a:rPr lang="en"/>
              <a:t> = P({4}), </a:t>
            </a:r>
            <a:r>
              <a:rPr i="1" lang="en"/>
              <a:t>p</a:t>
            </a:r>
            <a:r>
              <a:rPr baseline="-25000" lang="en"/>
              <a:t>5</a:t>
            </a:r>
            <a:r>
              <a:rPr lang="en"/>
              <a:t> = P({5}), </a:t>
            </a:r>
            <a:r>
              <a:rPr i="1" lang="en"/>
              <a:t>p</a:t>
            </a:r>
            <a:r>
              <a:rPr baseline="-25000" lang="en"/>
              <a:t>6</a:t>
            </a:r>
            <a:r>
              <a:rPr lang="en"/>
              <a:t> = P({6})</a:t>
            </a:r>
            <a:br>
              <a:rPr lang="en"/>
            </a:br>
            <a:r>
              <a:rPr lang="en"/>
              <a:t>Each </a:t>
            </a:r>
            <a:r>
              <a:rPr i="1" lang="en"/>
              <a:t>p</a:t>
            </a:r>
            <a:r>
              <a:rPr baseline="-25000" lang="en"/>
              <a:t>i</a:t>
            </a:r>
            <a:r>
              <a:rPr lang="en"/>
              <a:t> is between 0 and 1</a:t>
            </a:r>
            <a:endParaRPr/>
          </a:p>
          <a:p>
            <a:pPr indent="-342900" lvl="0" marL="457200" rtl="0" algn="l">
              <a:lnSpc>
                <a:spcPct val="115000"/>
              </a:lnSpc>
              <a:spcBef>
                <a:spcPts val="0"/>
              </a:spcBef>
              <a:spcAft>
                <a:spcPts val="0"/>
              </a:spcAft>
              <a:buSzPts val="1800"/>
              <a:buChar char="●"/>
            </a:pPr>
            <a:r>
              <a:rPr lang="en"/>
              <a:t>{1}, {2}, {3}, {4}, {5}, {6}: disjoint events, {1} </a:t>
            </a:r>
            <a:r>
              <a:rPr lang="en">
                <a:solidFill>
                  <a:schemeClr val="dk1"/>
                </a:solidFill>
              </a:rPr>
              <a:t>∪</a:t>
            </a:r>
            <a:r>
              <a:rPr lang="en"/>
              <a:t> {2} </a:t>
            </a:r>
            <a:r>
              <a:rPr lang="en">
                <a:solidFill>
                  <a:schemeClr val="dk1"/>
                </a:solidFill>
              </a:rPr>
              <a:t>∪ </a:t>
            </a:r>
            <a:r>
              <a:rPr lang="en"/>
              <a:t>{3} </a:t>
            </a:r>
            <a:r>
              <a:rPr lang="en">
                <a:solidFill>
                  <a:schemeClr val="dk1"/>
                </a:solidFill>
              </a:rPr>
              <a:t>∪</a:t>
            </a:r>
            <a:r>
              <a:rPr lang="en"/>
              <a:t> {4} </a:t>
            </a:r>
            <a:r>
              <a:rPr lang="en">
                <a:solidFill>
                  <a:schemeClr val="dk1"/>
                </a:solidFill>
              </a:rPr>
              <a:t>∪</a:t>
            </a:r>
            <a:r>
              <a:rPr lang="en"/>
              <a:t> {5} </a:t>
            </a:r>
            <a:r>
              <a:rPr lang="en">
                <a:solidFill>
                  <a:schemeClr val="dk1"/>
                </a:solidFill>
              </a:rPr>
              <a:t>∪</a:t>
            </a:r>
            <a:r>
              <a:rPr lang="en"/>
              <a:t> {6} = </a:t>
            </a:r>
            <a:r>
              <a:rPr i="1" lang="en"/>
              <a:t>S</a:t>
            </a:r>
            <a:endParaRPr/>
          </a:p>
          <a:p>
            <a:pPr indent="-342900" lvl="0" marL="457200" rtl="0" algn="l">
              <a:lnSpc>
                <a:spcPct val="115000"/>
              </a:lnSpc>
              <a:spcBef>
                <a:spcPts val="0"/>
              </a:spcBef>
              <a:spcAft>
                <a:spcPts val="0"/>
              </a:spcAft>
              <a:buSzPts val="1800"/>
              <a:buChar char="●"/>
            </a:pPr>
            <a:r>
              <a:rPr lang="en"/>
              <a:t>By Axiom 2, </a:t>
            </a:r>
            <a:r>
              <a:rPr i="1" lang="en"/>
              <a:t>p</a:t>
            </a:r>
            <a:r>
              <a:rPr baseline="-25000" lang="en"/>
              <a:t>1</a:t>
            </a:r>
            <a:r>
              <a:rPr lang="en"/>
              <a:t> + </a:t>
            </a:r>
            <a:r>
              <a:rPr i="1" lang="en"/>
              <a:t>p</a:t>
            </a:r>
            <a:r>
              <a:rPr baseline="-25000" lang="en"/>
              <a:t>2</a:t>
            </a:r>
            <a:r>
              <a:rPr lang="en"/>
              <a:t> + </a:t>
            </a:r>
            <a:r>
              <a:rPr i="1" lang="en"/>
              <a:t>p</a:t>
            </a:r>
            <a:r>
              <a:rPr baseline="-25000" lang="en"/>
              <a:t>3</a:t>
            </a:r>
            <a:r>
              <a:rPr lang="en"/>
              <a:t> + </a:t>
            </a:r>
            <a:r>
              <a:rPr i="1" lang="en"/>
              <a:t>p</a:t>
            </a:r>
            <a:r>
              <a:rPr baseline="-25000" lang="en"/>
              <a:t>4</a:t>
            </a:r>
            <a:r>
              <a:rPr lang="en"/>
              <a:t> + </a:t>
            </a:r>
            <a:r>
              <a:rPr i="1" lang="en"/>
              <a:t>p</a:t>
            </a:r>
            <a:r>
              <a:rPr baseline="-25000" lang="en"/>
              <a:t>5</a:t>
            </a:r>
            <a:r>
              <a:rPr lang="en"/>
              <a:t> + </a:t>
            </a:r>
            <a:r>
              <a:rPr i="1" lang="en"/>
              <a:t>p</a:t>
            </a:r>
            <a:r>
              <a:rPr baseline="-25000" lang="en"/>
              <a:t>6</a:t>
            </a:r>
            <a:r>
              <a:rPr lang="en"/>
              <a:t> = P(</a:t>
            </a:r>
            <a:r>
              <a:rPr i="1" lang="en"/>
              <a:t>S</a:t>
            </a:r>
            <a:r>
              <a:rPr lang="en"/>
              <a:t>) = 1</a:t>
            </a:r>
            <a:endParaRPr/>
          </a:p>
          <a:p>
            <a:pPr indent="-342900" lvl="0" marL="457200" rtl="0" algn="l">
              <a:lnSpc>
                <a:spcPct val="115000"/>
              </a:lnSpc>
              <a:spcBef>
                <a:spcPts val="0"/>
              </a:spcBef>
              <a:spcAft>
                <a:spcPts val="0"/>
              </a:spcAft>
              <a:buSzPts val="1800"/>
              <a:buChar char="●"/>
            </a:pPr>
            <a:r>
              <a:rPr lang="en"/>
              <a:t>Fair die</a:t>
            </a:r>
            <a:br>
              <a:rPr lang="en"/>
            </a:br>
            <a:r>
              <a:rPr lang="en"/>
              <a:t>All </a:t>
            </a:r>
            <a:r>
              <a:rPr i="1" lang="en"/>
              <a:t>p</a:t>
            </a:r>
            <a:r>
              <a:rPr baseline="-25000" lang="en"/>
              <a:t>i</a:t>
            </a:r>
            <a:r>
              <a:rPr lang="en"/>
              <a:t> are equal. So, </a:t>
            </a:r>
            <a:r>
              <a:rPr i="1" lang="en"/>
              <a:t>p</a:t>
            </a:r>
            <a:r>
              <a:rPr baseline="-25000" lang="en"/>
              <a:t>1</a:t>
            </a:r>
            <a:r>
              <a:rPr lang="en"/>
              <a:t> = </a:t>
            </a:r>
            <a:r>
              <a:rPr i="1" lang="en"/>
              <a:t>p</a:t>
            </a:r>
            <a:r>
              <a:rPr baseline="-25000" lang="en"/>
              <a:t>2</a:t>
            </a:r>
            <a:r>
              <a:rPr lang="en"/>
              <a:t> = </a:t>
            </a:r>
            <a:r>
              <a:rPr i="1" lang="en"/>
              <a:t>p</a:t>
            </a:r>
            <a:r>
              <a:rPr baseline="-25000" lang="en"/>
              <a:t>3</a:t>
            </a:r>
            <a:r>
              <a:rPr lang="en"/>
              <a:t> = </a:t>
            </a:r>
            <a:r>
              <a:rPr i="1" lang="en"/>
              <a:t>p</a:t>
            </a:r>
            <a:r>
              <a:rPr baseline="-25000" lang="en"/>
              <a:t>4</a:t>
            </a:r>
            <a:r>
              <a:rPr lang="en"/>
              <a:t> = </a:t>
            </a:r>
            <a:r>
              <a:rPr i="1" lang="en"/>
              <a:t>p</a:t>
            </a:r>
            <a:r>
              <a:rPr baseline="-25000" lang="en"/>
              <a:t>5</a:t>
            </a:r>
            <a:r>
              <a:rPr lang="en"/>
              <a:t> = </a:t>
            </a:r>
            <a:r>
              <a:rPr i="1" lang="en"/>
              <a:t>p</a:t>
            </a:r>
            <a:r>
              <a:rPr baseline="-25000" lang="en"/>
              <a:t>6</a:t>
            </a:r>
            <a:r>
              <a:rPr lang="en"/>
              <a:t> = 1/6</a:t>
            </a:r>
            <a:br>
              <a:rPr lang="en"/>
            </a:br>
            <a:r>
              <a:rPr lang="en"/>
              <a:t>Called “equally likely outcomes”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3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Example: Throw a die (continued)</a:t>
            </a:r>
            <a:endParaRPr/>
          </a:p>
        </p:txBody>
      </p:sp>
      <p:sp>
        <p:nvSpPr>
          <p:cNvPr id="303" name="Google Shape;303;p34"/>
          <p:cNvSpPr txBox="1"/>
          <p:nvPr>
            <p:ph idx="1" type="body"/>
          </p:nvPr>
        </p:nvSpPr>
        <p:spPr>
          <a:xfrm>
            <a:off x="311700" y="1152475"/>
            <a:ext cx="8520600" cy="3788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Probability of any subset is easy to compute</a:t>
            </a:r>
            <a:endParaRPr/>
          </a:p>
          <a:p>
            <a:pPr indent="0" lvl="0" marL="0" rtl="0" algn="l">
              <a:lnSpc>
                <a:spcPct val="115000"/>
              </a:lnSpc>
              <a:spcBef>
                <a:spcPts val="1600"/>
              </a:spcBef>
              <a:spcAft>
                <a:spcPts val="0"/>
              </a:spcAft>
              <a:buSzPts val="1800"/>
              <a:buNone/>
            </a:pPr>
            <a:r>
              <a:rPr lang="en"/>
              <a:t>	P({1,3,5}) = P({1} ∪ {3} ∪ {5}) = P({1}) + P({3}) + P({5}) = </a:t>
            </a:r>
            <a:r>
              <a:rPr i="1" lang="en"/>
              <a:t>p</a:t>
            </a:r>
            <a:r>
              <a:rPr baseline="-25000" lang="en"/>
              <a:t>1</a:t>
            </a:r>
            <a:r>
              <a:rPr lang="en"/>
              <a:t> + </a:t>
            </a:r>
            <a:r>
              <a:rPr i="1" lang="en"/>
              <a:t>p</a:t>
            </a:r>
            <a:r>
              <a:rPr baseline="-25000" lang="en"/>
              <a:t>3</a:t>
            </a:r>
            <a:r>
              <a:rPr lang="en"/>
              <a:t> + </a:t>
            </a:r>
            <a:r>
              <a:rPr i="1" lang="en"/>
              <a:t>p</a:t>
            </a:r>
            <a:r>
              <a:rPr baseline="-25000" lang="en"/>
              <a:t>5</a:t>
            </a:r>
            <a:endParaRPr/>
          </a:p>
          <a:p>
            <a:pPr indent="0" lvl="0" marL="0" rtl="0" algn="l">
              <a:lnSpc>
                <a:spcPct val="115000"/>
              </a:lnSpc>
              <a:spcBef>
                <a:spcPts val="1600"/>
              </a:spcBef>
              <a:spcAft>
                <a:spcPts val="0"/>
              </a:spcAft>
              <a:buSzPts val="1800"/>
              <a:buNone/>
            </a:pPr>
            <a:r>
              <a:rPr lang="en"/>
              <a:t>	Similarly, one can compute P(E) for any event E</a:t>
            </a:r>
            <a:endParaRPr/>
          </a:p>
          <a:p>
            <a:pPr indent="-342900" lvl="0" marL="457200" rtl="0" algn="l">
              <a:lnSpc>
                <a:spcPct val="115000"/>
              </a:lnSpc>
              <a:spcBef>
                <a:spcPts val="1600"/>
              </a:spcBef>
              <a:spcAft>
                <a:spcPts val="0"/>
              </a:spcAft>
              <a:buSzPts val="1800"/>
              <a:buChar char="●"/>
            </a:pPr>
            <a:r>
              <a:rPr lang="en"/>
              <a:t>Fair die: equally likely outcomes</a:t>
            </a:r>
            <a:endParaRPr/>
          </a:p>
          <a:p>
            <a:pPr indent="0" lvl="0" marL="0" rtl="0" algn="l">
              <a:lnSpc>
                <a:spcPct val="115000"/>
              </a:lnSpc>
              <a:spcBef>
                <a:spcPts val="1600"/>
              </a:spcBef>
              <a:spcAft>
                <a:spcPts val="0"/>
              </a:spcAft>
              <a:buSzPts val="1800"/>
              <a:buNone/>
            </a:pPr>
            <a:r>
              <a:rPr lang="en"/>
              <a:t>	</a:t>
            </a:r>
            <a:r>
              <a:rPr i="1" lang="en"/>
              <a:t>p</a:t>
            </a:r>
            <a:r>
              <a:rPr baseline="-25000" lang="en"/>
              <a:t>i</a:t>
            </a:r>
            <a:r>
              <a:rPr lang="en"/>
              <a:t> = 1/6</a:t>
            </a:r>
            <a:endParaRPr/>
          </a:p>
          <a:p>
            <a:pPr indent="0" lvl="0" marL="457200" rtl="0" algn="l">
              <a:lnSpc>
                <a:spcPct val="115000"/>
              </a:lnSpc>
              <a:spcBef>
                <a:spcPts val="1600"/>
              </a:spcBef>
              <a:spcAft>
                <a:spcPts val="0"/>
              </a:spcAft>
              <a:buSzPts val="1800"/>
              <a:buNone/>
            </a:pPr>
            <a:r>
              <a:rPr lang="en"/>
              <a:t>P(E) = (no of outcomes in E) / (no of outcomes in </a:t>
            </a:r>
            <a:r>
              <a:rPr i="1" lang="en"/>
              <a:t>S</a:t>
            </a:r>
            <a:r>
              <a:rPr lang="en"/>
              <a:t>)</a:t>
            </a:r>
            <a:endParaRPr/>
          </a:p>
          <a:p>
            <a:pPr indent="0" lvl="0" marL="457200" rtl="0" algn="l">
              <a:lnSpc>
                <a:spcPct val="115000"/>
              </a:lnSpc>
              <a:spcBef>
                <a:spcPts val="1600"/>
              </a:spcBef>
              <a:spcAft>
                <a:spcPts val="1600"/>
              </a:spcAft>
              <a:buSzPts val="1800"/>
              <a:buNone/>
            </a:pPr>
            <a:r>
              <a:rPr lang="en"/>
              <a:t>P({1,3,5}) = 3/6, P({2,4}) = 2/6 etc</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Distributions</a:t>
            </a:r>
            <a:endParaRPr/>
          </a:p>
        </p:txBody>
      </p:sp>
      <p:sp>
        <p:nvSpPr>
          <p:cNvPr id="309" name="Google Shape;309;p35"/>
          <p:cNvSpPr txBox="1"/>
          <p:nvPr>
            <p:ph idx="1" type="body"/>
          </p:nvPr>
        </p:nvSpPr>
        <p:spPr>
          <a:xfrm>
            <a:off x="311700" y="1152475"/>
            <a:ext cx="8520600" cy="38751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Assign probabilities to individual outcomes</a:t>
            </a:r>
            <a:endParaRPr/>
          </a:p>
          <a:p>
            <a:pPr indent="-342900" lvl="0" marL="457200" rtl="0" algn="l">
              <a:lnSpc>
                <a:spcPct val="115000"/>
              </a:lnSpc>
              <a:spcBef>
                <a:spcPts val="0"/>
              </a:spcBef>
              <a:spcAft>
                <a:spcPts val="0"/>
              </a:spcAft>
              <a:buSzPts val="1800"/>
              <a:buChar char="●"/>
            </a:pPr>
            <a:r>
              <a:rPr lang="en"/>
              <a:t>When is this possible? </a:t>
            </a:r>
            <a:endParaRPr/>
          </a:p>
          <a:p>
            <a:pPr indent="-317500" lvl="1" marL="914400" rtl="0" algn="l">
              <a:lnSpc>
                <a:spcPct val="115000"/>
              </a:lnSpc>
              <a:spcBef>
                <a:spcPts val="0"/>
              </a:spcBef>
              <a:spcAft>
                <a:spcPts val="0"/>
              </a:spcAft>
              <a:buSzPts val="1400"/>
              <a:buChar char="○"/>
            </a:pPr>
            <a:r>
              <a:rPr lang="en"/>
              <a:t>When the outcomes can be enumerated as first, second, third and so on (called countable sample space)</a:t>
            </a:r>
            <a:endParaRPr/>
          </a:p>
          <a:p>
            <a:pPr indent="-317500" lvl="1" marL="914400" rtl="0" algn="l">
              <a:lnSpc>
                <a:spcPct val="115000"/>
              </a:lnSpc>
              <a:spcBef>
                <a:spcPts val="0"/>
              </a:spcBef>
              <a:spcAft>
                <a:spcPts val="0"/>
              </a:spcAft>
              <a:buSzPts val="1400"/>
              <a:buChar char="○"/>
            </a:pPr>
            <a:r>
              <a:rPr lang="en"/>
              <a:t>Finite sample space - yes, this is a special case of countable</a:t>
            </a:r>
            <a:endParaRPr/>
          </a:p>
          <a:p>
            <a:pPr indent="-342900" lvl="0" marL="457200" rtl="0" algn="l">
              <a:lnSpc>
                <a:spcPct val="115000"/>
              </a:lnSpc>
              <a:spcBef>
                <a:spcPts val="0"/>
              </a:spcBef>
              <a:spcAft>
                <a:spcPts val="0"/>
              </a:spcAft>
              <a:buSzPts val="1800"/>
              <a:buChar char="●"/>
            </a:pPr>
            <a:r>
              <a:rPr lang="en"/>
              <a:t>Example - Uniform distribution on a finite sample space</a:t>
            </a:r>
            <a:endParaRPr/>
          </a:p>
          <a:p>
            <a:pPr indent="-317500" lvl="1" marL="914400" rtl="0" algn="l">
              <a:lnSpc>
                <a:spcPct val="115000"/>
              </a:lnSpc>
              <a:spcBef>
                <a:spcPts val="0"/>
              </a:spcBef>
              <a:spcAft>
                <a:spcPts val="0"/>
              </a:spcAft>
              <a:buSzPts val="1400"/>
              <a:buChar char="○"/>
            </a:pPr>
            <a:r>
              <a:rPr i="1" lang="en"/>
              <a:t>S</a:t>
            </a:r>
            <a:r>
              <a:rPr lang="en"/>
              <a:t> = { finite number of outcomes } </a:t>
            </a:r>
            <a:endParaRPr/>
          </a:p>
          <a:p>
            <a:pPr indent="-317500" lvl="1" marL="914400" rtl="0" algn="l">
              <a:lnSpc>
                <a:spcPct val="115000"/>
              </a:lnSpc>
              <a:spcBef>
                <a:spcPts val="0"/>
              </a:spcBef>
              <a:spcAft>
                <a:spcPts val="0"/>
              </a:spcAft>
              <a:buSzPts val="1400"/>
              <a:buChar char="○"/>
            </a:pPr>
            <a:r>
              <a:rPr lang="en"/>
              <a:t>Equally likely outcomes - assign the same probability to each outcome</a:t>
            </a:r>
            <a:endParaRPr/>
          </a:p>
          <a:p>
            <a:pPr indent="-317500" lvl="1" marL="914400" rtl="0" algn="l">
              <a:lnSpc>
                <a:spcPct val="115000"/>
              </a:lnSpc>
              <a:spcBef>
                <a:spcPts val="0"/>
              </a:spcBef>
              <a:spcAft>
                <a:spcPts val="0"/>
              </a:spcAft>
              <a:buSzPts val="1400"/>
              <a:buChar char="○"/>
            </a:pPr>
            <a:r>
              <a:rPr lang="en"/>
              <a:t>P(one outcome) = 1 / |</a:t>
            </a:r>
            <a:r>
              <a:rPr i="1" lang="en"/>
              <a:t>S</a:t>
            </a:r>
            <a:r>
              <a:rPr lang="en"/>
              <a:t>|, i.e. probability of an outcome = 1 / (no of outcomes in </a:t>
            </a:r>
            <a:r>
              <a:rPr i="1" lang="en"/>
              <a:t>S</a:t>
            </a:r>
            <a:r>
              <a:rPr lang="en"/>
              <a:t>)</a:t>
            </a:r>
            <a:endParaRPr/>
          </a:p>
          <a:p>
            <a:pPr indent="-317500" lvl="1" marL="914400" rtl="0" algn="l">
              <a:lnSpc>
                <a:spcPct val="115000"/>
              </a:lnSpc>
              <a:spcBef>
                <a:spcPts val="0"/>
              </a:spcBef>
              <a:spcAft>
                <a:spcPts val="0"/>
              </a:spcAft>
              <a:buSzPts val="1400"/>
              <a:buChar char="○"/>
            </a:pPr>
            <a:r>
              <a:rPr lang="en"/>
              <a:t>P(event) = (no of outcomes in event) / (no of outcomes in </a:t>
            </a:r>
            <a:r>
              <a:rPr i="1" lang="en"/>
              <a:t>S</a:t>
            </a:r>
            <a:r>
              <a:rPr lang="en"/>
              <a:t>)</a:t>
            </a:r>
            <a:endParaRPr/>
          </a:p>
          <a:p>
            <a:pPr indent="0" lvl="0" marL="914400" rtl="0" algn="ctr">
              <a:lnSpc>
                <a:spcPct val="115000"/>
              </a:lnSpc>
              <a:spcBef>
                <a:spcPts val="1600"/>
              </a:spcBef>
              <a:spcAft>
                <a:spcPts val="1600"/>
              </a:spcAft>
              <a:buSzPts val="1800"/>
              <a:buNone/>
            </a:pPr>
            <a:r>
              <a:rPr lang="en"/>
              <a:t>Uniform distribution on a finite sample space</a:t>
            </a:r>
            <a:br>
              <a:rPr lang="en"/>
            </a:br>
            <a:r>
              <a:rPr lang="en" sz="1600"/>
              <a:t>P(event) = (no of favourable outcomes) / (total no of outcomes)</a:t>
            </a:r>
            <a:endParaRPr sz="16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Example: Marbles in an urn</a:t>
            </a:r>
            <a:endParaRPr/>
          </a:p>
        </p:txBody>
      </p:sp>
      <p:sp>
        <p:nvSpPr>
          <p:cNvPr id="315" name="Google Shape;315;p36"/>
          <p:cNvSpPr txBox="1"/>
          <p:nvPr>
            <p:ph idx="1" type="body"/>
          </p:nvPr>
        </p:nvSpPr>
        <p:spPr>
          <a:xfrm>
            <a:off x="311700" y="11524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800"/>
              <a:buNone/>
            </a:pPr>
            <a:r>
              <a:rPr lang="en"/>
              <a:t>5 red and 8 blue marbles in an urn. Pick a marble from the urn at random.</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Example: Throw two dice</a:t>
            </a:r>
            <a:endParaRPr/>
          </a:p>
        </p:txBody>
      </p:sp>
      <p:sp>
        <p:nvSpPr>
          <p:cNvPr id="321" name="Google Shape;321;p37"/>
          <p:cNvSpPr txBox="1"/>
          <p:nvPr>
            <p:ph idx="1" type="body"/>
          </p:nvPr>
        </p:nvSpPr>
        <p:spPr>
          <a:xfrm>
            <a:off x="311700" y="1152475"/>
            <a:ext cx="8520600" cy="637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800"/>
              <a:buNone/>
            </a:pPr>
            <a:r>
              <a:rPr lang="en"/>
              <a:t>Throw two dice. What is the probability that the sum of the two numbers is 8?</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3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Example: Lost keys</a:t>
            </a:r>
            <a:endParaRPr/>
          </a:p>
        </p:txBody>
      </p:sp>
      <p:sp>
        <p:nvSpPr>
          <p:cNvPr id="327" name="Google Shape;327;p38"/>
          <p:cNvSpPr txBox="1"/>
          <p:nvPr>
            <p:ph idx="1" type="body"/>
          </p:nvPr>
        </p:nvSpPr>
        <p:spPr>
          <a:xfrm>
            <a:off x="311700" y="1152475"/>
            <a:ext cx="8520600" cy="1419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800"/>
              <a:buNone/>
            </a:pPr>
            <a:r>
              <a:rPr lang="en"/>
              <a:t>Key to an apartment has been lost and the person living there is given 50 possible keys by security personnel. One key after another is tried till the matching key is found. How will you describe the outcomes and the sample space? Is the uniform distribution a reasonable one?</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Example: Mixed-up hats</a:t>
            </a:r>
            <a:endParaRPr/>
          </a:p>
        </p:txBody>
      </p:sp>
      <p:sp>
        <p:nvSpPr>
          <p:cNvPr id="333" name="Google Shape;333;p39"/>
          <p:cNvSpPr txBox="1"/>
          <p:nvPr>
            <p:ph idx="1" type="body"/>
          </p:nvPr>
        </p:nvSpPr>
        <p:spPr>
          <a:xfrm>
            <a:off x="311700" y="1152475"/>
            <a:ext cx="8520600" cy="834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800"/>
              <a:buNone/>
            </a:pPr>
            <a:r>
              <a:rPr lang="en"/>
              <a:t>The hats of 3 persons are identical and get mixed up. Each person picks a hat at random. What is the probability that none of the persons get their own hat?</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40"/>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a:t>Conditional Probability</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Motivation</a:t>
            </a:r>
            <a:endParaRPr/>
          </a:p>
        </p:txBody>
      </p:sp>
      <p:sp>
        <p:nvSpPr>
          <p:cNvPr id="344" name="Google Shape;344;p41"/>
          <p:cNvSpPr txBox="1"/>
          <p:nvPr>
            <p:ph idx="1" type="body"/>
          </p:nvPr>
        </p:nvSpPr>
        <p:spPr>
          <a:xfrm>
            <a:off x="311700" y="1152475"/>
            <a:ext cx="8520600" cy="39330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Experiment contains a sequence of steps - one after another</a:t>
            </a:r>
            <a:endParaRPr/>
          </a:p>
          <a:p>
            <a:pPr indent="-317500" lvl="1" marL="914400" rtl="0" algn="l">
              <a:lnSpc>
                <a:spcPct val="115000"/>
              </a:lnSpc>
              <a:spcBef>
                <a:spcPts val="0"/>
              </a:spcBef>
              <a:spcAft>
                <a:spcPts val="0"/>
              </a:spcAft>
              <a:buSzPts val="1400"/>
              <a:buChar char="○"/>
            </a:pPr>
            <a:r>
              <a:rPr lang="en"/>
              <a:t>Ex: Toss a coin three times, throw a die 2 times, IPL over (one delivery after another)</a:t>
            </a:r>
            <a:endParaRPr/>
          </a:p>
          <a:p>
            <a:pPr indent="-342900" lvl="0" marL="457200" rtl="0" algn="l">
              <a:lnSpc>
                <a:spcPct val="115000"/>
              </a:lnSpc>
              <a:spcBef>
                <a:spcPts val="0"/>
              </a:spcBef>
              <a:spcAft>
                <a:spcPts val="0"/>
              </a:spcAft>
              <a:buSzPts val="1800"/>
              <a:buChar char="●"/>
            </a:pPr>
            <a:r>
              <a:rPr lang="en"/>
              <a:t>Initial probability space - no step has been completed</a:t>
            </a:r>
            <a:endParaRPr/>
          </a:p>
          <a:p>
            <a:pPr indent="-342900" lvl="0" marL="457200" rtl="0" algn="l">
              <a:lnSpc>
                <a:spcPct val="115000"/>
              </a:lnSpc>
              <a:spcBef>
                <a:spcPts val="0"/>
              </a:spcBef>
              <a:spcAft>
                <a:spcPts val="0"/>
              </a:spcAft>
              <a:buSzPts val="1800"/>
              <a:buChar char="●"/>
            </a:pPr>
            <a:r>
              <a:rPr lang="en"/>
              <a:t>Suppose you observe the result after the first step. What happens to the probability space?</a:t>
            </a:r>
            <a:endParaRPr/>
          </a:p>
          <a:p>
            <a:pPr indent="-317500" lvl="1" marL="914400" rtl="0" algn="l">
              <a:lnSpc>
                <a:spcPct val="115000"/>
              </a:lnSpc>
              <a:spcBef>
                <a:spcPts val="0"/>
              </a:spcBef>
              <a:spcAft>
                <a:spcPts val="0"/>
              </a:spcAft>
              <a:buSzPts val="1400"/>
              <a:buChar char="○"/>
            </a:pPr>
            <a:r>
              <a:rPr lang="en"/>
              <a:t>Example: Toss a coin three times</a:t>
            </a:r>
            <a:endParaRPr/>
          </a:p>
          <a:p>
            <a:pPr indent="-317500" lvl="2" marL="1371600" rtl="0" algn="l">
              <a:lnSpc>
                <a:spcPct val="115000"/>
              </a:lnSpc>
              <a:spcBef>
                <a:spcPts val="0"/>
              </a:spcBef>
              <a:spcAft>
                <a:spcPts val="0"/>
              </a:spcAft>
              <a:buSzPts val="1400"/>
              <a:buChar char="■"/>
            </a:pPr>
            <a:r>
              <a:rPr lang="en"/>
              <a:t>Initial sample space: {HHH, HHT, HTH, HTT, THH, THT, TTH, TTT} </a:t>
            </a:r>
            <a:endParaRPr/>
          </a:p>
          <a:p>
            <a:pPr indent="-317500" lvl="2" marL="1371600" rtl="0" algn="l">
              <a:lnSpc>
                <a:spcPct val="115000"/>
              </a:lnSpc>
              <a:spcBef>
                <a:spcPts val="0"/>
              </a:spcBef>
              <a:spcAft>
                <a:spcPts val="0"/>
              </a:spcAft>
              <a:buSzPts val="1400"/>
              <a:buChar char="■"/>
            </a:pPr>
            <a:r>
              <a:rPr lang="en"/>
              <a:t>Let Event B: first toss results in tails. Suppose Event B occurs.</a:t>
            </a:r>
            <a:endParaRPr/>
          </a:p>
          <a:p>
            <a:pPr indent="-317500" lvl="2" marL="1371600" rtl="0" algn="l">
              <a:lnSpc>
                <a:spcPct val="115000"/>
              </a:lnSpc>
              <a:spcBef>
                <a:spcPts val="0"/>
              </a:spcBef>
              <a:spcAft>
                <a:spcPts val="0"/>
              </a:spcAft>
              <a:buSzPts val="1400"/>
              <a:buChar char="■"/>
            </a:pPr>
            <a:r>
              <a:rPr lang="en"/>
              <a:t>Can we get a smaller probability space to work on for the second and third tosses? Yes</a:t>
            </a:r>
            <a:endParaRPr/>
          </a:p>
          <a:p>
            <a:pPr indent="-317500" lvl="3" marL="1828800" rtl="0" algn="l">
              <a:lnSpc>
                <a:spcPct val="115000"/>
              </a:lnSpc>
              <a:spcBef>
                <a:spcPts val="0"/>
              </a:spcBef>
              <a:spcAft>
                <a:spcPts val="0"/>
              </a:spcAft>
              <a:buSzPts val="1400"/>
              <a:buChar char="●"/>
            </a:pPr>
            <a:r>
              <a:rPr lang="en"/>
              <a:t>Sample space becomes B: {THH, THT, TTH, TTT} </a:t>
            </a:r>
            <a:endParaRPr/>
          </a:p>
          <a:p>
            <a:pPr indent="-317500" lvl="3" marL="1828800" rtl="0" algn="l">
              <a:lnSpc>
                <a:spcPct val="115000"/>
              </a:lnSpc>
              <a:spcBef>
                <a:spcPts val="0"/>
              </a:spcBef>
              <a:spcAft>
                <a:spcPts val="0"/>
              </a:spcAft>
              <a:buSzPts val="1400"/>
              <a:buChar char="●"/>
            </a:pPr>
            <a:r>
              <a:rPr lang="en"/>
              <a:t>Events and probability function: can be redefined to account for occurrence of B</a:t>
            </a:r>
            <a:endParaRPr/>
          </a:p>
          <a:p>
            <a:pPr indent="0" lvl="0" marL="0" rtl="0" algn="ctr">
              <a:lnSpc>
                <a:spcPct val="115000"/>
              </a:lnSpc>
              <a:spcBef>
                <a:spcPts val="1600"/>
              </a:spcBef>
              <a:spcAft>
                <a:spcPts val="1600"/>
              </a:spcAft>
              <a:buSzPts val="1800"/>
              <a:buNone/>
            </a:pPr>
            <a:r>
              <a:rPr lang="en"/>
              <a:t>Initial probability space: splits into Event that occurred and </a:t>
            </a:r>
            <a:br>
              <a:rPr lang="en"/>
            </a:br>
            <a:r>
              <a:rPr lang="en"/>
              <a:t>“Conditional” probability space given that the event occurred</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Conditional Probability Space</a:t>
            </a:r>
            <a:endParaRPr/>
          </a:p>
        </p:txBody>
      </p:sp>
      <p:sp>
        <p:nvSpPr>
          <p:cNvPr id="350" name="Google Shape;350;p42"/>
          <p:cNvSpPr txBox="1"/>
          <p:nvPr>
            <p:ph idx="1" type="body"/>
          </p:nvPr>
        </p:nvSpPr>
        <p:spPr>
          <a:xfrm>
            <a:off x="311700" y="1152475"/>
            <a:ext cx="8520600" cy="811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800"/>
              <a:buNone/>
            </a:pPr>
            <a:r>
              <a:rPr lang="en"/>
              <a:t>Consider a probability space: Sample space </a:t>
            </a:r>
            <a:r>
              <a:rPr i="1" lang="en"/>
              <a:t>S</a:t>
            </a:r>
            <a:r>
              <a:rPr lang="en"/>
              <a:t>, Collection of Events, Probability function P. Let B be an event with P(B) &gt; 0.</a:t>
            </a:r>
            <a:endParaRPr/>
          </a:p>
        </p:txBody>
      </p:sp>
      <p:sp>
        <p:nvSpPr>
          <p:cNvPr id="351" name="Google Shape;351;p42"/>
          <p:cNvSpPr txBox="1"/>
          <p:nvPr/>
        </p:nvSpPr>
        <p:spPr>
          <a:xfrm>
            <a:off x="317550" y="2053825"/>
            <a:ext cx="5955300" cy="18039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980000"/>
                </a:solidFill>
                <a:latin typeface="Arial"/>
                <a:ea typeface="Arial"/>
                <a:cs typeface="Arial"/>
                <a:sym typeface="Arial"/>
              </a:rPr>
              <a:t>DEFINITION</a:t>
            </a:r>
            <a:r>
              <a:rPr b="0" i="0" lang="en" sz="1800" u="none" cap="none" strike="noStrike">
                <a:solidFill>
                  <a:srgbClr val="000000"/>
                </a:solidFill>
                <a:latin typeface="Arial"/>
                <a:ea typeface="Arial"/>
                <a:cs typeface="Arial"/>
                <a:sym typeface="Arial"/>
              </a:rPr>
              <a:t> (</a:t>
            </a:r>
            <a:r>
              <a:rPr b="1" i="0" lang="en" sz="1800" u="none" cap="none" strike="noStrike">
                <a:solidFill>
                  <a:srgbClr val="000000"/>
                </a:solidFill>
                <a:latin typeface="Arial"/>
                <a:ea typeface="Arial"/>
                <a:cs typeface="Arial"/>
                <a:sym typeface="Arial"/>
              </a:rPr>
              <a:t>Conditional Probability Space Given B</a:t>
            </a:r>
            <a:r>
              <a:rPr b="0" i="0" lang="en" sz="1800" u="none" cap="none" strike="noStrike">
                <a:solidFill>
                  <a:srgbClr val="000000"/>
                </a:solidFill>
                <a:latin typeface="Arial"/>
                <a:ea typeface="Arial"/>
                <a:cs typeface="Arial"/>
                <a:sym typeface="Arial"/>
              </a:rPr>
              <a:t>) </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Sample space: B </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Events: A ⋂ B for every event A in original space</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Probability function: P(A ⋂ B) / P(B) </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(denoted P(A | B) and called </a:t>
            </a:r>
            <a:r>
              <a:rPr b="0" i="1" lang="en" sz="1800" u="none" cap="none" strike="noStrike">
                <a:solidFill>
                  <a:srgbClr val="000000"/>
                </a:solidFill>
                <a:latin typeface="Arial"/>
                <a:ea typeface="Arial"/>
                <a:cs typeface="Arial"/>
                <a:sym typeface="Arial"/>
              </a:rPr>
              <a:t>conditional probability of </a:t>
            </a:r>
            <a:r>
              <a:rPr b="0" i="0" lang="en" sz="1800" u="none" cap="none" strike="noStrike">
                <a:solidFill>
                  <a:srgbClr val="000000"/>
                </a:solidFill>
                <a:latin typeface="Arial"/>
                <a:ea typeface="Arial"/>
                <a:cs typeface="Arial"/>
                <a:sym typeface="Arial"/>
              </a:rPr>
              <a:t>A given B) </a:t>
            </a:r>
            <a:endParaRPr b="0" i="0" sz="1800" u="none" cap="none" strike="noStrike">
              <a:solidFill>
                <a:srgbClr val="000000"/>
              </a:solidFill>
              <a:latin typeface="Arial"/>
              <a:ea typeface="Arial"/>
              <a:cs typeface="Arial"/>
              <a:sym typeface="Arial"/>
            </a:endParaRPr>
          </a:p>
        </p:txBody>
      </p:sp>
      <p:sp>
        <p:nvSpPr>
          <p:cNvPr id="352" name="Google Shape;352;p42"/>
          <p:cNvSpPr txBox="1"/>
          <p:nvPr/>
        </p:nvSpPr>
        <p:spPr>
          <a:xfrm>
            <a:off x="1480350" y="4040700"/>
            <a:ext cx="3629700" cy="738900"/>
          </a:xfrm>
          <a:prstGeom prst="rect">
            <a:avLst/>
          </a:prstGeom>
          <a:noFill/>
          <a:ln cap="flat" cmpd="sng" w="3810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Arial"/>
                <a:ea typeface="Arial"/>
                <a:cs typeface="Arial"/>
                <a:sym typeface="Arial"/>
              </a:rPr>
              <a:t>For any event A in original space, </a:t>
            </a:r>
            <a:br>
              <a:rPr b="0" i="0" lang="en" sz="1800" u="none" cap="none" strike="noStrike">
                <a:solidFill>
                  <a:schemeClr val="dk1"/>
                </a:solidFill>
                <a:latin typeface="Arial"/>
                <a:ea typeface="Arial"/>
                <a:cs typeface="Arial"/>
                <a:sym typeface="Arial"/>
              </a:rPr>
            </a:br>
            <a:r>
              <a:rPr b="0" i="0" lang="en" sz="1800" u="none" cap="none" strike="noStrike">
                <a:solidFill>
                  <a:schemeClr val="dk1"/>
                </a:solidFill>
                <a:latin typeface="Arial"/>
                <a:ea typeface="Arial"/>
                <a:cs typeface="Arial"/>
                <a:sym typeface="Arial"/>
              </a:rPr>
              <a:t>P(A ⋂ B) = P(B) P(A | B) </a:t>
            </a:r>
            <a:endParaRPr b="0" i="0" sz="1800" u="none" cap="none" strike="noStrike">
              <a:solidFill>
                <a:schemeClr val="dk1"/>
              </a:solidFill>
              <a:latin typeface="Arial"/>
              <a:ea typeface="Arial"/>
              <a:cs typeface="Arial"/>
              <a:sym typeface="Arial"/>
            </a:endParaRPr>
          </a:p>
        </p:txBody>
      </p:sp>
      <p:grpSp>
        <p:nvGrpSpPr>
          <p:cNvPr id="353" name="Google Shape;353;p42"/>
          <p:cNvGrpSpPr/>
          <p:nvPr/>
        </p:nvGrpSpPr>
        <p:grpSpPr>
          <a:xfrm>
            <a:off x="6967675" y="1957250"/>
            <a:ext cx="1843500" cy="2765275"/>
            <a:chOff x="6967675" y="1957250"/>
            <a:chExt cx="1843500" cy="2765275"/>
          </a:xfrm>
        </p:grpSpPr>
        <p:sp>
          <p:nvSpPr>
            <p:cNvPr id="354" name="Google Shape;354;p42"/>
            <p:cNvSpPr/>
            <p:nvPr/>
          </p:nvSpPr>
          <p:spPr>
            <a:xfrm>
              <a:off x="6967675" y="2196225"/>
              <a:ext cx="1843500" cy="2526300"/>
            </a:xfrm>
            <a:prstGeom prst="ellipse">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42"/>
            <p:cNvSpPr/>
            <p:nvPr/>
          </p:nvSpPr>
          <p:spPr>
            <a:xfrm>
              <a:off x="7246075" y="2571750"/>
              <a:ext cx="927600" cy="1714500"/>
            </a:xfrm>
            <a:prstGeom prst="ellipse">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B</a:t>
              </a:r>
              <a:endParaRPr b="0" i="0" sz="1400" u="none" cap="none" strike="noStrike">
                <a:solidFill>
                  <a:srgbClr val="FFFFFF"/>
                </a:solidFill>
                <a:latin typeface="Arial"/>
                <a:ea typeface="Arial"/>
                <a:cs typeface="Arial"/>
                <a:sym typeface="Arial"/>
              </a:endParaRPr>
            </a:p>
          </p:txBody>
        </p:sp>
        <p:sp>
          <p:nvSpPr>
            <p:cNvPr id="356" name="Google Shape;356;p42"/>
            <p:cNvSpPr/>
            <p:nvPr/>
          </p:nvSpPr>
          <p:spPr>
            <a:xfrm rot="-2989419">
              <a:off x="7902275" y="3334005"/>
              <a:ext cx="605448" cy="931373"/>
            </a:xfrm>
            <a:prstGeom prst="ellipse">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357" name="Google Shape;357;p42"/>
            <p:cNvSpPr txBox="1"/>
            <p:nvPr/>
          </p:nvSpPr>
          <p:spPr>
            <a:xfrm>
              <a:off x="8253550" y="1957250"/>
              <a:ext cx="541800" cy="47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n" sz="1400" u="none" cap="none" strike="noStrike">
                  <a:solidFill>
                    <a:srgbClr val="FFFFFF"/>
                  </a:solidFill>
                  <a:latin typeface="Arial"/>
                  <a:ea typeface="Arial"/>
                  <a:cs typeface="Arial"/>
                  <a:sym typeface="Arial"/>
                </a:rPr>
                <a:t>S</a:t>
              </a:r>
              <a:endParaRPr b="0" i="1" sz="1400" u="none" cap="none" strike="noStrike">
                <a:solidFill>
                  <a:srgbClr val="FFFFFF"/>
                </a:solidFill>
                <a:latin typeface="Arial"/>
                <a:ea typeface="Arial"/>
                <a:cs typeface="Arial"/>
                <a:sym typeface="Arial"/>
              </a:endParaRPr>
            </a:p>
          </p:txBody>
        </p:sp>
        <p:sp>
          <p:nvSpPr>
            <p:cNvPr id="358" name="Google Shape;358;p42"/>
            <p:cNvSpPr txBox="1"/>
            <p:nvPr/>
          </p:nvSpPr>
          <p:spPr>
            <a:xfrm>
              <a:off x="8152150" y="3710700"/>
              <a:ext cx="374100" cy="47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A</a:t>
              </a:r>
              <a:r>
                <a:rPr b="0" baseline="-25000" i="0" lang="en" sz="1400" u="none" cap="none" strike="noStrike">
                  <a:solidFill>
                    <a:srgbClr val="FFFFFF"/>
                  </a:solidFill>
                  <a:latin typeface="Arial"/>
                  <a:ea typeface="Arial"/>
                  <a:cs typeface="Arial"/>
                  <a:sym typeface="Arial"/>
                </a:rPr>
                <a:t>1</a:t>
              </a:r>
              <a:endParaRPr b="0" i="0" sz="1400" u="none" cap="none" strike="noStrike">
                <a:solidFill>
                  <a:srgbClr val="FFFFFF"/>
                </a:solidFill>
                <a:latin typeface="Arial"/>
                <a:ea typeface="Arial"/>
                <a:cs typeface="Arial"/>
                <a:sym typeface="Arial"/>
              </a:endParaRPr>
            </a:p>
          </p:txBody>
        </p:sp>
        <p:sp>
          <p:nvSpPr>
            <p:cNvPr id="359" name="Google Shape;359;p42"/>
            <p:cNvSpPr/>
            <p:nvPr/>
          </p:nvSpPr>
          <p:spPr>
            <a:xfrm rot="-2989419">
              <a:off x="7794025" y="2371493"/>
              <a:ext cx="605448" cy="931373"/>
            </a:xfrm>
            <a:prstGeom prst="ellipse">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360" name="Google Shape;360;p42"/>
            <p:cNvSpPr txBox="1"/>
            <p:nvPr/>
          </p:nvSpPr>
          <p:spPr>
            <a:xfrm>
              <a:off x="8055500" y="2548275"/>
              <a:ext cx="374100" cy="47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A</a:t>
              </a:r>
              <a:r>
                <a:rPr b="0" baseline="-25000" i="0" lang="en" sz="1400" u="none" cap="none" strike="noStrike">
                  <a:solidFill>
                    <a:srgbClr val="FFFFFF"/>
                  </a:solidFill>
                  <a:latin typeface="Arial"/>
                  <a:ea typeface="Arial"/>
                  <a:cs typeface="Arial"/>
                  <a:sym typeface="Arial"/>
                </a:rPr>
                <a:t>2</a:t>
              </a:r>
              <a:endParaRPr b="0" i="0" sz="1400" u="none" cap="none" strike="noStrike">
                <a:solidFill>
                  <a:srgbClr val="FFFFFF"/>
                </a:solidFill>
                <a:latin typeface="Arial"/>
                <a:ea typeface="Arial"/>
                <a:cs typeface="Arial"/>
                <a:sym typeface="Arial"/>
              </a:endParaRPr>
            </a:p>
          </p:txBody>
        </p:sp>
        <p:sp>
          <p:nvSpPr>
            <p:cNvPr id="361" name="Google Shape;361;p42"/>
            <p:cNvSpPr/>
            <p:nvPr/>
          </p:nvSpPr>
          <p:spPr>
            <a:xfrm rot="-2989956">
              <a:off x="7254397" y="3860089"/>
              <a:ext cx="468355" cy="728711"/>
            </a:xfrm>
            <a:prstGeom prst="ellipse">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362" name="Google Shape;362;p42"/>
            <p:cNvSpPr txBox="1"/>
            <p:nvPr/>
          </p:nvSpPr>
          <p:spPr>
            <a:xfrm>
              <a:off x="7301525" y="4109050"/>
              <a:ext cx="374100" cy="47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A</a:t>
              </a:r>
              <a:r>
                <a:rPr b="0" baseline="-25000" i="0" lang="en" sz="1400" u="none" cap="none" strike="noStrike">
                  <a:solidFill>
                    <a:srgbClr val="FFFFFF"/>
                  </a:solidFill>
                  <a:latin typeface="Arial"/>
                  <a:ea typeface="Arial"/>
                  <a:cs typeface="Arial"/>
                  <a:sym typeface="Arial"/>
                </a:rPr>
                <a:t>3</a:t>
              </a:r>
              <a:endParaRPr b="0" i="0" sz="1400" u="none" cap="none" strike="noStrike">
                <a:solidFill>
                  <a:srgbClr val="FFFFFF"/>
                </a:solidFill>
                <a:latin typeface="Arial"/>
                <a:ea typeface="Arial"/>
                <a:cs typeface="Arial"/>
                <a:sym typeface="Arial"/>
              </a:endParaRPr>
            </a:p>
          </p:txBody>
        </p:sp>
      </p:grpSp>
      <p:grpSp>
        <p:nvGrpSpPr>
          <p:cNvPr id="363" name="Google Shape;363;p42"/>
          <p:cNvGrpSpPr/>
          <p:nvPr/>
        </p:nvGrpSpPr>
        <p:grpSpPr>
          <a:xfrm>
            <a:off x="7247823" y="2577554"/>
            <a:ext cx="931400" cy="1715775"/>
            <a:chOff x="5874475" y="2952750"/>
            <a:chExt cx="931400" cy="1715775"/>
          </a:xfrm>
        </p:grpSpPr>
        <p:sp>
          <p:nvSpPr>
            <p:cNvPr id="364" name="Google Shape;364;p42"/>
            <p:cNvSpPr/>
            <p:nvPr/>
          </p:nvSpPr>
          <p:spPr>
            <a:xfrm>
              <a:off x="5874475" y="2952750"/>
              <a:ext cx="927600" cy="1714500"/>
            </a:xfrm>
            <a:prstGeom prst="ellipse">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B</a:t>
              </a:r>
              <a:endParaRPr b="0" i="0" sz="1400" u="none" cap="none" strike="noStrike">
                <a:solidFill>
                  <a:srgbClr val="FFFFFF"/>
                </a:solidFill>
                <a:latin typeface="Arial"/>
                <a:ea typeface="Arial"/>
                <a:cs typeface="Arial"/>
                <a:sym typeface="Arial"/>
              </a:endParaRPr>
            </a:p>
          </p:txBody>
        </p:sp>
        <p:sp>
          <p:nvSpPr>
            <p:cNvPr id="365" name="Google Shape;365;p42"/>
            <p:cNvSpPr/>
            <p:nvPr/>
          </p:nvSpPr>
          <p:spPr>
            <a:xfrm>
              <a:off x="6319325" y="2954025"/>
              <a:ext cx="474950" cy="631375"/>
            </a:xfrm>
            <a:custGeom>
              <a:rect b="b" l="l" r="r" t="t"/>
              <a:pathLst>
                <a:path extrusionOk="0" h="25255" w="18998">
                  <a:moveTo>
                    <a:pt x="1390" y="0"/>
                  </a:moveTo>
                  <a:lnTo>
                    <a:pt x="7414" y="1854"/>
                  </a:lnTo>
                  <a:lnTo>
                    <a:pt x="11584" y="5793"/>
                  </a:lnTo>
                  <a:lnTo>
                    <a:pt x="14133" y="9963"/>
                  </a:lnTo>
                  <a:lnTo>
                    <a:pt x="16913" y="17145"/>
                  </a:lnTo>
                  <a:lnTo>
                    <a:pt x="18998" y="25255"/>
                  </a:lnTo>
                  <a:lnTo>
                    <a:pt x="9963" y="21084"/>
                  </a:lnTo>
                  <a:lnTo>
                    <a:pt x="3244" y="14597"/>
                  </a:lnTo>
                  <a:lnTo>
                    <a:pt x="695" y="9731"/>
                  </a:lnTo>
                  <a:lnTo>
                    <a:pt x="0" y="5329"/>
                  </a:lnTo>
                  <a:lnTo>
                    <a:pt x="463" y="2317"/>
                  </a:lnTo>
                  <a:close/>
                </a:path>
              </a:pathLst>
            </a:custGeom>
            <a:solidFill>
              <a:schemeClr val="lt2"/>
            </a:solidFill>
            <a:ln cap="flat" cmpd="sng" w="9525">
              <a:solidFill>
                <a:schemeClr val="dk2"/>
              </a:solidFill>
              <a:prstDash val="solid"/>
              <a:round/>
              <a:headEnd len="sm" w="sm" type="none"/>
              <a:tailEnd len="sm" w="sm" type="none"/>
            </a:ln>
          </p:spPr>
        </p:sp>
        <p:sp>
          <p:nvSpPr>
            <p:cNvPr id="366" name="Google Shape;366;p42"/>
            <p:cNvSpPr/>
            <p:nvPr/>
          </p:nvSpPr>
          <p:spPr>
            <a:xfrm>
              <a:off x="6435175" y="3805500"/>
              <a:ext cx="370700" cy="625550"/>
            </a:xfrm>
            <a:custGeom>
              <a:rect b="b" l="l" r="r" t="t"/>
              <a:pathLst>
                <a:path extrusionOk="0" h="25022" w="14828">
                  <a:moveTo>
                    <a:pt x="14828" y="927"/>
                  </a:moveTo>
                  <a:lnTo>
                    <a:pt x="14133" y="8109"/>
                  </a:lnTo>
                  <a:lnTo>
                    <a:pt x="12974" y="14828"/>
                  </a:lnTo>
                  <a:lnTo>
                    <a:pt x="11584" y="20157"/>
                  </a:lnTo>
                  <a:lnTo>
                    <a:pt x="9267" y="25022"/>
                  </a:lnTo>
                  <a:lnTo>
                    <a:pt x="4633" y="20852"/>
                  </a:lnTo>
                  <a:lnTo>
                    <a:pt x="1853" y="15755"/>
                  </a:lnTo>
                  <a:lnTo>
                    <a:pt x="0" y="9731"/>
                  </a:lnTo>
                  <a:lnTo>
                    <a:pt x="231" y="5560"/>
                  </a:lnTo>
                  <a:lnTo>
                    <a:pt x="1622" y="3243"/>
                  </a:lnTo>
                  <a:lnTo>
                    <a:pt x="4170" y="1390"/>
                  </a:lnTo>
                  <a:lnTo>
                    <a:pt x="6487" y="463"/>
                  </a:lnTo>
                  <a:lnTo>
                    <a:pt x="9499" y="0"/>
                  </a:lnTo>
                  <a:lnTo>
                    <a:pt x="12279" y="0"/>
                  </a:lnTo>
                  <a:close/>
                </a:path>
              </a:pathLst>
            </a:custGeom>
            <a:solidFill>
              <a:schemeClr val="lt2"/>
            </a:solidFill>
            <a:ln cap="flat" cmpd="sng" w="9525">
              <a:solidFill>
                <a:schemeClr val="dk2"/>
              </a:solidFill>
              <a:prstDash val="solid"/>
              <a:round/>
              <a:headEnd len="sm" w="sm" type="none"/>
              <a:tailEnd len="sm" w="sm" type="none"/>
            </a:ln>
          </p:spPr>
        </p:sp>
        <p:sp>
          <p:nvSpPr>
            <p:cNvPr id="367" name="Google Shape;367;p42"/>
            <p:cNvSpPr/>
            <p:nvPr/>
          </p:nvSpPr>
          <p:spPr>
            <a:xfrm>
              <a:off x="5977575" y="4315200"/>
              <a:ext cx="446000" cy="353325"/>
            </a:xfrm>
            <a:custGeom>
              <a:rect b="b" l="l" r="r" t="t"/>
              <a:pathLst>
                <a:path extrusionOk="0" h="14133" w="17840">
                  <a:moveTo>
                    <a:pt x="0" y="0"/>
                  </a:moveTo>
                  <a:lnTo>
                    <a:pt x="3012" y="232"/>
                  </a:lnTo>
                  <a:lnTo>
                    <a:pt x="6024" y="1159"/>
                  </a:lnTo>
                  <a:lnTo>
                    <a:pt x="11121" y="4171"/>
                  </a:lnTo>
                  <a:lnTo>
                    <a:pt x="14597" y="7415"/>
                  </a:lnTo>
                  <a:lnTo>
                    <a:pt x="16218" y="9731"/>
                  </a:lnTo>
                  <a:lnTo>
                    <a:pt x="17840" y="13438"/>
                  </a:lnTo>
                  <a:lnTo>
                    <a:pt x="15292" y="14133"/>
                  </a:lnTo>
                  <a:lnTo>
                    <a:pt x="10890" y="13670"/>
                  </a:lnTo>
                  <a:lnTo>
                    <a:pt x="7646" y="11817"/>
                  </a:lnTo>
                  <a:lnTo>
                    <a:pt x="5329" y="9963"/>
                  </a:lnTo>
                  <a:lnTo>
                    <a:pt x="2781" y="6951"/>
                  </a:lnTo>
                  <a:lnTo>
                    <a:pt x="1159" y="3939"/>
                  </a:lnTo>
                  <a:close/>
                </a:path>
              </a:pathLst>
            </a:custGeom>
            <a:solidFill>
              <a:schemeClr val="lt2"/>
            </a:solidFill>
            <a:ln cap="flat" cmpd="sng" w="9525">
              <a:solidFill>
                <a:schemeClr val="dk2"/>
              </a:solidFill>
              <a:prstDash val="solid"/>
              <a:round/>
              <a:headEnd len="sm" w="sm" type="none"/>
              <a:tailEnd len="sm" w="sm" type="none"/>
            </a:ln>
          </p:spPr>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353"/>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3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Example: Throw a die</a:t>
            </a:r>
            <a:endParaRPr/>
          </a:p>
        </p:txBody>
      </p:sp>
      <p:sp>
        <p:nvSpPr>
          <p:cNvPr id="373" name="Google Shape;373;p43"/>
          <p:cNvSpPr txBox="1"/>
          <p:nvPr>
            <p:ph idx="1" type="body"/>
          </p:nvPr>
        </p:nvSpPr>
        <p:spPr>
          <a:xfrm>
            <a:off x="311700" y="1152475"/>
            <a:ext cx="8520600" cy="3817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i="1" lang="en"/>
              <a:t>S</a:t>
            </a:r>
            <a:r>
              <a:rPr lang="en"/>
              <a:t> = { 1,2,3,4,5,6 }, uniform distribution</a:t>
            </a:r>
            <a:br>
              <a:rPr lang="en"/>
            </a:br>
            <a:r>
              <a:rPr lang="en"/>
              <a:t>P({1}) = P({2}) = P({3}) = P({4}) = P({5}) = P({6}) = 1/6</a:t>
            </a:r>
            <a:br>
              <a:rPr lang="en"/>
            </a:br>
            <a:r>
              <a:rPr lang="en"/>
              <a:t>Event E = { 2,4,6 }, P(E) = 1/2</a:t>
            </a:r>
            <a:endParaRPr/>
          </a:p>
          <a:p>
            <a:pPr indent="0" lvl="0" marL="0" rtl="0" algn="l">
              <a:lnSpc>
                <a:spcPct val="115000"/>
              </a:lnSpc>
              <a:spcBef>
                <a:spcPts val="1600"/>
              </a:spcBef>
              <a:spcAft>
                <a:spcPts val="1600"/>
              </a:spcAft>
              <a:buSzPts val="1800"/>
              <a:buNone/>
            </a:pPr>
            <a:r>
              <a:rPr lang="en"/>
              <a:t>Conditional probability space given E</a:t>
            </a:r>
            <a:br>
              <a:rPr lang="en"/>
            </a:br>
            <a:r>
              <a:rPr lang="en"/>
              <a:t>		P({2} | E) = P({2} ⋂ E) / P(E) = P({2}) / P(E) = 1/3</a:t>
            </a:r>
            <a:br>
              <a:rPr lang="en"/>
            </a:br>
            <a:r>
              <a:rPr lang="en"/>
              <a:t>		P({4} | E) = P({6} | E) = 1/3</a:t>
            </a:r>
            <a:br>
              <a:rPr lang="en"/>
            </a:br>
            <a:r>
              <a:rPr lang="en"/>
              <a:t>		P({1} | E) = P({1} ⋂ E) / P(E) = P(Φ) / P(E) = 0</a:t>
            </a:r>
            <a:br>
              <a:rPr lang="en"/>
            </a:br>
            <a:r>
              <a:rPr lang="en"/>
              <a:t>		P({3} | E) = P({5} | E) = 0</a:t>
            </a:r>
            <a:br>
              <a:rPr lang="en"/>
            </a:br>
            <a:r>
              <a:rPr lang="en"/>
              <a:t>		P({2,5} | E) = 1/3</a:t>
            </a:r>
            <a:br>
              <a:rPr lang="en"/>
            </a:br>
            <a:r>
              <a:rPr lang="en"/>
              <a:t>		P({2,3,4} | E) = 2/3</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4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Example: Two urns with coloured marbles</a:t>
            </a:r>
            <a:endParaRPr/>
          </a:p>
        </p:txBody>
      </p:sp>
      <p:sp>
        <p:nvSpPr>
          <p:cNvPr id="379" name="Google Shape;379;p44"/>
          <p:cNvSpPr txBox="1"/>
          <p:nvPr>
            <p:ph idx="1" type="body"/>
          </p:nvPr>
        </p:nvSpPr>
        <p:spPr>
          <a:xfrm>
            <a:off x="311700" y="2189550"/>
            <a:ext cx="8520600" cy="2379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a:t>Pick an urn at random and then pick a marble at random from the chosen urn.</a:t>
            </a:r>
            <a:endParaRPr/>
          </a:p>
          <a:p>
            <a:pPr indent="0" lvl="0" marL="0" rtl="0" algn="l">
              <a:lnSpc>
                <a:spcPct val="115000"/>
              </a:lnSpc>
              <a:spcBef>
                <a:spcPts val="1600"/>
              </a:spcBef>
              <a:spcAft>
                <a:spcPts val="0"/>
              </a:spcAft>
              <a:buSzPts val="1800"/>
              <a:buNone/>
            </a:pPr>
            <a:r>
              <a:rPr lang="en"/>
              <a:t>P(red | urn 1) = 7/13, P(red | urn 2) = 5/13</a:t>
            </a:r>
            <a:endParaRPr/>
          </a:p>
          <a:p>
            <a:pPr indent="0" lvl="0" marL="0" rtl="0" algn="l">
              <a:lnSpc>
                <a:spcPct val="115000"/>
              </a:lnSpc>
              <a:spcBef>
                <a:spcPts val="1600"/>
              </a:spcBef>
              <a:spcAft>
                <a:spcPts val="1600"/>
              </a:spcAft>
              <a:buSzPts val="1800"/>
              <a:buNone/>
            </a:pPr>
            <a:r>
              <a:rPr lang="en"/>
              <a:t>P(blue | urn 1) = 6/13, P(blue | urn 2) = 8/13</a:t>
            </a:r>
            <a:endParaRPr/>
          </a:p>
        </p:txBody>
      </p:sp>
      <p:sp>
        <p:nvSpPr>
          <p:cNvPr id="380" name="Google Shape;380;p44"/>
          <p:cNvSpPr txBox="1"/>
          <p:nvPr/>
        </p:nvSpPr>
        <p:spPr>
          <a:xfrm>
            <a:off x="2360148" y="1719583"/>
            <a:ext cx="835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Urn 1</a:t>
            </a:r>
            <a:endParaRPr b="0" i="0" sz="1400" u="none" cap="none" strike="noStrike">
              <a:solidFill>
                <a:schemeClr val="dk1"/>
              </a:solidFill>
              <a:latin typeface="Arial"/>
              <a:ea typeface="Arial"/>
              <a:cs typeface="Arial"/>
              <a:sym typeface="Arial"/>
            </a:endParaRPr>
          </a:p>
        </p:txBody>
      </p:sp>
      <p:sp>
        <p:nvSpPr>
          <p:cNvPr id="381" name="Google Shape;381;p44"/>
          <p:cNvSpPr txBox="1"/>
          <p:nvPr/>
        </p:nvSpPr>
        <p:spPr>
          <a:xfrm>
            <a:off x="4444873" y="1719583"/>
            <a:ext cx="835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Urn 2</a:t>
            </a:r>
            <a:endParaRPr b="0" i="0" sz="1400" u="none" cap="none" strike="noStrike">
              <a:solidFill>
                <a:schemeClr val="dk1"/>
              </a:solidFill>
              <a:latin typeface="Arial"/>
              <a:ea typeface="Arial"/>
              <a:cs typeface="Arial"/>
              <a:sym typeface="Arial"/>
            </a:endParaRPr>
          </a:p>
        </p:txBody>
      </p:sp>
      <p:sp>
        <p:nvSpPr>
          <p:cNvPr id="382" name="Google Shape;382;p44"/>
          <p:cNvSpPr/>
          <p:nvPr/>
        </p:nvSpPr>
        <p:spPr>
          <a:xfrm>
            <a:off x="2488200" y="1659625"/>
            <a:ext cx="103500" cy="1035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44"/>
          <p:cNvSpPr/>
          <p:nvPr/>
        </p:nvSpPr>
        <p:spPr>
          <a:xfrm>
            <a:off x="2683925" y="1659625"/>
            <a:ext cx="103500" cy="1035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44"/>
          <p:cNvSpPr/>
          <p:nvPr/>
        </p:nvSpPr>
        <p:spPr>
          <a:xfrm>
            <a:off x="2897027" y="1659625"/>
            <a:ext cx="103500" cy="1035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44"/>
          <p:cNvSpPr/>
          <p:nvPr/>
        </p:nvSpPr>
        <p:spPr>
          <a:xfrm>
            <a:off x="2920824" y="1543640"/>
            <a:ext cx="103500" cy="1035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44"/>
          <p:cNvSpPr/>
          <p:nvPr/>
        </p:nvSpPr>
        <p:spPr>
          <a:xfrm>
            <a:off x="2813100" y="1555207"/>
            <a:ext cx="103500" cy="1035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44"/>
          <p:cNvSpPr/>
          <p:nvPr/>
        </p:nvSpPr>
        <p:spPr>
          <a:xfrm>
            <a:off x="2603284" y="1555207"/>
            <a:ext cx="103500" cy="1035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44"/>
          <p:cNvSpPr/>
          <p:nvPr/>
        </p:nvSpPr>
        <p:spPr>
          <a:xfrm>
            <a:off x="2399261" y="1573484"/>
            <a:ext cx="103500" cy="103500"/>
          </a:xfrm>
          <a:prstGeom prst="ellipse">
            <a:avLst/>
          </a:prstGeom>
          <a:solidFill>
            <a:srgbClr val="FF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44"/>
          <p:cNvSpPr/>
          <p:nvPr/>
        </p:nvSpPr>
        <p:spPr>
          <a:xfrm>
            <a:off x="2580425" y="1659625"/>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44"/>
          <p:cNvSpPr/>
          <p:nvPr/>
        </p:nvSpPr>
        <p:spPr>
          <a:xfrm>
            <a:off x="2790456" y="1659625"/>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44"/>
          <p:cNvSpPr/>
          <p:nvPr/>
        </p:nvSpPr>
        <p:spPr>
          <a:xfrm>
            <a:off x="3001237" y="1644128"/>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p44"/>
          <p:cNvSpPr/>
          <p:nvPr/>
        </p:nvSpPr>
        <p:spPr>
          <a:xfrm>
            <a:off x="2706141" y="1546288"/>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44"/>
          <p:cNvSpPr/>
          <p:nvPr/>
        </p:nvSpPr>
        <p:spPr>
          <a:xfrm>
            <a:off x="2494918" y="1557872"/>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p44"/>
          <p:cNvSpPr/>
          <p:nvPr/>
        </p:nvSpPr>
        <p:spPr>
          <a:xfrm>
            <a:off x="3041782" y="1533175"/>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44"/>
          <p:cNvSpPr/>
          <p:nvPr/>
        </p:nvSpPr>
        <p:spPr>
          <a:xfrm>
            <a:off x="4522431" y="1648041"/>
            <a:ext cx="103500" cy="1035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p44"/>
          <p:cNvSpPr/>
          <p:nvPr/>
        </p:nvSpPr>
        <p:spPr>
          <a:xfrm>
            <a:off x="4718156" y="1648041"/>
            <a:ext cx="103500" cy="1035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44"/>
          <p:cNvSpPr/>
          <p:nvPr/>
        </p:nvSpPr>
        <p:spPr>
          <a:xfrm>
            <a:off x="4931258" y="1648041"/>
            <a:ext cx="103500" cy="1035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44"/>
          <p:cNvSpPr/>
          <p:nvPr/>
        </p:nvSpPr>
        <p:spPr>
          <a:xfrm>
            <a:off x="4955055" y="1532055"/>
            <a:ext cx="103500" cy="1035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44"/>
          <p:cNvSpPr/>
          <p:nvPr/>
        </p:nvSpPr>
        <p:spPr>
          <a:xfrm>
            <a:off x="4847331" y="1543622"/>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44"/>
          <p:cNvSpPr/>
          <p:nvPr/>
        </p:nvSpPr>
        <p:spPr>
          <a:xfrm>
            <a:off x="4637516" y="1543622"/>
            <a:ext cx="103500" cy="1035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p44"/>
          <p:cNvSpPr/>
          <p:nvPr/>
        </p:nvSpPr>
        <p:spPr>
          <a:xfrm>
            <a:off x="4433492" y="1561900"/>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p44"/>
          <p:cNvSpPr/>
          <p:nvPr/>
        </p:nvSpPr>
        <p:spPr>
          <a:xfrm>
            <a:off x="4614656" y="1648041"/>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44"/>
          <p:cNvSpPr/>
          <p:nvPr/>
        </p:nvSpPr>
        <p:spPr>
          <a:xfrm>
            <a:off x="4824687" y="1648041"/>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 name="Google Shape;404;p44"/>
          <p:cNvSpPr/>
          <p:nvPr/>
        </p:nvSpPr>
        <p:spPr>
          <a:xfrm>
            <a:off x="5023883" y="1603583"/>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44"/>
          <p:cNvSpPr/>
          <p:nvPr/>
        </p:nvSpPr>
        <p:spPr>
          <a:xfrm>
            <a:off x="4740372" y="1534703"/>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p44"/>
          <p:cNvSpPr/>
          <p:nvPr/>
        </p:nvSpPr>
        <p:spPr>
          <a:xfrm>
            <a:off x="4529149" y="1546288"/>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 name="Google Shape;407;p44"/>
          <p:cNvSpPr/>
          <p:nvPr/>
        </p:nvSpPr>
        <p:spPr>
          <a:xfrm>
            <a:off x="5074133" y="1523119"/>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08" name="Google Shape;408;p44"/>
          <p:cNvCxnSpPr/>
          <p:nvPr/>
        </p:nvCxnSpPr>
        <p:spPr>
          <a:xfrm>
            <a:off x="2488991" y="1795975"/>
            <a:ext cx="586800" cy="0"/>
          </a:xfrm>
          <a:prstGeom prst="straightConnector1">
            <a:avLst/>
          </a:prstGeom>
          <a:noFill/>
          <a:ln cap="flat" cmpd="sng" w="19050">
            <a:solidFill>
              <a:schemeClr val="dk1"/>
            </a:solidFill>
            <a:prstDash val="solid"/>
            <a:round/>
            <a:headEnd len="sm" w="sm" type="none"/>
            <a:tailEnd len="sm" w="sm" type="none"/>
          </a:ln>
        </p:spPr>
      </p:cxnSp>
      <p:sp>
        <p:nvSpPr>
          <p:cNvPr id="409" name="Google Shape;409;p44"/>
          <p:cNvSpPr/>
          <p:nvPr/>
        </p:nvSpPr>
        <p:spPr>
          <a:xfrm>
            <a:off x="2334498" y="1239925"/>
            <a:ext cx="156150" cy="561850"/>
          </a:xfrm>
          <a:custGeom>
            <a:rect b="b" l="l" r="r" t="t"/>
            <a:pathLst>
              <a:path extrusionOk="0" h="22474" w="6246">
                <a:moveTo>
                  <a:pt x="6246" y="22474"/>
                </a:moveTo>
                <a:cubicBezTo>
                  <a:pt x="5512" y="21779"/>
                  <a:pt x="2848" y="20002"/>
                  <a:pt x="1844" y="18303"/>
                </a:cubicBezTo>
                <a:cubicBezTo>
                  <a:pt x="840" y="16604"/>
                  <a:pt x="492" y="14364"/>
                  <a:pt x="222" y="12279"/>
                </a:cubicBezTo>
                <a:cubicBezTo>
                  <a:pt x="-48" y="10194"/>
                  <a:pt x="-87" y="7839"/>
                  <a:pt x="222" y="5792"/>
                </a:cubicBezTo>
                <a:cubicBezTo>
                  <a:pt x="531" y="3746"/>
                  <a:pt x="1767" y="965"/>
                  <a:pt x="2076" y="0"/>
                </a:cubicBezTo>
              </a:path>
            </a:pathLst>
          </a:cu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44"/>
          <p:cNvSpPr/>
          <p:nvPr/>
        </p:nvSpPr>
        <p:spPr>
          <a:xfrm>
            <a:off x="3069600" y="1245725"/>
            <a:ext cx="132075" cy="551275"/>
          </a:xfrm>
          <a:custGeom>
            <a:rect b="b" l="l" r="r" t="t"/>
            <a:pathLst>
              <a:path extrusionOk="0" h="22051" w="5283">
                <a:moveTo>
                  <a:pt x="3950" y="0"/>
                </a:moveTo>
                <a:cubicBezTo>
                  <a:pt x="4143" y="502"/>
                  <a:pt x="4915" y="1352"/>
                  <a:pt x="5108" y="3012"/>
                </a:cubicBezTo>
                <a:cubicBezTo>
                  <a:pt x="5301" y="4672"/>
                  <a:pt x="5378" y="7452"/>
                  <a:pt x="5108" y="9962"/>
                </a:cubicBezTo>
                <a:cubicBezTo>
                  <a:pt x="4838" y="12472"/>
                  <a:pt x="4338" y="16056"/>
                  <a:pt x="3487" y="18071"/>
                </a:cubicBezTo>
                <a:cubicBezTo>
                  <a:pt x="2636" y="20086"/>
                  <a:pt x="581" y="21388"/>
                  <a:pt x="0" y="22051"/>
                </a:cubicBezTo>
              </a:path>
            </a:pathLst>
          </a:cu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1" name="Google Shape;411;p44"/>
          <p:cNvCxnSpPr/>
          <p:nvPr/>
        </p:nvCxnSpPr>
        <p:spPr>
          <a:xfrm>
            <a:off x="4517429" y="1795975"/>
            <a:ext cx="586800" cy="0"/>
          </a:xfrm>
          <a:prstGeom prst="straightConnector1">
            <a:avLst/>
          </a:prstGeom>
          <a:noFill/>
          <a:ln cap="flat" cmpd="sng" w="19050">
            <a:solidFill>
              <a:schemeClr val="dk1"/>
            </a:solidFill>
            <a:prstDash val="solid"/>
            <a:round/>
            <a:headEnd len="sm" w="sm" type="none"/>
            <a:tailEnd len="sm" w="sm" type="none"/>
          </a:ln>
        </p:spPr>
      </p:cxnSp>
      <p:sp>
        <p:nvSpPr>
          <p:cNvPr id="412" name="Google Shape;412;p44"/>
          <p:cNvSpPr/>
          <p:nvPr/>
        </p:nvSpPr>
        <p:spPr>
          <a:xfrm>
            <a:off x="4362937" y="1239925"/>
            <a:ext cx="156150" cy="561850"/>
          </a:xfrm>
          <a:custGeom>
            <a:rect b="b" l="l" r="r" t="t"/>
            <a:pathLst>
              <a:path extrusionOk="0" h="22474" w="6246">
                <a:moveTo>
                  <a:pt x="6246" y="22474"/>
                </a:moveTo>
                <a:cubicBezTo>
                  <a:pt x="5512" y="21779"/>
                  <a:pt x="2848" y="20002"/>
                  <a:pt x="1844" y="18303"/>
                </a:cubicBezTo>
                <a:cubicBezTo>
                  <a:pt x="840" y="16604"/>
                  <a:pt x="492" y="14364"/>
                  <a:pt x="222" y="12279"/>
                </a:cubicBezTo>
                <a:cubicBezTo>
                  <a:pt x="-48" y="10194"/>
                  <a:pt x="-87" y="7839"/>
                  <a:pt x="222" y="5792"/>
                </a:cubicBezTo>
                <a:cubicBezTo>
                  <a:pt x="531" y="3746"/>
                  <a:pt x="1767" y="965"/>
                  <a:pt x="2076" y="0"/>
                </a:cubicBezTo>
              </a:path>
            </a:pathLst>
          </a:cu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44"/>
          <p:cNvSpPr/>
          <p:nvPr/>
        </p:nvSpPr>
        <p:spPr>
          <a:xfrm>
            <a:off x="5098039" y="1245725"/>
            <a:ext cx="132075" cy="551275"/>
          </a:xfrm>
          <a:custGeom>
            <a:rect b="b" l="l" r="r" t="t"/>
            <a:pathLst>
              <a:path extrusionOk="0" h="22051" w="5283">
                <a:moveTo>
                  <a:pt x="3950" y="0"/>
                </a:moveTo>
                <a:cubicBezTo>
                  <a:pt x="4143" y="502"/>
                  <a:pt x="4915" y="1352"/>
                  <a:pt x="5108" y="3012"/>
                </a:cubicBezTo>
                <a:cubicBezTo>
                  <a:pt x="5301" y="4672"/>
                  <a:pt x="5378" y="7452"/>
                  <a:pt x="5108" y="9962"/>
                </a:cubicBezTo>
                <a:cubicBezTo>
                  <a:pt x="4838" y="12472"/>
                  <a:pt x="4338" y="16056"/>
                  <a:pt x="3487" y="18071"/>
                </a:cubicBezTo>
                <a:cubicBezTo>
                  <a:pt x="2636" y="20086"/>
                  <a:pt x="581" y="21388"/>
                  <a:pt x="0" y="22051"/>
                </a:cubicBezTo>
              </a:path>
            </a:pathLst>
          </a:cu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4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Example: 3 students from a class</a:t>
            </a:r>
            <a:endParaRPr/>
          </a:p>
        </p:txBody>
      </p:sp>
      <p:sp>
        <p:nvSpPr>
          <p:cNvPr id="419" name="Google Shape;419;p45"/>
          <p:cNvSpPr txBox="1"/>
          <p:nvPr>
            <p:ph idx="1" type="body"/>
          </p:nvPr>
        </p:nvSpPr>
        <p:spPr>
          <a:xfrm>
            <a:off x="311700" y="1152475"/>
            <a:ext cx="8520600" cy="1419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800"/>
              <a:buNone/>
            </a:pPr>
            <a:r>
              <a:rPr lang="en"/>
              <a:t>Consider a class with 15 students - 4 from State 1, 8 from State 2 and 3 from State 3. Three different students are chosen at random one after another. What is the probability that the selected three are from State 1, State 3 and State 1 again in that order?</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4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Example: Family with two children</a:t>
            </a:r>
            <a:endParaRPr/>
          </a:p>
        </p:txBody>
      </p:sp>
      <p:sp>
        <p:nvSpPr>
          <p:cNvPr id="425" name="Google Shape;425;p46"/>
          <p:cNvSpPr txBox="1"/>
          <p:nvPr>
            <p:ph idx="1" type="body"/>
          </p:nvPr>
        </p:nvSpPr>
        <p:spPr>
          <a:xfrm>
            <a:off x="311700" y="1152475"/>
            <a:ext cx="8520600" cy="89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800"/>
              <a:buNone/>
            </a:pPr>
            <a:r>
              <a:rPr lang="en"/>
              <a:t>A family has two children. What is the probability that both are girls, given that at least one is a girl? Notice how the word “conditional” is dropped….</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Admin</dc:creator>
</cp:coreProperties>
</file>