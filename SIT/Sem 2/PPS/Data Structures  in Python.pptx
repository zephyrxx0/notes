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9"/>
  </p:notesMasterIdLst>
  <p:sldIdLst>
    <p:sldId id="256" r:id="rId2"/>
    <p:sldId id="279" r:id="rId3"/>
    <p:sldId id="274" r:id="rId4"/>
    <p:sldId id="280" r:id="rId5"/>
    <p:sldId id="281" r:id="rId6"/>
    <p:sldId id="282" r:id="rId7"/>
    <p:sldId id="283" r:id="rId8"/>
    <p:sldId id="284" r:id="rId9"/>
    <p:sldId id="285" r:id="rId10"/>
    <p:sldId id="286" r:id="rId11"/>
    <p:sldId id="257" r:id="rId12"/>
    <p:sldId id="307" r:id="rId13"/>
    <p:sldId id="275" r:id="rId14"/>
    <p:sldId id="276" r:id="rId15"/>
    <p:sldId id="287" r:id="rId16"/>
    <p:sldId id="288" r:id="rId17"/>
    <p:sldId id="289" r:id="rId18"/>
    <p:sldId id="290" r:id="rId19"/>
    <p:sldId id="291" r:id="rId20"/>
    <p:sldId id="292" r:id="rId21"/>
    <p:sldId id="293" r:id="rId22"/>
    <p:sldId id="294" r:id="rId23"/>
    <p:sldId id="295" r:id="rId24"/>
    <p:sldId id="296" r:id="rId25"/>
    <p:sldId id="297" r:id="rId26"/>
    <p:sldId id="277" r:id="rId27"/>
    <p:sldId id="278" r:id="rId2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016" autoAdjust="0"/>
    <p:restoredTop sz="75303" autoAdjust="0"/>
  </p:normalViewPr>
  <p:slideViewPr>
    <p:cSldViewPr>
      <p:cViewPr varScale="1">
        <p:scale>
          <a:sx n="88" d="100"/>
          <a:sy n="88" d="100"/>
        </p:scale>
        <p:origin x="1795" y="125"/>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0"/>
    </p:cViewPr>
  </p:sorterViewPr>
  <p:gridSpacing cx="38405" cy="384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D087CA-2D1E-4FA3-9733-69A8C3ED164C}" type="datetimeFigureOut">
              <a:rPr lang="en-IN" smtClean="0"/>
              <a:t>23-03-2024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083583-E4DD-4930-85F1-FF6B9CF92D9D}" type="slidenum">
              <a:rPr lang="en-IN" smtClean="0"/>
              <a:t>‹#›</a:t>
            </a:fld>
            <a:endParaRPr lang="en-IN"/>
          </a:p>
        </p:txBody>
      </p:sp>
    </p:spTree>
    <p:extLst>
      <p:ext uri="{BB962C8B-B14F-4D97-AF65-F5344CB8AC3E}">
        <p14:creationId xmlns:p14="http://schemas.microsoft.com/office/powerpoint/2010/main" val="1132168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4083583-E4DD-4930-85F1-FF6B9CF92D9D}" type="slidenum">
              <a:rPr lang="en-IN" smtClean="0"/>
              <a:t>1</a:t>
            </a:fld>
            <a:endParaRPr lang="en-IN"/>
          </a:p>
        </p:txBody>
      </p:sp>
    </p:spTree>
    <p:extLst>
      <p:ext uri="{BB962C8B-B14F-4D97-AF65-F5344CB8AC3E}">
        <p14:creationId xmlns:p14="http://schemas.microsoft.com/office/powerpoint/2010/main" val="3596040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4083583-E4DD-4930-85F1-FF6B9CF92D9D}" type="slidenum">
              <a:rPr lang="en-IN" smtClean="0"/>
              <a:t>15</a:t>
            </a:fld>
            <a:endParaRPr lang="en-IN"/>
          </a:p>
        </p:txBody>
      </p:sp>
    </p:spTree>
    <p:extLst>
      <p:ext uri="{BB962C8B-B14F-4D97-AF65-F5344CB8AC3E}">
        <p14:creationId xmlns:p14="http://schemas.microsoft.com/office/powerpoint/2010/main" val="3261497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553998"/>
          </a:xfrm>
          <a:prstGeom prst="rect">
            <a:avLst/>
          </a:prstGeom>
        </p:spPr>
        <p:txBody>
          <a:bodyPr wrap="square" lIns="0" tIns="0" rIns="0" bIns="0">
            <a:spAutoFit/>
          </a:bodyPr>
          <a:lstStyle>
            <a:lvl1pPr>
              <a:defRPr/>
            </a:lvl1pPr>
          </a:lstStyle>
          <a:p>
            <a:r>
              <a:rPr lang="en-US" smtClean="0"/>
              <a:t>Click to edit Master title style</a:t>
            </a:r>
            <a:endParaRPr/>
          </a:p>
        </p:txBody>
      </p:sp>
      <p:sp>
        <p:nvSpPr>
          <p:cNvPr id="3" name="Holder 3"/>
          <p:cNvSpPr>
            <a:spLocks noGrp="1"/>
          </p:cNvSpPr>
          <p:nvPr>
            <p:ph type="subTitle" idx="4"/>
          </p:nvPr>
        </p:nvSpPr>
        <p:spPr>
          <a:xfrm>
            <a:off x="1371602" y="2880361"/>
            <a:ext cx="6400799" cy="276999"/>
          </a:xfrm>
          <a:prstGeom prst="rect">
            <a:avLst/>
          </a:prstGeom>
        </p:spPr>
        <p:txBody>
          <a:bodyPr wrap="square" lIns="0" tIns="0" rIns="0" bIns="0">
            <a:spAutoFit/>
          </a:bodyPr>
          <a:lstStyle>
            <a:lvl1pPr>
              <a:defRPr/>
            </a:lvl1pPr>
          </a:lstStyle>
          <a:p>
            <a:r>
              <a:rPr lang="en-US" smtClean="0"/>
              <a:t>Click to edit Master subtitle style</a:t>
            </a:r>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pPr/>
              <a:t>3/23/2024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435484" y="2141415"/>
            <a:ext cx="2273035" cy="1661993"/>
          </a:xfrm>
        </p:spPr>
        <p:txBody>
          <a:bodyPr lIns="0" tIns="0" rIns="0" bIns="0"/>
          <a:lstStyle>
            <a:lvl1pPr>
              <a:defRPr sz="3600" b="0" i="0">
                <a:solidFill>
                  <a:schemeClr val="tx1"/>
                </a:solidFill>
                <a:latin typeface="Gill Sans MT"/>
                <a:cs typeface="Gill Sans MT"/>
              </a:defRPr>
            </a:lvl1pPr>
          </a:lstStyle>
          <a:p>
            <a:r>
              <a:rPr lang="en-US" smtClean="0"/>
              <a:t>Click to edit Master title style</a:t>
            </a:r>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pPr lvl="0"/>
            <a:r>
              <a:rPr lang="en-US" smtClean="0"/>
              <a:t>Click to edit Master text styles</a:t>
            </a:r>
          </a:p>
        </p:txBody>
      </p:sp>
      <p:sp>
        <p:nvSpPr>
          <p:cNvPr id="4" name="Holder 4"/>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pPr/>
              <a:t>3/23/2024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435484" y="2141415"/>
            <a:ext cx="2273035" cy="1661993"/>
          </a:xfrm>
        </p:spPr>
        <p:txBody>
          <a:bodyPr lIns="0" tIns="0" rIns="0" bIns="0"/>
          <a:lstStyle>
            <a:lvl1pPr>
              <a:defRPr sz="3600" b="0" i="0">
                <a:solidFill>
                  <a:schemeClr val="tx1"/>
                </a:solidFill>
                <a:latin typeface="Gill Sans MT"/>
                <a:cs typeface="Gill Sans MT"/>
              </a:defRPr>
            </a:lvl1pPr>
          </a:lstStyle>
          <a:p>
            <a:r>
              <a:rPr lang="en-US" smtClean="0"/>
              <a:t>Click to edit Master title style</a:t>
            </a:r>
            <a:endParaRPr/>
          </a:p>
        </p:txBody>
      </p:sp>
      <p:sp>
        <p:nvSpPr>
          <p:cNvPr id="3" name="Holder 3"/>
          <p:cNvSpPr>
            <a:spLocks noGrp="1"/>
          </p:cNvSpPr>
          <p:nvPr>
            <p:ph sz="half" idx="2"/>
          </p:nvPr>
        </p:nvSpPr>
        <p:spPr>
          <a:xfrm>
            <a:off x="457200" y="1183006"/>
            <a:ext cx="3977640" cy="276999"/>
          </a:xfrm>
          <a:prstGeom prst="rect">
            <a:avLst/>
          </a:prstGeom>
        </p:spPr>
        <p:txBody>
          <a:bodyPr wrap="square" lIns="0" tIns="0" rIns="0" bIns="0">
            <a:spAutoFit/>
          </a:bodyPr>
          <a:lstStyle>
            <a:lvl1pPr>
              <a:defRPr/>
            </a:lvl1pPr>
          </a:lstStyle>
          <a:p>
            <a:pPr lvl="0"/>
            <a:r>
              <a:rPr lang="en-US" smtClean="0"/>
              <a:t>Click to edit Master text styles</a:t>
            </a:r>
          </a:p>
        </p:txBody>
      </p:sp>
      <p:sp>
        <p:nvSpPr>
          <p:cNvPr id="4" name="Holder 4"/>
          <p:cNvSpPr>
            <a:spLocks noGrp="1"/>
          </p:cNvSpPr>
          <p:nvPr>
            <p:ph sz="half" idx="3"/>
          </p:nvPr>
        </p:nvSpPr>
        <p:spPr>
          <a:xfrm>
            <a:off x="4709159" y="1183006"/>
            <a:ext cx="3977640" cy="276999"/>
          </a:xfrm>
          <a:prstGeom prst="rect">
            <a:avLst/>
          </a:prstGeom>
        </p:spPr>
        <p:txBody>
          <a:bodyPr wrap="square" lIns="0" tIns="0" rIns="0" bIns="0">
            <a:spAutoFit/>
          </a:bodyPr>
          <a:lstStyle>
            <a:lvl1pPr>
              <a:defRPr/>
            </a:lvl1pPr>
          </a:lstStyle>
          <a:p>
            <a:pPr lvl="0"/>
            <a:r>
              <a:rPr lang="en-US" smtClean="0"/>
              <a:t>Click to edit Master text styles</a:t>
            </a:r>
          </a:p>
        </p:txBody>
      </p:sp>
      <p:sp>
        <p:nvSpPr>
          <p:cNvPr id="5" name="Holder 5"/>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endParaRPr 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pPr/>
              <a:t>3/23/2024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435484" y="2141415"/>
            <a:ext cx="2273035" cy="1661993"/>
          </a:xfrm>
        </p:spPr>
        <p:txBody>
          <a:bodyPr lIns="0" tIns="0" rIns="0" bIns="0"/>
          <a:lstStyle>
            <a:lvl1pPr>
              <a:defRPr sz="3600" b="0" i="0">
                <a:solidFill>
                  <a:schemeClr val="tx1"/>
                </a:solidFill>
                <a:latin typeface="Gill Sans MT"/>
                <a:cs typeface="Gill Sans MT"/>
              </a:defRPr>
            </a:lvl1pPr>
          </a:lstStyle>
          <a:p>
            <a:r>
              <a:rPr lang="en-US" smtClean="0"/>
              <a:t>Click to edit Master title style</a:t>
            </a:r>
            <a:endParaRPr/>
          </a:p>
        </p:txBody>
      </p:sp>
      <p:sp>
        <p:nvSpPr>
          <p:cNvPr id="3" name="Holder 3"/>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endParaRPr 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pPr/>
              <a:t>3/23/2024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endParaRPr 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pPr/>
              <a:t>3/23/2024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83" y="4857750"/>
            <a:ext cx="9142730" cy="285750"/>
          </a:xfrm>
          <a:custGeom>
            <a:avLst/>
            <a:gdLst/>
            <a:ahLst/>
            <a:cxnLst/>
            <a:rect l="l" t="t" r="r" b="b"/>
            <a:pathLst>
              <a:path w="9142730" h="285750">
                <a:moveTo>
                  <a:pt x="0" y="285749"/>
                </a:moveTo>
                <a:lnTo>
                  <a:pt x="9142353" y="285749"/>
                </a:lnTo>
                <a:lnTo>
                  <a:pt x="9142353" y="0"/>
                </a:lnTo>
                <a:lnTo>
                  <a:pt x="0" y="0"/>
                </a:lnTo>
                <a:lnTo>
                  <a:pt x="0" y="285749"/>
                </a:lnTo>
                <a:close/>
              </a:path>
            </a:pathLst>
          </a:custGeom>
          <a:solidFill>
            <a:srgbClr val="F79546"/>
          </a:solidFill>
        </p:spPr>
        <p:txBody>
          <a:bodyPr wrap="square" lIns="0" tIns="0" rIns="0" bIns="0" rtlCol="0"/>
          <a:lstStyle/>
          <a:p>
            <a:endParaRPr/>
          </a:p>
        </p:txBody>
      </p:sp>
      <p:sp>
        <p:nvSpPr>
          <p:cNvPr id="17" name="bk object 17"/>
          <p:cNvSpPr/>
          <p:nvPr/>
        </p:nvSpPr>
        <p:spPr>
          <a:xfrm>
            <a:off x="1583" y="4857750"/>
            <a:ext cx="9142730" cy="285750"/>
          </a:xfrm>
          <a:custGeom>
            <a:avLst/>
            <a:gdLst/>
            <a:ahLst/>
            <a:cxnLst/>
            <a:rect l="l" t="t" r="r" b="b"/>
            <a:pathLst>
              <a:path w="9142730" h="285750">
                <a:moveTo>
                  <a:pt x="0" y="285749"/>
                </a:moveTo>
                <a:lnTo>
                  <a:pt x="9142353" y="285749"/>
                </a:lnTo>
                <a:lnTo>
                  <a:pt x="9142353" y="0"/>
                </a:lnTo>
                <a:lnTo>
                  <a:pt x="0" y="0"/>
                </a:lnTo>
                <a:lnTo>
                  <a:pt x="0" y="285749"/>
                </a:lnTo>
                <a:close/>
              </a:path>
            </a:pathLst>
          </a:custGeom>
          <a:ln w="25560">
            <a:solidFill>
              <a:srgbClr val="F79546"/>
            </a:solidFill>
          </a:ln>
        </p:spPr>
        <p:txBody>
          <a:bodyPr wrap="square" lIns="0" tIns="0" rIns="0" bIns="0" rtlCol="0"/>
          <a:lstStyle/>
          <a:p>
            <a:endParaRPr/>
          </a:p>
        </p:txBody>
      </p:sp>
      <p:sp>
        <p:nvSpPr>
          <p:cNvPr id="2" name="Holder 2"/>
          <p:cNvSpPr>
            <a:spLocks noGrp="1"/>
          </p:cNvSpPr>
          <p:nvPr>
            <p:ph type="title"/>
          </p:nvPr>
        </p:nvSpPr>
        <p:spPr>
          <a:xfrm>
            <a:off x="3435484" y="2141415"/>
            <a:ext cx="2273035" cy="553998"/>
          </a:xfrm>
          <a:prstGeom prst="rect">
            <a:avLst/>
          </a:prstGeom>
        </p:spPr>
        <p:txBody>
          <a:bodyPr wrap="square" lIns="0" tIns="0" rIns="0" bIns="0">
            <a:spAutoFit/>
          </a:bodyPr>
          <a:lstStyle>
            <a:lvl1pPr>
              <a:defRPr sz="3600" b="0" i="0">
                <a:solidFill>
                  <a:schemeClr val="tx1"/>
                </a:solidFill>
                <a:latin typeface="Gill Sans MT"/>
                <a:cs typeface="Gill Sans MT"/>
              </a:defRPr>
            </a:lvl1pPr>
          </a:lstStyle>
          <a:p>
            <a:endParaRPr/>
          </a:p>
        </p:txBody>
      </p:sp>
      <p:sp>
        <p:nvSpPr>
          <p:cNvPr id="3" name="Holder 3"/>
          <p:cNvSpPr>
            <a:spLocks noGrp="1"/>
          </p:cNvSpPr>
          <p:nvPr>
            <p:ph type="body" idx="1"/>
          </p:nvPr>
        </p:nvSpPr>
        <p:spPr>
          <a:xfrm>
            <a:off x="523750" y="1157182"/>
            <a:ext cx="8096503"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220162" y="4876137"/>
            <a:ext cx="3556000" cy="276999"/>
          </a:xfrm>
          <a:prstGeom prst="rect">
            <a:avLst/>
          </a:prstGeom>
        </p:spPr>
        <p:txBody>
          <a:bodyPr wrap="square" lIns="0" tIns="0" rIns="0" bIns="0">
            <a:spAutoFit/>
          </a:bodyPr>
          <a:lstStyle>
            <a:lvl1pPr>
              <a:defRPr sz="1800" b="0" i="0">
                <a:solidFill>
                  <a:schemeClr val="bg1"/>
                </a:solidFill>
                <a:latin typeface="Calibri"/>
                <a:cs typeface="Calibri"/>
              </a:defRPr>
            </a:lvl1pPr>
          </a:lstStyle>
          <a:p>
            <a:endParaRPr lang="en-US"/>
          </a:p>
        </p:txBody>
      </p:sp>
      <p:sp>
        <p:nvSpPr>
          <p:cNvPr id="5" name="Holder 5"/>
          <p:cNvSpPr>
            <a:spLocks noGrp="1"/>
          </p:cNvSpPr>
          <p:nvPr>
            <p:ph type="dt" sz="half" idx="6"/>
          </p:nvPr>
        </p:nvSpPr>
        <p:spPr>
          <a:xfrm>
            <a:off x="457200" y="4783456"/>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pPr/>
              <a:t>3/23/2024</a:t>
            </a:fld>
            <a:endParaRPr lang="en-US"/>
          </a:p>
        </p:txBody>
      </p:sp>
      <p:sp>
        <p:nvSpPr>
          <p:cNvPr id="6" name="Holder 6"/>
          <p:cNvSpPr>
            <a:spLocks noGrp="1"/>
          </p:cNvSpPr>
          <p:nvPr>
            <p:ph type="sldNum" sz="quarter" idx="7"/>
          </p:nvPr>
        </p:nvSpPr>
        <p:spPr>
          <a:xfrm>
            <a:off x="6583680" y="4783456"/>
            <a:ext cx="210312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w3schools.com/python/python_ref_set.asp"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31500" y="1304385"/>
            <a:ext cx="8267700" cy="646331"/>
          </a:xfrm>
          <a:prstGeom prst="rect">
            <a:avLst/>
          </a:prstGeom>
          <a:noFill/>
        </p:spPr>
        <p:txBody>
          <a:bodyPr wrap="square" rtlCol="0">
            <a:spAutoFit/>
          </a:bodyPr>
          <a:lstStyle/>
          <a:p>
            <a:pPr algn="ctr"/>
            <a:r>
              <a:rPr lang="en-US" sz="3600" dirty="0" smtClean="0"/>
              <a:t>Data Structures in Python</a:t>
            </a:r>
            <a:endParaRPr lang="en-US" sz="3600" dirty="0" smtClean="0">
              <a:latin typeface="Times New Roman" pitchFamily="18" charset="0"/>
              <a:cs typeface="Times New Roman" pitchFamily="18" charset="0"/>
            </a:endParaRPr>
          </a:p>
        </p:txBody>
      </p:sp>
      <p:sp>
        <p:nvSpPr>
          <p:cNvPr id="5" name="object 4"/>
          <p:cNvSpPr/>
          <p:nvPr/>
        </p:nvSpPr>
        <p:spPr>
          <a:xfrm>
            <a:off x="142875" y="4875609"/>
            <a:ext cx="3869054" cy="214629"/>
          </a:xfrm>
          <a:custGeom>
            <a:avLst/>
            <a:gdLst/>
            <a:ahLst/>
            <a:cxnLst/>
            <a:rect l="l" t="t" r="r" b="b"/>
            <a:pathLst>
              <a:path w="3869054" h="214629">
                <a:moveTo>
                  <a:pt x="0" y="214312"/>
                </a:moveTo>
                <a:lnTo>
                  <a:pt x="3868795" y="214312"/>
                </a:lnTo>
                <a:lnTo>
                  <a:pt x="3868795" y="0"/>
                </a:lnTo>
                <a:lnTo>
                  <a:pt x="0" y="0"/>
                </a:lnTo>
                <a:lnTo>
                  <a:pt x="0" y="214312"/>
                </a:lnTo>
                <a:close/>
              </a:path>
            </a:pathLst>
          </a:custGeom>
          <a:solidFill>
            <a:srgbClr val="F79546"/>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
            <a:ext cx="4800600" cy="819149"/>
          </a:xfrm>
        </p:spPr>
        <p:txBody>
          <a:bodyPr>
            <a:normAutofit fontScale="90000"/>
          </a:bodyPr>
          <a:lstStyle/>
          <a:p>
            <a:pPr algn="l"/>
            <a:r>
              <a:rPr lang="en-US" sz="720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Course Contents </a:t>
            </a:r>
            <a:endParaRPr lang="en-US" dirty="0"/>
          </a:p>
        </p:txBody>
      </p:sp>
      <p:sp>
        <p:nvSpPr>
          <p:cNvPr id="3" name="Content Placeholder 2"/>
          <p:cNvSpPr>
            <a:spLocks noGrp="1"/>
          </p:cNvSpPr>
          <p:nvPr>
            <p:ph type="body" idx="1"/>
          </p:nvPr>
        </p:nvSpPr>
        <p:spPr>
          <a:xfrm>
            <a:off x="304800" y="971551"/>
            <a:ext cx="8267700" cy="3695699"/>
          </a:xfrm>
        </p:spPr>
        <p:txBody>
          <a:bodyPr/>
          <a:lstStyle/>
          <a:p>
            <a:pPr>
              <a:lnSpc>
                <a:spcPct val="150000"/>
              </a:lnSpc>
              <a:buFont typeface="Arial" pitchFamily="34" charset="0"/>
              <a:buChar char="•"/>
            </a:pPr>
            <a:r>
              <a:rPr lang="en-US" sz="2000" dirty="0" smtClean="0"/>
              <a:t> </a:t>
            </a:r>
            <a:r>
              <a:rPr lang="en-US" sz="2400" dirty="0" smtClean="0">
                <a:solidFill>
                  <a:prstClr val="black"/>
                </a:solidFill>
              </a:rPr>
              <a:t>Native Data Types</a:t>
            </a:r>
          </a:p>
          <a:p>
            <a:pPr lvl="0">
              <a:lnSpc>
                <a:spcPct val="150000"/>
              </a:lnSpc>
              <a:buFont typeface="Arial" pitchFamily="34" charset="0"/>
              <a:buChar char="•"/>
            </a:pPr>
            <a:r>
              <a:rPr lang="en-US" sz="2400" dirty="0" smtClean="0">
                <a:solidFill>
                  <a:prstClr val="black"/>
                </a:solidFill>
              </a:rPr>
              <a:t> Strings</a:t>
            </a:r>
          </a:p>
          <a:p>
            <a:pPr lvl="0">
              <a:lnSpc>
                <a:spcPct val="150000"/>
              </a:lnSpc>
              <a:buFont typeface="Arial" pitchFamily="34" charset="0"/>
              <a:buChar char="•"/>
            </a:pPr>
            <a:r>
              <a:rPr lang="en-US" sz="2400" dirty="0" smtClean="0">
                <a:solidFill>
                  <a:prstClr val="black"/>
                </a:solidFill>
              </a:rPr>
              <a:t> List</a:t>
            </a:r>
          </a:p>
          <a:p>
            <a:pPr lvl="0">
              <a:lnSpc>
                <a:spcPct val="150000"/>
              </a:lnSpc>
              <a:buFont typeface="Arial" pitchFamily="34" charset="0"/>
              <a:buChar char="•"/>
            </a:pPr>
            <a:r>
              <a:rPr lang="en-US" sz="2400" dirty="0" smtClean="0">
                <a:solidFill>
                  <a:prstClr val="black"/>
                </a:solidFill>
              </a:rPr>
              <a:t> </a:t>
            </a:r>
            <a:r>
              <a:rPr lang="en-US" sz="2400" dirty="0" err="1" smtClean="0">
                <a:solidFill>
                  <a:prstClr val="black"/>
                </a:solidFill>
              </a:rPr>
              <a:t>Tuple</a:t>
            </a:r>
            <a:endParaRPr lang="en-US" sz="2400" dirty="0" smtClean="0">
              <a:solidFill>
                <a:prstClr val="black"/>
              </a:solidFill>
            </a:endParaRPr>
          </a:p>
          <a:p>
            <a:pPr lvl="0">
              <a:lnSpc>
                <a:spcPct val="150000"/>
              </a:lnSpc>
              <a:buFont typeface="Arial" pitchFamily="34" charset="0"/>
              <a:buChar char="•"/>
            </a:pPr>
            <a:r>
              <a:rPr lang="en-US" sz="2400" dirty="0" smtClean="0">
                <a:solidFill>
                  <a:prstClr val="black"/>
                </a:solidFill>
              </a:rPr>
              <a:t> Set</a:t>
            </a:r>
          </a:p>
          <a:p>
            <a:pPr lvl="0">
              <a:lnSpc>
                <a:spcPct val="150000"/>
              </a:lnSpc>
              <a:buFont typeface="Arial" pitchFamily="34" charset="0"/>
              <a:buChar char="•"/>
            </a:pPr>
            <a:r>
              <a:rPr lang="en-US" sz="2400" dirty="0" smtClean="0">
                <a:solidFill>
                  <a:prstClr val="black"/>
                </a:solidFill>
              </a:rPr>
              <a:t> Dictionary</a:t>
            </a:r>
          </a:p>
          <a:p>
            <a:pPr>
              <a:lnSpc>
                <a:spcPct val="150000"/>
              </a:lnSpc>
            </a:pPr>
            <a:endParaRPr lang="en-US" sz="2400" dirty="0" smtClean="0"/>
          </a:p>
          <a:p>
            <a:endParaRPr lang="en-US" dirty="0" smtClean="0"/>
          </a:p>
          <a:p>
            <a:endParaRPr lang="en-US" dirty="0" smtClean="0"/>
          </a:p>
          <a:p>
            <a:endParaRPr lang="en-US" dirty="0" smtClean="0"/>
          </a:p>
        </p:txBody>
      </p:sp>
      <p:sp>
        <p:nvSpPr>
          <p:cNvPr id="5" name="object 4"/>
          <p:cNvSpPr/>
          <p:nvPr/>
        </p:nvSpPr>
        <p:spPr>
          <a:xfrm>
            <a:off x="142875" y="4875609"/>
            <a:ext cx="3869054" cy="214629"/>
          </a:xfrm>
          <a:custGeom>
            <a:avLst/>
            <a:gdLst/>
            <a:ahLst/>
            <a:cxnLst/>
            <a:rect l="l" t="t" r="r" b="b"/>
            <a:pathLst>
              <a:path w="3869054" h="214629">
                <a:moveTo>
                  <a:pt x="0" y="214312"/>
                </a:moveTo>
                <a:lnTo>
                  <a:pt x="3868795" y="214312"/>
                </a:lnTo>
                <a:lnTo>
                  <a:pt x="3868795" y="0"/>
                </a:lnTo>
                <a:lnTo>
                  <a:pt x="0" y="0"/>
                </a:lnTo>
                <a:lnTo>
                  <a:pt x="0" y="214312"/>
                </a:lnTo>
                <a:close/>
              </a:path>
            </a:pathLst>
          </a:custGeom>
          <a:solidFill>
            <a:srgbClr val="F79546"/>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
            <a:ext cx="4800600" cy="819149"/>
          </a:xfrm>
        </p:spPr>
        <p:txBody>
          <a:bodyPr>
            <a:normAutofit/>
          </a:bodyPr>
          <a:lstStyle/>
          <a:p>
            <a:pPr algn="l"/>
            <a:r>
              <a:rPr lang="en-US" sz="3200" dirty="0" smtClean="0">
                <a:latin typeface="Times New Roman" pitchFamily="18" charset="0"/>
                <a:cs typeface="Times New Roman" pitchFamily="18" charset="0"/>
              </a:rPr>
              <a:t>Native Data Types</a:t>
            </a:r>
            <a:endParaRPr lang="en-US" sz="3200" dirty="0">
              <a:latin typeface="Times New Roman" pitchFamily="18" charset="0"/>
              <a:cs typeface="Times New Roman" pitchFamily="18" charset="0"/>
            </a:endParaRPr>
          </a:p>
        </p:txBody>
      </p:sp>
      <p:sp>
        <p:nvSpPr>
          <p:cNvPr id="3" name="Content Placeholder 2"/>
          <p:cNvSpPr>
            <a:spLocks noGrp="1"/>
          </p:cNvSpPr>
          <p:nvPr>
            <p:ph type="body" idx="1"/>
          </p:nvPr>
        </p:nvSpPr>
        <p:spPr>
          <a:xfrm>
            <a:off x="152400" y="552450"/>
            <a:ext cx="8267700" cy="5539978"/>
          </a:xfrm>
        </p:spPr>
        <p:txBody>
          <a:bodyPr/>
          <a:lstStyle/>
          <a:p>
            <a:pPr>
              <a:lnSpc>
                <a:spcPct val="150000"/>
              </a:lnSpc>
              <a:buFont typeface="Arial" pitchFamily="34" charset="0"/>
              <a:buChar char="•"/>
            </a:pPr>
            <a:r>
              <a:rPr lang="en-US" sz="2000" dirty="0" smtClean="0"/>
              <a:t> </a:t>
            </a:r>
            <a:r>
              <a:rPr lang="en-US" sz="2000" b="1" dirty="0" smtClean="0"/>
              <a:t>Booleans</a:t>
            </a:r>
            <a:r>
              <a:rPr lang="en-US" sz="2000" dirty="0" smtClean="0"/>
              <a:t> are either True or False.</a:t>
            </a:r>
          </a:p>
          <a:p>
            <a:pPr>
              <a:lnSpc>
                <a:spcPct val="150000"/>
              </a:lnSpc>
              <a:buFont typeface="Arial" pitchFamily="34" charset="0"/>
              <a:buChar char="•"/>
            </a:pPr>
            <a:r>
              <a:rPr lang="en-US" sz="2000" dirty="0" smtClean="0"/>
              <a:t> </a:t>
            </a:r>
            <a:r>
              <a:rPr lang="en-US" sz="2000" b="1" dirty="0" smtClean="0"/>
              <a:t>Numbers </a:t>
            </a:r>
            <a:r>
              <a:rPr lang="en-US" sz="2000" dirty="0" smtClean="0"/>
              <a:t>can be integers (1 and 2), floats (1.1 and 1.2), fractions (1/2 and 2/3), or even complex numbers.</a:t>
            </a:r>
          </a:p>
          <a:p>
            <a:pPr>
              <a:lnSpc>
                <a:spcPct val="150000"/>
              </a:lnSpc>
              <a:buFont typeface="Arial" pitchFamily="34" charset="0"/>
              <a:buChar char="•"/>
            </a:pPr>
            <a:r>
              <a:rPr lang="en-US" sz="2000" dirty="0" smtClean="0"/>
              <a:t> </a:t>
            </a:r>
            <a:r>
              <a:rPr lang="en-US" sz="2000" b="1" dirty="0" smtClean="0"/>
              <a:t>Strings</a:t>
            </a:r>
            <a:r>
              <a:rPr lang="en-US" sz="2000" dirty="0" smtClean="0"/>
              <a:t> are sequences of Unicode characters, e.g. an html document.</a:t>
            </a:r>
          </a:p>
          <a:p>
            <a:pPr>
              <a:lnSpc>
                <a:spcPct val="150000"/>
              </a:lnSpc>
              <a:buFont typeface="Arial" pitchFamily="34" charset="0"/>
              <a:buChar char="•"/>
            </a:pPr>
            <a:r>
              <a:rPr lang="en-US" sz="2000" dirty="0" smtClean="0"/>
              <a:t> </a:t>
            </a:r>
            <a:r>
              <a:rPr lang="en-US" sz="2000" b="1" dirty="0" smtClean="0"/>
              <a:t>Lists </a:t>
            </a:r>
            <a:r>
              <a:rPr lang="en-US" sz="2000" dirty="0" smtClean="0"/>
              <a:t>are ordered sequences of values.</a:t>
            </a:r>
          </a:p>
          <a:p>
            <a:pPr>
              <a:lnSpc>
                <a:spcPct val="150000"/>
              </a:lnSpc>
              <a:buFont typeface="Arial" pitchFamily="34" charset="0"/>
              <a:buChar char="•"/>
            </a:pPr>
            <a:r>
              <a:rPr lang="en-US" sz="2000" dirty="0" smtClean="0"/>
              <a:t> </a:t>
            </a:r>
            <a:r>
              <a:rPr lang="en-US" sz="2000" b="1" dirty="0" err="1" smtClean="0"/>
              <a:t>Tuples</a:t>
            </a:r>
            <a:r>
              <a:rPr lang="en-US" sz="2000" dirty="0" smtClean="0"/>
              <a:t> are ordered, immutable sequences of values.</a:t>
            </a:r>
          </a:p>
          <a:p>
            <a:pPr>
              <a:lnSpc>
                <a:spcPct val="150000"/>
              </a:lnSpc>
              <a:buFont typeface="Arial" pitchFamily="34" charset="0"/>
              <a:buChar char="•"/>
            </a:pPr>
            <a:r>
              <a:rPr lang="en-US" sz="2000" dirty="0" smtClean="0"/>
              <a:t> </a:t>
            </a:r>
            <a:r>
              <a:rPr lang="en-US" sz="2000" b="1" dirty="0" smtClean="0"/>
              <a:t>Sets</a:t>
            </a:r>
            <a:r>
              <a:rPr lang="en-US" sz="2000" dirty="0" smtClean="0"/>
              <a:t> are unordered bags of values.</a:t>
            </a:r>
          </a:p>
          <a:p>
            <a:pPr>
              <a:lnSpc>
                <a:spcPct val="150000"/>
              </a:lnSpc>
              <a:buFont typeface="Arial" pitchFamily="34" charset="0"/>
              <a:buChar char="•"/>
            </a:pPr>
            <a:r>
              <a:rPr lang="en-US" sz="2000" dirty="0" smtClean="0"/>
              <a:t> </a:t>
            </a:r>
            <a:r>
              <a:rPr lang="en-US" sz="2000" b="1" dirty="0" smtClean="0"/>
              <a:t>Dictionaries</a:t>
            </a:r>
            <a:r>
              <a:rPr lang="en-US" sz="2000" dirty="0" smtClean="0"/>
              <a:t> are unordered bags of key-value pairs. </a:t>
            </a:r>
          </a:p>
          <a:p>
            <a:pPr>
              <a:lnSpc>
                <a:spcPct val="150000"/>
              </a:lnSpc>
              <a:buFont typeface="Arial" pitchFamily="34" charset="0"/>
              <a:buChar char="•"/>
            </a:pPr>
            <a:r>
              <a:rPr lang="en-US" sz="2000" dirty="0" smtClean="0"/>
              <a:t> </a:t>
            </a:r>
            <a:r>
              <a:rPr lang="en-US" sz="2000" b="1" dirty="0" smtClean="0"/>
              <a:t>Bytes and byte arrays</a:t>
            </a:r>
            <a:r>
              <a:rPr lang="en-US" sz="2000" dirty="0" smtClean="0"/>
              <a:t>, e.g. a jpeg image file.</a:t>
            </a:r>
          </a:p>
          <a:p>
            <a:pPr>
              <a:lnSpc>
                <a:spcPct val="150000"/>
              </a:lnSpc>
              <a:buFont typeface="Arial" pitchFamily="34" charset="0"/>
              <a:buChar char="•"/>
            </a:pPr>
            <a:endParaRPr lang="en-US" sz="2400" dirty="0" smtClean="0"/>
          </a:p>
          <a:p>
            <a:endParaRPr lang="en-US" dirty="0" smtClean="0"/>
          </a:p>
          <a:p>
            <a:endParaRPr lang="en-US" dirty="0" smtClean="0"/>
          </a:p>
          <a:p>
            <a:endParaRPr lang="en-US" dirty="0" smtClean="0"/>
          </a:p>
        </p:txBody>
      </p:sp>
      <p:sp>
        <p:nvSpPr>
          <p:cNvPr id="5" name="object 4"/>
          <p:cNvSpPr/>
          <p:nvPr/>
        </p:nvSpPr>
        <p:spPr>
          <a:xfrm>
            <a:off x="142875" y="4875609"/>
            <a:ext cx="3869054" cy="214629"/>
          </a:xfrm>
          <a:custGeom>
            <a:avLst/>
            <a:gdLst/>
            <a:ahLst/>
            <a:cxnLst/>
            <a:rect l="l" t="t" r="r" b="b"/>
            <a:pathLst>
              <a:path w="3869054" h="214629">
                <a:moveTo>
                  <a:pt x="0" y="214312"/>
                </a:moveTo>
                <a:lnTo>
                  <a:pt x="3868795" y="214312"/>
                </a:lnTo>
                <a:lnTo>
                  <a:pt x="3868795" y="0"/>
                </a:lnTo>
                <a:lnTo>
                  <a:pt x="0" y="0"/>
                </a:lnTo>
                <a:lnTo>
                  <a:pt x="0" y="214312"/>
                </a:lnTo>
                <a:close/>
              </a:path>
            </a:pathLst>
          </a:custGeom>
          <a:solidFill>
            <a:srgbClr val="F79546"/>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
            <a:ext cx="4800600" cy="819149"/>
          </a:xfrm>
        </p:spPr>
        <p:txBody>
          <a:bodyPr>
            <a:normAutofit/>
          </a:bodyPr>
          <a:lstStyle/>
          <a:p>
            <a:pPr algn="l"/>
            <a:r>
              <a:rPr lang="en-GB" altLang="en-US" sz="3200" dirty="0" smtClean="0"/>
              <a:t>Immutable Types</a:t>
            </a:r>
            <a:endParaRPr lang="en-US" sz="3200" dirty="0">
              <a:latin typeface="Times New Roman" pitchFamily="18" charset="0"/>
              <a:cs typeface="Times New Roman" pitchFamily="18" charset="0"/>
            </a:endParaRPr>
          </a:p>
        </p:txBody>
      </p:sp>
      <p:sp>
        <p:nvSpPr>
          <p:cNvPr id="3" name="Content Placeholder 2"/>
          <p:cNvSpPr>
            <a:spLocks noGrp="1"/>
          </p:cNvSpPr>
          <p:nvPr>
            <p:ph type="body" idx="1"/>
          </p:nvPr>
        </p:nvSpPr>
        <p:spPr>
          <a:xfrm>
            <a:off x="152400" y="552450"/>
            <a:ext cx="8267700" cy="3645613"/>
          </a:xfrm>
        </p:spPr>
        <p:txBody>
          <a:bodyPr/>
          <a:lstStyle/>
          <a:p>
            <a:pPr>
              <a:lnSpc>
                <a:spcPct val="150000"/>
              </a:lnSpc>
              <a:buFont typeface="Arial" pitchFamily="34" charset="0"/>
              <a:buChar char="•"/>
            </a:pPr>
            <a:r>
              <a:rPr lang="en-US" sz="2000" dirty="0" smtClean="0"/>
              <a:t> Strings and </a:t>
            </a:r>
            <a:r>
              <a:rPr lang="en-US" sz="2000" dirty="0" err="1" smtClean="0"/>
              <a:t>Tuples</a:t>
            </a:r>
            <a:r>
              <a:rPr lang="en-US" sz="2000" dirty="0" smtClean="0"/>
              <a:t> are immutable, which means that once we create them, we can not change them.</a:t>
            </a:r>
          </a:p>
          <a:p>
            <a:pPr>
              <a:lnSpc>
                <a:spcPct val="150000"/>
              </a:lnSpc>
              <a:buFont typeface="Arial" pitchFamily="34" charset="0"/>
              <a:buChar char="•"/>
            </a:pPr>
            <a:r>
              <a:rPr lang="en-US" sz="2000" dirty="0" smtClean="0"/>
              <a:t> The assignment operator (=) can make a variable point to strings or </a:t>
            </a:r>
            <a:r>
              <a:rPr lang="en-US" sz="2000" dirty="0" err="1" smtClean="0"/>
              <a:t>tuples</a:t>
            </a:r>
            <a:r>
              <a:rPr lang="en-US" sz="2000" dirty="0" smtClean="0"/>
              <a:t> just like simple data types:</a:t>
            </a:r>
            <a:br>
              <a:rPr lang="en-US" sz="2000" dirty="0" smtClean="0"/>
            </a:br>
            <a:r>
              <a:rPr lang="en-US" sz="2000" dirty="0" smtClean="0"/>
              <a:t>    </a:t>
            </a:r>
            <a:r>
              <a:rPr lang="en-US" sz="2000" dirty="0" err="1" smtClean="0"/>
              <a:t>myString</a:t>
            </a:r>
            <a:r>
              <a:rPr lang="en-US" sz="2000" dirty="0" smtClean="0"/>
              <a:t> = “This is a test”</a:t>
            </a:r>
            <a:br>
              <a:rPr lang="en-US" sz="2000" dirty="0" smtClean="0"/>
            </a:br>
            <a:r>
              <a:rPr lang="en-US" sz="2000" dirty="0" smtClean="0"/>
              <a:t>     </a:t>
            </a:r>
            <a:r>
              <a:rPr lang="en-US" sz="2000" dirty="0" err="1" smtClean="0"/>
              <a:t>myTuple</a:t>
            </a:r>
            <a:r>
              <a:rPr lang="en-US" sz="2000" dirty="0" smtClean="0"/>
              <a:t> = (1,45.8, True, “String Cheese”)‏</a:t>
            </a:r>
          </a:p>
          <a:p>
            <a:pPr>
              <a:lnSpc>
                <a:spcPct val="150000"/>
              </a:lnSpc>
              <a:buFont typeface="Arial" pitchFamily="34" charset="0"/>
              <a:buChar char="•"/>
            </a:pPr>
            <a:r>
              <a:rPr lang="en-US" sz="2000" dirty="0" smtClean="0"/>
              <a:t> Strings &amp; </a:t>
            </a:r>
            <a:r>
              <a:rPr lang="en-US" sz="2000" dirty="0" err="1" smtClean="0"/>
              <a:t>Tuples</a:t>
            </a:r>
            <a:r>
              <a:rPr lang="en-US" sz="2000" dirty="0" smtClean="0"/>
              <a:t> are both sequences, which mean that they consist of an ordered set of elements, with each element identified by an index.</a:t>
            </a:r>
          </a:p>
        </p:txBody>
      </p:sp>
      <p:sp>
        <p:nvSpPr>
          <p:cNvPr id="5" name="object 4"/>
          <p:cNvSpPr/>
          <p:nvPr/>
        </p:nvSpPr>
        <p:spPr>
          <a:xfrm>
            <a:off x="142875" y="4875609"/>
            <a:ext cx="3869054" cy="214629"/>
          </a:xfrm>
          <a:custGeom>
            <a:avLst/>
            <a:gdLst/>
            <a:ahLst/>
            <a:cxnLst/>
            <a:rect l="l" t="t" r="r" b="b"/>
            <a:pathLst>
              <a:path w="3869054" h="214629">
                <a:moveTo>
                  <a:pt x="0" y="214312"/>
                </a:moveTo>
                <a:lnTo>
                  <a:pt x="3868795" y="214312"/>
                </a:lnTo>
                <a:lnTo>
                  <a:pt x="3868795" y="0"/>
                </a:lnTo>
                <a:lnTo>
                  <a:pt x="0" y="0"/>
                </a:lnTo>
                <a:lnTo>
                  <a:pt x="0" y="214312"/>
                </a:lnTo>
                <a:close/>
              </a:path>
            </a:pathLst>
          </a:custGeom>
          <a:solidFill>
            <a:srgbClr val="F79546"/>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
            <a:ext cx="4800600" cy="819149"/>
          </a:xfrm>
        </p:spPr>
        <p:txBody>
          <a:bodyPr>
            <a:normAutofit/>
          </a:bodyPr>
          <a:lstStyle/>
          <a:p>
            <a:pPr algn="l"/>
            <a:r>
              <a:rPr lang="en-GB" altLang="en-US" sz="3200" dirty="0" smtClean="0"/>
              <a:t>String: Accessing Elements</a:t>
            </a:r>
            <a:endParaRPr lang="en-US" sz="3200" dirty="0">
              <a:latin typeface="Times New Roman" pitchFamily="18" charset="0"/>
              <a:cs typeface="Times New Roman" pitchFamily="18" charset="0"/>
            </a:endParaRPr>
          </a:p>
        </p:txBody>
      </p:sp>
      <p:sp>
        <p:nvSpPr>
          <p:cNvPr id="3" name="Content Placeholder 2"/>
          <p:cNvSpPr>
            <a:spLocks noGrp="1"/>
          </p:cNvSpPr>
          <p:nvPr>
            <p:ph type="body" idx="1"/>
          </p:nvPr>
        </p:nvSpPr>
        <p:spPr>
          <a:xfrm>
            <a:off x="152400" y="552451"/>
            <a:ext cx="8877300" cy="5539978"/>
          </a:xfrm>
        </p:spPr>
        <p:txBody>
          <a:bodyPr/>
          <a:lstStyle/>
          <a:p>
            <a:pPr algn="l" rtl="0">
              <a:lnSpc>
                <a:spcPct val="150000"/>
              </a:lnSpc>
            </a:pPr>
            <a:r>
              <a:rPr lang="en-US" kern="1200" dirty="0" smtClean="0"/>
              <a:t>&gt;&gt;&gt; </a:t>
            </a:r>
            <a:r>
              <a:rPr lang="en-US" kern="1200" dirty="0" err="1" smtClean="0"/>
              <a:t>myString</a:t>
            </a:r>
            <a:r>
              <a:rPr lang="en-US" kern="1200" dirty="0" smtClean="0"/>
              <a:t> = “This is a test.”</a:t>
            </a:r>
          </a:p>
          <a:p>
            <a:pPr algn="l" rtl="0">
              <a:lnSpc>
                <a:spcPct val="150000"/>
              </a:lnSpc>
              <a:buFont typeface="Arial" pitchFamily="34" charset="0"/>
              <a:buChar char="•"/>
            </a:pPr>
            <a:r>
              <a:rPr lang="en-US" kern="1200" dirty="0" smtClean="0"/>
              <a:t> We can access a specific element using an integer index which counts from  the front of the sequence (starting at ZERO!)‏</a:t>
            </a:r>
          </a:p>
          <a:p>
            <a:pPr algn="l" rtl="0">
              <a:lnSpc>
                <a:spcPct val="150000"/>
              </a:lnSpc>
              <a:buFont typeface="Arial" pitchFamily="34" charset="0"/>
              <a:buChar char="•"/>
            </a:pPr>
            <a:r>
              <a:rPr lang="en-US" kern="1200" dirty="0" smtClean="0"/>
              <a:t> </a:t>
            </a:r>
            <a:r>
              <a:rPr lang="en-US" kern="1200" dirty="0" err="1" smtClean="0"/>
              <a:t>myString</a:t>
            </a:r>
            <a:r>
              <a:rPr lang="en-US" kern="1200" dirty="0" smtClean="0"/>
              <a:t>[0] produces 'T'</a:t>
            </a:r>
          </a:p>
          <a:p>
            <a:pPr algn="l" rtl="0">
              <a:lnSpc>
                <a:spcPct val="150000"/>
              </a:lnSpc>
              <a:buFont typeface="Arial" pitchFamily="34" charset="0"/>
              <a:buChar char="•"/>
            </a:pPr>
            <a:r>
              <a:rPr lang="en-US" kern="1200" dirty="0" smtClean="0"/>
              <a:t> </a:t>
            </a:r>
            <a:r>
              <a:rPr lang="en-US" kern="1200" dirty="0" err="1" smtClean="0"/>
              <a:t>myString</a:t>
            </a:r>
            <a:r>
              <a:rPr lang="en-US" kern="1200" dirty="0" smtClean="0"/>
              <a:t>[1] produces 'h'</a:t>
            </a:r>
          </a:p>
          <a:p>
            <a:pPr algn="l" rtl="0">
              <a:lnSpc>
                <a:spcPct val="150000"/>
              </a:lnSpc>
              <a:buFont typeface="Arial" pitchFamily="34" charset="0"/>
              <a:buChar char="•"/>
            </a:pPr>
            <a:r>
              <a:rPr lang="en-US" kern="1200" dirty="0" smtClean="0"/>
              <a:t> </a:t>
            </a:r>
            <a:r>
              <a:rPr lang="en-US" kern="1200" dirty="0" err="1" smtClean="0"/>
              <a:t>myString</a:t>
            </a:r>
            <a:r>
              <a:rPr lang="en-US" kern="1200" dirty="0" smtClean="0"/>
              <a:t>[2] produces '</a:t>
            </a:r>
            <a:r>
              <a:rPr lang="en-US" kern="1200" dirty="0" err="1" smtClean="0"/>
              <a:t>i</a:t>
            </a:r>
            <a:r>
              <a:rPr lang="en-US" kern="1200" dirty="0" smtClean="0"/>
              <a:t>'</a:t>
            </a:r>
          </a:p>
          <a:p>
            <a:pPr algn="l" rtl="0">
              <a:lnSpc>
                <a:spcPct val="150000"/>
              </a:lnSpc>
              <a:buFont typeface="Arial" pitchFamily="34" charset="0"/>
              <a:buChar char="•"/>
            </a:pPr>
            <a:r>
              <a:rPr lang="en-US" kern="1200" dirty="0" smtClean="0"/>
              <a:t> </a:t>
            </a:r>
            <a:r>
              <a:rPr lang="en-US" kern="1200" dirty="0" err="1" smtClean="0"/>
              <a:t>myString</a:t>
            </a:r>
            <a:r>
              <a:rPr lang="en-US" kern="1200" dirty="0" smtClean="0"/>
              <a:t>[3] produces 's'</a:t>
            </a:r>
          </a:p>
          <a:p>
            <a:pPr algn="l" rtl="0">
              <a:lnSpc>
                <a:spcPct val="150000"/>
              </a:lnSpc>
              <a:buFont typeface="Arial" pitchFamily="34" charset="0"/>
              <a:buChar char="•"/>
            </a:pPr>
            <a:r>
              <a:rPr lang="en-US" kern="1200" dirty="0" smtClean="0"/>
              <a:t> The </a:t>
            </a:r>
            <a:r>
              <a:rPr lang="en-US" kern="1200" dirty="0" err="1" smtClean="0"/>
              <a:t>len</a:t>
            </a:r>
            <a:r>
              <a:rPr lang="en-US" kern="1200" dirty="0" smtClean="0"/>
              <a:t>() function can be used to find the length of a sequence. Remember, the last element is the length minus 1, because counting starts at zero!</a:t>
            </a:r>
          </a:p>
          <a:p>
            <a:pPr algn="l" rtl="0">
              <a:lnSpc>
                <a:spcPct val="150000"/>
              </a:lnSpc>
              <a:buFont typeface="Arial" pitchFamily="34" charset="0"/>
              <a:buChar char="•"/>
            </a:pPr>
            <a:r>
              <a:rPr lang="en-US" kern="1200" dirty="0" smtClean="0"/>
              <a:t> </a:t>
            </a:r>
            <a:r>
              <a:rPr lang="en-US" kern="1200" dirty="0" err="1" smtClean="0"/>
              <a:t>myString</a:t>
            </a:r>
            <a:r>
              <a:rPr lang="en-US" kern="1200" dirty="0" smtClean="0"/>
              <a:t>[ </a:t>
            </a:r>
            <a:r>
              <a:rPr lang="en-US" kern="1200" dirty="0" err="1" smtClean="0"/>
              <a:t>len</a:t>
            </a:r>
            <a:r>
              <a:rPr lang="en-US" kern="1200" dirty="0" smtClean="0"/>
              <a:t>(</a:t>
            </a:r>
            <a:r>
              <a:rPr lang="en-US" kern="1200" dirty="0" err="1" smtClean="0"/>
              <a:t>myString</a:t>
            </a:r>
            <a:r>
              <a:rPr lang="en-US" kern="1200" dirty="0" smtClean="0"/>
              <a:t>) – 1] produces '.'</a:t>
            </a:r>
          </a:p>
          <a:p>
            <a:pPr>
              <a:lnSpc>
                <a:spcPct val="150000"/>
              </a:lnSpc>
              <a:buFont typeface="Arial" pitchFamily="34" charset="0"/>
              <a:buChar char="•"/>
            </a:pPr>
            <a:endParaRPr lang="en-US" sz="2400" dirty="0" smtClean="0"/>
          </a:p>
          <a:p>
            <a:endParaRPr lang="en-US" dirty="0" smtClean="0"/>
          </a:p>
          <a:p>
            <a:endParaRPr lang="en-US" dirty="0" smtClean="0"/>
          </a:p>
          <a:p>
            <a:endParaRPr lang="en-US" dirty="0" smtClean="0"/>
          </a:p>
        </p:txBody>
      </p:sp>
      <p:sp>
        <p:nvSpPr>
          <p:cNvPr id="5" name="object 4"/>
          <p:cNvSpPr/>
          <p:nvPr/>
        </p:nvSpPr>
        <p:spPr>
          <a:xfrm>
            <a:off x="142875" y="4875609"/>
            <a:ext cx="3869054" cy="214629"/>
          </a:xfrm>
          <a:custGeom>
            <a:avLst/>
            <a:gdLst/>
            <a:ahLst/>
            <a:cxnLst/>
            <a:rect l="l" t="t" r="r" b="b"/>
            <a:pathLst>
              <a:path w="3869054" h="214629">
                <a:moveTo>
                  <a:pt x="0" y="214312"/>
                </a:moveTo>
                <a:lnTo>
                  <a:pt x="3868795" y="214312"/>
                </a:lnTo>
                <a:lnTo>
                  <a:pt x="3868795" y="0"/>
                </a:lnTo>
                <a:lnTo>
                  <a:pt x="0" y="0"/>
                </a:lnTo>
                <a:lnTo>
                  <a:pt x="0" y="214312"/>
                </a:lnTo>
                <a:close/>
              </a:path>
            </a:pathLst>
          </a:custGeom>
          <a:solidFill>
            <a:srgbClr val="F79546"/>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
            <a:ext cx="4800600" cy="819149"/>
          </a:xfrm>
        </p:spPr>
        <p:txBody>
          <a:bodyPr>
            <a:normAutofit/>
          </a:bodyPr>
          <a:lstStyle/>
          <a:p>
            <a:pPr algn="l"/>
            <a:r>
              <a:rPr lang="en-GB" altLang="en-US" sz="3200" dirty="0" smtClean="0"/>
              <a:t>Counting Backwards</a:t>
            </a:r>
            <a:endParaRPr lang="en-US" sz="3200" dirty="0">
              <a:latin typeface="Times New Roman" pitchFamily="18" charset="0"/>
              <a:cs typeface="Times New Roman" pitchFamily="18" charset="0"/>
            </a:endParaRPr>
          </a:p>
        </p:txBody>
      </p:sp>
      <p:sp>
        <p:nvSpPr>
          <p:cNvPr id="3" name="Content Placeholder 2"/>
          <p:cNvSpPr>
            <a:spLocks noGrp="1"/>
          </p:cNvSpPr>
          <p:nvPr>
            <p:ph type="body" idx="1"/>
          </p:nvPr>
        </p:nvSpPr>
        <p:spPr>
          <a:xfrm>
            <a:off x="152400" y="552450"/>
            <a:ext cx="8267700" cy="4708981"/>
          </a:xfrm>
        </p:spPr>
        <p:txBody>
          <a:bodyPr/>
          <a:lstStyle/>
          <a:p>
            <a:r>
              <a:rPr lang="en-US" dirty="0" smtClean="0"/>
              <a:t>&gt;&gt;&gt; </a:t>
            </a:r>
            <a:r>
              <a:rPr lang="en-US" dirty="0" err="1" smtClean="0"/>
              <a:t>myString</a:t>
            </a:r>
            <a:r>
              <a:rPr lang="en-US" dirty="0" smtClean="0"/>
              <a:t> = “This is a test.”</a:t>
            </a:r>
          </a:p>
          <a:p>
            <a:endParaRPr lang="en-US" dirty="0" smtClean="0"/>
          </a:p>
          <a:p>
            <a:pPr>
              <a:buFont typeface="Arial" pitchFamily="34" charset="0"/>
              <a:buChar char="•"/>
            </a:pPr>
            <a:r>
              <a:rPr lang="en-US" dirty="0" smtClean="0"/>
              <a:t> As a short cut (to avoid writing </a:t>
            </a:r>
            <a:r>
              <a:rPr lang="en-US" dirty="0" err="1" smtClean="0"/>
              <a:t>len</a:t>
            </a:r>
            <a:r>
              <a:rPr lang="en-US" dirty="0" smtClean="0"/>
              <a:t>(</a:t>
            </a:r>
            <a:r>
              <a:rPr lang="en-US" dirty="0" err="1" smtClean="0"/>
              <a:t>myString</a:t>
            </a:r>
            <a:r>
              <a:rPr lang="en-US" dirty="0" smtClean="0"/>
              <a:t>) ) we can simply count from the end of the string using negative numbers:</a:t>
            </a:r>
          </a:p>
          <a:p>
            <a:r>
              <a:rPr lang="en-US" dirty="0" smtClean="0"/>
              <a:t/>
            </a:r>
            <a:br>
              <a:rPr lang="en-US" dirty="0" smtClean="0"/>
            </a:br>
            <a:r>
              <a:rPr lang="en-US" dirty="0" smtClean="0"/>
              <a:t> </a:t>
            </a:r>
            <a:r>
              <a:rPr lang="en-US" dirty="0" err="1" smtClean="0"/>
              <a:t>myString</a:t>
            </a:r>
            <a:r>
              <a:rPr lang="en-US" dirty="0" smtClean="0"/>
              <a:t>[ </a:t>
            </a:r>
            <a:r>
              <a:rPr lang="en-US" dirty="0" err="1" smtClean="0"/>
              <a:t>len</a:t>
            </a:r>
            <a:r>
              <a:rPr lang="en-US" dirty="0" smtClean="0"/>
              <a:t>(</a:t>
            </a:r>
            <a:r>
              <a:rPr lang="en-US" dirty="0" err="1" smtClean="0"/>
              <a:t>myString</a:t>
            </a:r>
            <a:r>
              <a:rPr lang="en-US" dirty="0" smtClean="0"/>
              <a:t>) – 1 ]	produces '.‘</a:t>
            </a:r>
          </a:p>
          <a:p>
            <a:r>
              <a:rPr lang="en-US" dirty="0" smtClean="0"/>
              <a:t/>
            </a:r>
            <a:br>
              <a:rPr lang="en-US" dirty="0" smtClean="0"/>
            </a:br>
            <a:r>
              <a:rPr lang="en-US" dirty="0" err="1" smtClean="0"/>
              <a:t>myString</a:t>
            </a:r>
            <a:r>
              <a:rPr lang="en-US" dirty="0" smtClean="0"/>
              <a:t>[-1]  also	produces '.‘</a:t>
            </a:r>
          </a:p>
          <a:p>
            <a:r>
              <a:rPr lang="en-US" dirty="0" smtClean="0"/>
              <a:t/>
            </a:r>
            <a:br>
              <a:rPr lang="en-US" dirty="0" smtClean="0"/>
            </a:br>
            <a:r>
              <a:rPr lang="en-US" dirty="0" err="1" smtClean="0"/>
              <a:t>myString</a:t>
            </a:r>
            <a:r>
              <a:rPr lang="en-US" dirty="0" smtClean="0"/>
              <a:t>[-2]             produces 't‘</a:t>
            </a:r>
          </a:p>
          <a:p>
            <a:r>
              <a:rPr lang="en-US" dirty="0" smtClean="0"/>
              <a:t/>
            </a:r>
            <a:br>
              <a:rPr lang="en-US" dirty="0" smtClean="0"/>
            </a:br>
            <a:r>
              <a:rPr lang="en-US" dirty="0" err="1" smtClean="0"/>
              <a:t>myString</a:t>
            </a:r>
            <a:r>
              <a:rPr lang="en-US" dirty="0" smtClean="0"/>
              <a:t>[-3]	produces 's‘</a:t>
            </a:r>
          </a:p>
          <a:p>
            <a:r>
              <a:rPr lang="en-US" dirty="0" smtClean="0"/>
              <a:t/>
            </a:r>
            <a:br>
              <a:rPr lang="en-US" dirty="0" smtClean="0"/>
            </a:br>
            <a:r>
              <a:rPr lang="en-US" dirty="0" err="1" smtClean="0"/>
              <a:t>myString</a:t>
            </a:r>
            <a:r>
              <a:rPr lang="en-US" dirty="0" smtClean="0"/>
              <a:t>[-4]	produces 'e'</a:t>
            </a:r>
          </a:p>
          <a:p>
            <a:endParaRPr lang="en-US" dirty="0" smtClean="0"/>
          </a:p>
          <a:p>
            <a:endParaRPr lang="en-US" dirty="0" smtClean="0"/>
          </a:p>
          <a:p>
            <a:endParaRPr lang="en-US" dirty="0" smtClean="0"/>
          </a:p>
        </p:txBody>
      </p:sp>
      <p:sp>
        <p:nvSpPr>
          <p:cNvPr id="5" name="object 4"/>
          <p:cNvSpPr/>
          <p:nvPr/>
        </p:nvSpPr>
        <p:spPr>
          <a:xfrm>
            <a:off x="142875" y="4875609"/>
            <a:ext cx="3869054" cy="214629"/>
          </a:xfrm>
          <a:custGeom>
            <a:avLst/>
            <a:gdLst/>
            <a:ahLst/>
            <a:cxnLst/>
            <a:rect l="l" t="t" r="r" b="b"/>
            <a:pathLst>
              <a:path w="3869054" h="214629">
                <a:moveTo>
                  <a:pt x="0" y="214312"/>
                </a:moveTo>
                <a:lnTo>
                  <a:pt x="3868795" y="214312"/>
                </a:lnTo>
                <a:lnTo>
                  <a:pt x="3868795" y="0"/>
                </a:lnTo>
                <a:lnTo>
                  <a:pt x="0" y="0"/>
                </a:lnTo>
                <a:lnTo>
                  <a:pt x="0" y="214312"/>
                </a:lnTo>
                <a:close/>
              </a:path>
            </a:pathLst>
          </a:custGeom>
          <a:solidFill>
            <a:srgbClr val="F79546"/>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
            <a:ext cx="4800600" cy="819149"/>
          </a:xfrm>
        </p:spPr>
        <p:txBody>
          <a:bodyPr>
            <a:normAutofit/>
          </a:bodyPr>
          <a:lstStyle/>
          <a:p>
            <a:pPr algn="l"/>
            <a:r>
              <a:rPr lang="en-GB" altLang="en-US" sz="3200" dirty="0" smtClean="0"/>
              <a:t>Index Out of Range!</a:t>
            </a:r>
            <a:endParaRPr lang="en-US" sz="3200" dirty="0">
              <a:latin typeface="Times New Roman" pitchFamily="18" charset="0"/>
              <a:cs typeface="Times New Roman" pitchFamily="18" charset="0"/>
            </a:endParaRPr>
          </a:p>
        </p:txBody>
      </p:sp>
      <p:sp>
        <p:nvSpPr>
          <p:cNvPr id="3" name="Content Placeholder 2"/>
          <p:cNvSpPr>
            <a:spLocks noGrp="1"/>
          </p:cNvSpPr>
          <p:nvPr>
            <p:ph type="body" idx="1"/>
          </p:nvPr>
        </p:nvSpPr>
        <p:spPr>
          <a:xfrm>
            <a:off x="152400" y="552450"/>
            <a:ext cx="8267700" cy="1846659"/>
          </a:xfrm>
        </p:spPr>
        <p:txBody>
          <a:bodyPr/>
          <a:lstStyle/>
          <a:p>
            <a:pPr>
              <a:lnSpc>
                <a:spcPct val="150000"/>
              </a:lnSpc>
            </a:pPr>
            <a:r>
              <a:rPr lang="en-US" sz="2000" dirty="0" smtClean="0"/>
              <a:t>&gt;&gt;&gt; </a:t>
            </a:r>
            <a:r>
              <a:rPr lang="en-US" i="1" kern="1200" dirty="0" err="1" smtClean="0">
                <a:solidFill>
                  <a:schemeClr val="accent1">
                    <a:lumMod val="75000"/>
                  </a:schemeClr>
                </a:solidFill>
              </a:rPr>
              <a:t>myString</a:t>
            </a:r>
            <a:r>
              <a:rPr lang="en-US" i="1" kern="1200" dirty="0" smtClean="0">
                <a:solidFill>
                  <a:schemeClr val="accent1">
                    <a:lumMod val="75000"/>
                  </a:schemeClr>
                </a:solidFill>
              </a:rPr>
              <a:t> = “This is a test.”</a:t>
            </a:r>
          </a:p>
          <a:p>
            <a:pPr>
              <a:lnSpc>
                <a:spcPct val="150000"/>
              </a:lnSpc>
              <a:buFont typeface="Arial" pitchFamily="34" charset="0"/>
              <a:buChar char="•"/>
            </a:pPr>
            <a:r>
              <a:rPr lang="en-US" sz="2000" dirty="0" smtClean="0"/>
              <a:t> If we try to access an element that does not exist, Python will throw an error!</a:t>
            </a:r>
            <a:br>
              <a:rPr lang="en-US" sz="2000" dirty="0" smtClean="0"/>
            </a:br>
            <a:r>
              <a:rPr lang="en-US" i="1" kern="1200" dirty="0" err="1" smtClean="0">
                <a:solidFill>
                  <a:schemeClr val="accent1">
                    <a:lumMod val="75000"/>
                  </a:schemeClr>
                </a:solidFill>
              </a:rPr>
              <a:t>myString</a:t>
            </a:r>
            <a:r>
              <a:rPr lang="en-US" i="1" kern="1200" dirty="0" smtClean="0">
                <a:solidFill>
                  <a:schemeClr val="accent1">
                    <a:lumMod val="75000"/>
                  </a:schemeClr>
                </a:solidFill>
              </a:rPr>
              <a:t>[5000]</a:t>
            </a:r>
            <a:r>
              <a:rPr lang="en-US" sz="2000" dirty="0" smtClean="0"/>
              <a:t> produces	 	An ERROR!</a:t>
            </a:r>
            <a:br>
              <a:rPr lang="en-US" sz="2000" dirty="0" smtClean="0"/>
            </a:br>
            <a:r>
              <a:rPr lang="en-US" i="1" kern="1200" dirty="0" err="1" smtClean="0">
                <a:solidFill>
                  <a:schemeClr val="accent1">
                    <a:lumMod val="75000"/>
                  </a:schemeClr>
                </a:solidFill>
              </a:rPr>
              <a:t>myString</a:t>
            </a:r>
            <a:r>
              <a:rPr lang="en-US" i="1" kern="1200" dirty="0" smtClean="0">
                <a:solidFill>
                  <a:schemeClr val="accent1">
                    <a:lumMod val="75000"/>
                  </a:schemeClr>
                </a:solidFill>
              </a:rPr>
              <a:t>[-100] </a:t>
            </a:r>
            <a:r>
              <a:rPr lang="en-US" sz="2000" dirty="0" smtClean="0"/>
              <a:t>produces		An ERROR!</a:t>
            </a:r>
          </a:p>
        </p:txBody>
      </p:sp>
      <p:sp>
        <p:nvSpPr>
          <p:cNvPr id="5" name="object 4"/>
          <p:cNvSpPr/>
          <p:nvPr/>
        </p:nvSpPr>
        <p:spPr>
          <a:xfrm>
            <a:off x="142875" y="4875609"/>
            <a:ext cx="3869054" cy="214629"/>
          </a:xfrm>
          <a:custGeom>
            <a:avLst/>
            <a:gdLst/>
            <a:ahLst/>
            <a:cxnLst/>
            <a:rect l="l" t="t" r="r" b="b"/>
            <a:pathLst>
              <a:path w="3869054" h="214629">
                <a:moveTo>
                  <a:pt x="0" y="214312"/>
                </a:moveTo>
                <a:lnTo>
                  <a:pt x="3868795" y="214312"/>
                </a:lnTo>
                <a:lnTo>
                  <a:pt x="3868795" y="0"/>
                </a:lnTo>
                <a:lnTo>
                  <a:pt x="0" y="0"/>
                </a:lnTo>
                <a:lnTo>
                  <a:pt x="0" y="214312"/>
                </a:lnTo>
                <a:close/>
              </a:path>
            </a:pathLst>
          </a:custGeom>
          <a:solidFill>
            <a:srgbClr val="F79546"/>
          </a:solidFill>
        </p:spPr>
        <p:txBody>
          <a:bodyPr wrap="square" lIns="0" tIns="0" rIns="0" bIns="0" rtlCol="0"/>
          <a:lstStyle/>
          <a:p>
            <a:endParaRPr/>
          </a:p>
        </p:txBody>
      </p:sp>
      <p:sp>
        <p:nvSpPr>
          <p:cNvPr id="6" name="object 8"/>
          <p:cNvSpPr txBox="1">
            <a:spLocks noGrp="1"/>
          </p:cNvSpPr>
          <p:nvPr>
            <p:ph type="ftr" sz="quarter" idx="5"/>
          </p:nvPr>
        </p:nvSpPr>
        <p:spPr>
          <a:xfrm>
            <a:off x="220162" y="4876136"/>
            <a:ext cx="7056938" cy="276999"/>
          </a:xfrm>
          <a:prstGeom prst="rect">
            <a:avLst/>
          </a:prstGeom>
        </p:spPr>
        <p:txBody>
          <a:bodyPr vert="horz" wrap="square" lIns="0" tIns="0" rIns="0" bIns="0" rtlCol="0">
            <a:spAutoFit/>
          </a:bodyPr>
          <a:lstStyle/>
          <a:p>
            <a:pPr marL="12700">
              <a:lnSpc>
                <a:spcPct val="100000"/>
              </a:lnSpc>
            </a:pPr>
            <a:r>
              <a:rPr lang="en-US" dirty="0" smtClean="0"/>
              <a:t>Python Academy – www.pythonacademy.in</a:t>
            </a:r>
            <a:endParaRPr lang="en-US" spc="-5"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
            <a:ext cx="6134100" cy="819149"/>
          </a:xfrm>
        </p:spPr>
        <p:txBody>
          <a:bodyPr>
            <a:normAutofit/>
          </a:bodyPr>
          <a:lstStyle/>
          <a:p>
            <a:pPr algn="l"/>
            <a:r>
              <a:rPr lang="en-US" altLang="en-US" sz="3200" dirty="0" smtClean="0"/>
              <a:t>Easy Traversals – The FOR Loop</a:t>
            </a:r>
            <a:endParaRPr lang="en-US" sz="3200" dirty="0">
              <a:latin typeface="Times New Roman" pitchFamily="18" charset="0"/>
              <a:cs typeface="Times New Roman" pitchFamily="18" charset="0"/>
            </a:endParaRPr>
          </a:p>
        </p:txBody>
      </p:sp>
      <p:sp>
        <p:nvSpPr>
          <p:cNvPr id="3" name="Content Placeholder 2"/>
          <p:cNvSpPr>
            <a:spLocks noGrp="1"/>
          </p:cNvSpPr>
          <p:nvPr>
            <p:ph type="body" idx="1"/>
          </p:nvPr>
        </p:nvSpPr>
        <p:spPr>
          <a:xfrm>
            <a:off x="152400" y="552450"/>
            <a:ext cx="8686800" cy="4201150"/>
          </a:xfrm>
        </p:spPr>
        <p:txBody>
          <a:bodyPr/>
          <a:lstStyle/>
          <a:p>
            <a:pPr algn="l" rtl="0">
              <a:lnSpc>
                <a:spcPct val="150000"/>
              </a:lnSpc>
              <a:buFont typeface="Arial" pitchFamily="34" charset="0"/>
              <a:buChar char="•"/>
            </a:pPr>
            <a:r>
              <a:rPr lang="en-US" sz="2000" dirty="0" smtClean="0"/>
              <a:t> </a:t>
            </a:r>
            <a:r>
              <a:rPr lang="en-US" kern="1200" dirty="0" smtClean="0"/>
              <a:t>Python makes traversals easy with a FOR loop:</a:t>
            </a:r>
          </a:p>
          <a:p>
            <a:pPr algn="l" rtl="0">
              <a:lnSpc>
                <a:spcPct val="150000"/>
              </a:lnSpc>
            </a:pPr>
            <a:r>
              <a:rPr lang="en-US" kern="1200" dirty="0" smtClean="0"/>
              <a:t>for ELEMENT_VAR in SEQUENCE:</a:t>
            </a:r>
          </a:p>
          <a:p>
            <a:pPr algn="l" rtl="0">
              <a:lnSpc>
                <a:spcPct val="150000"/>
              </a:lnSpc>
            </a:pPr>
            <a:r>
              <a:rPr lang="en-US" kern="1200" dirty="0" smtClean="0"/>
              <a:t>     STATEMENT</a:t>
            </a:r>
          </a:p>
          <a:p>
            <a:pPr algn="l" rtl="0">
              <a:lnSpc>
                <a:spcPct val="150000"/>
              </a:lnSpc>
              <a:buFont typeface="Arial" pitchFamily="34" charset="0"/>
              <a:buChar char="•"/>
            </a:pPr>
            <a:r>
              <a:rPr lang="en-US" kern="1200" dirty="0" smtClean="0"/>
              <a:t> A for loop automatically assigns each element in the sequence to the (programmer named) ELEMENT_VAR, and then executes the statements in the block of code following the for loop once for each element. </a:t>
            </a:r>
            <a:br>
              <a:rPr lang="en-US" kern="1200" dirty="0" smtClean="0"/>
            </a:br>
            <a:r>
              <a:rPr lang="en-US" i="1" kern="1200" dirty="0" smtClean="0">
                <a:solidFill>
                  <a:schemeClr val="accent1">
                    <a:lumMod val="75000"/>
                  </a:schemeClr>
                </a:solidFill>
              </a:rPr>
              <a:t>for </a:t>
            </a:r>
            <a:r>
              <a:rPr lang="en-US" i="1" kern="1200" dirty="0" err="1" smtClean="0">
                <a:solidFill>
                  <a:schemeClr val="accent1">
                    <a:lumMod val="75000"/>
                  </a:schemeClr>
                </a:solidFill>
              </a:rPr>
              <a:t>myVar</a:t>
            </a:r>
            <a:r>
              <a:rPr lang="en-US" i="1" kern="1200" dirty="0" smtClean="0">
                <a:solidFill>
                  <a:schemeClr val="accent1">
                    <a:lumMod val="75000"/>
                  </a:schemeClr>
                </a:solidFill>
              </a:rPr>
              <a:t> in </a:t>
            </a:r>
            <a:r>
              <a:rPr lang="en-US" i="1" kern="1200" dirty="0" err="1" smtClean="0">
                <a:solidFill>
                  <a:schemeClr val="accent1">
                    <a:lumMod val="75000"/>
                  </a:schemeClr>
                </a:solidFill>
              </a:rPr>
              <a:t>myString</a:t>
            </a:r>
            <a:r>
              <a:rPr lang="en-US" i="1" kern="1200" dirty="0" smtClean="0">
                <a:solidFill>
                  <a:schemeClr val="accent1">
                    <a:lumMod val="75000"/>
                  </a:schemeClr>
                </a:solidFill>
              </a:rPr>
              <a:t>:</a:t>
            </a:r>
            <a:br>
              <a:rPr lang="en-US" i="1" kern="1200" dirty="0" smtClean="0">
                <a:solidFill>
                  <a:schemeClr val="accent1">
                    <a:lumMod val="75000"/>
                  </a:schemeClr>
                </a:solidFill>
              </a:rPr>
            </a:br>
            <a:r>
              <a:rPr lang="en-US" i="1" kern="1200" dirty="0" smtClean="0">
                <a:solidFill>
                  <a:schemeClr val="accent1">
                    <a:lumMod val="75000"/>
                  </a:schemeClr>
                </a:solidFill>
              </a:rPr>
              <a:t>	if </a:t>
            </a:r>
            <a:r>
              <a:rPr lang="en-US" i="1" kern="1200" dirty="0" err="1" smtClean="0">
                <a:solidFill>
                  <a:schemeClr val="accent1">
                    <a:lumMod val="75000"/>
                  </a:schemeClr>
                </a:solidFill>
              </a:rPr>
              <a:t>myVar</a:t>
            </a:r>
            <a:r>
              <a:rPr lang="en-US" i="1" kern="1200" dirty="0" smtClean="0">
                <a:solidFill>
                  <a:schemeClr val="accent1">
                    <a:lumMod val="75000"/>
                  </a:schemeClr>
                </a:solidFill>
              </a:rPr>
              <a:t> </a:t>
            </a:r>
            <a:r>
              <a:rPr lang="en-US" i="1" kern="1200" smtClean="0">
                <a:solidFill>
                  <a:schemeClr val="accent1">
                    <a:lumMod val="75000"/>
                  </a:schemeClr>
                </a:solidFill>
              </a:rPr>
              <a:t>== ‘T':</a:t>
            </a:r>
            <a:r>
              <a:rPr lang="en-US" i="1" kern="1200" dirty="0" smtClean="0">
                <a:solidFill>
                  <a:schemeClr val="accent1">
                    <a:lumMod val="75000"/>
                  </a:schemeClr>
                </a:solidFill>
              </a:rPr>
              <a:t/>
            </a:r>
            <a:br>
              <a:rPr lang="en-US" i="1" kern="1200" dirty="0" smtClean="0">
                <a:solidFill>
                  <a:schemeClr val="accent1">
                    <a:lumMod val="75000"/>
                  </a:schemeClr>
                </a:solidFill>
              </a:rPr>
            </a:br>
            <a:r>
              <a:rPr lang="en-US" i="1" kern="1200" dirty="0" smtClean="0">
                <a:solidFill>
                  <a:schemeClr val="accent1">
                    <a:lumMod val="75000"/>
                  </a:schemeClr>
                </a:solidFill>
              </a:rPr>
              <a:t>         		print “I found </a:t>
            </a:r>
            <a:r>
              <a:rPr lang="en-US" i="1" kern="1200" smtClean="0">
                <a:solidFill>
                  <a:schemeClr val="accent1">
                    <a:lumMod val="75000"/>
                  </a:schemeClr>
                </a:solidFill>
              </a:rPr>
              <a:t>a T!” </a:t>
            </a:r>
            <a:endParaRPr lang="en-US" i="1" kern="1200" dirty="0" smtClean="0">
              <a:solidFill>
                <a:schemeClr val="accent1">
                  <a:lumMod val="75000"/>
                </a:schemeClr>
              </a:solidFill>
            </a:endParaRPr>
          </a:p>
          <a:p>
            <a:pPr algn="l" rtl="0">
              <a:lnSpc>
                <a:spcPct val="150000"/>
              </a:lnSpc>
              <a:buFont typeface="Arial" pitchFamily="34" charset="0"/>
              <a:buChar char="•"/>
            </a:pPr>
            <a:r>
              <a:rPr lang="en-US" kern="1200" dirty="0" smtClean="0"/>
              <a:t>Note that it takes care of the indexing variable for us.</a:t>
            </a:r>
          </a:p>
        </p:txBody>
      </p:sp>
      <p:sp>
        <p:nvSpPr>
          <p:cNvPr id="5" name="object 4"/>
          <p:cNvSpPr/>
          <p:nvPr/>
        </p:nvSpPr>
        <p:spPr>
          <a:xfrm>
            <a:off x="142875" y="4875609"/>
            <a:ext cx="3869054" cy="214629"/>
          </a:xfrm>
          <a:custGeom>
            <a:avLst/>
            <a:gdLst/>
            <a:ahLst/>
            <a:cxnLst/>
            <a:rect l="l" t="t" r="r" b="b"/>
            <a:pathLst>
              <a:path w="3869054" h="214629">
                <a:moveTo>
                  <a:pt x="0" y="214312"/>
                </a:moveTo>
                <a:lnTo>
                  <a:pt x="3868795" y="214312"/>
                </a:lnTo>
                <a:lnTo>
                  <a:pt x="3868795" y="0"/>
                </a:lnTo>
                <a:lnTo>
                  <a:pt x="0" y="0"/>
                </a:lnTo>
                <a:lnTo>
                  <a:pt x="0" y="214312"/>
                </a:lnTo>
                <a:close/>
              </a:path>
            </a:pathLst>
          </a:custGeom>
          <a:solidFill>
            <a:srgbClr val="F79546"/>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
            <a:ext cx="5753100" cy="819149"/>
          </a:xfrm>
        </p:spPr>
        <p:txBody>
          <a:bodyPr>
            <a:normAutofit/>
          </a:bodyPr>
          <a:lstStyle/>
          <a:p>
            <a:pPr algn="l"/>
            <a:r>
              <a:rPr lang="en-GB" altLang="en-US" sz="3200" dirty="0" smtClean="0"/>
              <a:t>Grabbing Slices from a Sequence</a:t>
            </a:r>
            <a:endParaRPr lang="en-US" sz="3200" dirty="0">
              <a:latin typeface="Times New Roman" pitchFamily="18" charset="0"/>
              <a:cs typeface="Times New Roman" pitchFamily="18" charset="0"/>
            </a:endParaRPr>
          </a:p>
        </p:txBody>
      </p:sp>
      <p:sp>
        <p:nvSpPr>
          <p:cNvPr id="3" name="Content Placeholder 2"/>
          <p:cNvSpPr>
            <a:spLocks noGrp="1"/>
          </p:cNvSpPr>
          <p:nvPr>
            <p:ph type="body" idx="1"/>
          </p:nvPr>
        </p:nvSpPr>
        <p:spPr>
          <a:xfrm>
            <a:off x="152400" y="552450"/>
            <a:ext cx="8267700" cy="4222694"/>
          </a:xfrm>
        </p:spPr>
        <p:txBody>
          <a:bodyPr/>
          <a:lstStyle/>
          <a:p>
            <a:pPr>
              <a:lnSpc>
                <a:spcPct val="150000"/>
              </a:lnSpc>
              <a:buFont typeface="Arial" pitchFamily="34" charset="0"/>
              <a:buChar char="•"/>
            </a:pPr>
            <a:r>
              <a:rPr lang="en-US" sz="2000" dirty="0" smtClean="0"/>
              <a:t> The slice operator will clip out part of a sequence. </a:t>
            </a:r>
          </a:p>
          <a:p>
            <a:pPr>
              <a:lnSpc>
                <a:spcPct val="150000"/>
              </a:lnSpc>
              <a:buFont typeface="Arial" pitchFamily="34" charset="0"/>
              <a:buChar char="•"/>
            </a:pPr>
            <a:r>
              <a:rPr lang="en-US" sz="2000" dirty="0" smtClean="0"/>
              <a:t> It looks a lot like the bracket operator, but with a colon that separates the “start” and “end” points.</a:t>
            </a:r>
          </a:p>
          <a:p>
            <a:pPr marL="383046" indent="-288004">
              <a:lnSpc>
                <a:spcPct val="83000"/>
              </a:lnSpc>
              <a:buFont typeface="Arial" pitchFamily="34" charset="0"/>
              <a:buChar char="•"/>
              <a:tabLst>
                <a:tab pos="383046" algn="l"/>
                <a:tab pos="485288" algn="l"/>
                <a:tab pos="900014" algn="l"/>
                <a:tab pos="1314740" algn="l"/>
                <a:tab pos="1729466" algn="l"/>
                <a:tab pos="2144192" algn="l"/>
                <a:tab pos="2558918" algn="l"/>
                <a:tab pos="2973644" algn="l"/>
                <a:tab pos="3388370" algn="l"/>
                <a:tab pos="3803097" algn="l"/>
                <a:tab pos="4217823" algn="l"/>
                <a:tab pos="4632549" algn="l"/>
                <a:tab pos="5047275" algn="l"/>
                <a:tab pos="5462001" algn="l"/>
                <a:tab pos="5876727" algn="l"/>
                <a:tab pos="6291453" algn="l"/>
                <a:tab pos="6706179" algn="l"/>
                <a:tab pos="7120906" algn="l"/>
                <a:tab pos="7535632" algn="l"/>
                <a:tab pos="7950358" algn="l"/>
                <a:tab pos="8365084" algn="l"/>
              </a:tabLst>
            </a:pPr>
            <a:r>
              <a:rPr lang="en-GB" altLang="en-US" sz="2000" dirty="0" smtClean="0"/>
              <a:t>SEQUENCE_VAR [ START : END : STEP]</a:t>
            </a:r>
          </a:p>
          <a:p>
            <a:pPr marL="383046" indent="-288004">
              <a:lnSpc>
                <a:spcPct val="83000"/>
              </a:lnSpc>
              <a:buNone/>
              <a:tabLst>
                <a:tab pos="383046" algn="l"/>
                <a:tab pos="485288" algn="l"/>
                <a:tab pos="900014" algn="l"/>
                <a:tab pos="1314740" algn="l"/>
                <a:tab pos="1729466" algn="l"/>
                <a:tab pos="2144192" algn="l"/>
                <a:tab pos="2558918" algn="l"/>
                <a:tab pos="2973644" algn="l"/>
                <a:tab pos="3388370" algn="l"/>
                <a:tab pos="3803097" algn="l"/>
                <a:tab pos="4217823" algn="l"/>
                <a:tab pos="4632549" algn="l"/>
                <a:tab pos="5047275" algn="l"/>
                <a:tab pos="5462001" algn="l"/>
                <a:tab pos="5876727" algn="l"/>
                <a:tab pos="6291453" algn="l"/>
                <a:tab pos="6706179" algn="l"/>
                <a:tab pos="7120906" algn="l"/>
                <a:tab pos="7535632" algn="l"/>
                <a:tab pos="7950358" algn="l"/>
                <a:tab pos="8365084" algn="l"/>
              </a:tabLst>
            </a:pPr>
            <a:endParaRPr lang="en-GB" altLang="en-US" sz="2000" dirty="0" smtClean="0">
              <a:latin typeface="Courier New" panose="02070309020205020404" pitchFamily="49" charset="0"/>
            </a:endParaRPr>
          </a:p>
          <a:p>
            <a:pPr marL="383046" indent="-288004">
              <a:lnSpc>
                <a:spcPct val="83000"/>
              </a:lnSpc>
              <a:buNone/>
              <a:tabLst>
                <a:tab pos="383046" algn="l"/>
                <a:tab pos="485288" algn="l"/>
                <a:tab pos="900014" algn="l"/>
                <a:tab pos="1314740" algn="l"/>
                <a:tab pos="1729466" algn="l"/>
                <a:tab pos="2144192" algn="l"/>
                <a:tab pos="2558918" algn="l"/>
                <a:tab pos="2973644" algn="l"/>
                <a:tab pos="3388370" algn="l"/>
                <a:tab pos="3803097" algn="l"/>
                <a:tab pos="4217823" algn="l"/>
                <a:tab pos="4632549" algn="l"/>
                <a:tab pos="5047275" algn="l"/>
                <a:tab pos="5462001" algn="l"/>
                <a:tab pos="5876727" algn="l"/>
                <a:tab pos="6291453" algn="l"/>
                <a:tab pos="6706179" algn="l"/>
                <a:tab pos="7120906" algn="l"/>
                <a:tab pos="7535632" algn="l"/>
                <a:tab pos="7950358" algn="l"/>
                <a:tab pos="8365084" algn="l"/>
              </a:tabLst>
            </a:pPr>
            <a:r>
              <a:rPr lang="en-GB" altLang="en-US" sz="2000" dirty="0" err="1" smtClean="0">
                <a:solidFill>
                  <a:schemeClr val="accent1">
                    <a:lumMod val="75000"/>
                  </a:schemeClr>
                </a:solidFill>
                <a:latin typeface="Courier New" panose="02070309020205020404" pitchFamily="49" charset="0"/>
              </a:rPr>
              <a:t>myString</a:t>
            </a:r>
            <a:r>
              <a:rPr lang="en-GB" altLang="en-US" sz="2000" dirty="0" smtClean="0">
                <a:solidFill>
                  <a:schemeClr val="accent1">
                    <a:lumMod val="75000"/>
                  </a:schemeClr>
                </a:solidFill>
                <a:latin typeface="Courier New" panose="02070309020205020404" pitchFamily="49" charset="0"/>
              </a:rPr>
              <a:t> = “This is a test.”</a:t>
            </a:r>
          </a:p>
          <a:p>
            <a:pPr marL="383046" indent="-288004">
              <a:lnSpc>
                <a:spcPct val="83000"/>
              </a:lnSpc>
              <a:buNone/>
              <a:tabLst>
                <a:tab pos="383046" algn="l"/>
                <a:tab pos="485288" algn="l"/>
                <a:tab pos="900014" algn="l"/>
                <a:tab pos="1314740" algn="l"/>
                <a:tab pos="1729466" algn="l"/>
                <a:tab pos="2144192" algn="l"/>
                <a:tab pos="2558918" algn="l"/>
                <a:tab pos="2973644" algn="l"/>
                <a:tab pos="3388370" algn="l"/>
                <a:tab pos="3803097" algn="l"/>
                <a:tab pos="4217823" algn="l"/>
                <a:tab pos="4632549" algn="l"/>
                <a:tab pos="5047275" algn="l"/>
                <a:tab pos="5462001" algn="l"/>
                <a:tab pos="5876727" algn="l"/>
                <a:tab pos="6291453" algn="l"/>
                <a:tab pos="6706179" algn="l"/>
                <a:tab pos="7120906" algn="l"/>
                <a:tab pos="7535632" algn="l"/>
                <a:tab pos="7950358" algn="l"/>
                <a:tab pos="8365084" algn="l"/>
              </a:tabLst>
            </a:pPr>
            <a:r>
              <a:rPr lang="en-GB" altLang="en-US" sz="2000" dirty="0" err="1" smtClean="0">
                <a:solidFill>
                  <a:schemeClr val="accent1">
                    <a:lumMod val="75000"/>
                  </a:schemeClr>
                </a:solidFill>
                <a:latin typeface="Courier New" panose="02070309020205020404" pitchFamily="49" charset="0"/>
              </a:rPr>
              <a:t>myString</a:t>
            </a:r>
            <a:r>
              <a:rPr lang="en-GB" altLang="en-US" sz="2000" dirty="0" smtClean="0">
                <a:solidFill>
                  <a:schemeClr val="accent1">
                    <a:lumMod val="75000"/>
                  </a:schemeClr>
                </a:solidFill>
                <a:latin typeface="Courier New" panose="02070309020205020404" pitchFamily="49" charset="0"/>
              </a:rPr>
              <a:t>[0:2]</a:t>
            </a:r>
            <a:r>
              <a:rPr lang="en-GB" altLang="en-US" sz="2000" dirty="0" smtClean="0"/>
              <a:t>			produces		'</a:t>
            </a:r>
            <a:r>
              <a:rPr lang="en-GB" altLang="en-US" sz="2000" dirty="0" err="1" smtClean="0"/>
              <a:t>Th</a:t>
            </a:r>
            <a:r>
              <a:rPr lang="en-GB" altLang="en-US" sz="2000" dirty="0" smtClean="0"/>
              <a:t>'	(0, 1, but NOT 2)‏</a:t>
            </a:r>
          </a:p>
          <a:p>
            <a:pPr marL="383046" indent="-288004">
              <a:lnSpc>
                <a:spcPct val="83000"/>
              </a:lnSpc>
              <a:buNone/>
              <a:tabLst>
                <a:tab pos="383046" algn="l"/>
                <a:tab pos="485288" algn="l"/>
                <a:tab pos="900014" algn="l"/>
                <a:tab pos="1314740" algn="l"/>
                <a:tab pos="1729466" algn="l"/>
                <a:tab pos="2144192" algn="l"/>
                <a:tab pos="2558918" algn="l"/>
                <a:tab pos="2973644" algn="l"/>
                <a:tab pos="3388370" algn="l"/>
                <a:tab pos="3803097" algn="l"/>
                <a:tab pos="4217823" algn="l"/>
                <a:tab pos="4632549" algn="l"/>
                <a:tab pos="5047275" algn="l"/>
                <a:tab pos="5462001" algn="l"/>
                <a:tab pos="5876727" algn="l"/>
                <a:tab pos="6291453" algn="l"/>
                <a:tab pos="6706179" algn="l"/>
                <a:tab pos="7120906" algn="l"/>
                <a:tab pos="7535632" algn="l"/>
                <a:tab pos="7950358" algn="l"/>
                <a:tab pos="8365084" algn="l"/>
              </a:tabLst>
            </a:pPr>
            <a:r>
              <a:rPr lang="en-GB" altLang="en-US" sz="2000" dirty="0" err="1" smtClean="0">
                <a:solidFill>
                  <a:schemeClr val="accent1">
                    <a:lumMod val="75000"/>
                  </a:schemeClr>
                </a:solidFill>
                <a:latin typeface="Courier New" panose="02070309020205020404" pitchFamily="49" charset="0"/>
              </a:rPr>
              <a:t>myString</a:t>
            </a:r>
            <a:r>
              <a:rPr lang="en-GB" altLang="en-US" sz="2000" dirty="0" smtClean="0">
                <a:solidFill>
                  <a:schemeClr val="accent1">
                    <a:lumMod val="75000"/>
                  </a:schemeClr>
                </a:solidFill>
                <a:latin typeface="Courier New" panose="02070309020205020404" pitchFamily="49" charset="0"/>
              </a:rPr>
              <a:t>[3:6]</a:t>
            </a:r>
            <a:r>
              <a:rPr lang="en-GB" altLang="en-US" sz="2000" dirty="0" smtClean="0"/>
              <a:t>			produces		's </a:t>
            </a:r>
            <a:r>
              <a:rPr lang="en-GB" altLang="en-US" sz="2000" dirty="0" err="1" smtClean="0"/>
              <a:t>i</a:t>
            </a:r>
            <a:r>
              <a:rPr lang="en-GB" altLang="en-US" sz="2000" dirty="0" smtClean="0"/>
              <a:t>” (3-5, but NOT 6)‏</a:t>
            </a:r>
          </a:p>
          <a:p>
            <a:pPr marL="383046" indent="-288004">
              <a:lnSpc>
                <a:spcPct val="86000"/>
              </a:lnSpc>
              <a:tabLst>
                <a:tab pos="383046" algn="l"/>
                <a:tab pos="485288" algn="l"/>
                <a:tab pos="900014" algn="l"/>
                <a:tab pos="1314740" algn="l"/>
                <a:tab pos="1729466" algn="l"/>
                <a:tab pos="2144192" algn="l"/>
                <a:tab pos="2558918" algn="l"/>
                <a:tab pos="2973644" algn="l"/>
                <a:tab pos="3388370" algn="l"/>
                <a:tab pos="3803097" algn="l"/>
                <a:tab pos="4217823" algn="l"/>
                <a:tab pos="4632549" algn="l"/>
                <a:tab pos="5047275" algn="l"/>
                <a:tab pos="5462001" algn="l"/>
                <a:tab pos="5876727" algn="l"/>
                <a:tab pos="6291453" algn="l"/>
                <a:tab pos="6706179" algn="l"/>
                <a:tab pos="7120906" algn="l"/>
                <a:tab pos="7535632" algn="l"/>
                <a:tab pos="7950358" algn="l"/>
                <a:tab pos="8365084" algn="l"/>
              </a:tabLst>
            </a:pPr>
            <a:r>
              <a:rPr lang="en-GB" altLang="en-US" sz="2000" dirty="0" err="1" smtClean="0">
                <a:solidFill>
                  <a:schemeClr val="accent1">
                    <a:lumMod val="75000"/>
                  </a:schemeClr>
                </a:solidFill>
                <a:latin typeface="Courier New" panose="02070309020205020404" pitchFamily="49" charset="0"/>
              </a:rPr>
              <a:t>myString</a:t>
            </a:r>
            <a:r>
              <a:rPr lang="en-GB" altLang="en-US" sz="2000" dirty="0" smtClean="0">
                <a:solidFill>
                  <a:schemeClr val="accent1">
                    <a:lumMod val="75000"/>
                  </a:schemeClr>
                </a:solidFill>
                <a:latin typeface="Courier New" panose="02070309020205020404" pitchFamily="49" charset="0"/>
              </a:rPr>
              <a:t>[3:9:2]</a:t>
            </a:r>
            <a:r>
              <a:rPr lang="en-GB" altLang="en-US" sz="2000" dirty="0" smtClean="0"/>
              <a:t>			produces		'</a:t>
            </a:r>
            <a:r>
              <a:rPr lang="en-GB" altLang="en-US" sz="2000" dirty="0" err="1" smtClean="0"/>
              <a:t>si</a:t>
            </a:r>
            <a:r>
              <a:rPr lang="en-GB" altLang="en-US" sz="2000" dirty="0" smtClean="0"/>
              <a:t> ” (3-5-7)‏</a:t>
            </a:r>
          </a:p>
          <a:p>
            <a:pPr marL="383046" indent="-288004">
              <a:lnSpc>
                <a:spcPct val="86000"/>
              </a:lnSpc>
              <a:buNone/>
              <a:tabLst>
                <a:tab pos="383046" algn="l"/>
                <a:tab pos="485288" algn="l"/>
                <a:tab pos="900014" algn="l"/>
                <a:tab pos="1314740" algn="l"/>
                <a:tab pos="1729466" algn="l"/>
                <a:tab pos="2144192" algn="l"/>
                <a:tab pos="2558918" algn="l"/>
                <a:tab pos="2973644" algn="l"/>
                <a:tab pos="3388370" algn="l"/>
                <a:tab pos="3803097" algn="l"/>
                <a:tab pos="4217823" algn="l"/>
                <a:tab pos="4632549" algn="l"/>
                <a:tab pos="5047275" algn="l"/>
                <a:tab pos="5462001" algn="l"/>
                <a:tab pos="5876727" algn="l"/>
                <a:tab pos="6291453" algn="l"/>
                <a:tab pos="6706179" algn="l"/>
                <a:tab pos="7120906" algn="l"/>
                <a:tab pos="7535632" algn="l"/>
                <a:tab pos="7950358" algn="l"/>
                <a:tab pos="8365084" algn="l"/>
              </a:tabLst>
            </a:pPr>
            <a:endParaRPr lang="en-GB" altLang="en-US" sz="2000" dirty="0" smtClean="0"/>
          </a:p>
          <a:p>
            <a:pPr marL="383046" indent="-288004" algn="ctr">
              <a:lnSpc>
                <a:spcPct val="86000"/>
              </a:lnSpc>
              <a:buNone/>
              <a:tabLst>
                <a:tab pos="383046" algn="l"/>
                <a:tab pos="485288" algn="l"/>
                <a:tab pos="900014" algn="l"/>
                <a:tab pos="1314740" algn="l"/>
                <a:tab pos="1729466" algn="l"/>
                <a:tab pos="2144192" algn="l"/>
                <a:tab pos="2558918" algn="l"/>
                <a:tab pos="2973644" algn="l"/>
                <a:tab pos="3388370" algn="l"/>
                <a:tab pos="3803097" algn="l"/>
                <a:tab pos="4217823" algn="l"/>
                <a:tab pos="4632549" algn="l"/>
                <a:tab pos="5047275" algn="l"/>
                <a:tab pos="5462001" algn="l"/>
                <a:tab pos="5876727" algn="l"/>
                <a:tab pos="6291453" algn="l"/>
                <a:tab pos="6706179" algn="l"/>
                <a:tab pos="7120906" algn="l"/>
                <a:tab pos="7535632" algn="l"/>
                <a:tab pos="7950358" algn="l"/>
                <a:tab pos="8365084" algn="l"/>
              </a:tabLst>
            </a:pPr>
            <a:r>
              <a:rPr lang="en-GB" altLang="en-US" sz="2000" dirty="0" smtClean="0"/>
              <a:t>Quick QUIZ:</a:t>
            </a:r>
          </a:p>
          <a:p>
            <a:pPr marL="383046" indent="-288004">
              <a:lnSpc>
                <a:spcPct val="86000"/>
              </a:lnSpc>
              <a:buNone/>
              <a:tabLst>
                <a:tab pos="383046" algn="l"/>
                <a:tab pos="485288" algn="l"/>
                <a:tab pos="900014" algn="l"/>
                <a:tab pos="1314740" algn="l"/>
                <a:tab pos="1729466" algn="l"/>
                <a:tab pos="2144192" algn="l"/>
                <a:tab pos="2558918" algn="l"/>
                <a:tab pos="2973644" algn="l"/>
                <a:tab pos="3388370" algn="l"/>
                <a:tab pos="3803097" algn="l"/>
                <a:tab pos="4217823" algn="l"/>
                <a:tab pos="4632549" algn="l"/>
                <a:tab pos="5047275" algn="l"/>
                <a:tab pos="5462001" algn="l"/>
                <a:tab pos="5876727" algn="l"/>
                <a:tab pos="6291453" algn="l"/>
                <a:tab pos="6706179" algn="l"/>
                <a:tab pos="7120906" algn="l"/>
                <a:tab pos="7535632" algn="l"/>
                <a:tab pos="7950358" algn="l"/>
                <a:tab pos="8365084" algn="l"/>
              </a:tabLst>
            </a:pPr>
            <a:endParaRPr lang="en-GB" altLang="en-US" sz="2000" dirty="0" smtClean="0"/>
          </a:p>
          <a:p>
            <a:pPr marL="383046" indent="-288004">
              <a:lnSpc>
                <a:spcPct val="83000"/>
              </a:lnSpc>
              <a:buNone/>
              <a:tabLst>
                <a:tab pos="383046" algn="l"/>
                <a:tab pos="485288" algn="l"/>
                <a:tab pos="900014" algn="l"/>
                <a:tab pos="1314740" algn="l"/>
                <a:tab pos="1729466" algn="l"/>
                <a:tab pos="2144192" algn="l"/>
                <a:tab pos="2558918" algn="l"/>
                <a:tab pos="2973644" algn="l"/>
                <a:tab pos="3388370" algn="l"/>
                <a:tab pos="3803097" algn="l"/>
                <a:tab pos="4217823" algn="l"/>
                <a:tab pos="4632549" algn="l"/>
                <a:tab pos="5047275" algn="l"/>
                <a:tab pos="5462001" algn="l"/>
                <a:tab pos="5876727" algn="l"/>
                <a:tab pos="6291453" algn="l"/>
                <a:tab pos="6706179" algn="l"/>
                <a:tab pos="7120906" algn="l"/>
                <a:tab pos="7535632" algn="l"/>
                <a:tab pos="7950358" algn="l"/>
                <a:tab pos="8365084" algn="l"/>
              </a:tabLst>
            </a:pPr>
            <a:r>
              <a:rPr lang="en-GB" altLang="en-US" sz="2000" dirty="0" err="1" smtClean="0">
                <a:solidFill>
                  <a:schemeClr val="accent1">
                    <a:lumMod val="75000"/>
                  </a:schemeClr>
                </a:solidFill>
                <a:latin typeface="Courier New" panose="02070309020205020404" pitchFamily="49" charset="0"/>
              </a:rPr>
              <a:t>myString</a:t>
            </a:r>
            <a:r>
              <a:rPr lang="en-GB" altLang="en-US" sz="2000" dirty="0" smtClean="0">
                <a:solidFill>
                  <a:schemeClr val="accent1">
                    <a:lumMod val="75000"/>
                  </a:schemeClr>
                </a:solidFill>
                <a:latin typeface="Courier New" panose="02070309020205020404" pitchFamily="49" charset="0"/>
              </a:rPr>
              <a:t>[ 1 : 4 ]</a:t>
            </a:r>
            <a:r>
              <a:rPr lang="en-GB" altLang="en-US" sz="2000" dirty="0" smtClean="0"/>
              <a:t>		produces			?</a:t>
            </a:r>
          </a:p>
          <a:p>
            <a:pPr marL="383046" indent="-288004">
              <a:lnSpc>
                <a:spcPct val="83000"/>
              </a:lnSpc>
              <a:buNone/>
              <a:tabLst>
                <a:tab pos="383046" algn="l"/>
                <a:tab pos="485288" algn="l"/>
                <a:tab pos="900014" algn="l"/>
                <a:tab pos="1314740" algn="l"/>
                <a:tab pos="1729466" algn="l"/>
                <a:tab pos="2144192" algn="l"/>
                <a:tab pos="2558918" algn="l"/>
                <a:tab pos="2973644" algn="l"/>
                <a:tab pos="3388370" algn="l"/>
                <a:tab pos="3803097" algn="l"/>
                <a:tab pos="4217823" algn="l"/>
                <a:tab pos="4632549" algn="l"/>
                <a:tab pos="5047275" algn="l"/>
                <a:tab pos="5462001" algn="l"/>
                <a:tab pos="5876727" algn="l"/>
                <a:tab pos="6291453" algn="l"/>
                <a:tab pos="6706179" algn="l"/>
                <a:tab pos="7120906" algn="l"/>
                <a:tab pos="7535632" algn="l"/>
                <a:tab pos="7950358" algn="l"/>
                <a:tab pos="8365084" algn="l"/>
              </a:tabLst>
            </a:pPr>
            <a:r>
              <a:rPr lang="en-GB" altLang="en-US" sz="2000" dirty="0" err="1" smtClean="0">
                <a:solidFill>
                  <a:schemeClr val="accent1">
                    <a:lumMod val="75000"/>
                  </a:schemeClr>
                </a:solidFill>
                <a:latin typeface="Courier New" panose="02070309020205020404" pitchFamily="49" charset="0"/>
              </a:rPr>
              <a:t>myString</a:t>
            </a:r>
            <a:r>
              <a:rPr lang="en-GB" altLang="en-US" sz="2000" dirty="0" smtClean="0">
                <a:solidFill>
                  <a:schemeClr val="accent1">
                    <a:lumMod val="75000"/>
                  </a:schemeClr>
                </a:solidFill>
                <a:latin typeface="Courier New" panose="02070309020205020404" pitchFamily="49" charset="0"/>
              </a:rPr>
              <a:t>[ 5: 7  ]</a:t>
            </a:r>
            <a:r>
              <a:rPr lang="en-GB" altLang="en-US" sz="2000" dirty="0" smtClean="0"/>
              <a:t>		produces			?</a:t>
            </a:r>
            <a:endParaRPr lang="en-US" sz="2000" dirty="0" smtClean="0"/>
          </a:p>
        </p:txBody>
      </p:sp>
      <p:sp>
        <p:nvSpPr>
          <p:cNvPr id="5" name="object 4"/>
          <p:cNvSpPr/>
          <p:nvPr/>
        </p:nvSpPr>
        <p:spPr>
          <a:xfrm>
            <a:off x="142875" y="4875609"/>
            <a:ext cx="3869054" cy="214629"/>
          </a:xfrm>
          <a:custGeom>
            <a:avLst/>
            <a:gdLst/>
            <a:ahLst/>
            <a:cxnLst/>
            <a:rect l="l" t="t" r="r" b="b"/>
            <a:pathLst>
              <a:path w="3869054" h="214629">
                <a:moveTo>
                  <a:pt x="0" y="214312"/>
                </a:moveTo>
                <a:lnTo>
                  <a:pt x="3868795" y="214312"/>
                </a:lnTo>
                <a:lnTo>
                  <a:pt x="3868795" y="0"/>
                </a:lnTo>
                <a:lnTo>
                  <a:pt x="0" y="0"/>
                </a:lnTo>
                <a:lnTo>
                  <a:pt x="0" y="214312"/>
                </a:lnTo>
                <a:close/>
              </a:path>
            </a:pathLst>
          </a:custGeom>
          <a:solidFill>
            <a:srgbClr val="F79546"/>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
            <a:ext cx="6172200" cy="819149"/>
          </a:xfrm>
        </p:spPr>
        <p:txBody>
          <a:bodyPr>
            <a:normAutofit/>
          </a:bodyPr>
          <a:lstStyle/>
          <a:p>
            <a:pPr algn="l"/>
            <a:r>
              <a:rPr lang="en-GB" altLang="en-US" sz="3200" dirty="0" smtClean="0"/>
              <a:t>Slices – Default Values for Blanks</a:t>
            </a:r>
            <a:endParaRPr lang="en-US" sz="3200" dirty="0">
              <a:latin typeface="Times New Roman" pitchFamily="18" charset="0"/>
              <a:cs typeface="Times New Roman" pitchFamily="18" charset="0"/>
            </a:endParaRPr>
          </a:p>
        </p:txBody>
      </p:sp>
      <p:sp>
        <p:nvSpPr>
          <p:cNvPr id="3" name="Content Placeholder 2"/>
          <p:cNvSpPr>
            <a:spLocks noGrp="1"/>
          </p:cNvSpPr>
          <p:nvPr>
            <p:ph type="body" idx="1"/>
          </p:nvPr>
        </p:nvSpPr>
        <p:spPr>
          <a:xfrm>
            <a:off x="228600" y="576544"/>
            <a:ext cx="8267700" cy="4154984"/>
          </a:xfrm>
        </p:spPr>
        <p:txBody>
          <a:bodyPr/>
          <a:lstStyle/>
          <a:p>
            <a:pPr>
              <a:lnSpc>
                <a:spcPct val="150000"/>
              </a:lnSpc>
            </a:pPr>
            <a:r>
              <a:rPr lang="en-US" sz="2000" dirty="0" smtClean="0">
                <a:solidFill>
                  <a:schemeClr val="accent1">
                    <a:lumMod val="75000"/>
                  </a:schemeClr>
                </a:solidFill>
              </a:rPr>
              <a:t>&gt;&gt;&gt; </a:t>
            </a:r>
            <a:r>
              <a:rPr lang="en-US" sz="2000" dirty="0" err="1" smtClean="0">
                <a:solidFill>
                  <a:schemeClr val="accent1">
                    <a:lumMod val="75000"/>
                  </a:schemeClr>
                </a:solidFill>
              </a:rPr>
              <a:t>myString</a:t>
            </a:r>
            <a:r>
              <a:rPr lang="en-US" sz="2000" dirty="0" smtClean="0">
                <a:solidFill>
                  <a:schemeClr val="accent1">
                    <a:lumMod val="75000"/>
                  </a:schemeClr>
                </a:solidFill>
              </a:rPr>
              <a:t> = “This is a test.”</a:t>
            </a:r>
          </a:p>
          <a:p>
            <a:pPr>
              <a:lnSpc>
                <a:spcPct val="150000"/>
              </a:lnSpc>
              <a:buFont typeface="Arial" pitchFamily="34" charset="0"/>
              <a:buChar char="•"/>
            </a:pPr>
            <a:r>
              <a:rPr lang="en-US" sz="2000" dirty="0" smtClean="0"/>
              <a:t> If you leave the “start” part blank, it assumes you want zero.</a:t>
            </a:r>
          </a:p>
          <a:p>
            <a:pPr>
              <a:lnSpc>
                <a:spcPct val="150000"/>
              </a:lnSpc>
            </a:pPr>
            <a:r>
              <a:rPr lang="en-US" sz="2000" dirty="0" err="1" smtClean="0">
                <a:solidFill>
                  <a:schemeClr val="accent1">
                    <a:lumMod val="75000"/>
                  </a:schemeClr>
                </a:solidFill>
              </a:rPr>
              <a:t>myString</a:t>
            </a:r>
            <a:r>
              <a:rPr lang="en-US" sz="2000" dirty="0" smtClean="0">
                <a:solidFill>
                  <a:schemeClr val="accent1">
                    <a:lumMod val="75000"/>
                  </a:schemeClr>
                </a:solidFill>
              </a:rPr>
              <a:t>[ : 2]</a:t>
            </a:r>
            <a:r>
              <a:rPr lang="en-US" sz="2000" dirty="0" smtClean="0"/>
              <a:t>		produces '</a:t>
            </a:r>
            <a:r>
              <a:rPr lang="en-US" sz="2000" dirty="0" err="1" smtClean="0"/>
              <a:t>Th</a:t>
            </a:r>
            <a:r>
              <a:rPr lang="en-US" sz="2000" dirty="0" smtClean="0"/>
              <a:t>'	(0,1, but NOT 2)‏</a:t>
            </a:r>
          </a:p>
          <a:p>
            <a:pPr>
              <a:lnSpc>
                <a:spcPct val="150000"/>
              </a:lnSpc>
            </a:pPr>
            <a:r>
              <a:rPr lang="en-US" sz="2000" dirty="0" err="1" smtClean="0">
                <a:solidFill>
                  <a:schemeClr val="accent1">
                    <a:lumMod val="75000"/>
                  </a:schemeClr>
                </a:solidFill>
              </a:rPr>
              <a:t>myString</a:t>
            </a:r>
            <a:r>
              <a:rPr lang="en-US" sz="2000" dirty="0" smtClean="0">
                <a:solidFill>
                  <a:schemeClr val="accent1">
                    <a:lumMod val="75000"/>
                  </a:schemeClr>
                </a:solidFill>
              </a:rPr>
              <a:t>[ : 6]</a:t>
            </a:r>
            <a:r>
              <a:rPr lang="en-US" sz="2000" dirty="0" smtClean="0"/>
              <a:t>		produces 'This </a:t>
            </a:r>
            <a:r>
              <a:rPr lang="en-US" sz="2000" dirty="0" err="1" smtClean="0"/>
              <a:t>i</a:t>
            </a:r>
            <a:r>
              <a:rPr lang="en-US" sz="2000" dirty="0" smtClean="0"/>
              <a:t>' (0-5, but NOT 6)‏</a:t>
            </a:r>
          </a:p>
          <a:p>
            <a:pPr>
              <a:lnSpc>
                <a:spcPct val="150000"/>
              </a:lnSpc>
            </a:pPr>
            <a:r>
              <a:rPr lang="en-US" sz="2000" dirty="0" err="1" smtClean="0">
                <a:solidFill>
                  <a:schemeClr val="accent1">
                    <a:lumMod val="75000"/>
                  </a:schemeClr>
                </a:solidFill>
              </a:rPr>
              <a:t>myString</a:t>
            </a:r>
            <a:r>
              <a:rPr lang="en-US" sz="2000" dirty="0" smtClean="0">
                <a:solidFill>
                  <a:schemeClr val="accent1">
                    <a:lumMod val="75000"/>
                  </a:schemeClr>
                </a:solidFill>
              </a:rPr>
              <a:t>[ : 6:2]</a:t>
            </a:r>
            <a:r>
              <a:rPr lang="en-US" sz="2000" dirty="0" smtClean="0"/>
              <a:t>		produces 'Ti ' (0-2-4)‏</a:t>
            </a:r>
          </a:p>
          <a:p>
            <a:pPr>
              <a:lnSpc>
                <a:spcPct val="150000"/>
              </a:lnSpc>
              <a:buFont typeface="Arial" pitchFamily="34" charset="0"/>
              <a:buChar char="•"/>
            </a:pPr>
            <a:r>
              <a:rPr lang="en-US" sz="2000" dirty="0" smtClean="0"/>
              <a:t> If you leave the “end” blank, it assumes you want until the end of the string</a:t>
            </a:r>
          </a:p>
          <a:p>
            <a:pPr>
              <a:lnSpc>
                <a:spcPct val="150000"/>
              </a:lnSpc>
            </a:pPr>
            <a:r>
              <a:rPr lang="en-US" sz="2000" dirty="0" err="1" smtClean="0">
                <a:solidFill>
                  <a:schemeClr val="accent1">
                    <a:lumMod val="75000"/>
                  </a:schemeClr>
                </a:solidFill>
              </a:rPr>
              <a:t>myString</a:t>
            </a:r>
            <a:r>
              <a:rPr lang="en-US" sz="2000" dirty="0" smtClean="0">
                <a:solidFill>
                  <a:schemeClr val="accent1">
                    <a:lumMod val="75000"/>
                  </a:schemeClr>
                </a:solidFill>
              </a:rPr>
              <a:t>[ 5 : ] </a:t>
            </a:r>
            <a:r>
              <a:rPr lang="en-US" sz="2000" dirty="0" smtClean="0"/>
              <a:t>	produces 'is a test.'    (5 – end)‏</a:t>
            </a:r>
          </a:p>
          <a:p>
            <a:pPr>
              <a:lnSpc>
                <a:spcPct val="150000"/>
              </a:lnSpc>
            </a:pPr>
            <a:r>
              <a:rPr lang="en-US" sz="2000" dirty="0" err="1" smtClean="0">
                <a:solidFill>
                  <a:schemeClr val="accent1">
                    <a:lumMod val="75000"/>
                  </a:schemeClr>
                </a:solidFill>
              </a:rPr>
              <a:t>myString</a:t>
            </a:r>
            <a:r>
              <a:rPr lang="en-US" sz="2000" dirty="0" smtClean="0">
                <a:solidFill>
                  <a:schemeClr val="accent1">
                    <a:lumMod val="75000"/>
                  </a:schemeClr>
                </a:solidFill>
              </a:rPr>
              <a:t> [ : ] </a:t>
            </a:r>
            <a:r>
              <a:rPr lang="en-US" sz="2000" dirty="0" smtClean="0"/>
              <a:t>	produces 'This is a test.' (0-end)‏</a:t>
            </a:r>
          </a:p>
          <a:p>
            <a:pPr>
              <a:lnSpc>
                <a:spcPct val="150000"/>
              </a:lnSpc>
            </a:pPr>
            <a:r>
              <a:rPr lang="en-US" sz="2000" dirty="0" err="1" smtClean="0">
                <a:solidFill>
                  <a:schemeClr val="accent1">
                    <a:lumMod val="75000"/>
                  </a:schemeClr>
                </a:solidFill>
              </a:rPr>
              <a:t>myString</a:t>
            </a:r>
            <a:r>
              <a:rPr lang="en-US" sz="2000" smtClean="0">
                <a:solidFill>
                  <a:schemeClr val="accent1">
                    <a:lumMod val="75000"/>
                  </a:schemeClr>
                </a:solidFill>
              </a:rPr>
              <a:t>[: </a:t>
            </a:r>
            <a:r>
              <a:rPr lang="en-US" sz="2000" dirty="0" smtClean="0">
                <a:solidFill>
                  <a:schemeClr val="accent1">
                    <a:lumMod val="75000"/>
                  </a:schemeClr>
                </a:solidFill>
              </a:rPr>
              <a:t>: -1] </a:t>
            </a:r>
            <a:r>
              <a:rPr lang="en-US" sz="2000" dirty="0" smtClean="0"/>
              <a:t>produces reverse </a:t>
            </a:r>
            <a:r>
              <a:rPr lang="en-US" sz="2000" smtClean="0"/>
              <a:t>of string.</a:t>
            </a:r>
            <a:endParaRPr lang="en-US" sz="2000" dirty="0" smtClean="0">
              <a:solidFill>
                <a:schemeClr val="accent1">
                  <a:lumMod val="75000"/>
                </a:schemeClr>
              </a:solidFill>
            </a:endParaRPr>
          </a:p>
        </p:txBody>
      </p:sp>
      <p:sp>
        <p:nvSpPr>
          <p:cNvPr id="5" name="object 4"/>
          <p:cNvSpPr/>
          <p:nvPr/>
        </p:nvSpPr>
        <p:spPr>
          <a:xfrm>
            <a:off x="142875" y="4875609"/>
            <a:ext cx="3869054" cy="214629"/>
          </a:xfrm>
          <a:custGeom>
            <a:avLst/>
            <a:gdLst/>
            <a:ahLst/>
            <a:cxnLst/>
            <a:rect l="l" t="t" r="r" b="b"/>
            <a:pathLst>
              <a:path w="3869054" h="214629">
                <a:moveTo>
                  <a:pt x="0" y="214312"/>
                </a:moveTo>
                <a:lnTo>
                  <a:pt x="3868795" y="214312"/>
                </a:lnTo>
                <a:lnTo>
                  <a:pt x="3868795" y="0"/>
                </a:lnTo>
                <a:lnTo>
                  <a:pt x="0" y="0"/>
                </a:lnTo>
                <a:lnTo>
                  <a:pt x="0" y="214312"/>
                </a:lnTo>
                <a:close/>
              </a:path>
            </a:pathLst>
          </a:custGeom>
          <a:solidFill>
            <a:srgbClr val="F79546"/>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6700" y="285751"/>
            <a:ext cx="5295900" cy="584775"/>
          </a:xfrm>
          <a:prstGeom prst="rect">
            <a:avLst/>
          </a:prstGeom>
          <a:noFill/>
        </p:spPr>
        <p:txBody>
          <a:bodyPr wrap="square" rtlCol="0">
            <a:spAutoFit/>
          </a:bodyPr>
          <a:lstStyle/>
          <a:p>
            <a:r>
              <a:rPr lang="en-US" sz="3200" dirty="0" smtClean="0">
                <a:latin typeface="Times New Roman" pitchFamily="18" charset="0"/>
                <a:cs typeface="Times New Roman" pitchFamily="18" charset="0"/>
              </a:rPr>
              <a:t>List</a:t>
            </a:r>
            <a:endParaRPr lang="en-US" sz="3200" dirty="0">
              <a:latin typeface="Times New Roman" pitchFamily="18" charset="0"/>
              <a:cs typeface="Times New Roman" pitchFamily="18" charset="0"/>
            </a:endParaRPr>
          </a:p>
        </p:txBody>
      </p:sp>
      <p:sp>
        <p:nvSpPr>
          <p:cNvPr id="6" name="TextBox 5"/>
          <p:cNvSpPr txBox="1"/>
          <p:nvPr/>
        </p:nvSpPr>
        <p:spPr>
          <a:xfrm>
            <a:off x="419100" y="1257300"/>
            <a:ext cx="8153400" cy="2862322"/>
          </a:xfrm>
          <a:prstGeom prst="rect">
            <a:avLst/>
          </a:prstGeom>
          <a:noFill/>
        </p:spPr>
        <p:txBody>
          <a:bodyPr wrap="square" rtlCol="0">
            <a:spAutoFit/>
          </a:bodyPr>
          <a:lstStyle/>
          <a:p>
            <a:pPr>
              <a:buFont typeface="Arial" pitchFamily="34" charset="0"/>
              <a:buChar char="•"/>
            </a:pPr>
            <a:r>
              <a:rPr lang="en-US" dirty="0" smtClean="0"/>
              <a:t>  </a:t>
            </a:r>
            <a:r>
              <a:rPr lang="en-US" dirty="0" smtClean="0">
                <a:latin typeface="Times New Roman" pitchFamily="18" charset="0"/>
                <a:cs typeface="Times New Roman" pitchFamily="18" charset="0"/>
              </a:rPr>
              <a:t>A list is a data structure that holds an ordered collection of items i.e. you can store a sequence of items in a list.</a:t>
            </a: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The list of items should be enclosed in square brackets so that Python understands that you are specifying a list. </a:t>
            </a: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Once you have created a list, you can add, remove or search for items in the list. </a:t>
            </a: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Since we can add and remove items, we say that a list is a mutable data type i.e. this type can be altered.</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572" y="0"/>
            <a:ext cx="9147571" cy="5203465"/>
          </a:xfrm>
          <a:prstGeom prst="rect">
            <a:avLst/>
          </a:prstGeom>
        </p:spPr>
      </p:pic>
    </p:spTree>
    <p:extLst>
      <p:ext uri="{BB962C8B-B14F-4D97-AF65-F5344CB8AC3E}">
        <p14:creationId xmlns:p14="http://schemas.microsoft.com/office/powerpoint/2010/main" val="13020822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6700" y="285751"/>
            <a:ext cx="5295900" cy="1077218"/>
          </a:xfrm>
          <a:prstGeom prst="rect">
            <a:avLst/>
          </a:prstGeom>
          <a:noFill/>
        </p:spPr>
        <p:txBody>
          <a:bodyPr wrap="square" rtlCol="0">
            <a:spAutoFit/>
          </a:bodyPr>
          <a:lstStyle/>
          <a:p>
            <a:r>
              <a:rPr lang="en-US" sz="3200" dirty="0" smtClean="0"/>
              <a:t>Quick Introduction To Objects And Classes</a:t>
            </a:r>
            <a:endParaRPr lang="en-US" sz="3200" dirty="0">
              <a:latin typeface="Times New Roman" pitchFamily="18" charset="0"/>
              <a:cs typeface="Times New Roman" pitchFamily="18" charset="0"/>
            </a:endParaRPr>
          </a:p>
        </p:txBody>
      </p:sp>
      <p:sp>
        <p:nvSpPr>
          <p:cNvPr id="6" name="TextBox 5"/>
          <p:cNvSpPr txBox="1"/>
          <p:nvPr/>
        </p:nvSpPr>
        <p:spPr>
          <a:xfrm>
            <a:off x="381000" y="1581150"/>
            <a:ext cx="8153400" cy="2862322"/>
          </a:xfrm>
          <a:prstGeom prst="rect">
            <a:avLst/>
          </a:prstGeom>
          <a:noFill/>
        </p:spPr>
        <p:txBody>
          <a:bodyPr wrap="square" rtlCol="0">
            <a:spAutoFit/>
          </a:bodyPr>
          <a:lstStyle/>
          <a:p>
            <a:pPr>
              <a:buFont typeface="Arial" pitchFamily="34" charset="0"/>
              <a:buChar char="•"/>
            </a:pPr>
            <a:r>
              <a:rPr lang="en-US" dirty="0" smtClean="0"/>
              <a:t> When we use a variable </a:t>
            </a:r>
            <a:r>
              <a:rPr lang="en-US" dirty="0" err="1" smtClean="0"/>
              <a:t>i</a:t>
            </a:r>
            <a:r>
              <a:rPr lang="en-US" dirty="0" smtClean="0"/>
              <a:t> and assign a value to it, say integer 5 to it, you can think of it as creating an object (i.e. instance) </a:t>
            </a:r>
            <a:r>
              <a:rPr lang="en-US" dirty="0" err="1" smtClean="0"/>
              <a:t>i</a:t>
            </a:r>
            <a:r>
              <a:rPr lang="en-US" dirty="0" smtClean="0"/>
              <a:t> of class (i.e. type) </a:t>
            </a:r>
            <a:r>
              <a:rPr lang="en-US" dirty="0" err="1" smtClean="0"/>
              <a:t>int</a:t>
            </a:r>
            <a:r>
              <a:rPr lang="en-US" dirty="0" smtClean="0"/>
              <a:t> .</a:t>
            </a:r>
          </a:p>
          <a:p>
            <a:pPr>
              <a:buFont typeface="Arial" pitchFamily="34" charset="0"/>
              <a:buChar char="•"/>
            </a:pPr>
            <a:r>
              <a:rPr lang="en-US" dirty="0" smtClean="0"/>
              <a:t> A class can also have methods i.e. functions defined for use with respect to that class only. You can use these pieces of functionality only when you have an object of that class. e.g. Python provides an append method for the list class which allows you to add an item to the end of the list.</a:t>
            </a:r>
          </a:p>
          <a:p>
            <a:pPr>
              <a:buFont typeface="Arial" pitchFamily="34" charset="0"/>
              <a:buChar char="•"/>
            </a:pPr>
            <a:r>
              <a:rPr lang="en-US" dirty="0" smtClean="0"/>
              <a:t> A class can also have fields which are nothing but variables defined for use with respect to that class only. You can use these variables/names only when you have an object of that class. </a:t>
            </a:r>
          </a:p>
          <a:p>
            <a:pPr>
              <a:buFont typeface="Arial" pitchFamily="34" charset="0"/>
              <a:buChar char="•"/>
            </a:pPr>
            <a:r>
              <a:rPr lang="en-US" dirty="0" smtClean="0"/>
              <a:t> Fields are also accessed by the dotted notation, for example, </a:t>
            </a:r>
            <a:r>
              <a:rPr lang="en-US" dirty="0" err="1" smtClean="0"/>
              <a:t>mylist.field</a:t>
            </a:r>
            <a:r>
              <a:rPr lang="en-US" dirty="0" smtClean="0"/>
              <a:t> .</a:t>
            </a:r>
          </a:p>
        </p:txBody>
      </p:sp>
      <p:sp>
        <p:nvSpPr>
          <p:cNvPr id="7" name="object 8"/>
          <p:cNvSpPr txBox="1">
            <a:spLocks noGrp="1"/>
          </p:cNvSpPr>
          <p:nvPr>
            <p:ph type="ftr" sz="quarter" idx="5"/>
          </p:nvPr>
        </p:nvSpPr>
        <p:spPr>
          <a:xfrm>
            <a:off x="220162" y="4876136"/>
            <a:ext cx="7742738" cy="553998"/>
          </a:xfrm>
          <a:prstGeom prst="rect">
            <a:avLst/>
          </a:prstGeom>
        </p:spPr>
        <p:txBody>
          <a:bodyPr vert="horz" wrap="square" lIns="0" tIns="0" rIns="0" bIns="0" rtlCol="0">
            <a:spAutoFit/>
          </a:bodyPr>
          <a:lstStyle/>
          <a:p>
            <a:pPr marL="12700"/>
            <a:r>
              <a:rPr lang="en-US" dirty="0" smtClean="0"/>
              <a:t>Python Academy – www.pythonacademy.in</a:t>
            </a:r>
            <a:endParaRPr lang="en-US" spc="-5" dirty="0" smtClean="0"/>
          </a:p>
          <a:p>
            <a:pPr marL="12700">
              <a:lnSpc>
                <a:spcPct val="100000"/>
              </a:lnSpc>
            </a:pPr>
            <a:r>
              <a:rPr lang="en-US" spc="-5" dirty="0" smtClean="0"/>
              <a:t>.</a:t>
            </a:r>
            <a:endParaRPr lang="en-US" spc="-5"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6700" y="285751"/>
            <a:ext cx="5295900" cy="584775"/>
          </a:xfrm>
          <a:prstGeom prst="rect">
            <a:avLst/>
          </a:prstGeom>
          <a:noFill/>
        </p:spPr>
        <p:txBody>
          <a:bodyPr wrap="square" rtlCol="0">
            <a:spAutoFit/>
          </a:bodyPr>
          <a:lstStyle/>
          <a:p>
            <a:r>
              <a:rPr lang="en-US" sz="3200" dirty="0" err="1" smtClean="0"/>
              <a:t>Tuple</a:t>
            </a:r>
            <a:endParaRPr lang="en-US" sz="3200" dirty="0">
              <a:latin typeface="Times New Roman" pitchFamily="18" charset="0"/>
              <a:cs typeface="Times New Roman" pitchFamily="18" charset="0"/>
            </a:endParaRPr>
          </a:p>
        </p:txBody>
      </p:sp>
      <p:sp>
        <p:nvSpPr>
          <p:cNvPr id="6" name="TextBox 5"/>
          <p:cNvSpPr txBox="1"/>
          <p:nvPr/>
        </p:nvSpPr>
        <p:spPr>
          <a:xfrm>
            <a:off x="419100" y="1257300"/>
            <a:ext cx="8153400" cy="3693319"/>
          </a:xfrm>
          <a:prstGeom prst="rect">
            <a:avLst/>
          </a:prstGeom>
          <a:noFill/>
        </p:spPr>
        <p:txBody>
          <a:bodyPr wrap="square" rtlCol="0">
            <a:spAutoFit/>
          </a:bodyPr>
          <a:lstStyle/>
          <a:p>
            <a:pPr>
              <a:buFont typeface="Arial" pitchFamily="34" charset="0"/>
              <a:buChar char="•"/>
            </a:pPr>
            <a:r>
              <a:rPr lang="en-US" dirty="0" smtClean="0"/>
              <a:t>  </a:t>
            </a:r>
            <a:r>
              <a:rPr lang="en-US" dirty="0" err="1" smtClean="0"/>
              <a:t>Tuples</a:t>
            </a:r>
            <a:r>
              <a:rPr lang="en-US" dirty="0" smtClean="0"/>
              <a:t> are used to hold together multiple objects. Think of them as similar to lists, but without the extensive functionality that the list class gives you. </a:t>
            </a:r>
          </a:p>
          <a:p>
            <a:r>
              <a:rPr lang="en-US" dirty="0" smtClean="0"/>
              <a:t> </a:t>
            </a:r>
          </a:p>
          <a:p>
            <a:pPr>
              <a:buFont typeface="Arial" pitchFamily="34" charset="0"/>
              <a:buChar char="•"/>
            </a:pPr>
            <a:r>
              <a:rPr lang="en-US" dirty="0" smtClean="0"/>
              <a:t> One major feature of </a:t>
            </a:r>
            <a:r>
              <a:rPr lang="en-US" dirty="0" err="1" smtClean="0"/>
              <a:t>tuples</a:t>
            </a:r>
            <a:r>
              <a:rPr lang="en-US" dirty="0" smtClean="0"/>
              <a:t> is that they are immutable i.e. you cannot modify </a:t>
            </a:r>
            <a:r>
              <a:rPr lang="en-US" dirty="0" err="1" smtClean="0"/>
              <a:t>tuples</a:t>
            </a:r>
            <a:r>
              <a:rPr lang="en-US" dirty="0" smtClean="0"/>
              <a:t>.</a:t>
            </a:r>
          </a:p>
          <a:p>
            <a:r>
              <a:rPr lang="en-US" dirty="0" smtClean="0"/>
              <a:t> </a:t>
            </a:r>
          </a:p>
          <a:p>
            <a:pPr>
              <a:buFont typeface="Arial" pitchFamily="34" charset="0"/>
              <a:buChar char="•"/>
            </a:pPr>
            <a:r>
              <a:rPr lang="en-US" dirty="0" err="1" smtClean="0"/>
              <a:t>Tuples</a:t>
            </a:r>
            <a:r>
              <a:rPr lang="en-US" dirty="0" smtClean="0"/>
              <a:t> are defined by specifying items separated by commas within an optional pair of parentheses.</a:t>
            </a:r>
          </a:p>
          <a:p>
            <a:pPr>
              <a:buFont typeface="Arial" pitchFamily="34" charset="0"/>
              <a:buChar char="•"/>
            </a:pPr>
            <a:endParaRPr lang="en-US" dirty="0" smtClean="0"/>
          </a:p>
          <a:p>
            <a:pPr>
              <a:buFont typeface="Arial" pitchFamily="34" charset="0"/>
              <a:buChar char="•"/>
            </a:pPr>
            <a:r>
              <a:rPr lang="en-US" dirty="0" smtClean="0"/>
              <a:t> </a:t>
            </a:r>
            <a:r>
              <a:rPr lang="en-US" dirty="0" err="1" smtClean="0"/>
              <a:t>Tuples</a:t>
            </a:r>
            <a:r>
              <a:rPr lang="en-US" dirty="0" smtClean="0"/>
              <a:t> are usually used in cases where a statement or a user-defined function can safely assume that the collection of values i.e. the </a:t>
            </a:r>
            <a:r>
              <a:rPr lang="en-US" dirty="0" err="1" smtClean="0"/>
              <a:t>tuple</a:t>
            </a:r>
            <a:r>
              <a:rPr lang="en-US" dirty="0" smtClean="0"/>
              <a:t> of values used will not change.</a:t>
            </a:r>
          </a:p>
          <a:p>
            <a:endParaRPr lang="en-U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60460" y="-78195"/>
            <a:ext cx="5295900" cy="584775"/>
          </a:xfrm>
          <a:prstGeom prst="rect">
            <a:avLst/>
          </a:prstGeom>
          <a:noFill/>
        </p:spPr>
        <p:txBody>
          <a:bodyPr wrap="square" rtlCol="0">
            <a:spAutoFit/>
          </a:bodyPr>
          <a:lstStyle/>
          <a:p>
            <a:pPr algn="ctr"/>
            <a:r>
              <a:rPr lang="en-US" altLang="en-US" sz="3200" b="1" dirty="0" smtClean="0"/>
              <a:t>Sets</a:t>
            </a:r>
            <a:endParaRPr lang="en-US" sz="3200" b="1" dirty="0">
              <a:latin typeface="Times New Roman" pitchFamily="18" charset="0"/>
              <a:cs typeface="Times New Roman" pitchFamily="18" charset="0"/>
            </a:endParaRPr>
          </a:p>
        </p:txBody>
      </p:sp>
      <p:sp>
        <p:nvSpPr>
          <p:cNvPr id="6" name="TextBox 5"/>
          <p:cNvSpPr txBox="1"/>
          <p:nvPr/>
        </p:nvSpPr>
        <p:spPr>
          <a:xfrm>
            <a:off x="462665" y="382665"/>
            <a:ext cx="8153400" cy="4801314"/>
          </a:xfrm>
          <a:prstGeom prst="rect">
            <a:avLst/>
          </a:prstGeom>
          <a:noFill/>
        </p:spPr>
        <p:txBody>
          <a:bodyPr wrap="square" rtlCol="0">
            <a:spAutoFit/>
          </a:bodyPr>
          <a:lstStyle/>
          <a:p>
            <a:pPr>
              <a:buFont typeface="Arial" pitchFamily="34" charset="0"/>
              <a:buChar char="•"/>
            </a:pPr>
            <a:r>
              <a:rPr lang="en-US" dirty="0"/>
              <a:t>Sets are used to store multiple items in a single variable</a:t>
            </a:r>
            <a:r>
              <a:rPr lang="en-US" dirty="0" smtClean="0"/>
              <a:t>.</a:t>
            </a:r>
            <a:endParaRPr lang="mr-IN" dirty="0" smtClean="0"/>
          </a:p>
          <a:p>
            <a:pPr>
              <a:buFont typeface="Arial" pitchFamily="34" charset="0"/>
              <a:buChar char="•"/>
            </a:pPr>
            <a:r>
              <a:rPr lang="en-US" dirty="0"/>
              <a:t>A set is a collection which is </a:t>
            </a:r>
            <a:r>
              <a:rPr lang="en-US" i="1" dirty="0"/>
              <a:t>unordered</a:t>
            </a:r>
            <a:r>
              <a:rPr lang="en-US" dirty="0"/>
              <a:t>, </a:t>
            </a:r>
            <a:r>
              <a:rPr lang="en-US" i="1" dirty="0"/>
              <a:t>unchangeable*</a:t>
            </a:r>
            <a:r>
              <a:rPr lang="en-US" dirty="0"/>
              <a:t>, and </a:t>
            </a:r>
            <a:r>
              <a:rPr lang="en-US" i="1" dirty="0"/>
              <a:t>unindexed</a:t>
            </a:r>
            <a:r>
              <a:rPr lang="en-US" dirty="0" smtClean="0"/>
              <a:t>.</a:t>
            </a:r>
            <a:endParaRPr lang="mr-IN" dirty="0" smtClean="0"/>
          </a:p>
          <a:p>
            <a:pPr>
              <a:buFont typeface="Arial" pitchFamily="34" charset="0"/>
              <a:buChar char="•"/>
            </a:pPr>
            <a:r>
              <a:rPr lang="en-US" dirty="0" smtClean="0"/>
              <a:t>  Indentified by curly braces </a:t>
            </a:r>
          </a:p>
          <a:p>
            <a:r>
              <a:rPr lang="en-US" dirty="0" smtClean="0"/>
              <a:t>&gt;&gt;&gt; X= {'Alice', 'Bob', 'Carol'}</a:t>
            </a:r>
          </a:p>
          <a:p>
            <a:r>
              <a:rPr lang="en-US" dirty="0" smtClean="0"/>
              <a:t>&gt;&gt;&gt; print(x)</a:t>
            </a:r>
          </a:p>
          <a:p>
            <a:r>
              <a:rPr lang="en-US" dirty="0" smtClean="0"/>
              <a:t>&gt;&gt;&gt; print(type(x))</a:t>
            </a:r>
          </a:p>
          <a:p>
            <a:endParaRPr lang="en-US" dirty="0" smtClean="0"/>
          </a:p>
          <a:p>
            <a:pPr>
              <a:buFont typeface="Arial" pitchFamily="34" charset="0"/>
              <a:buChar char="•"/>
            </a:pPr>
            <a:r>
              <a:rPr lang="en-US" dirty="0" smtClean="0"/>
              <a:t> {'Dean'} is a singleton</a:t>
            </a:r>
          </a:p>
          <a:p>
            <a:pPr>
              <a:buFont typeface="Arial" pitchFamily="34" charset="0"/>
              <a:buChar char="•"/>
            </a:pPr>
            <a:r>
              <a:rPr lang="en-US" dirty="0" smtClean="0"/>
              <a:t> Can only contain unique elements</a:t>
            </a:r>
          </a:p>
          <a:p>
            <a:pPr>
              <a:buFont typeface="Arial" pitchFamily="34" charset="0"/>
              <a:buChar char="•"/>
            </a:pPr>
            <a:endParaRPr lang="en-US" dirty="0" smtClean="0"/>
          </a:p>
          <a:p>
            <a:pPr>
              <a:buFont typeface="Arial" pitchFamily="34" charset="0"/>
              <a:buChar char="•"/>
            </a:pPr>
            <a:r>
              <a:rPr lang="en-US" dirty="0" smtClean="0"/>
              <a:t> Duplicates are eliminated</a:t>
            </a:r>
          </a:p>
          <a:p>
            <a:r>
              <a:rPr lang="en-US" dirty="0" smtClean="0"/>
              <a:t>&gt;&gt;&gt; </a:t>
            </a:r>
            <a:r>
              <a:rPr lang="en-US" dirty="0" err="1" smtClean="0"/>
              <a:t>cset</a:t>
            </a:r>
            <a:r>
              <a:rPr lang="en-US" dirty="0" smtClean="0"/>
              <a:t> = {11, 11, 22}</a:t>
            </a:r>
          </a:p>
          <a:p>
            <a:r>
              <a:rPr lang="en-US" dirty="0" smtClean="0"/>
              <a:t>&gt;&gt;&gt; print(</a:t>
            </a:r>
            <a:r>
              <a:rPr lang="en-US" dirty="0" err="1" smtClean="0"/>
              <a:t>cset</a:t>
            </a:r>
            <a:r>
              <a:rPr lang="en-US" dirty="0" smtClean="0"/>
              <a:t>)</a:t>
            </a:r>
            <a:br>
              <a:rPr lang="en-US" dirty="0" smtClean="0"/>
            </a:br>
            <a:r>
              <a:rPr lang="en-US" dirty="0" smtClean="0"/>
              <a:t>{11, 22}</a:t>
            </a:r>
          </a:p>
          <a:p>
            <a:pPr>
              <a:buFont typeface="Arial" pitchFamily="34" charset="0"/>
              <a:buChar char="•"/>
            </a:pPr>
            <a:endParaRPr lang="en-US" dirty="0" smtClean="0"/>
          </a:p>
          <a:p>
            <a:pPr>
              <a:buFont typeface="Arial" pitchFamily="34" charset="0"/>
              <a:buChar char="•"/>
            </a:pPr>
            <a:r>
              <a:rPr lang="en-US" dirty="0" smtClean="0"/>
              <a:t> Immutable like </a:t>
            </a:r>
            <a:r>
              <a:rPr lang="en-US" dirty="0" err="1" smtClean="0"/>
              <a:t>tuples</a:t>
            </a:r>
            <a:r>
              <a:rPr lang="en-US" dirty="0" smtClean="0"/>
              <a:t> and strings</a:t>
            </a:r>
          </a:p>
          <a:p>
            <a:endParaRPr lang="en-US"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6700" y="285751"/>
            <a:ext cx="5295900" cy="584775"/>
          </a:xfrm>
          <a:prstGeom prst="rect">
            <a:avLst/>
          </a:prstGeom>
          <a:noFill/>
        </p:spPr>
        <p:txBody>
          <a:bodyPr wrap="square" rtlCol="0">
            <a:spAutoFit/>
          </a:bodyPr>
          <a:lstStyle/>
          <a:p>
            <a:r>
              <a:rPr lang="en-US" altLang="en-US" sz="3200" dirty="0" smtClean="0"/>
              <a:t>Sets</a:t>
            </a:r>
            <a:endParaRPr lang="en-US" sz="3200" dirty="0">
              <a:latin typeface="Times New Roman" pitchFamily="18" charset="0"/>
              <a:cs typeface="Times New Roman" pitchFamily="18" charset="0"/>
            </a:endParaRPr>
          </a:p>
        </p:txBody>
      </p:sp>
      <p:sp>
        <p:nvSpPr>
          <p:cNvPr id="6" name="TextBox 5"/>
          <p:cNvSpPr txBox="1"/>
          <p:nvPr/>
        </p:nvSpPr>
        <p:spPr>
          <a:xfrm>
            <a:off x="381000" y="933450"/>
            <a:ext cx="8153400" cy="3970318"/>
          </a:xfrm>
          <a:prstGeom prst="rect">
            <a:avLst/>
          </a:prstGeom>
          <a:noFill/>
        </p:spPr>
        <p:txBody>
          <a:bodyPr wrap="square" rtlCol="0">
            <a:spAutoFit/>
          </a:bodyPr>
          <a:lstStyle/>
          <a:p>
            <a:pPr>
              <a:buFont typeface="Arial" pitchFamily="34" charset="0"/>
              <a:buChar char="•"/>
            </a:pPr>
            <a:r>
              <a:rPr lang="en-US" dirty="0" smtClean="0"/>
              <a:t>Union Operation</a:t>
            </a:r>
          </a:p>
          <a:p>
            <a:r>
              <a:rPr lang="en-US" dirty="0" smtClean="0"/>
              <a:t>&gt;&gt;&gt; </a:t>
            </a:r>
            <a:r>
              <a:rPr lang="en-US" dirty="0" err="1" smtClean="0"/>
              <a:t>aset</a:t>
            </a:r>
            <a:r>
              <a:rPr lang="en-US" dirty="0" smtClean="0"/>
              <a:t> = {11, 22, 33}</a:t>
            </a:r>
          </a:p>
          <a:p>
            <a:r>
              <a:rPr lang="en-US" dirty="0" smtClean="0"/>
              <a:t>&gt;&gt;&gt; </a:t>
            </a:r>
            <a:r>
              <a:rPr lang="en-US" dirty="0" err="1" smtClean="0"/>
              <a:t>aset</a:t>
            </a:r>
            <a:r>
              <a:rPr lang="en-US" dirty="0" smtClean="0"/>
              <a:t> = </a:t>
            </a:r>
            <a:r>
              <a:rPr lang="en-US" dirty="0" err="1" smtClean="0"/>
              <a:t>aset</a:t>
            </a:r>
            <a:r>
              <a:rPr lang="en-US" dirty="0" smtClean="0"/>
              <a:t> | {55}</a:t>
            </a:r>
          </a:p>
          <a:p>
            <a:r>
              <a:rPr lang="en-US" dirty="0" smtClean="0"/>
              <a:t>&gt;&gt;&gt; print(</a:t>
            </a:r>
            <a:r>
              <a:rPr lang="en-US" dirty="0" err="1" smtClean="0"/>
              <a:t>aset</a:t>
            </a:r>
            <a:r>
              <a:rPr lang="en-US" dirty="0" smtClean="0"/>
              <a:t>)</a:t>
            </a:r>
            <a:br>
              <a:rPr lang="en-US" dirty="0" smtClean="0"/>
            </a:br>
            <a:r>
              <a:rPr lang="en-US" dirty="0" smtClean="0"/>
              <a:t>{33, 11, 22, 55}</a:t>
            </a:r>
          </a:p>
          <a:p>
            <a:endParaRPr lang="en-US" dirty="0" smtClean="0"/>
          </a:p>
          <a:p>
            <a:pPr>
              <a:buFont typeface="Arial" pitchFamily="34" charset="0"/>
              <a:buChar char="•"/>
            </a:pPr>
            <a:r>
              <a:rPr lang="en-US" dirty="0" smtClean="0"/>
              <a:t> </a:t>
            </a:r>
            <a:r>
              <a:rPr lang="en-US" altLang="en-US" dirty="0" smtClean="0"/>
              <a:t>Sets Have No Order</a:t>
            </a:r>
            <a:endParaRPr lang="en-US" dirty="0" smtClean="0"/>
          </a:p>
          <a:p>
            <a:r>
              <a:rPr lang="en-US" dirty="0" smtClean="0"/>
              <a:t>&gt;&gt;&gt; print( {1, 2, 3, 4, 5, 6, 7})</a:t>
            </a:r>
            <a:br>
              <a:rPr lang="en-US" dirty="0" smtClean="0"/>
            </a:br>
            <a:r>
              <a:rPr lang="en-US" dirty="0" smtClean="0"/>
              <a:t>{1, 2, 3, 4, 5, 6, 7}</a:t>
            </a:r>
          </a:p>
          <a:p>
            <a:r>
              <a:rPr lang="en-US" dirty="0" smtClean="0"/>
              <a:t>&gt;&gt;&gt;print( {11, 22, 33})</a:t>
            </a:r>
            <a:br>
              <a:rPr lang="en-US" dirty="0" smtClean="0"/>
            </a:br>
            <a:r>
              <a:rPr lang="en-US" dirty="0" smtClean="0"/>
              <a:t>{33, 11, 22}</a:t>
            </a:r>
          </a:p>
          <a:p>
            <a:endParaRPr lang="en-US" dirty="0" smtClean="0"/>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6700" y="285751"/>
            <a:ext cx="5295900" cy="584775"/>
          </a:xfrm>
          <a:prstGeom prst="rect">
            <a:avLst/>
          </a:prstGeom>
          <a:noFill/>
        </p:spPr>
        <p:txBody>
          <a:bodyPr wrap="square" rtlCol="0">
            <a:spAutoFit/>
          </a:bodyPr>
          <a:lstStyle/>
          <a:p>
            <a:r>
              <a:rPr lang="en-US" altLang="en-US" sz="3200" dirty="0" smtClean="0"/>
              <a:t>Sets Do Not Support Indexing</a:t>
            </a:r>
            <a:endParaRPr lang="en-US" sz="3200" dirty="0">
              <a:latin typeface="Times New Roman" pitchFamily="18" charset="0"/>
              <a:cs typeface="Times New Roman" pitchFamily="18" charset="0"/>
            </a:endParaRPr>
          </a:p>
        </p:txBody>
      </p:sp>
      <p:sp>
        <p:nvSpPr>
          <p:cNvPr id="6" name="TextBox 5"/>
          <p:cNvSpPr txBox="1"/>
          <p:nvPr/>
        </p:nvSpPr>
        <p:spPr>
          <a:xfrm>
            <a:off x="381000" y="933450"/>
            <a:ext cx="8153400" cy="3416320"/>
          </a:xfrm>
          <a:prstGeom prst="rect">
            <a:avLst/>
          </a:prstGeom>
          <a:noFill/>
        </p:spPr>
        <p:txBody>
          <a:bodyPr wrap="square" rtlCol="0">
            <a:spAutoFit/>
          </a:bodyPr>
          <a:lstStyle/>
          <a:p>
            <a:r>
              <a:rPr lang="en-US" dirty="0" smtClean="0"/>
              <a:t>&gt;&gt;&gt; </a:t>
            </a:r>
            <a:r>
              <a:rPr lang="en-US" dirty="0" err="1" smtClean="0"/>
              <a:t>myset</a:t>
            </a:r>
            <a:r>
              <a:rPr lang="en-US" dirty="0" smtClean="0"/>
              <a:t> = {'Apples', 'Bananas', 'Oranges'}</a:t>
            </a:r>
          </a:p>
          <a:p>
            <a:endParaRPr lang="en-US" dirty="0" smtClean="0"/>
          </a:p>
          <a:p>
            <a:r>
              <a:rPr lang="en-US" dirty="0" smtClean="0"/>
              <a:t>&gt;&gt;&gt; print(</a:t>
            </a:r>
            <a:r>
              <a:rPr lang="en-US" dirty="0" err="1" smtClean="0"/>
              <a:t>myset</a:t>
            </a:r>
            <a:r>
              <a:rPr lang="en-US" dirty="0" smtClean="0"/>
              <a:t>)</a:t>
            </a:r>
            <a:br>
              <a:rPr lang="en-US" dirty="0" smtClean="0"/>
            </a:br>
            <a:r>
              <a:rPr lang="en-US" dirty="0" smtClean="0"/>
              <a:t>{'Bananas', 'Oranges', 'Apples'}</a:t>
            </a:r>
          </a:p>
          <a:p>
            <a:endParaRPr lang="en-US" dirty="0" smtClean="0"/>
          </a:p>
          <a:p>
            <a:r>
              <a:rPr lang="en-US" dirty="0" smtClean="0"/>
              <a:t>&gt;&gt;&gt; print(</a:t>
            </a:r>
            <a:r>
              <a:rPr lang="en-US" dirty="0" err="1" smtClean="0"/>
              <a:t>myset</a:t>
            </a:r>
            <a:r>
              <a:rPr lang="en-US" dirty="0" smtClean="0"/>
              <a:t>[0])</a:t>
            </a:r>
            <a:br>
              <a:rPr lang="en-US" dirty="0" smtClean="0"/>
            </a:br>
            <a:r>
              <a:rPr lang="en-US" dirty="0" err="1" smtClean="0"/>
              <a:t>Traceback</a:t>
            </a:r>
            <a:r>
              <a:rPr lang="en-US" dirty="0" smtClean="0"/>
              <a:t> (most recent call last):</a:t>
            </a:r>
            <a:br>
              <a:rPr lang="en-US" dirty="0" smtClean="0"/>
            </a:br>
            <a:r>
              <a:rPr lang="en-US" dirty="0" smtClean="0"/>
              <a:t>   File "&lt;pyshell#2&gt;", line 1, in &lt;module&gt;</a:t>
            </a:r>
            <a:br>
              <a:rPr lang="en-US" dirty="0" smtClean="0"/>
            </a:br>
            <a:r>
              <a:rPr lang="en-US" dirty="0" smtClean="0"/>
              <a:t>      </a:t>
            </a:r>
            <a:r>
              <a:rPr lang="en-US" dirty="0" err="1" smtClean="0"/>
              <a:t>myset</a:t>
            </a:r>
            <a:r>
              <a:rPr lang="en-US" dirty="0" smtClean="0"/>
              <a:t>[0]</a:t>
            </a:r>
            <a:br>
              <a:rPr lang="en-US" dirty="0" smtClean="0"/>
            </a:br>
            <a:r>
              <a:rPr lang="en-US" dirty="0" err="1" smtClean="0"/>
              <a:t>TypeError</a:t>
            </a:r>
            <a:r>
              <a:rPr lang="en-US" dirty="0" smtClean="0"/>
              <a:t>: 'set' object does not support indexing</a:t>
            </a:r>
          </a:p>
          <a:p>
            <a:pPr>
              <a:buFont typeface="Arial" pitchFamily="34" charset="0"/>
              <a:buChar char="•"/>
            </a:pPr>
            <a:endParaRPr lang="en-US" dirty="0" smtClean="0"/>
          </a:p>
          <a:p>
            <a:endParaRPr lang="en-US"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6700" y="285751"/>
            <a:ext cx="5295900" cy="584775"/>
          </a:xfrm>
          <a:prstGeom prst="rect">
            <a:avLst/>
          </a:prstGeom>
          <a:noFill/>
        </p:spPr>
        <p:txBody>
          <a:bodyPr wrap="square" rtlCol="0">
            <a:spAutoFit/>
          </a:bodyPr>
          <a:lstStyle/>
          <a:p>
            <a:r>
              <a:rPr lang="en-US" altLang="en-US" sz="3200" dirty="0" smtClean="0"/>
              <a:t>Boolean Operations on Sets</a:t>
            </a:r>
            <a:endParaRPr lang="en-US" sz="3200" dirty="0">
              <a:latin typeface="Times New Roman" pitchFamily="18" charset="0"/>
              <a:cs typeface="Times New Roman" pitchFamily="18" charset="0"/>
            </a:endParaRPr>
          </a:p>
        </p:txBody>
      </p:sp>
      <p:sp>
        <p:nvSpPr>
          <p:cNvPr id="6" name="TextBox 5"/>
          <p:cNvSpPr txBox="1"/>
          <p:nvPr/>
        </p:nvSpPr>
        <p:spPr>
          <a:xfrm>
            <a:off x="381000" y="933450"/>
            <a:ext cx="8153400" cy="4524315"/>
          </a:xfrm>
          <a:prstGeom prst="rect">
            <a:avLst/>
          </a:prstGeom>
          <a:noFill/>
        </p:spPr>
        <p:txBody>
          <a:bodyPr wrap="square" rtlCol="0">
            <a:spAutoFit/>
          </a:bodyPr>
          <a:lstStyle/>
          <a:p>
            <a:r>
              <a:rPr lang="en-US" dirty="0" smtClean="0"/>
              <a:t>&gt;&gt;&gt; </a:t>
            </a:r>
            <a:r>
              <a:rPr lang="en-US" dirty="0" err="1" smtClean="0"/>
              <a:t>aset</a:t>
            </a:r>
            <a:r>
              <a:rPr lang="en-US" dirty="0" smtClean="0"/>
              <a:t> = {11, 22, 33}</a:t>
            </a:r>
          </a:p>
          <a:p>
            <a:r>
              <a:rPr lang="en-US" dirty="0" smtClean="0"/>
              <a:t>&gt;&gt;&gt; </a:t>
            </a:r>
            <a:r>
              <a:rPr lang="en-US" dirty="0" err="1" smtClean="0"/>
              <a:t>bset</a:t>
            </a:r>
            <a:r>
              <a:rPr lang="en-US" dirty="0" smtClean="0"/>
              <a:t> = {12, 23, 33}</a:t>
            </a:r>
          </a:p>
          <a:p>
            <a:pPr>
              <a:buFont typeface="Arial" pitchFamily="34" charset="0"/>
              <a:buChar char="•"/>
            </a:pPr>
            <a:r>
              <a:rPr lang="en-US" dirty="0" smtClean="0"/>
              <a:t> </a:t>
            </a:r>
            <a:r>
              <a:rPr lang="en-US" i="1" dirty="0" smtClean="0"/>
              <a:t>Union of two sets</a:t>
            </a:r>
          </a:p>
          <a:p>
            <a:r>
              <a:rPr lang="en-US" dirty="0" smtClean="0"/>
              <a:t>&gt;&gt;&gt; print(</a:t>
            </a:r>
            <a:r>
              <a:rPr lang="en-US" dirty="0" err="1" smtClean="0"/>
              <a:t>aset</a:t>
            </a:r>
            <a:r>
              <a:rPr lang="en-US" dirty="0" smtClean="0"/>
              <a:t> | </a:t>
            </a:r>
            <a:r>
              <a:rPr lang="en-US" dirty="0" err="1" smtClean="0"/>
              <a:t>bset</a:t>
            </a:r>
            <a:r>
              <a:rPr lang="en-US" dirty="0" smtClean="0"/>
              <a:t> )</a:t>
            </a:r>
            <a:br>
              <a:rPr lang="en-US" dirty="0" smtClean="0"/>
            </a:br>
            <a:r>
              <a:rPr lang="en-US" dirty="0" smtClean="0"/>
              <a:t>{33, 22, 23, 11, 12}</a:t>
            </a:r>
          </a:p>
          <a:p>
            <a:pPr>
              <a:buFont typeface="Arial" pitchFamily="34" charset="0"/>
              <a:buChar char="•"/>
            </a:pPr>
            <a:r>
              <a:rPr lang="en-US" i="1" dirty="0" smtClean="0"/>
              <a:t> Intersection of two sets:</a:t>
            </a:r>
          </a:p>
          <a:p>
            <a:r>
              <a:rPr lang="en-US" dirty="0" smtClean="0"/>
              <a:t>&gt;&gt;&gt; print(</a:t>
            </a:r>
            <a:r>
              <a:rPr lang="en-US" dirty="0" err="1" smtClean="0"/>
              <a:t>aset</a:t>
            </a:r>
            <a:r>
              <a:rPr lang="en-US" dirty="0" smtClean="0"/>
              <a:t> &amp; </a:t>
            </a:r>
            <a:r>
              <a:rPr lang="en-US" dirty="0" err="1" smtClean="0"/>
              <a:t>bset</a:t>
            </a:r>
            <a:r>
              <a:rPr lang="en-US" dirty="0" smtClean="0"/>
              <a:t> ) </a:t>
            </a:r>
            <a:br>
              <a:rPr lang="en-US" dirty="0" smtClean="0"/>
            </a:br>
            <a:r>
              <a:rPr lang="en-US" dirty="0" smtClean="0"/>
              <a:t>{33}</a:t>
            </a:r>
          </a:p>
          <a:p>
            <a:pPr>
              <a:buFont typeface="Arial" pitchFamily="34" charset="0"/>
              <a:buChar char="•"/>
            </a:pPr>
            <a:r>
              <a:rPr lang="en-US" dirty="0" smtClean="0"/>
              <a:t> </a:t>
            </a:r>
            <a:r>
              <a:rPr lang="en-US" i="1" dirty="0" smtClean="0"/>
              <a:t>Difference:</a:t>
            </a:r>
          </a:p>
          <a:p>
            <a:r>
              <a:rPr lang="en-US" dirty="0" smtClean="0"/>
              <a:t>&gt;&gt;&gt;print( </a:t>
            </a:r>
            <a:r>
              <a:rPr lang="en-US" dirty="0" err="1" smtClean="0"/>
              <a:t>aset</a:t>
            </a:r>
            <a:r>
              <a:rPr lang="en-US" dirty="0" smtClean="0"/>
              <a:t> – </a:t>
            </a:r>
            <a:r>
              <a:rPr lang="en-US" dirty="0" err="1" smtClean="0"/>
              <a:t>bset</a:t>
            </a:r>
            <a:r>
              <a:rPr lang="en-US" dirty="0" smtClean="0"/>
              <a:t> ) </a:t>
            </a:r>
            <a:br>
              <a:rPr lang="en-US" dirty="0" smtClean="0"/>
            </a:br>
            <a:r>
              <a:rPr lang="en-US" dirty="0" smtClean="0"/>
              <a:t>{11, 22}</a:t>
            </a:r>
          </a:p>
          <a:p>
            <a:pPr>
              <a:buFont typeface="Arial" pitchFamily="34" charset="0"/>
              <a:buChar char="•"/>
            </a:pPr>
            <a:r>
              <a:rPr lang="en-US" dirty="0" smtClean="0"/>
              <a:t> </a:t>
            </a:r>
            <a:r>
              <a:rPr lang="en-US" i="1" dirty="0" smtClean="0"/>
              <a:t>Symmetric difference:</a:t>
            </a:r>
          </a:p>
          <a:p>
            <a:r>
              <a:rPr lang="en-US" dirty="0" smtClean="0"/>
              <a:t>&gt;&gt;&gt;print( </a:t>
            </a:r>
            <a:r>
              <a:rPr lang="en-US" dirty="0" err="1" smtClean="0"/>
              <a:t>aset</a:t>
            </a:r>
            <a:r>
              <a:rPr lang="en-US" dirty="0" smtClean="0"/>
              <a:t> ^ </a:t>
            </a:r>
            <a:r>
              <a:rPr lang="en-US" dirty="0" err="1" smtClean="0"/>
              <a:t>bset</a:t>
            </a:r>
            <a:r>
              <a:rPr lang="en-US" smtClean="0"/>
              <a:t> ) </a:t>
            </a:r>
            <a:r>
              <a:rPr lang="en-US" dirty="0" smtClean="0"/>
              <a:t/>
            </a:r>
            <a:br>
              <a:rPr lang="en-US" dirty="0" smtClean="0"/>
            </a:br>
            <a:r>
              <a:rPr lang="en-US" dirty="0" smtClean="0"/>
              <a:t>{11, 12, 22, 23}</a:t>
            </a:r>
          </a:p>
          <a:p>
            <a:pPr>
              <a:buFont typeface="Arial" pitchFamily="34" charset="0"/>
              <a:buChar char="•"/>
            </a:pPr>
            <a:endParaRPr lang="en-US" dirty="0" smtClean="0"/>
          </a:p>
          <a:p>
            <a:endParaRPr lang="en-US"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462665" y="229045"/>
            <a:ext cx="6645870" cy="9733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7610" rIns="0" bIns="4761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Access Items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Verdana" panose="020B0604030504040204" pitchFamily="34" charset="0"/>
              </a:rPr>
              <a:t>You cannot access items in a set by referring to an index or a key.</a:t>
            </a:r>
            <a:endParaRPr kumimoji="0" 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Verdana" panose="020B0604030504040204" pitchFamily="34" charset="0"/>
              </a:rPr>
              <a:t>But you can loop through the set items using a </a:t>
            </a:r>
            <a:r>
              <a:rPr kumimoji="0" lang="en-US" sz="1100" b="0" i="0" u="none" strike="noStrike" cap="none" normalizeH="0" baseline="0" dirty="0" smtClean="0">
                <a:ln>
                  <a:noFill/>
                </a:ln>
                <a:solidFill>
                  <a:srgbClr val="DC143C"/>
                </a:solidFill>
                <a:effectLst/>
                <a:latin typeface="Consolas" panose="020B0609020204030204" pitchFamily="49" charset="0"/>
              </a:rPr>
              <a:t>for</a:t>
            </a:r>
            <a:r>
              <a:rPr kumimoji="0" lang="en-US" sz="1100" b="0" i="0" u="none" strike="noStrike" cap="none" normalizeH="0" baseline="0" dirty="0" smtClean="0">
                <a:ln>
                  <a:noFill/>
                </a:ln>
                <a:solidFill>
                  <a:srgbClr val="000000"/>
                </a:solidFill>
                <a:effectLst/>
                <a:latin typeface="Verdana" panose="020B0604030504040204" pitchFamily="34" charset="0"/>
              </a:rPr>
              <a:t> loop, or ask if a specified value is present in a set, by using the </a:t>
            </a:r>
            <a:r>
              <a:rPr kumimoji="0" lang="en-US" sz="1100" b="0" i="0" u="none" strike="noStrike" cap="none" normalizeH="0" baseline="0" dirty="0" smtClean="0">
                <a:ln>
                  <a:noFill/>
                </a:ln>
                <a:solidFill>
                  <a:srgbClr val="DC143C"/>
                </a:solidFill>
                <a:effectLst/>
                <a:latin typeface="Consolas" panose="020B0609020204030204" pitchFamily="49" charset="0"/>
              </a:rPr>
              <a:t>in</a:t>
            </a:r>
            <a:r>
              <a:rPr kumimoji="0" lang="en-US" sz="1100" b="0" i="0" u="none" strike="noStrike" cap="none" normalizeH="0" baseline="0" dirty="0" smtClean="0">
                <a:ln>
                  <a:noFill/>
                </a:ln>
                <a:solidFill>
                  <a:srgbClr val="000000"/>
                </a:solidFill>
                <a:effectLst/>
                <a:latin typeface="Verdana" panose="020B0604030504040204" pitchFamily="34" charset="0"/>
              </a:rPr>
              <a:t> keyword.</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616284" y="1458005"/>
            <a:ext cx="5491915" cy="2308324"/>
          </a:xfrm>
          <a:prstGeom prst="rect">
            <a:avLst/>
          </a:prstGeom>
        </p:spPr>
        <p:txBody>
          <a:bodyPr wrap="square">
            <a:spAutoFit/>
          </a:bodyPr>
          <a:lstStyle/>
          <a:p>
            <a:r>
              <a:rPr lang="en-US" dirty="0" smtClean="0">
                <a:solidFill>
                  <a:srgbClr val="000000"/>
                </a:solidFill>
                <a:latin typeface="Segoe UI" panose="020B0502040204020203" pitchFamily="34" charset="0"/>
              </a:rPr>
              <a:t>Example</a:t>
            </a:r>
          </a:p>
          <a:p>
            <a:r>
              <a:rPr lang="en-US" dirty="0" smtClean="0">
                <a:solidFill>
                  <a:srgbClr val="000000"/>
                </a:solidFill>
                <a:latin typeface="Verdana" panose="020B0604030504040204" pitchFamily="34" charset="0"/>
              </a:rPr>
              <a:t>Loop </a:t>
            </a:r>
            <a:r>
              <a:rPr lang="en-US" dirty="0">
                <a:solidFill>
                  <a:srgbClr val="000000"/>
                </a:solidFill>
                <a:latin typeface="Verdana" panose="020B0604030504040204" pitchFamily="34" charset="0"/>
              </a:rPr>
              <a:t>through the set, and print the values:</a:t>
            </a:r>
          </a:p>
          <a:p>
            <a:r>
              <a:rPr lang="en-US" dirty="0" err="1">
                <a:solidFill>
                  <a:srgbClr val="000000"/>
                </a:solidFill>
                <a:latin typeface="Consolas" panose="020B0609020204030204" pitchFamily="49" charset="0"/>
              </a:rPr>
              <a:t>thisset</a:t>
            </a:r>
            <a:r>
              <a:rPr lang="en-US" dirty="0">
                <a:solidFill>
                  <a:srgbClr val="000000"/>
                </a:solidFill>
                <a:latin typeface="Consolas" panose="020B0609020204030204" pitchFamily="49" charset="0"/>
              </a:rPr>
              <a:t> = {</a:t>
            </a:r>
            <a:r>
              <a:rPr lang="en-US" dirty="0">
                <a:solidFill>
                  <a:srgbClr val="A52A2A"/>
                </a:solidFill>
                <a:latin typeface="Consolas" panose="020B0609020204030204" pitchFamily="49" charset="0"/>
              </a:rPr>
              <a:t>"apple"</a:t>
            </a:r>
            <a:r>
              <a:rPr lang="en-US" dirty="0">
                <a:solidFill>
                  <a:srgbClr val="000000"/>
                </a:solidFill>
                <a:latin typeface="Consolas" panose="020B0609020204030204" pitchFamily="49" charset="0"/>
              </a:rPr>
              <a:t>, </a:t>
            </a:r>
            <a:r>
              <a:rPr lang="en-US" dirty="0">
                <a:solidFill>
                  <a:srgbClr val="A52A2A"/>
                </a:solidFill>
                <a:latin typeface="Consolas" panose="020B0609020204030204" pitchFamily="49" charset="0"/>
              </a:rPr>
              <a:t>"banana"</a:t>
            </a:r>
            <a:r>
              <a:rPr lang="en-US" dirty="0">
                <a:solidFill>
                  <a:srgbClr val="000000"/>
                </a:solidFill>
                <a:latin typeface="Consolas" panose="020B0609020204030204" pitchFamily="49" charset="0"/>
              </a:rPr>
              <a:t>, </a:t>
            </a:r>
            <a:r>
              <a:rPr lang="en-US" dirty="0">
                <a:solidFill>
                  <a:srgbClr val="A52A2A"/>
                </a:solidFill>
                <a:latin typeface="Consolas" panose="020B0609020204030204" pitchFamily="49" charset="0"/>
              </a:rPr>
              <a:t>"cherry"</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r>
            <a:br>
              <a:rPr lang="en-US" dirty="0">
                <a:solidFill>
                  <a:srgbClr val="000000"/>
                </a:solidFill>
                <a:latin typeface="Consolas" panose="020B0609020204030204" pitchFamily="49" charset="0"/>
              </a:rPr>
            </a:br>
            <a:r>
              <a:rPr lang="en-US" dirty="0">
                <a:solidFill>
                  <a:srgbClr val="0000CD"/>
                </a:solidFill>
                <a:latin typeface="Consolas" panose="020B0609020204030204" pitchFamily="49" charset="0"/>
              </a:rPr>
              <a:t>for</a:t>
            </a:r>
            <a:r>
              <a:rPr lang="en-US" dirty="0">
                <a:solidFill>
                  <a:srgbClr val="000000"/>
                </a:solidFill>
                <a:latin typeface="Consolas" panose="020B0609020204030204" pitchFamily="49" charset="0"/>
              </a:rPr>
              <a:t> x </a:t>
            </a:r>
            <a:r>
              <a:rPr lang="en-US" dirty="0">
                <a:solidFill>
                  <a:srgbClr val="0000CD"/>
                </a:solidFill>
                <a:latin typeface="Consolas" panose="020B0609020204030204" pitchFamily="49" charset="0"/>
              </a:rPr>
              <a:t>in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thisset</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print</a:t>
            </a:r>
            <a:r>
              <a:rPr lang="en-US" dirty="0">
                <a:solidFill>
                  <a:srgbClr val="000000"/>
                </a:solidFill>
                <a:latin typeface="Consolas" panose="020B0609020204030204" pitchFamily="49" charset="0"/>
              </a:rPr>
              <a:t>(x)</a:t>
            </a:r>
          </a:p>
          <a:p>
            <a:r>
              <a:rPr lang="en-US" dirty="0">
                <a:solidFill>
                  <a:srgbClr val="000000"/>
                </a:solidFill>
                <a:latin typeface="Verdana" panose="020B0604030504040204" pitchFamily="34" charset="0"/>
              </a:rPr>
              <a:t/>
            </a:r>
            <a:br>
              <a:rPr lang="en-US" dirty="0">
                <a:solidFill>
                  <a:srgbClr val="000000"/>
                </a:solidFill>
                <a:latin typeface="Verdana" panose="020B0604030504040204" pitchFamily="34" charset="0"/>
              </a:rPr>
            </a:br>
            <a:endParaRPr lang="en-IN" dirty="0"/>
          </a:p>
        </p:txBody>
      </p:sp>
      <p:sp>
        <p:nvSpPr>
          <p:cNvPr id="6" name="Rectangle 5"/>
          <p:cNvSpPr/>
          <p:nvPr/>
        </p:nvSpPr>
        <p:spPr>
          <a:xfrm>
            <a:off x="501070" y="3560311"/>
            <a:ext cx="4572000" cy="923330"/>
          </a:xfrm>
          <a:prstGeom prst="rect">
            <a:avLst/>
          </a:prstGeom>
        </p:spPr>
        <p:txBody>
          <a:bodyPr>
            <a:spAutoFit/>
          </a:bodyPr>
          <a:lstStyle/>
          <a:p>
            <a:r>
              <a:rPr lang="en-IN" dirty="0" err="1"/>
              <a:t>thisset</a:t>
            </a:r>
            <a:r>
              <a:rPr lang="en-IN" dirty="0"/>
              <a:t> = {"apple", "banana", "cherry"}</a:t>
            </a:r>
          </a:p>
          <a:p>
            <a:endParaRPr lang="en-IN" dirty="0"/>
          </a:p>
          <a:p>
            <a:r>
              <a:rPr lang="en-IN" dirty="0"/>
              <a:t>print("banana" in </a:t>
            </a:r>
            <a:r>
              <a:rPr lang="en-IN" dirty="0" err="1"/>
              <a:t>thisset</a:t>
            </a:r>
            <a:r>
              <a:rPr lang="en-IN" dirty="0"/>
              <a:t>)</a:t>
            </a:r>
          </a:p>
        </p:txBody>
      </p:sp>
    </p:spTree>
    <p:extLst>
      <p:ext uri="{BB962C8B-B14F-4D97-AF65-F5344CB8AC3E}">
        <p14:creationId xmlns:p14="http://schemas.microsoft.com/office/powerpoint/2010/main" val="21883843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32235" y="383000"/>
            <a:ext cx="8256684" cy="1964938"/>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7610" rIns="0" bIns="2380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Add Items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Verdana" panose="020B0604030504040204" pitchFamily="34" charset="0"/>
              </a:rPr>
              <a:t>Once a set is created, you cannot change its items, but you can add new items.</a:t>
            </a:r>
            <a:endParaRPr kumimoji="0" 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Verdana" panose="020B0604030504040204" pitchFamily="34" charset="0"/>
              </a:rPr>
              <a:t>To add one item to a set use the </a:t>
            </a:r>
            <a:r>
              <a:rPr kumimoji="0" lang="en-US" sz="1600" b="0" i="0" u="none" strike="noStrike" cap="none" normalizeH="0" baseline="0" dirty="0" smtClean="0">
                <a:ln>
                  <a:noFill/>
                </a:ln>
                <a:solidFill>
                  <a:srgbClr val="DC143C"/>
                </a:solidFill>
                <a:effectLst/>
                <a:latin typeface="Consolas" panose="020B0609020204030204" pitchFamily="49" charset="0"/>
              </a:rPr>
              <a:t>add()</a:t>
            </a:r>
            <a:r>
              <a:rPr kumimoji="0" lang="en-US" sz="1600" b="0" i="0" u="none" strike="noStrike" cap="none" normalizeH="0" baseline="0" dirty="0" smtClean="0">
                <a:ln>
                  <a:noFill/>
                </a:ln>
                <a:solidFill>
                  <a:srgbClr val="000000"/>
                </a:solidFill>
                <a:effectLst/>
                <a:latin typeface="Verdana" panose="020B0604030504040204" pitchFamily="34" charset="0"/>
              </a:rPr>
              <a:t> method.</a:t>
            </a:r>
            <a:endParaRPr kumimoji="0" 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Verdana" panose="020B0604030504040204" pitchFamily="34" charset="0"/>
              </a:rPr>
              <a:t>Add an item to a set, using the </a:t>
            </a:r>
            <a:r>
              <a:rPr kumimoji="0" lang="en-US" sz="1600" b="0" i="0" u="none" strike="noStrike" cap="none" normalizeH="0" baseline="0" dirty="0" smtClean="0">
                <a:ln>
                  <a:noFill/>
                </a:ln>
                <a:solidFill>
                  <a:srgbClr val="DC143C"/>
                </a:solidFill>
                <a:effectLst/>
                <a:latin typeface="Consolas" panose="020B0609020204030204" pitchFamily="49" charset="0"/>
              </a:rPr>
              <a:t>add()</a:t>
            </a:r>
            <a:r>
              <a:rPr kumimoji="0" lang="en-US" sz="1600" b="0" i="0" u="none" strike="noStrike" cap="none" normalizeH="0" baseline="0" dirty="0" smtClean="0">
                <a:ln>
                  <a:noFill/>
                </a:ln>
                <a:solidFill>
                  <a:srgbClr val="000000"/>
                </a:solidFill>
                <a:effectLst/>
                <a:latin typeface="Verdana" panose="020B0604030504040204" pitchFamily="34" charset="0"/>
              </a:rPr>
              <a:t> method: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smtClean="0">
                <a:ln>
                  <a:noFill/>
                </a:ln>
                <a:solidFill>
                  <a:srgbClr val="000000"/>
                </a:solidFill>
                <a:effectLst/>
                <a:latin typeface="Consolas" panose="020B0609020204030204" pitchFamily="49" charset="0"/>
              </a:rPr>
              <a:t>thisset</a:t>
            </a:r>
            <a:r>
              <a:rPr kumimoji="0" lang="en-US" sz="1600" b="0" i="0" u="none" strike="noStrike" cap="none" normalizeH="0" baseline="0" dirty="0" smtClean="0">
                <a:ln>
                  <a:noFill/>
                </a:ln>
                <a:solidFill>
                  <a:srgbClr val="000000"/>
                </a:solidFill>
                <a:effectLst/>
                <a:latin typeface="Consolas" panose="020B0609020204030204" pitchFamily="49" charset="0"/>
              </a:rPr>
              <a:t> = {</a:t>
            </a:r>
            <a:r>
              <a:rPr kumimoji="0" lang="en-US" sz="1600" b="0" i="0" u="none" strike="noStrike" cap="none" normalizeH="0" baseline="0" dirty="0" smtClean="0">
                <a:ln>
                  <a:noFill/>
                </a:ln>
                <a:solidFill>
                  <a:srgbClr val="A52A2A"/>
                </a:solidFill>
                <a:effectLst/>
                <a:latin typeface="Consolas" panose="020B0609020204030204" pitchFamily="49" charset="0"/>
              </a:rPr>
              <a:t>"apple"</a:t>
            </a:r>
            <a:r>
              <a:rPr kumimoji="0" lang="en-US" sz="1600" b="0" i="0" u="none" strike="noStrike" cap="none" normalizeH="0" baseline="0" dirty="0" smtClean="0">
                <a:ln>
                  <a:noFill/>
                </a:ln>
                <a:solidFill>
                  <a:srgbClr val="000000"/>
                </a:solidFill>
                <a:effectLst/>
                <a:latin typeface="Consolas" panose="020B0609020204030204" pitchFamily="49" charset="0"/>
              </a:rPr>
              <a:t>, </a:t>
            </a:r>
            <a:r>
              <a:rPr kumimoji="0" lang="en-US" sz="1600" b="0" i="0" u="none" strike="noStrike" cap="none" normalizeH="0" baseline="0" dirty="0" smtClean="0">
                <a:ln>
                  <a:noFill/>
                </a:ln>
                <a:solidFill>
                  <a:srgbClr val="A52A2A"/>
                </a:solidFill>
                <a:effectLst/>
                <a:latin typeface="Consolas" panose="020B0609020204030204" pitchFamily="49" charset="0"/>
              </a:rPr>
              <a:t>"banana"</a:t>
            </a:r>
            <a:r>
              <a:rPr kumimoji="0" lang="en-US" sz="1600" b="0" i="0" u="none" strike="noStrike" cap="none" normalizeH="0" baseline="0" dirty="0" smtClean="0">
                <a:ln>
                  <a:noFill/>
                </a:ln>
                <a:solidFill>
                  <a:srgbClr val="000000"/>
                </a:solidFill>
                <a:effectLst/>
                <a:latin typeface="Consolas" panose="020B0609020204030204" pitchFamily="49" charset="0"/>
              </a:rPr>
              <a:t>, </a:t>
            </a:r>
            <a:r>
              <a:rPr kumimoji="0" lang="en-US" sz="1600" b="0" i="0" u="none" strike="noStrike" cap="none" normalizeH="0" baseline="0" dirty="0" smtClean="0">
                <a:ln>
                  <a:noFill/>
                </a:ln>
                <a:solidFill>
                  <a:srgbClr val="A52A2A"/>
                </a:solidFill>
                <a:effectLst/>
                <a:latin typeface="Consolas" panose="020B0609020204030204" pitchFamily="49" charset="0"/>
              </a:rPr>
              <a:t>"cherry"</a:t>
            </a:r>
            <a:r>
              <a:rPr kumimoji="0" lang="en-US" sz="1600" b="0" i="0" u="none" strike="noStrike" cap="none" normalizeH="0" baseline="0" dirty="0" smtClean="0">
                <a:ln>
                  <a:noFill/>
                </a:ln>
                <a:solidFill>
                  <a:srgbClr val="000000"/>
                </a:solidFill>
                <a:effectLst/>
                <a:latin typeface="Consolas" panose="020B0609020204030204" pitchFamily="49" charset="0"/>
              </a:rPr>
              <a:t>}</a:t>
            </a:r>
            <a:br>
              <a:rPr kumimoji="0" lang="en-US" sz="1600" b="0" i="0" u="none" strike="noStrike" cap="none" normalizeH="0" baseline="0" dirty="0" smtClean="0">
                <a:ln>
                  <a:noFill/>
                </a:ln>
                <a:solidFill>
                  <a:srgbClr val="000000"/>
                </a:solidFill>
                <a:effectLst/>
                <a:latin typeface="Consolas" panose="020B0609020204030204" pitchFamily="49" charset="0"/>
              </a:rPr>
            </a:br>
            <a:r>
              <a:rPr kumimoji="0" lang="en-US" sz="1600" b="0" i="0" u="none" strike="noStrike" cap="none" normalizeH="0" baseline="0" dirty="0" err="1" smtClean="0">
                <a:ln>
                  <a:noFill/>
                </a:ln>
                <a:solidFill>
                  <a:srgbClr val="000000"/>
                </a:solidFill>
                <a:effectLst/>
                <a:latin typeface="Consolas" panose="020B0609020204030204" pitchFamily="49" charset="0"/>
              </a:rPr>
              <a:t>thisset.add</a:t>
            </a:r>
            <a:r>
              <a:rPr kumimoji="0" lang="en-US" sz="1600" b="0" i="0" u="none" strike="noStrike" cap="none" normalizeH="0" baseline="0" dirty="0" smtClean="0">
                <a:ln>
                  <a:noFill/>
                </a:ln>
                <a:solidFill>
                  <a:srgbClr val="000000"/>
                </a:solidFill>
                <a:effectLst/>
                <a:latin typeface="Consolas" panose="020B0609020204030204" pitchFamily="49" charset="0"/>
              </a:rPr>
              <a:t>(</a:t>
            </a:r>
            <a:r>
              <a:rPr kumimoji="0" lang="en-US" sz="1600" b="0" i="0" u="none" strike="noStrike" cap="none" normalizeH="0" baseline="0" dirty="0" smtClean="0">
                <a:ln>
                  <a:noFill/>
                </a:ln>
                <a:solidFill>
                  <a:srgbClr val="A52A2A"/>
                </a:solidFill>
                <a:effectLst/>
                <a:latin typeface="Consolas" panose="020B0609020204030204" pitchFamily="49" charset="0"/>
              </a:rPr>
              <a:t>"orange"</a:t>
            </a:r>
            <a:r>
              <a:rPr kumimoji="0" lang="en-US" sz="1600" b="0" i="0" u="none" strike="noStrike" cap="none" normalizeH="0" baseline="0" dirty="0" smtClean="0">
                <a:ln>
                  <a:noFill/>
                </a:ln>
                <a:solidFill>
                  <a:srgbClr val="000000"/>
                </a:solidFill>
                <a:effectLst/>
                <a:latin typeface="Consolas" panose="020B0609020204030204" pitchFamily="49" charset="0"/>
              </a:rPr>
              <a:t>)</a:t>
            </a:r>
            <a:br>
              <a:rPr kumimoji="0" lang="en-US" sz="1600" b="0" i="0" u="none" strike="noStrike" cap="none" normalizeH="0" baseline="0" dirty="0" smtClean="0">
                <a:ln>
                  <a:noFill/>
                </a:ln>
                <a:solidFill>
                  <a:srgbClr val="000000"/>
                </a:solidFill>
                <a:effectLst/>
                <a:latin typeface="Consolas" panose="020B0609020204030204" pitchFamily="49" charset="0"/>
              </a:rPr>
            </a:br>
            <a:r>
              <a:rPr kumimoji="0" lang="en-US" sz="1100" b="0" i="0" u="none" strike="noStrike" cap="none" normalizeH="0" baseline="0" dirty="0" smtClean="0">
                <a:ln>
                  <a:noFill/>
                </a:ln>
                <a:solidFill>
                  <a:srgbClr val="0000CD"/>
                </a:solidFill>
                <a:effectLst/>
                <a:latin typeface="Consolas" panose="020B0609020204030204" pitchFamily="49" charset="0"/>
              </a:rPr>
              <a:t>print</a:t>
            </a:r>
            <a:r>
              <a:rPr kumimoji="0" lang="en-US" sz="1100" b="0" i="0" u="none" strike="noStrike" cap="none" normalizeH="0" baseline="0" dirty="0" smtClean="0">
                <a:ln>
                  <a:noFill/>
                </a:ln>
                <a:solidFill>
                  <a:srgbClr val="000000"/>
                </a:solidFill>
                <a:effectLst/>
                <a:latin typeface="Consolas" panose="020B0609020204030204" pitchFamily="49" charset="0"/>
              </a:rPr>
              <a:t>(</a:t>
            </a:r>
            <a:r>
              <a:rPr kumimoji="0" lang="en-US" sz="1100" b="0" i="0" u="none" strike="noStrike" cap="none" normalizeH="0" baseline="0" dirty="0" err="1" smtClean="0">
                <a:ln>
                  <a:noFill/>
                </a:ln>
                <a:solidFill>
                  <a:srgbClr val="000000"/>
                </a:solidFill>
                <a:effectLst/>
                <a:latin typeface="Consolas" panose="020B0609020204030204" pitchFamily="49" charset="0"/>
              </a:rPr>
              <a:t>thisset</a:t>
            </a:r>
            <a:r>
              <a:rPr kumimoji="0" lang="en-US" sz="1100" b="0" i="0" u="none" strike="noStrike" cap="none" normalizeH="0" baseline="0" dirty="0" smtClean="0">
                <a:ln>
                  <a:noFill/>
                </a:ln>
                <a:solidFill>
                  <a:srgbClr val="000000"/>
                </a:solidFill>
                <a:effectLst/>
                <a:latin typeface="Consolas" panose="020B0609020204030204" pitchFamily="49" charset="0"/>
              </a:rPr>
              <a:t>)</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232235" y="2456535"/>
            <a:ext cx="8415691" cy="2340986"/>
          </a:xfrm>
          <a:prstGeom prst="rect">
            <a:avLst/>
          </a:prstGeom>
          <a:solidFill>
            <a:srgbClr val="4CAF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7610"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Add Sets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Verdana" panose="020B0604030504040204" pitchFamily="34" charset="0"/>
              </a:rPr>
              <a:t>To add items from another set into the current set, use the </a:t>
            </a:r>
            <a:r>
              <a:rPr kumimoji="0" lang="en-US" sz="1600" b="0" i="0" u="none" strike="noStrike" cap="none" normalizeH="0" baseline="0" dirty="0" smtClean="0">
                <a:ln>
                  <a:noFill/>
                </a:ln>
                <a:solidFill>
                  <a:srgbClr val="DC143C"/>
                </a:solidFill>
                <a:effectLst/>
                <a:latin typeface="Consolas" panose="020B0609020204030204" pitchFamily="49" charset="0"/>
              </a:rPr>
              <a:t>update()</a:t>
            </a:r>
            <a:r>
              <a:rPr kumimoji="0" lang="en-US" sz="1600" b="0" i="0" u="none" strike="noStrike" cap="none" normalizeH="0" baseline="0" dirty="0" smtClean="0">
                <a:ln>
                  <a:noFill/>
                </a:ln>
                <a:solidFill>
                  <a:srgbClr val="000000"/>
                </a:solidFill>
                <a:effectLst/>
                <a:latin typeface="Verdana" panose="020B0604030504040204" pitchFamily="34" charset="0"/>
              </a:rPr>
              <a:t> method.</a:t>
            </a:r>
            <a:endParaRPr kumimoji="0" 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Verdana" panose="020B0604030504040204" pitchFamily="34" charset="0"/>
              </a:rPr>
              <a:t>Add elements from </a:t>
            </a:r>
            <a:r>
              <a:rPr kumimoji="0" lang="en-US" sz="1600" b="0" i="0" u="none" strike="noStrike" cap="none" normalizeH="0" baseline="0" dirty="0" smtClean="0">
                <a:ln>
                  <a:noFill/>
                </a:ln>
                <a:solidFill>
                  <a:srgbClr val="DC143C"/>
                </a:solidFill>
                <a:effectLst/>
                <a:latin typeface="Consolas" panose="020B0609020204030204" pitchFamily="49" charset="0"/>
              </a:rPr>
              <a:t>tropical</a:t>
            </a:r>
            <a:r>
              <a:rPr kumimoji="0" lang="en-US" sz="1600" b="0" i="0" u="none" strike="noStrike" cap="none" normalizeH="0" baseline="0" dirty="0" smtClean="0">
                <a:ln>
                  <a:noFill/>
                </a:ln>
                <a:solidFill>
                  <a:srgbClr val="000000"/>
                </a:solidFill>
                <a:effectLst/>
                <a:latin typeface="Verdana" panose="020B0604030504040204" pitchFamily="34" charset="0"/>
              </a:rPr>
              <a:t> into </a:t>
            </a:r>
            <a:r>
              <a:rPr kumimoji="0" lang="en-US" sz="1600" b="0" i="0" u="none" strike="noStrike" cap="none" normalizeH="0" baseline="0" dirty="0" err="1" smtClean="0">
                <a:ln>
                  <a:noFill/>
                </a:ln>
                <a:solidFill>
                  <a:srgbClr val="DC143C"/>
                </a:solidFill>
                <a:effectLst/>
                <a:latin typeface="Consolas" panose="020B0609020204030204" pitchFamily="49" charset="0"/>
              </a:rPr>
              <a:t>thisset</a:t>
            </a:r>
            <a:r>
              <a:rPr kumimoji="0" lang="en-US" sz="1600" b="0" i="0" u="none" strike="noStrike" cap="none" normalizeH="0" baseline="0" dirty="0" smtClean="0">
                <a:ln>
                  <a:noFill/>
                </a:ln>
                <a:solidFill>
                  <a:srgbClr val="000000"/>
                </a:solidFill>
                <a:effectLst/>
                <a:latin typeface="Verdana" panose="020B060403050404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smtClean="0">
                <a:ln>
                  <a:noFill/>
                </a:ln>
                <a:solidFill>
                  <a:srgbClr val="000000"/>
                </a:solidFill>
                <a:effectLst/>
                <a:latin typeface="Consolas" panose="020B0609020204030204" pitchFamily="49" charset="0"/>
              </a:rPr>
              <a:t>thisset</a:t>
            </a:r>
            <a:r>
              <a:rPr kumimoji="0" lang="en-US" sz="1600" b="0" i="0" u="none" strike="noStrike" cap="none" normalizeH="0" baseline="0" dirty="0" smtClean="0">
                <a:ln>
                  <a:noFill/>
                </a:ln>
                <a:solidFill>
                  <a:srgbClr val="000000"/>
                </a:solidFill>
                <a:effectLst/>
                <a:latin typeface="Consolas" panose="020B0609020204030204" pitchFamily="49" charset="0"/>
              </a:rPr>
              <a:t> = {</a:t>
            </a:r>
            <a:r>
              <a:rPr kumimoji="0" lang="en-US" sz="1600" b="0" i="0" u="none" strike="noStrike" cap="none" normalizeH="0" baseline="0" dirty="0" smtClean="0">
                <a:ln>
                  <a:noFill/>
                </a:ln>
                <a:solidFill>
                  <a:srgbClr val="A52A2A"/>
                </a:solidFill>
                <a:effectLst/>
                <a:latin typeface="Consolas" panose="020B0609020204030204" pitchFamily="49" charset="0"/>
              </a:rPr>
              <a:t>"apple"</a:t>
            </a:r>
            <a:r>
              <a:rPr kumimoji="0" lang="en-US" sz="1600" b="0" i="0" u="none" strike="noStrike" cap="none" normalizeH="0" baseline="0" dirty="0" smtClean="0">
                <a:ln>
                  <a:noFill/>
                </a:ln>
                <a:solidFill>
                  <a:srgbClr val="000000"/>
                </a:solidFill>
                <a:effectLst/>
                <a:latin typeface="Consolas" panose="020B0609020204030204" pitchFamily="49" charset="0"/>
              </a:rPr>
              <a:t>, </a:t>
            </a:r>
            <a:r>
              <a:rPr kumimoji="0" lang="en-US" sz="1600" b="0" i="0" u="none" strike="noStrike" cap="none" normalizeH="0" baseline="0" dirty="0" smtClean="0">
                <a:ln>
                  <a:noFill/>
                </a:ln>
                <a:solidFill>
                  <a:srgbClr val="A52A2A"/>
                </a:solidFill>
                <a:effectLst/>
                <a:latin typeface="Consolas" panose="020B0609020204030204" pitchFamily="49" charset="0"/>
              </a:rPr>
              <a:t>"banana"</a:t>
            </a:r>
            <a:r>
              <a:rPr kumimoji="0" lang="en-US" sz="1600" b="0" i="0" u="none" strike="noStrike" cap="none" normalizeH="0" baseline="0" dirty="0" smtClean="0">
                <a:ln>
                  <a:noFill/>
                </a:ln>
                <a:solidFill>
                  <a:srgbClr val="000000"/>
                </a:solidFill>
                <a:effectLst/>
                <a:latin typeface="Consolas" panose="020B0609020204030204" pitchFamily="49" charset="0"/>
              </a:rPr>
              <a:t>, </a:t>
            </a:r>
            <a:r>
              <a:rPr kumimoji="0" lang="en-US" sz="1600" b="0" i="0" u="none" strike="noStrike" cap="none" normalizeH="0" baseline="0" dirty="0" smtClean="0">
                <a:ln>
                  <a:noFill/>
                </a:ln>
                <a:solidFill>
                  <a:srgbClr val="A52A2A"/>
                </a:solidFill>
                <a:effectLst/>
                <a:latin typeface="Consolas" panose="020B0609020204030204" pitchFamily="49" charset="0"/>
              </a:rPr>
              <a:t>"cherry"</a:t>
            </a:r>
            <a:r>
              <a:rPr kumimoji="0" lang="en-US" sz="1600" b="0" i="0" u="none" strike="noStrike" cap="none" normalizeH="0" baseline="0" dirty="0" smtClean="0">
                <a:ln>
                  <a:noFill/>
                </a:ln>
                <a:solidFill>
                  <a:srgbClr val="000000"/>
                </a:solidFill>
                <a:effectLst/>
                <a:latin typeface="Consolas" panose="020B0609020204030204" pitchFamily="49" charset="0"/>
              </a:rPr>
              <a:t>}</a:t>
            </a:r>
            <a:br>
              <a:rPr kumimoji="0" lang="en-US" sz="1600" b="0" i="0" u="none" strike="noStrike" cap="none" normalizeH="0" baseline="0" dirty="0" smtClean="0">
                <a:ln>
                  <a:noFill/>
                </a:ln>
                <a:solidFill>
                  <a:srgbClr val="000000"/>
                </a:solidFill>
                <a:effectLst/>
                <a:latin typeface="Consolas" panose="020B0609020204030204" pitchFamily="49" charset="0"/>
              </a:rPr>
            </a:br>
            <a:r>
              <a:rPr kumimoji="0" lang="en-US" sz="1600" b="0" i="0" u="none" strike="noStrike" cap="none" normalizeH="0" baseline="0" dirty="0" smtClean="0">
                <a:ln>
                  <a:noFill/>
                </a:ln>
                <a:solidFill>
                  <a:srgbClr val="000000"/>
                </a:solidFill>
                <a:effectLst/>
                <a:latin typeface="Consolas" panose="020B0609020204030204" pitchFamily="49" charset="0"/>
              </a:rPr>
              <a:t>tropical = {</a:t>
            </a:r>
            <a:r>
              <a:rPr kumimoji="0" lang="en-US" sz="1600" b="0" i="0" u="none" strike="noStrike" cap="none" normalizeH="0" baseline="0" dirty="0" smtClean="0">
                <a:ln>
                  <a:noFill/>
                </a:ln>
                <a:solidFill>
                  <a:srgbClr val="A52A2A"/>
                </a:solidFill>
                <a:effectLst/>
                <a:latin typeface="Consolas" panose="020B0609020204030204" pitchFamily="49" charset="0"/>
              </a:rPr>
              <a:t>"pineapple"</a:t>
            </a:r>
            <a:r>
              <a:rPr kumimoji="0" lang="en-US" sz="1600" b="0" i="0" u="none" strike="noStrike" cap="none" normalizeH="0" baseline="0" dirty="0" smtClean="0">
                <a:ln>
                  <a:noFill/>
                </a:ln>
                <a:solidFill>
                  <a:srgbClr val="000000"/>
                </a:solidFill>
                <a:effectLst/>
                <a:latin typeface="Consolas" panose="020B0609020204030204" pitchFamily="49" charset="0"/>
              </a:rPr>
              <a:t>, </a:t>
            </a:r>
            <a:r>
              <a:rPr kumimoji="0" lang="en-US" sz="1600" b="0" i="0" u="none" strike="noStrike" cap="none" normalizeH="0" baseline="0" dirty="0" smtClean="0">
                <a:ln>
                  <a:noFill/>
                </a:ln>
                <a:solidFill>
                  <a:srgbClr val="A52A2A"/>
                </a:solidFill>
                <a:effectLst/>
                <a:latin typeface="Consolas" panose="020B0609020204030204" pitchFamily="49" charset="0"/>
              </a:rPr>
              <a:t>"mango"</a:t>
            </a:r>
            <a:r>
              <a:rPr kumimoji="0" lang="en-US" sz="1600" b="0" i="0" u="none" strike="noStrike" cap="none" normalizeH="0" baseline="0" dirty="0" smtClean="0">
                <a:ln>
                  <a:noFill/>
                </a:ln>
                <a:solidFill>
                  <a:srgbClr val="000000"/>
                </a:solidFill>
                <a:effectLst/>
                <a:latin typeface="Consolas" panose="020B0609020204030204" pitchFamily="49" charset="0"/>
              </a:rPr>
              <a:t>, </a:t>
            </a:r>
            <a:r>
              <a:rPr kumimoji="0" lang="en-US" sz="1600" b="0" i="0" u="none" strike="noStrike" cap="none" normalizeH="0" baseline="0" dirty="0" smtClean="0">
                <a:ln>
                  <a:noFill/>
                </a:ln>
                <a:solidFill>
                  <a:srgbClr val="A52A2A"/>
                </a:solidFill>
                <a:effectLst/>
                <a:latin typeface="Consolas" panose="020B0609020204030204" pitchFamily="49" charset="0"/>
              </a:rPr>
              <a:t>"papaya"</a:t>
            </a:r>
            <a:r>
              <a:rPr kumimoji="0" lang="en-US" sz="1600" b="0" i="0" u="none" strike="noStrike" cap="none" normalizeH="0" baseline="0" dirty="0" smtClean="0">
                <a:ln>
                  <a:noFill/>
                </a:ln>
                <a:solidFill>
                  <a:srgbClr val="000000"/>
                </a:solidFill>
                <a:effectLst/>
                <a:latin typeface="Consolas" panose="020B0609020204030204" pitchFamily="49" charset="0"/>
              </a:rPr>
              <a:t>}</a:t>
            </a:r>
            <a:br>
              <a:rPr kumimoji="0" lang="en-US" sz="1600" b="0" i="0" u="none" strike="noStrike" cap="none" normalizeH="0" baseline="0" dirty="0" smtClean="0">
                <a:ln>
                  <a:noFill/>
                </a:ln>
                <a:solidFill>
                  <a:srgbClr val="000000"/>
                </a:solidFill>
                <a:effectLst/>
                <a:latin typeface="Consolas" panose="020B0609020204030204" pitchFamily="49" charset="0"/>
              </a:rPr>
            </a:br>
            <a:r>
              <a:rPr kumimoji="0" lang="en-US" sz="1600" b="0" i="0" u="none" strike="noStrike" cap="none" normalizeH="0" baseline="0" dirty="0" smtClean="0">
                <a:ln>
                  <a:noFill/>
                </a:ln>
                <a:solidFill>
                  <a:srgbClr val="000000"/>
                </a:solidFill>
                <a:effectLst/>
                <a:latin typeface="Consolas" panose="020B0609020204030204" pitchFamily="49" charset="0"/>
              </a:rPr>
              <a:t/>
            </a:r>
            <a:br>
              <a:rPr kumimoji="0" lang="en-US" sz="1600" b="0" i="0" u="none" strike="noStrike" cap="none" normalizeH="0" baseline="0" dirty="0" smtClean="0">
                <a:ln>
                  <a:noFill/>
                </a:ln>
                <a:solidFill>
                  <a:srgbClr val="000000"/>
                </a:solidFill>
                <a:effectLst/>
                <a:latin typeface="Consolas" panose="020B0609020204030204" pitchFamily="49" charset="0"/>
              </a:rPr>
            </a:br>
            <a:r>
              <a:rPr kumimoji="0" lang="en-US" sz="1600" b="0" i="0" u="none" strike="noStrike" cap="none" normalizeH="0" baseline="0" dirty="0" err="1" smtClean="0">
                <a:ln>
                  <a:noFill/>
                </a:ln>
                <a:solidFill>
                  <a:srgbClr val="000000"/>
                </a:solidFill>
                <a:effectLst/>
                <a:latin typeface="Consolas" panose="020B0609020204030204" pitchFamily="49" charset="0"/>
              </a:rPr>
              <a:t>thisset.update</a:t>
            </a:r>
            <a:r>
              <a:rPr kumimoji="0" lang="en-US" sz="1600" b="0" i="0" u="none" strike="noStrike" cap="none" normalizeH="0" baseline="0" dirty="0" smtClean="0">
                <a:ln>
                  <a:noFill/>
                </a:ln>
                <a:solidFill>
                  <a:srgbClr val="000000"/>
                </a:solidFill>
                <a:effectLst/>
                <a:latin typeface="Consolas" panose="020B0609020204030204" pitchFamily="49" charset="0"/>
              </a:rPr>
              <a:t>(tropical)</a:t>
            </a:r>
            <a:br>
              <a:rPr kumimoji="0" lang="en-US" sz="1600" b="0" i="0" u="none" strike="noStrike" cap="none" normalizeH="0" baseline="0" dirty="0" smtClean="0">
                <a:ln>
                  <a:noFill/>
                </a:ln>
                <a:solidFill>
                  <a:srgbClr val="000000"/>
                </a:solidFill>
                <a:effectLst/>
                <a:latin typeface="Consolas" panose="020B0609020204030204" pitchFamily="49" charset="0"/>
              </a:rPr>
            </a:br>
            <a:r>
              <a:rPr kumimoji="0" lang="en-US" sz="1600" b="0" i="0" u="none" strike="noStrike" cap="none" normalizeH="0" baseline="0" dirty="0" smtClean="0">
                <a:ln>
                  <a:noFill/>
                </a:ln>
                <a:solidFill>
                  <a:srgbClr val="0000CD"/>
                </a:solidFill>
                <a:effectLst/>
                <a:latin typeface="Consolas" panose="020B0609020204030204" pitchFamily="49" charset="0"/>
              </a:rPr>
              <a:t>print</a:t>
            </a:r>
            <a:r>
              <a:rPr kumimoji="0" lang="en-US" sz="1600" b="0" i="0" u="none" strike="noStrike" cap="none" normalizeH="0" baseline="0" dirty="0" smtClean="0">
                <a:ln>
                  <a:noFill/>
                </a:ln>
                <a:solidFill>
                  <a:srgbClr val="000000"/>
                </a:solidFill>
                <a:effectLst/>
                <a:latin typeface="Consolas" panose="020B0609020204030204" pitchFamily="49" charset="0"/>
              </a:rPr>
              <a:t>(</a:t>
            </a:r>
            <a:r>
              <a:rPr kumimoji="0" lang="en-US" sz="1600" b="0" i="0" u="none" strike="noStrike" cap="none" normalizeH="0" baseline="0" dirty="0" err="1" smtClean="0">
                <a:ln>
                  <a:noFill/>
                </a:ln>
                <a:solidFill>
                  <a:srgbClr val="000000"/>
                </a:solidFill>
                <a:effectLst/>
                <a:latin typeface="Consolas" panose="020B0609020204030204" pitchFamily="49" charset="0"/>
              </a:rPr>
              <a:t>thisset</a:t>
            </a:r>
            <a:r>
              <a:rPr kumimoji="0" lang="en-US" sz="1600" b="0" i="0" u="none" strike="noStrike" cap="none" normalizeH="0" baseline="0" dirty="0" smtClean="0">
                <a:ln>
                  <a:noFill/>
                </a:ln>
                <a:solidFill>
                  <a:srgbClr val="000000"/>
                </a:solidFill>
                <a:effectLst/>
                <a:latin typeface="Consolas" panose="020B0609020204030204" pitchFamily="49" charset="0"/>
              </a:rPr>
              <a:t>)</a:t>
            </a:r>
            <a:endParaRPr kumimoji="0" lang="en-US" sz="16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26435144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78615" y="52342"/>
            <a:ext cx="8180265" cy="2226548"/>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7610" rIns="0" bIns="2380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Remove Item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Verdana" panose="020B0604030504040204" pitchFamily="34" charset="0"/>
              </a:rPr>
              <a:t>To remove an item in a set, use the </a:t>
            </a:r>
            <a:r>
              <a:rPr kumimoji="0" lang="en-US" sz="1400" b="0" i="0" u="none" strike="noStrike" cap="none" normalizeH="0" baseline="0" dirty="0" smtClean="0">
                <a:ln>
                  <a:noFill/>
                </a:ln>
                <a:solidFill>
                  <a:srgbClr val="DC143C"/>
                </a:solidFill>
                <a:effectLst/>
                <a:latin typeface="Consolas" panose="020B0609020204030204" pitchFamily="49" charset="0"/>
              </a:rPr>
              <a:t>remove()</a:t>
            </a:r>
            <a:endParaRPr kumimoji="0" lang="en-US" sz="1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Example</a:t>
            </a:r>
            <a:endParaRPr lang="en-US" sz="1400" dirty="0">
              <a:solidFill>
                <a:srgbClr val="FFFFFF"/>
              </a:solidFill>
              <a:latin typeface="Source Sans Pro"/>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Verdana" panose="020B0604030504040204" pitchFamily="34" charset="0"/>
              </a:rPr>
              <a:t>Remove "banana" by using the </a:t>
            </a:r>
            <a:r>
              <a:rPr kumimoji="0" lang="en-US" sz="1400" b="0" i="0" u="none" strike="noStrike" cap="none" normalizeH="0" baseline="0" dirty="0" smtClean="0">
                <a:ln>
                  <a:noFill/>
                </a:ln>
                <a:solidFill>
                  <a:srgbClr val="DC143C"/>
                </a:solidFill>
                <a:effectLst/>
                <a:latin typeface="Consolas" panose="020B0609020204030204" pitchFamily="49" charset="0"/>
              </a:rPr>
              <a:t>remove()</a:t>
            </a:r>
            <a:r>
              <a:rPr kumimoji="0" lang="en-US" sz="1400" b="0" i="0" u="none" strike="noStrike" cap="none" normalizeH="0" baseline="0" dirty="0" smtClean="0">
                <a:ln>
                  <a:noFill/>
                </a:ln>
                <a:solidFill>
                  <a:srgbClr val="000000"/>
                </a:solidFill>
                <a:effectLst/>
                <a:latin typeface="Verdana" panose="020B0604030504040204" pitchFamily="34" charset="0"/>
              </a:rPr>
              <a:t> method: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err="1" smtClean="0">
                <a:ln>
                  <a:noFill/>
                </a:ln>
                <a:solidFill>
                  <a:srgbClr val="000000"/>
                </a:solidFill>
                <a:effectLst/>
                <a:latin typeface="Consolas" panose="020B0609020204030204" pitchFamily="49" charset="0"/>
              </a:rPr>
              <a:t>thisset</a:t>
            </a:r>
            <a:r>
              <a:rPr kumimoji="0" lang="en-US" sz="1400" b="0" i="0" u="none" strike="noStrike" cap="none" normalizeH="0" baseline="0" dirty="0" smtClean="0">
                <a:ln>
                  <a:noFill/>
                </a:ln>
                <a:solidFill>
                  <a:srgbClr val="000000"/>
                </a:solidFill>
                <a:effectLst/>
                <a:latin typeface="Consolas" panose="020B0609020204030204" pitchFamily="49" charset="0"/>
              </a:rPr>
              <a:t> = {</a:t>
            </a:r>
            <a:r>
              <a:rPr kumimoji="0" lang="en-US" sz="1400" b="0" i="0" u="none" strike="noStrike" cap="none" normalizeH="0" baseline="0" dirty="0" smtClean="0">
                <a:ln>
                  <a:noFill/>
                </a:ln>
                <a:solidFill>
                  <a:srgbClr val="A52A2A"/>
                </a:solidFill>
                <a:effectLst/>
                <a:latin typeface="Consolas" panose="020B0609020204030204" pitchFamily="49" charset="0"/>
              </a:rPr>
              <a:t>"apple"</a:t>
            </a:r>
            <a:r>
              <a:rPr kumimoji="0" lang="en-US" sz="1400" b="0" i="0" u="none" strike="noStrike" cap="none" normalizeH="0" baseline="0" dirty="0" smtClean="0">
                <a:ln>
                  <a:noFill/>
                </a:ln>
                <a:solidFill>
                  <a:srgbClr val="000000"/>
                </a:solidFill>
                <a:effectLst/>
                <a:latin typeface="Consolas" panose="020B0609020204030204" pitchFamily="49" charset="0"/>
              </a:rPr>
              <a:t>, </a:t>
            </a:r>
            <a:r>
              <a:rPr kumimoji="0" lang="en-US" sz="1400" b="0" i="0" u="none" strike="noStrike" cap="none" normalizeH="0" baseline="0" dirty="0" smtClean="0">
                <a:ln>
                  <a:noFill/>
                </a:ln>
                <a:solidFill>
                  <a:srgbClr val="A52A2A"/>
                </a:solidFill>
                <a:effectLst/>
                <a:latin typeface="Consolas" panose="020B0609020204030204" pitchFamily="49" charset="0"/>
              </a:rPr>
              <a:t>"banana"</a:t>
            </a:r>
            <a:r>
              <a:rPr kumimoji="0" lang="en-US" sz="1400" b="0" i="0" u="none" strike="noStrike" cap="none" normalizeH="0" baseline="0" dirty="0" smtClean="0">
                <a:ln>
                  <a:noFill/>
                </a:ln>
                <a:solidFill>
                  <a:srgbClr val="000000"/>
                </a:solidFill>
                <a:effectLst/>
                <a:latin typeface="Consolas" panose="020B0609020204030204" pitchFamily="49" charset="0"/>
              </a:rPr>
              <a:t>, </a:t>
            </a:r>
            <a:r>
              <a:rPr kumimoji="0" lang="en-US" sz="1400" b="0" i="0" u="none" strike="noStrike" cap="none" normalizeH="0" baseline="0" dirty="0" smtClean="0">
                <a:ln>
                  <a:noFill/>
                </a:ln>
                <a:solidFill>
                  <a:srgbClr val="A52A2A"/>
                </a:solidFill>
                <a:effectLst/>
                <a:latin typeface="Consolas" panose="020B0609020204030204" pitchFamily="49" charset="0"/>
              </a:rPr>
              <a:t>"cherry"</a:t>
            </a:r>
            <a:r>
              <a:rPr kumimoji="0" lang="en-US" sz="1400" b="0" i="0" u="none" strike="noStrike" cap="none" normalizeH="0" baseline="0" dirty="0" smtClean="0">
                <a:ln>
                  <a:noFill/>
                </a:ln>
                <a:solidFill>
                  <a:srgbClr val="000000"/>
                </a:solidFill>
                <a:effectLst/>
                <a:latin typeface="Consolas" panose="020B0609020204030204" pitchFamily="49" charset="0"/>
              </a:rPr>
              <a:t>}</a:t>
            </a:r>
            <a:br>
              <a:rPr kumimoji="0" lang="en-US" sz="1400" b="0" i="0" u="none" strike="noStrike" cap="none" normalizeH="0" baseline="0" dirty="0" smtClean="0">
                <a:ln>
                  <a:noFill/>
                </a:ln>
                <a:solidFill>
                  <a:srgbClr val="000000"/>
                </a:solidFill>
                <a:effectLst/>
                <a:latin typeface="Consolas" panose="020B0609020204030204" pitchFamily="49" charset="0"/>
              </a:rPr>
            </a:br>
            <a:r>
              <a:rPr kumimoji="0" lang="en-US" sz="1400" b="0" i="0" u="none" strike="noStrike" cap="none" normalizeH="0" baseline="0" dirty="0" smtClean="0">
                <a:ln>
                  <a:noFill/>
                </a:ln>
                <a:solidFill>
                  <a:srgbClr val="000000"/>
                </a:solidFill>
                <a:effectLst/>
                <a:latin typeface="Consolas" panose="020B0609020204030204" pitchFamily="49" charset="0"/>
              </a:rPr>
              <a:t/>
            </a:r>
            <a:br>
              <a:rPr kumimoji="0" lang="en-US" sz="1400" b="0" i="0" u="none" strike="noStrike" cap="none" normalizeH="0" baseline="0" dirty="0" smtClean="0">
                <a:ln>
                  <a:noFill/>
                </a:ln>
                <a:solidFill>
                  <a:srgbClr val="000000"/>
                </a:solidFill>
                <a:effectLst/>
                <a:latin typeface="Consolas" panose="020B0609020204030204" pitchFamily="49" charset="0"/>
              </a:rPr>
            </a:br>
            <a:r>
              <a:rPr kumimoji="0" lang="en-US" sz="1400" b="0" i="0" u="none" strike="noStrike" cap="none" normalizeH="0" baseline="0" dirty="0" err="1" smtClean="0">
                <a:ln>
                  <a:noFill/>
                </a:ln>
                <a:solidFill>
                  <a:srgbClr val="000000"/>
                </a:solidFill>
                <a:effectLst/>
                <a:latin typeface="Consolas" panose="020B0609020204030204" pitchFamily="49" charset="0"/>
              </a:rPr>
              <a:t>thisset.remove</a:t>
            </a:r>
            <a:r>
              <a:rPr kumimoji="0" lang="en-US" sz="1400" b="0" i="0" u="none" strike="noStrike" cap="none" normalizeH="0" baseline="0" dirty="0" smtClean="0">
                <a:ln>
                  <a:noFill/>
                </a:ln>
                <a:solidFill>
                  <a:srgbClr val="000000"/>
                </a:solidFill>
                <a:effectLst/>
                <a:latin typeface="Consolas" panose="020B0609020204030204" pitchFamily="49" charset="0"/>
              </a:rPr>
              <a:t>(</a:t>
            </a:r>
            <a:r>
              <a:rPr kumimoji="0" lang="en-US" sz="1400" b="0" i="0" u="none" strike="noStrike" cap="none" normalizeH="0" baseline="0" dirty="0" smtClean="0">
                <a:ln>
                  <a:noFill/>
                </a:ln>
                <a:solidFill>
                  <a:srgbClr val="A52A2A"/>
                </a:solidFill>
                <a:effectLst/>
                <a:latin typeface="Consolas" panose="020B0609020204030204" pitchFamily="49" charset="0"/>
              </a:rPr>
              <a:t>"banana"</a:t>
            </a:r>
            <a:r>
              <a:rPr kumimoji="0" lang="en-US" sz="1400" b="0" i="0" u="none" strike="noStrike" cap="none" normalizeH="0" baseline="0" dirty="0" smtClean="0">
                <a:ln>
                  <a:noFill/>
                </a:ln>
                <a:solidFill>
                  <a:srgbClr val="000000"/>
                </a:solidFill>
                <a:effectLst/>
                <a:latin typeface="Consolas" panose="020B0609020204030204" pitchFamily="49" charset="0"/>
              </a:rPr>
              <a:t>)</a:t>
            </a:r>
            <a:br>
              <a:rPr kumimoji="0" lang="en-US" sz="1400" b="0" i="0" u="none" strike="noStrike" cap="none" normalizeH="0" baseline="0" dirty="0" smtClean="0">
                <a:ln>
                  <a:noFill/>
                </a:ln>
                <a:solidFill>
                  <a:srgbClr val="000000"/>
                </a:solidFill>
                <a:effectLst/>
                <a:latin typeface="Consolas" panose="020B0609020204030204" pitchFamily="49" charset="0"/>
              </a:rPr>
            </a:br>
            <a:r>
              <a:rPr kumimoji="0" lang="en-US" sz="1400" b="0" i="0" u="none" strike="noStrike" cap="none" normalizeH="0" baseline="0" dirty="0" smtClean="0">
                <a:ln>
                  <a:noFill/>
                </a:ln>
                <a:solidFill>
                  <a:srgbClr val="000000"/>
                </a:solidFill>
                <a:effectLst/>
                <a:latin typeface="Consolas" panose="020B0609020204030204" pitchFamily="49" charset="0"/>
              </a:rPr>
              <a:t/>
            </a:r>
            <a:br>
              <a:rPr kumimoji="0" lang="en-US" sz="1400" b="0" i="0" u="none" strike="noStrike" cap="none" normalizeH="0" baseline="0" dirty="0" smtClean="0">
                <a:ln>
                  <a:noFill/>
                </a:ln>
                <a:solidFill>
                  <a:srgbClr val="000000"/>
                </a:solidFill>
                <a:effectLst/>
                <a:latin typeface="Consolas" panose="020B0609020204030204" pitchFamily="49" charset="0"/>
              </a:rPr>
            </a:br>
            <a:r>
              <a:rPr kumimoji="0" lang="en-US" sz="1400" b="0" i="0" u="none" strike="noStrike" cap="none" normalizeH="0" baseline="0" dirty="0" smtClean="0">
                <a:ln>
                  <a:noFill/>
                </a:ln>
                <a:solidFill>
                  <a:srgbClr val="0000CD"/>
                </a:solidFill>
                <a:effectLst/>
                <a:latin typeface="Consolas" panose="020B0609020204030204" pitchFamily="49" charset="0"/>
              </a:rPr>
              <a:t>print</a:t>
            </a:r>
            <a:r>
              <a:rPr kumimoji="0" lang="en-US" sz="1400" b="0" i="0" u="none" strike="noStrike" cap="none" normalizeH="0" baseline="0" dirty="0" smtClean="0">
                <a:ln>
                  <a:noFill/>
                </a:ln>
                <a:solidFill>
                  <a:srgbClr val="000000"/>
                </a:solidFill>
                <a:effectLst/>
                <a:latin typeface="Consolas" panose="020B0609020204030204" pitchFamily="49" charset="0"/>
              </a:rPr>
              <a:t>(</a:t>
            </a:r>
            <a:r>
              <a:rPr kumimoji="0" lang="en-US" sz="1400" b="0" i="0" u="none" strike="noStrike" cap="none" normalizeH="0" baseline="0" dirty="0" err="1" smtClean="0">
                <a:ln>
                  <a:noFill/>
                </a:ln>
                <a:solidFill>
                  <a:srgbClr val="000000"/>
                </a:solidFill>
                <a:effectLst/>
                <a:latin typeface="Consolas" panose="020B0609020204030204" pitchFamily="49" charset="0"/>
              </a:rPr>
              <a:t>thisset</a:t>
            </a:r>
            <a:r>
              <a:rPr kumimoji="0" lang="en-US" sz="1400" b="0" i="0" u="none" strike="noStrike" cap="none" normalizeH="0" baseline="0" dirty="0" smtClean="0">
                <a:ln>
                  <a:noFill/>
                </a:ln>
                <a:solidFill>
                  <a:srgbClr val="000000"/>
                </a:solidFill>
                <a:effectLst/>
                <a:latin typeface="Consolas" panose="020B0609020204030204" pitchFamily="49" charset="0"/>
              </a:rPr>
              <a:t>)</a:t>
            </a:r>
            <a:endParaRPr kumimoji="0" lang="en-US" sz="1400" b="0" i="0" u="none" strike="noStrike" cap="none" normalizeH="0" baseline="0" dirty="0" smtClean="0">
              <a:ln>
                <a:noFill/>
              </a:ln>
              <a:solidFill>
                <a:schemeClr val="tx1"/>
              </a:solidFill>
              <a:effectLst/>
            </a:endParaRPr>
          </a:p>
        </p:txBody>
      </p:sp>
      <p:sp>
        <p:nvSpPr>
          <p:cNvPr id="6" name="Rectangle 3"/>
          <p:cNvSpPr>
            <a:spLocks noChangeArrowheads="1"/>
          </p:cNvSpPr>
          <p:nvPr/>
        </p:nvSpPr>
        <p:spPr bwMode="auto">
          <a:xfrm>
            <a:off x="78615" y="2353269"/>
            <a:ext cx="4865756"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smtClean="0">
                <a:ln>
                  <a:noFill/>
                </a:ln>
                <a:solidFill>
                  <a:srgbClr val="000000"/>
                </a:solidFill>
                <a:effectLst/>
                <a:latin typeface="Verdana" panose="020B0604030504040204" pitchFamily="34" charset="0"/>
              </a:rPr>
              <a:t>Remove a random item by using the </a:t>
            </a:r>
            <a:r>
              <a:rPr kumimoji="0" lang="en-US" sz="1400" b="0" i="0" u="none" strike="noStrike" cap="none" normalizeH="0" baseline="0" smtClean="0">
                <a:ln>
                  <a:noFill/>
                </a:ln>
                <a:solidFill>
                  <a:srgbClr val="DC143C"/>
                </a:solidFill>
                <a:effectLst/>
                <a:latin typeface="Consolas" panose="020B0609020204030204" pitchFamily="49" charset="0"/>
              </a:rPr>
              <a:t>pop()</a:t>
            </a:r>
            <a:r>
              <a:rPr kumimoji="0" lang="en-US" sz="1400" b="0" i="0" u="none" strike="noStrike" cap="none" normalizeH="0" baseline="0" smtClean="0">
                <a:ln>
                  <a:noFill/>
                </a:ln>
                <a:solidFill>
                  <a:srgbClr val="000000"/>
                </a:solidFill>
                <a:effectLst/>
                <a:latin typeface="Verdana" panose="020B0604030504040204" pitchFamily="34" charset="0"/>
              </a:rPr>
              <a:t> method:</a:t>
            </a:r>
            <a:endParaRPr kumimoji="0" lang="en-US" sz="14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smtClean="0">
                <a:ln>
                  <a:noFill/>
                </a:ln>
                <a:solidFill>
                  <a:srgbClr val="000000"/>
                </a:solidFill>
                <a:effectLst/>
                <a:latin typeface="Consolas" panose="020B0609020204030204" pitchFamily="49" charset="0"/>
              </a:rPr>
              <a:t>thisset = {</a:t>
            </a:r>
            <a:r>
              <a:rPr kumimoji="0" lang="en-US" sz="1400" b="0" i="0" u="none" strike="noStrike" cap="none" normalizeH="0" baseline="0" smtClean="0">
                <a:ln>
                  <a:noFill/>
                </a:ln>
                <a:solidFill>
                  <a:srgbClr val="A52A2A"/>
                </a:solidFill>
                <a:effectLst/>
                <a:latin typeface="Consolas" panose="020B0609020204030204" pitchFamily="49" charset="0"/>
              </a:rPr>
              <a:t>"apple"</a:t>
            </a:r>
            <a:r>
              <a:rPr kumimoji="0" lang="en-US" sz="1400" b="0" i="0" u="none" strike="noStrike" cap="none" normalizeH="0" baseline="0" smtClean="0">
                <a:ln>
                  <a:noFill/>
                </a:ln>
                <a:solidFill>
                  <a:srgbClr val="000000"/>
                </a:solidFill>
                <a:effectLst/>
                <a:latin typeface="Consolas" panose="020B0609020204030204" pitchFamily="49" charset="0"/>
              </a:rPr>
              <a:t>, </a:t>
            </a:r>
            <a:r>
              <a:rPr kumimoji="0" lang="en-US" sz="1400" b="0" i="0" u="none" strike="noStrike" cap="none" normalizeH="0" baseline="0" smtClean="0">
                <a:ln>
                  <a:noFill/>
                </a:ln>
                <a:solidFill>
                  <a:srgbClr val="A52A2A"/>
                </a:solidFill>
                <a:effectLst/>
                <a:latin typeface="Consolas" panose="020B0609020204030204" pitchFamily="49" charset="0"/>
              </a:rPr>
              <a:t>"banana"</a:t>
            </a:r>
            <a:r>
              <a:rPr kumimoji="0" lang="en-US" sz="1400" b="0" i="0" u="none" strike="noStrike" cap="none" normalizeH="0" baseline="0" smtClean="0">
                <a:ln>
                  <a:noFill/>
                </a:ln>
                <a:solidFill>
                  <a:srgbClr val="000000"/>
                </a:solidFill>
                <a:effectLst/>
                <a:latin typeface="Consolas" panose="020B0609020204030204" pitchFamily="49" charset="0"/>
              </a:rPr>
              <a:t>, </a:t>
            </a:r>
            <a:r>
              <a:rPr kumimoji="0" lang="en-US" sz="1400" b="0" i="0" u="none" strike="noStrike" cap="none" normalizeH="0" baseline="0" smtClean="0">
                <a:ln>
                  <a:noFill/>
                </a:ln>
                <a:solidFill>
                  <a:srgbClr val="A52A2A"/>
                </a:solidFill>
                <a:effectLst/>
                <a:latin typeface="Consolas" panose="020B0609020204030204" pitchFamily="49" charset="0"/>
              </a:rPr>
              <a:t>"cherry"</a:t>
            </a:r>
            <a:r>
              <a:rPr kumimoji="0" lang="en-US" sz="1400" b="0" i="0" u="none" strike="noStrike" cap="none" normalizeH="0" baseline="0" smtClean="0">
                <a:ln>
                  <a:noFill/>
                </a:ln>
                <a:solidFill>
                  <a:srgbClr val="000000"/>
                </a:solidFill>
                <a:effectLst/>
                <a:latin typeface="Consolas" panose="020B0609020204030204" pitchFamily="49" charset="0"/>
              </a:rPr>
              <a:t>}</a:t>
            </a:r>
            <a:br>
              <a:rPr kumimoji="0" lang="en-US" sz="1400" b="0" i="0" u="none" strike="noStrike" cap="none" normalizeH="0" baseline="0" smtClean="0">
                <a:ln>
                  <a:noFill/>
                </a:ln>
                <a:solidFill>
                  <a:srgbClr val="000000"/>
                </a:solidFill>
                <a:effectLst/>
                <a:latin typeface="Consolas" panose="020B0609020204030204" pitchFamily="49" charset="0"/>
              </a:rPr>
            </a:br>
            <a:r>
              <a:rPr kumimoji="0" lang="en-US" sz="1400" b="0" i="0" u="none" strike="noStrike" cap="none" normalizeH="0" baseline="0" smtClean="0">
                <a:ln>
                  <a:noFill/>
                </a:ln>
                <a:solidFill>
                  <a:srgbClr val="000000"/>
                </a:solidFill>
                <a:effectLst/>
                <a:latin typeface="Consolas" panose="020B0609020204030204" pitchFamily="49" charset="0"/>
              </a:rPr>
              <a:t/>
            </a:r>
            <a:br>
              <a:rPr kumimoji="0" lang="en-US" sz="1400" b="0" i="0" u="none" strike="noStrike" cap="none" normalizeH="0" baseline="0" smtClean="0">
                <a:ln>
                  <a:noFill/>
                </a:ln>
                <a:solidFill>
                  <a:srgbClr val="000000"/>
                </a:solidFill>
                <a:effectLst/>
                <a:latin typeface="Consolas" panose="020B0609020204030204" pitchFamily="49" charset="0"/>
              </a:rPr>
            </a:br>
            <a:r>
              <a:rPr kumimoji="0" lang="en-US" sz="1400" b="0" i="0" u="none" strike="noStrike" cap="none" normalizeH="0" baseline="0" smtClean="0">
                <a:ln>
                  <a:noFill/>
                </a:ln>
                <a:solidFill>
                  <a:srgbClr val="000000"/>
                </a:solidFill>
                <a:effectLst/>
                <a:latin typeface="Consolas" panose="020B0609020204030204" pitchFamily="49" charset="0"/>
              </a:rPr>
              <a:t>x =</a:t>
            </a:r>
            <a:r>
              <a:rPr kumimoji="0" lang="en-US" sz="1400" b="0" i="0" u="none" strike="noStrike" cap="none" normalizeH="0" baseline="0" smtClean="0">
                <a:ln>
                  <a:noFill/>
                </a:ln>
                <a:solidFill>
                  <a:srgbClr val="FF0000"/>
                </a:solidFill>
                <a:effectLst/>
                <a:latin typeface="Consolas" panose="020B0609020204030204" pitchFamily="49" charset="0"/>
              </a:rPr>
              <a:t> </a:t>
            </a:r>
            <a:r>
              <a:rPr kumimoji="0" lang="en-US" sz="1400" b="0" i="0" u="none" strike="noStrike" cap="none" normalizeH="0" baseline="0" smtClean="0">
                <a:ln>
                  <a:noFill/>
                </a:ln>
                <a:solidFill>
                  <a:srgbClr val="000000"/>
                </a:solidFill>
                <a:effectLst/>
                <a:latin typeface="Consolas" panose="020B0609020204030204" pitchFamily="49" charset="0"/>
              </a:rPr>
              <a:t>thisset.pop()</a:t>
            </a:r>
            <a:br>
              <a:rPr kumimoji="0" lang="en-US" sz="1400" b="0" i="0" u="none" strike="noStrike" cap="none" normalizeH="0" baseline="0" smtClean="0">
                <a:ln>
                  <a:noFill/>
                </a:ln>
                <a:solidFill>
                  <a:srgbClr val="000000"/>
                </a:solidFill>
                <a:effectLst/>
                <a:latin typeface="Consolas" panose="020B0609020204030204" pitchFamily="49" charset="0"/>
              </a:rPr>
            </a:br>
            <a:r>
              <a:rPr kumimoji="0" lang="en-US" sz="1400" b="0" i="0" u="none" strike="noStrike" cap="none" normalizeH="0" baseline="0" smtClean="0">
                <a:ln>
                  <a:noFill/>
                </a:ln>
                <a:solidFill>
                  <a:srgbClr val="000000"/>
                </a:solidFill>
                <a:effectLst/>
                <a:latin typeface="Consolas" panose="020B0609020204030204" pitchFamily="49" charset="0"/>
              </a:rPr>
              <a:t/>
            </a:r>
            <a:br>
              <a:rPr kumimoji="0" lang="en-US" sz="1400" b="0" i="0" u="none" strike="noStrike" cap="none" normalizeH="0" baseline="0" smtClean="0">
                <a:ln>
                  <a:noFill/>
                </a:ln>
                <a:solidFill>
                  <a:srgbClr val="000000"/>
                </a:solidFill>
                <a:effectLst/>
                <a:latin typeface="Consolas" panose="020B0609020204030204" pitchFamily="49" charset="0"/>
              </a:rPr>
            </a:br>
            <a:r>
              <a:rPr kumimoji="0" lang="en-US" sz="1400" b="0" i="0" u="none" strike="noStrike" cap="none" normalizeH="0" baseline="0" smtClean="0">
                <a:ln>
                  <a:noFill/>
                </a:ln>
                <a:solidFill>
                  <a:srgbClr val="0000CD"/>
                </a:solidFill>
                <a:effectLst/>
                <a:latin typeface="Consolas" panose="020B0609020204030204" pitchFamily="49" charset="0"/>
              </a:rPr>
              <a:t>print</a:t>
            </a:r>
            <a:r>
              <a:rPr kumimoji="0" lang="en-US" sz="1400" b="0" i="0" u="none" strike="noStrike" cap="none" normalizeH="0" baseline="0" smtClean="0">
                <a:ln>
                  <a:noFill/>
                </a:ln>
                <a:solidFill>
                  <a:srgbClr val="000000"/>
                </a:solidFill>
                <a:effectLst/>
                <a:latin typeface="Consolas" panose="020B0609020204030204" pitchFamily="49" charset="0"/>
              </a:rPr>
              <a:t>(x)</a:t>
            </a:r>
            <a:br>
              <a:rPr kumimoji="0" lang="en-US" sz="1400" b="0" i="0" u="none" strike="noStrike" cap="none" normalizeH="0" baseline="0" smtClean="0">
                <a:ln>
                  <a:noFill/>
                </a:ln>
                <a:solidFill>
                  <a:srgbClr val="000000"/>
                </a:solidFill>
                <a:effectLst/>
                <a:latin typeface="Consolas" panose="020B0609020204030204" pitchFamily="49" charset="0"/>
              </a:rPr>
            </a:br>
            <a:r>
              <a:rPr kumimoji="0" lang="en-US" sz="1400" b="0" i="0" u="none" strike="noStrike" cap="none" normalizeH="0" baseline="0" smtClean="0">
                <a:ln>
                  <a:noFill/>
                </a:ln>
                <a:solidFill>
                  <a:srgbClr val="000000"/>
                </a:solidFill>
                <a:effectLst/>
                <a:latin typeface="Consolas" panose="020B0609020204030204" pitchFamily="49" charset="0"/>
              </a:rPr>
              <a:t/>
            </a:r>
            <a:br>
              <a:rPr kumimoji="0" lang="en-US" sz="1400" b="0" i="0" u="none" strike="noStrike" cap="none" normalizeH="0" baseline="0" smtClean="0">
                <a:ln>
                  <a:noFill/>
                </a:ln>
                <a:solidFill>
                  <a:srgbClr val="000000"/>
                </a:solidFill>
                <a:effectLst/>
                <a:latin typeface="Consolas" panose="020B0609020204030204" pitchFamily="49" charset="0"/>
              </a:rPr>
            </a:br>
            <a:r>
              <a:rPr kumimoji="0" lang="en-US" sz="1400" b="0" i="0" u="none" strike="noStrike" cap="none" normalizeH="0" baseline="0" smtClean="0">
                <a:ln>
                  <a:noFill/>
                </a:ln>
                <a:solidFill>
                  <a:srgbClr val="0000CD"/>
                </a:solidFill>
                <a:effectLst/>
                <a:latin typeface="Consolas" panose="020B0609020204030204" pitchFamily="49" charset="0"/>
              </a:rPr>
              <a:t>print</a:t>
            </a:r>
            <a:r>
              <a:rPr kumimoji="0" lang="en-US" sz="1400" b="0" i="0" u="none" strike="noStrike" cap="none" normalizeH="0" baseline="0" smtClean="0">
                <a:ln>
                  <a:noFill/>
                </a:ln>
                <a:solidFill>
                  <a:srgbClr val="000000"/>
                </a:solidFill>
                <a:effectLst/>
                <a:latin typeface="Consolas" panose="020B0609020204030204" pitchFamily="49" charset="0"/>
              </a:rPr>
              <a:t>(thisset)</a:t>
            </a:r>
            <a:endParaRPr kumimoji="0" lang="en-US" sz="1400" b="0" i="0" u="none" strike="noStrike" cap="none" normalizeH="0" baseline="0" smtClean="0">
              <a:ln>
                <a:noFill/>
              </a:ln>
              <a:solidFill>
                <a:schemeClr val="tx1"/>
              </a:solidFill>
              <a:effectLst/>
            </a:endParaRPr>
          </a:p>
        </p:txBody>
      </p:sp>
    </p:spTree>
    <p:extLst>
      <p:ext uri="{BB962C8B-B14F-4D97-AF65-F5344CB8AC3E}">
        <p14:creationId xmlns:p14="http://schemas.microsoft.com/office/powerpoint/2010/main" val="37707869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70640" y="56865"/>
            <a:ext cx="456086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Verdana" panose="020B0604030504040204" pitchFamily="34" charset="0"/>
              </a:rPr>
              <a:t>The </a:t>
            </a:r>
            <a:r>
              <a:rPr kumimoji="0" lang="en-US" sz="1600" b="0" i="0" u="none" strike="noStrike" cap="none" normalizeH="0" baseline="0" smtClean="0">
                <a:ln>
                  <a:noFill/>
                </a:ln>
                <a:solidFill>
                  <a:srgbClr val="DC143C"/>
                </a:solidFill>
                <a:effectLst/>
                <a:latin typeface="Consolas" panose="020B0609020204030204" pitchFamily="49" charset="0"/>
              </a:rPr>
              <a:t>clear()</a:t>
            </a:r>
            <a:r>
              <a:rPr kumimoji="0" lang="en-US" sz="1600" b="0" i="0" u="none" strike="noStrike" cap="none" normalizeH="0" baseline="0" smtClean="0">
                <a:ln>
                  <a:noFill/>
                </a:ln>
                <a:solidFill>
                  <a:srgbClr val="000000"/>
                </a:solidFill>
                <a:effectLst/>
                <a:latin typeface="Verdana" panose="020B0604030504040204" pitchFamily="34" charset="0"/>
              </a:rPr>
              <a:t> method empties the set:</a:t>
            </a:r>
            <a:endParaRPr kumimoji="0" lang="en-US" sz="16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Consolas" panose="020B0609020204030204" pitchFamily="49" charset="0"/>
              </a:rPr>
              <a:t>thisset = {</a:t>
            </a:r>
            <a:r>
              <a:rPr kumimoji="0" lang="en-US" sz="1600" b="0" i="0" u="none" strike="noStrike" cap="none" normalizeH="0" baseline="0" smtClean="0">
                <a:ln>
                  <a:noFill/>
                </a:ln>
                <a:solidFill>
                  <a:srgbClr val="A52A2A"/>
                </a:solidFill>
                <a:effectLst/>
                <a:latin typeface="Consolas" panose="020B0609020204030204" pitchFamily="49" charset="0"/>
              </a:rPr>
              <a:t>"apple"</a:t>
            </a:r>
            <a:r>
              <a:rPr kumimoji="0" lang="en-US" sz="1600" b="0" i="0" u="none" strike="noStrike" cap="none" normalizeH="0" baseline="0" smtClean="0">
                <a:ln>
                  <a:noFill/>
                </a:ln>
                <a:solidFill>
                  <a:srgbClr val="000000"/>
                </a:solidFill>
                <a:effectLst/>
                <a:latin typeface="Consolas" panose="020B0609020204030204" pitchFamily="49" charset="0"/>
              </a:rPr>
              <a:t>, </a:t>
            </a:r>
            <a:r>
              <a:rPr kumimoji="0" lang="en-US" sz="1600" b="0" i="0" u="none" strike="noStrike" cap="none" normalizeH="0" baseline="0" smtClean="0">
                <a:ln>
                  <a:noFill/>
                </a:ln>
                <a:solidFill>
                  <a:srgbClr val="A52A2A"/>
                </a:solidFill>
                <a:effectLst/>
                <a:latin typeface="Consolas" panose="020B0609020204030204" pitchFamily="49" charset="0"/>
              </a:rPr>
              <a:t>"banana"</a:t>
            </a:r>
            <a:r>
              <a:rPr kumimoji="0" lang="en-US" sz="1600" b="0" i="0" u="none" strike="noStrike" cap="none" normalizeH="0" baseline="0" smtClean="0">
                <a:ln>
                  <a:noFill/>
                </a:ln>
                <a:solidFill>
                  <a:srgbClr val="000000"/>
                </a:solidFill>
                <a:effectLst/>
                <a:latin typeface="Consolas" panose="020B0609020204030204" pitchFamily="49" charset="0"/>
              </a:rPr>
              <a:t>, </a:t>
            </a:r>
            <a:r>
              <a:rPr kumimoji="0" lang="en-US" sz="1600" b="0" i="0" u="none" strike="noStrike" cap="none" normalizeH="0" baseline="0" smtClean="0">
                <a:ln>
                  <a:noFill/>
                </a:ln>
                <a:solidFill>
                  <a:srgbClr val="A52A2A"/>
                </a:solidFill>
                <a:effectLst/>
                <a:latin typeface="Consolas" panose="020B0609020204030204" pitchFamily="49" charset="0"/>
              </a:rPr>
              <a:t>"cherry"</a:t>
            </a:r>
            <a:r>
              <a:rPr kumimoji="0" lang="en-US" sz="1600" b="0" i="0" u="none" strike="noStrike" cap="none" normalizeH="0" baseline="0" smtClean="0">
                <a:ln>
                  <a:noFill/>
                </a:ln>
                <a:solidFill>
                  <a:srgbClr val="000000"/>
                </a:solidFill>
                <a:effectLst/>
                <a:latin typeface="Consolas" panose="020B0609020204030204" pitchFamily="49" charset="0"/>
              </a:rPr>
              <a:t>}</a:t>
            </a:r>
            <a:br>
              <a:rPr kumimoji="0" lang="en-US" sz="1600" b="0" i="0" u="none" strike="noStrike" cap="none" normalizeH="0" baseline="0" smtClean="0">
                <a:ln>
                  <a:noFill/>
                </a:ln>
                <a:solidFill>
                  <a:srgbClr val="000000"/>
                </a:solidFill>
                <a:effectLst/>
                <a:latin typeface="Consolas" panose="020B0609020204030204" pitchFamily="49" charset="0"/>
              </a:rPr>
            </a:br>
            <a:r>
              <a:rPr kumimoji="0" lang="en-US" sz="1600" b="0" i="0" u="none" strike="noStrike" cap="none" normalizeH="0" baseline="0" smtClean="0">
                <a:ln>
                  <a:noFill/>
                </a:ln>
                <a:solidFill>
                  <a:srgbClr val="000000"/>
                </a:solidFill>
                <a:effectLst/>
                <a:latin typeface="Consolas" panose="020B0609020204030204" pitchFamily="49" charset="0"/>
              </a:rPr>
              <a:t/>
            </a:r>
            <a:br>
              <a:rPr kumimoji="0" lang="en-US" sz="1600" b="0" i="0" u="none" strike="noStrike" cap="none" normalizeH="0" baseline="0" smtClean="0">
                <a:ln>
                  <a:noFill/>
                </a:ln>
                <a:solidFill>
                  <a:srgbClr val="000000"/>
                </a:solidFill>
                <a:effectLst/>
                <a:latin typeface="Consolas" panose="020B0609020204030204" pitchFamily="49" charset="0"/>
              </a:rPr>
            </a:br>
            <a:r>
              <a:rPr kumimoji="0" lang="en-US" sz="1600" b="0" i="0" u="none" strike="noStrike" cap="none" normalizeH="0" baseline="0" smtClean="0">
                <a:ln>
                  <a:noFill/>
                </a:ln>
                <a:solidFill>
                  <a:srgbClr val="000000"/>
                </a:solidFill>
                <a:effectLst/>
                <a:latin typeface="Consolas" panose="020B0609020204030204" pitchFamily="49" charset="0"/>
              </a:rPr>
              <a:t>thisset.clear()</a:t>
            </a:r>
            <a:br>
              <a:rPr kumimoji="0" lang="en-US" sz="1600" b="0" i="0" u="none" strike="noStrike" cap="none" normalizeH="0" baseline="0" smtClean="0">
                <a:ln>
                  <a:noFill/>
                </a:ln>
                <a:solidFill>
                  <a:srgbClr val="000000"/>
                </a:solidFill>
                <a:effectLst/>
                <a:latin typeface="Consolas" panose="020B0609020204030204" pitchFamily="49" charset="0"/>
              </a:rPr>
            </a:br>
            <a:r>
              <a:rPr kumimoji="0" lang="en-US" sz="1600" b="0" i="0" u="none" strike="noStrike" cap="none" normalizeH="0" baseline="0" smtClean="0">
                <a:ln>
                  <a:noFill/>
                </a:ln>
                <a:solidFill>
                  <a:srgbClr val="000000"/>
                </a:solidFill>
                <a:effectLst/>
                <a:latin typeface="Consolas" panose="020B0609020204030204" pitchFamily="49" charset="0"/>
              </a:rPr>
              <a:t/>
            </a:r>
            <a:br>
              <a:rPr kumimoji="0" lang="en-US" sz="1600" b="0" i="0" u="none" strike="noStrike" cap="none" normalizeH="0" baseline="0" smtClean="0">
                <a:ln>
                  <a:noFill/>
                </a:ln>
                <a:solidFill>
                  <a:srgbClr val="000000"/>
                </a:solidFill>
                <a:effectLst/>
                <a:latin typeface="Consolas" panose="020B0609020204030204" pitchFamily="49" charset="0"/>
              </a:rPr>
            </a:br>
            <a:r>
              <a:rPr kumimoji="0" lang="en-US" sz="1600" b="0" i="0" u="none" strike="noStrike" cap="none" normalizeH="0" baseline="0" smtClean="0">
                <a:ln>
                  <a:noFill/>
                </a:ln>
                <a:solidFill>
                  <a:srgbClr val="0000CD"/>
                </a:solidFill>
                <a:effectLst/>
                <a:latin typeface="Consolas" panose="020B0609020204030204" pitchFamily="49" charset="0"/>
              </a:rPr>
              <a:t>print</a:t>
            </a:r>
            <a:r>
              <a:rPr kumimoji="0" lang="en-US" sz="1600" b="0" i="0" u="none" strike="noStrike" cap="none" normalizeH="0" baseline="0" smtClean="0">
                <a:ln>
                  <a:noFill/>
                </a:ln>
                <a:solidFill>
                  <a:srgbClr val="000000"/>
                </a:solidFill>
                <a:effectLst/>
                <a:latin typeface="Consolas" panose="020B0609020204030204" pitchFamily="49" charset="0"/>
              </a:rPr>
              <a:t>(thisset)</a:t>
            </a:r>
            <a:endParaRPr kumimoji="0" lang="en-US" sz="1600" b="0" i="0" u="none" strike="noStrike" cap="none" normalizeH="0" baseline="0" smtClean="0">
              <a:ln>
                <a:noFill/>
              </a:ln>
              <a:solidFill>
                <a:schemeClr val="tx1"/>
              </a:solidFill>
              <a:effectLst/>
            </a:endParaRPr>
          </a:p>
        </p:txBody>
      </p:sp>
      <p:sp>
        <p:nvSpPr>
          <p:cNvPr id="5" name="Rectangle 2"/>
          <p:cNvSpPr>
            <a:spLocks noChangeArrowheads="1"/>
          </p:cNvSpPr>
          <p:nvPr/>
        </p:nvSpPr>
        <p:spPr bwMode="auto">
          <a:xfrm>
            <a:off x="462665" y="1900305"/>
            <a:ext cx="509748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Verdana" panose="020B0604030504040204" pitchFamily="34" charset="0"/>
              </a:rPr>
              <a:t>The </a:t>
            </a:r>
            <a:r>
              <a:rPr kumimoji="0" lang="en-US" sz="1600" b="0" i="0" u="none" strike="noStrike" cap="none" normalizeH="0" baseline="0" smtClean="0">
                <a:ln>
                  <a:noFill/>
                </a:ln>
                <a:solidFill>
                  <a:srgbClr val="DC143C"/>
                </a:solidFill>
                <a:effectLst/>
                <a:latin typeface="Consolas" panose="020B0609020204030204" pitchFamily="49" charset="0"/>
              </a:rPr>
              <a:t>del</a:t>
            </a:r>
            <a:r>
              <a:rPr kumimoji="0" lang="en-US" sz="1600" b="0" i="0" u="none" strike="noStrike" cap="none" normalizeH="0" baseline="0" smtClean="0">
                <a:ln>
                  <a:noFill/>
                </a:ln>
                <a:solidFill>
                  <a:srgbClr val="000000"/>
                </a:solidFill>
                <a:effectLst/>
                <a:latin typeface="Verdana" panose="020B0604030504040204" pitchFamily="34" charset="0"/>
              </a:rPr>
              <a:t> keyword will delete the set completely:</a:t>
            </a:r>
            <a:endParaRPr kumimoji="0" lang="en-US" sz="16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Consolas" panose="020B0609020204030204" pitchFamily="49" charset="0"/>
              </a:rPr>
              <a:t>thisset = {</a:t>
            </a:r>
            <a:r>
              <a:rPr kumimoji="0" lang="en-US" sz="1600" b="0" i="0" u="none" strike="noStrike" cap="none" normalizeH="0" baseline="0" smtClean="0">
                <a:ln>
                  <a:noFill/>
                </a:ln>
                <a:solidFill>
                  <a:srgbClr val="A52A2A"/>
                </a:solidFill>
                <a:effectLst/>
                <a:latin typeface="Consolas" panose="020B0609020204030204" pitchFamily="49" charset="0"/>
              </a:rPr>
              <a:t>"apple"</a:t>
            </a:r>
            <a:r>
              <a:rPr kumimoji="0" lang="en-US" sz="1600" b="0" i="0" u="none" strike="noStrike" cap="none" normalizeH="0" baseline="0" smtClean="0">
                <a:ln>
                  <a:noFill/>
                </a:ln>
                <a:solidFill>
                  <a:srgbClr val="000000"/>
                </a:solidFill>
                <a:effectLst/>
                <a:latin typeface="Consolas" panose="020B0609020204030204" pitchFamily="49" charset="0"/>
              </a:rPr>
              <a:t>, </a:t>
            </a:r>
            <a:r>
              <a:rPr kumimoji="0" lang="en-US" sz="1600" b="0" i="0" u="none" strike="noStrike" cap="none" normalizeH="0" baseline="0" smtClean="0">
                <a:ln>
                  <a:noFill/>
                </a:ln>
                <a:solidFill>
                  <a:srgbClr val="A52A2A"/>
                </a:solidFill>
                <a:effectLst/>
                <a:latin typeface="Consolas" panose="020B0609020204030204" pitchFamily="49" charset="0"/>
              </a:rPr>
              <a:t>"banana"</a:t>
            </a:r>
            <a:r>
              <a:rPr kumimoji="0" lang="en-US" sz="1600" b="0" i="0" u="none" strike="noStrike" cap="none" normalizeH="0" baseline="0" smtClean="0">
                <a:ln>
                  <a:noFill/>
                </a:ln>
                <a:solidFill>
                  <a:srgbClr val="000000"/>
                </a:solidFill>
                <a:effectLst/>
                <a:latin typeface="Consolas" panose="020B0609020204030204" pitchFamily="49" charset="0"/>
              </a:rPr>
              <a:t>, </a:t>
            </a:r>
            <a:r>
              <a:rPr kumimoji="0" lang="en-US" sz="1600" b="0" i="0" u="none" strike="noStrike" cap="none" normalizeH="0" baseline="0" smtClean="0">
                <a:ln>
                  <a:noFill/>
                </a:ln>
                <a:solidFill>
                  <a:srgbClr val="A52A2A"/>
                </a:solidFill>
                <a:effectLst/>
                <a:latin typeface="Consolas" panose="020B0609020204030204" pitchFamily="49" charset="0"/>
              </a:rPr>
              <a:t>"cherry"</a:t>
            </a:r>
            <a:r>
              <a:rPr kumimoji="0" lang="en-US" sz="1600" b="0" i="0" u="none" strike="noStrike" cap="none" normalizeH="0" baseline="0" smtClean="0">
                <a:ln>
                  <a:noFill/>
                </a:ln>
                <a:solidFill>
                  <a:srgbClr val="000000"/>
                </a:solidFill>
                <a:effectLst/>
                <a:latin typeface="Consolas" panose="020B0609020204030204" pitchFamily="49" charset="0"/>
              </a:rPr>
              <a:t>}</a:t>
            </a:r>
            <a:br>
              <a:rPr kumimoji="0" lang="en-US" sz="1600" b="0" i="0" u="none" strike="noStrike" cap="none" normalizeH="0" baseline="0" smtClean="0">
                <a:ln>
                  <a:noFill/>
                </a:ln>
                <a:solidFill>
                  <a:srgbClr val="000000"/>
                </a:solidFill>
                <a:effectLst/>
                <a:latin typeface="Consolas" panose="020B0609020204030204" pitchFamily="49" charset="0"/>
              </a:rPr>
            </a:br>
            <a:r>
              <a:rPr kumimoji="0" lang="en-US" sz="1600" b="0" i="0" u="none" strike="noStrike" cap="none" normalizeH="0" baseline="0" smtClean="0">
                <a:ln>
                  <a:noFill/>
                </a:ln>
                <a:solidFill>
                  <a:srgbClr val="000000"/>
                </a:solidFill>
                <a:effectLst/>
                <a:latin typeface="Consolas" panose="020B0609020204030204" pitchFamily="49" charset="0"/>
              </a:rPr>
              <a:t/>
            </a:r>
            <a:br>
              <a:rPr kumimoji="0" lang="en-US" sz="1600" b="0" i="0" u="none" strike="noStrike" cap="none" normalizeH="0" baseline="0" smtClean="0">
                <a:ln>
                  <a:noFill/>
                </a:ln>
                <a:solidFill>
                  <a:srgbClr val="000000"/>
                </a:solidFill>
                <a:effectLst/>
                <a:latin typeface="Consolas" panose="020B0609020204030204" pitchFamily="49" charset="0"/>
              </a:rPr>
            </a:br>
            <a:r>
              <a:rPr kumimoji="0" lang="en-US" sz="1600" b="0" i="0" u="none" strike="noStrike" cap="none" normalizeH="0" baseline="0" smtClean="0">
                <a:ln>
                  <a:noFill/>
                </a:ln>
                <a:solidFill>
                  <a:srgbClr val="0000CD"/>
                </a:solidFill>
                <a:effectLst/>
                <a:latin typeface="Consolas" panose="020B0609020204030204" pitchFamily="49" charset="0"/>
              </a:rPr>
              <a:t>del</a:t>
            </a:r>
            <a:r>
              <a:rPr kumimoji="0" lang="en-US" sz="1600" b="0" i="0" u="none" strike="noStrike" cap="none" normalizeH="0" baseline="0" smtClean="0">
                <a:ln>
                  <a:noFill/>
                </a:ln>
                <a:solidFill>
                  <a:srgbClr val="FF0000"/>
                </a:solidFill>
                <a:effectLst/>
                <a:latin typeface="Consolas" panose="020B0609020204030204" pitchFamily="49" charset="0"/>
              </a:rPr>
              <a:t> </a:t>
            </a:r>
            <a:r>
              <a:rPr kumimoji="0" lang="en-US" sz="1600" b="0" i="0" u="none" strike="noStrike" cap="none" normalizeH="0" baseline="0" smtClean="0">
                <a:ln>
                  <a:noFill/>
                </a:ln>
                <a:solidFill>
                  <a:srgbClr val="000000"/>
                </a:solidFill>
                <a:effectLst/>
                <a:latin typeface="Consolas" panose="020B0609020204030204" pitchFamily="49" charset="0"/>
              </a:rPr>
              <a:t>thisset</a:t>
            </a:r>
            <a:br>
              <a:rPr kumimoji="0" lang="en-US" sz="1600" b="0" i="0" u="none" strike="noStrike" cap="none" normalizeH="0" baseline="0" smtClean="0">
                <a:ln>
                  <a:noFill/>
                </a:ln>
                <a:solidFill>
                  <a:srgbClr val="000000"/>
                </a:solidFill>
                <a:effectLst/>
                <a:latin typeface="Consolas" panose="020B0609020204030204" pitchFamily="49" charset="0"/>
              </a:rPr>
            </a:br>
            <a:r>
              <a:rPr kumimoji="0" lang="en-US" sz="1600" b="0" i="0" u="none" strike="noStrike" cap="none" normalizeH="0" baseline="0" smtClean="0">
                <a:ln>
                  <a:noFill/>
                </a:ln>
                <a:solidFill>
                  <a:srgbClr val="000000"/>
                </a:solidFill>
                <a:effectLst/>
                <a:latin typeface="Consolas" panose="020B0609020204030204" pitchFamily="49" charset="0"/>
              </a:rPr>
              <a:t/>
            </a:r>
            <a:br>
              <a:rPr kumimoji="0" lang="en-US" sz="1600" b="0" i="0" u="none" strike="noStrike" cap="none" normalizeH="0" baseline="0" smtClean="0">
                <a:ln>
                  <a:noFill/>
                </a:ln>
                <a:solidFill>
                  <a:srgbClr val="000000"/>
                </a:solidFill>
                <a:effectLst/>
                <a:latin typeface="Consolas" panose="020B0609020204030204" pitchFamily="49" charset="0"/>
              </a:rPr>
            </a:br>
            <a:r>
              <a:rPr kumimoji="0" lang="en-US" sz="1600" b="0" i="0" u="none" strike="noStrike" cap="none" normalizeH="0" baseline="0" smtClean="0">
                <a:ln>
                  <a:noFill/>
                </a:ln>
                <a:solidFill>
                  <a:srgbClr val="0000CD"/>
                </a:solidFill>
                <a:effectLst/>
                <a:latin typeface="Consolas" panose="020B0609020204030204" pitchFamily="49" charset="0"/>
              </a:rPr>
              <a:t>print</a:t>
            </a:r>
            <a:r>
              <a:rPr kumimoji="0" lang="en-US" sz="1600" b="0" i="0" u="none" strike="noStrike" cap="none" normalizeH="0" baseline="0" smtClean="0">
                <a:ln>
                  <a:noFill/>
                </a:ln>
                <a:solidFill>
                  <a:srgbClr val="000000"/>
                </a:solidFill>
                <a:effectLst/>
                <a:latin typeface="Consolas" panose="020B0609020204030204" pitchFamily="49" charset="0"/>
              </a:rPr>
              <a:t>(thisset)</a:t>
            </a:r>
            <a:endParaRPr kumimoji="0" lang="en-US" sz="1600" b="0" i="0" u="none" strike="noStrike" cap="none" normalizeH="0" baseline="0" smtClean="0">
              <a:ln>
                <a:noFill/>
              </a:ln>
              <a:solidFill>
                <a:schemeClr val="tx1"/>
              </a:solidFill>
              <a:effectLst/>
            </a:endParaRPr>
          </a:p>
        </p:txBody>
      </p:sp>
    </p:spTree>
    <p:extLst>
      <p:ext uri="{BB962C8B-B14F-4D97-AF65-F5344CB8AC3E}">
        <p14:creationId xmlns:p14="http://schemas.microsoft.com/office/powerpoint/2010/main" val="32340162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17020" y="152235"/>
            <a:ext cx="8641125" cy="3673098"/>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7610" rIns="0" bIns="2380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Join Two Sets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000000"/>
                </a:solidFill>
                <a:effectLst/>
                <a:latin typeface="Verdana" panose="020B0604030504040204" pitchFamily="34" charset="0"/>
              </a:rPr>
              <a:t>There are several ways to join two or more sets in Python.</a:t>
            </a:r>
            <a:endParaRPr kumimoji="0" 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000000"/>
                </a:solidFill>
                <a:effectLst/>
                <a:latin typeface="Verdana" panose="020B0604030504040204" pitchFamily="34" charset="0"/>
              </a:rPr>
              <a:t>You can use the </a:t>
            </a:r>
            <a:r>
              <a:rPr kumimoji="0" lang="en-US" b="0" i="0" u="none" strike="noStrike" cap="none" normalizeH="0" baseline="0" dirty="0" smtClean="0">
                <a:ln>
                  <a:noFill/>
                </a:ln>
                <a:solidFill>
                  <a:srgbClr val="DC143C"/>
                </a:solidFill>
                <a:effectLst/>
                <a:latin typeface="Consolas" panose="020B0609020204030204" pitchFamily="49" charset="0"/>
              </a:rPr>
              <a:t>union()</a:t>
            </a:r>
            <a:r>
              <a:rPr kumimoji="0" lang="en-US" b="0" i="0" u="none" strike="noStrike" cap="none" normalizeH="0" baseline="0" dirty="0" smtClean="0">
                <a:ln>
                  <a:noFill/>
                </a:ln>
                <a:solidFill>
                  <a:srgbClr val="000000"/>
                </a:solidFill>
                <a:effectLst/>
                <a:latin typeface="Verdana" panose="020B0604030504040204" pitchFamily="34" charset="0"/>
              </a:rPr>
              <a:t> method that returns a new set containing all items from both sets, or the </a:t>
            </a:r>
            <a:r>
              <a:rPr kumimoji="0" lang="en-US" b="0" i="0" u="none" strike="noStrike" cap="none" normalizeH="0" baseline="0" dirty="0" smtClean="0">
                <a:ln>
                  <a:noFill/>
                </a:ln>
                <a:solidFill>
                  <a:srgbClr val="DC143C"/>
                </a:solidFill>
                <a:effectLst/>
                <a:latin typeface="Consolas" panose="020B0609020204030204" pitchFamily="49" charset="0"/>
              </a:rPr>
              <a:t>update()</a:t>
            </a:r>
            <a:r>
              <a:rPr kumimoji="0" lang="en-US" b="0" i="0" u="none" strike="noStrike" cap="none" normalizeH="0" baseline="0" dirty="0" smtClean="0">
                <a:ln>
                  <a:noFill/>
                </a:ln>
                <a:solidFill>
                  <a:srgbClr val="000000"/>
                </a:solidFill>
                <a:effectLst/>
                <a:latin typeface="Verdana" panose="020B0604030504040204" pitchFamily="34" charset="0"/>
              </a:rPr>
              <a:t> method that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000000"/>
                </a:solidFill>
                <a:effectLst/>
                <a:latin typeface="Verdana" panose="020B0604030504040204" pitchFamily="34" charset="0"/>
              </a:rPr>
              <a:t>inserts all the items from one set into another:</a:t>
            </a:r>
            <a:endParaRPr kumimoji="0" 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Example</a:t>
            </a:r>
            <a:endParaRPr lang="en-US" dirty="0">
              <a:solidFill>
                <a:srgbClr val="FFFFFF"/>
              </a:solidFill>
              <a:latin typeface="Source Sans Pro"/>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000000"/>
                </a:solidFill>
                <a:effectLst/>
                <a:latin typeface="Verdana" panose="020B0604030504040204" pitchFamily="34" charset="0"/>
              </a:rPr>
              <a:t>The </a:t>
            </a:r>
            <a:r>
              <a:rPr kumimoji="0" lang="en-US" b="0" i="0" u="none" strike="noStrike" cap="none" normalizeH="0" baseline="0" dirty="0" smtClean="0">
                <a:ln>
                  <a:noFill/>
                </a:ln>
                <a:solidFill>
                  <a:srgbClr val="DC143C"/>
                </a:solidFill>
                <a:effectLst/>
                <a:latin typeface="Consolas" panose="020B0609020204030204" pitchFamily="49" charset="0"/>
              </a:rPr>
              <a:t>union()</a:t>
            </a:r>
            <a:r>
              <a:rPr kumimoji="0" lang="en-US" b="0" i="0" u="none" strike="noStrike" cap="none" normalizeH="0" baseline="0" dirty="0" smtClean="0">
                <a:ln>
                  <a:noFill/>
                </a:ln>
                <a:solidFill>
                  <a:srgbClr val="000000"/>
                </a:solidFill>
                <a:effectLst/>
                <a:latin typeface="Verdana" panose="020B0604030504040204" pitchFamily="34" charset="0"/>
              </a:rPr>
              <a:t> method returns a new set with all items from both sets: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000000"/>
                </a:solidFill>
                <a:effectLst/>
                <a:latin typeface="Consolas" panose="020B0609020204030204" pitchFamily="49" charset="0"/>
              </a:rPr>
              <a:t>set1 = {</a:t>
            </a:r>
            <a:r>
              <a:rPr kumimoji="0" lang="en-US" b="0" i="0" u="none" strike="noStrike" cap="none" normalizeH="0" baseline="0" dirty="0" smtClean="0">
                <a:ln>
                  <a:noFill/>
                </a:ln>
                <a:solidFill>
                  <a:srgbClr val="A52A2A"/>
                </a:solidFill>
                <a:effectLst/>
                <a:latin typeface="Consolas" panose="020B0609020204030204" pitchFamily="49" charset="0"/>
              </a:rPr>
              <a:t>"a"</a:t>
            </a:r>
            <a:r>
              <a:rPr kumimoji="0" lang="en-US" b="0" i="0" u="none" strike="noStrike" cap="none" normalizeH="0" baseline="0" dirty="0" smtClean="0">
                <a:ln>
                  <a:noFill/>
                </a:ln>
                <a:solidFill>
                  <a:srgbClr val="000000"/>
                </a:solidFill>
                <a:effectLst/>
                <a:latin typeface="Consolas" panose="020B0609020204030204" pitchFamily="49" charset="0"/>
              </a:rPr>
              <a:t>, </a:t>
            </a:r>
            <a:r>
              <a:rPr kumimoji="0" lang="en-US" b="0" i="0" u="none" strike="noStrike" cap="none" normalizeH="0" baseline="0" dirty="0" smtClean="0">
                <a:ln>
                  <a:noFill/>
                </a:ln>
                <a:solidFill>
                  <a:srgbClr val="A52A2A"/>
                </a:solidFill>
                <a:effectLst/>
                <a:latin typeface="Consolas" panose="020B0609020204030204" pitchFamily="49" charset="0"/>
              </a:rPr>
              <a:t>"b"</a:t>
            </a:r>
            <a:r>
              <a:rPr kumimoji="0" lang="en-US" b="0" i="0" u="none" strike="noStrike" cap="none" normalizeH="0" baseline="0" dirty="0" smtClean="0">
                <a:ln>
                  <a:noFill/>
                </a:ln>
                <a:solidFill>
                  <a:srgbClr val="000000"/>
                </a:solidFill>
                <a:effectLst/>
                <a:latin typeface="Consolas" panose="020B0609020204030204" pitchFamily="49" charset="0"/>
              </a:rPr>
              <a:t> , </a:t>
            </a:r>
            <a:r>
              <a:rPr kumimoji="0" lang="en-US" b="0" i="0" u="none" strike="noStrike" cap="none" normalizeH="0" baseline="0" dirty="0" smtClean="0">
                <a:ln>
                  <a:noFill/>
                </a:ln>
                <a:solidFill>
                  <a:srgbClr val="A52A2A"/>
                </a:solidFill>
                <a:effectLst/>
                <a:latin typeface="Consolas" panose="020B0609020204030204" pitchFamily="49" charset="0"/>
              </a:rPr>
              <a:t>"c"</a:t>
            </a:r>
            <a:r>
              <a:rPr kumimoji="0" lang="en-US" b="0" i="0" u="none" strike="noStrike" cap="none" normalizeH="0" baseline="0" dirty="0" smtClean="0">
                <a:ln>
                  <a:noFill/>
                </a:ln>
                <a:solidFill>
                  <a:srgbClr val="000000"/>
                </a:solidFill>
                <a:effectLst/>
                <a:latin typeface="Consolas" panose="020B0609020204030204" pitchFamily="49" charset="0"/>
              </a:rPr>
              <a:t>}</a:t>
            </a:r>
            <a:br>
              <a:rPr kumimoji="0" lang="en-US" b="0" i="0" u="none" strike="noStrike" cap="none" normalizeH="0" baseline="0" dirty="0" smtClean="0">
                <a:ln>
                  <a:noFill/>
                </a:ln>
                <a:solidFill>
                  <a:srgbClr val="000000"/>
                </a:solidFill>
                <a:effectLst/>
                <a:latin typeface="Consolas" panose="020B0609020204030204" pitchFamily="49" charset="0"/>
              </a:rPr>
            </a:br>
            <a:r>
              <a:rPr kumimoji="0" lang="en-US" b="0" i="0" u="none" strike="noStrike" cap="none" normalizeH="0" baseline="0" dirty="0" smtClean="0">
                <a:ln>
                  <a:noFill/>
                </a:ln>
                <a:solidFill>
                  <a:srgbClr val="000000"/>
                </a:solidFill>
                <a:effectLst/>
                <a:latin typeface="Consolas" panose="020B0609020204030204" pitchFamily="49" charset="0"/>
              </a:rPr>
              <a:t>set2 = {</a:t>
            </a:r>
            <a:r>
              <a:rPr kumimoji="0" lang="en-US" b="0" i="0" u="none" strike="noStrike" cap="none" normalizeH="0" baseline="0" dirty="0" smtClean="0">
                <a:ln>
                  <a:noFill/>
                </a:ln>
                <a:solidFill>
                  <a:srgbClr val="FF0000"/>
                </a:solidFill>
                <a:effectLst/>
                <a:latin typeface="Consolas" panose="020B0609020204030204" pitchFamily="49" charset="0"/>
              </a:rPr>
              <a:t>1</a:t>
            </a:r>
            <a:r>
              <a:rPr kumimoji="0" lang="en-US" b="0" i="0" u="none" strike="noStrike" cap="none" normalizeH="0" baseline="0" dirty="0" smtClean="0">
                <a:ln>
                  <a:noFill/>
                </a:ln>
                <a:solidFill>
                  <a:srgbClr val="000000"/>
                </a:solidFill>
                <a:effectLst/>
                <a:latin typeface="Consolas" panose="020B0609020204030204" pitchFamily="49" charset="0"/>
              </a:rPr>
              <a:t>, </a:t>
            </a:r>
            <a:r>
              <a:rPr kumimoji="0" lang="en-US" b="0" i="0" u="none" strike="noStrike" cap="none" normalizeH="0" baseline="0" dirty="0" smtClean="0">
                <a:ln>
                  <a:noFill/>
                </a:ln>
                <a:solidFill>
                  <a:srgbClr val="FF0000"/>
                </a:solidFill>
                <a:effectLst/>
                <a:latin typeface="Consolas" panose="020B0609020204030204" pitchFamily="49" charset="0"/>
              </a:rPr>
              <a:t>2</a:t>
            </a:r>
            <a:r>
              <a:rPr kumimoji="0" lang="en-US" b="0" i="0" u="none" strike="noStrike" cap="none" normalizeH="0" baseline="0" dirty="0" smtClean="0">
                <a:ln>
                  <a:noFill/>
                </a:ln>
                <a:solidFill>
                  <a:srgbClr val="000000"/>
                </a:solidFill>
                <a:effectLst/>
                <a:latin typeface="Consolas" panose="020B0609020204030204" pitchFamily="49" charset="0"/>
              </a:rPr>
              <a:t>, </a:t>
            </a:r>
            <a:r>
              <a:rPr kumimoji="0" lang="en-US" b="0" i="0" u="none" strike="noStrike" cap="none" normalizeH="0" baseline="0" dirty="0" smtClean="0">
                <a:ln>
                  <a:noFill/>
                </a:ln>
                <a:solidFill>
                  <a:srgbClr val="FF0000"/>
                </a:solidFill>
                <a:effectLst/>
                <a:latin typeface="Consolas" panose="020B0609020204030204" pitchFamily="49" charset="0"/>
              </a:rPr>
              <a:t>3</a:t>
            </a:r>
            <a:r>
              <a:rPr kumimoji="0" lang="en-US" b="0" i="0" u="none" strike="noStrike" cap="none" normalizeH="0" baseline="0" dirty="0" smtClean="0">
                <a:ln>
                  <a:noFill/>
                </a:ln>
                <a:solidFill>
                  <a:srgbClr val="000000"/>
                </a:solidFill>
                <a:effectLst/>
                <a:latin typeface="Consolas" panose="020B0609020204030204" pitchFamily="49" charset="0"/>
              </a:rPr>
              <a:t>}</a:t>
            </a:r>
            <a:br>
              <a:rPr kumimoji="0" lang="en-US" b="0" i="0" u="none" strike="noStrike" cap="none" normalizeH="0" baseline="0" dirty="0" smtClean="0">
                <a:ln>
                  <a:noFill/>
                </a:ln>
                <a:solidFill>
                  <a:srgbClr val="000000"/>
                </a:solidFill>
                <a:effectLst/>
                <a:latin typeface="Consolas" panose="020B0609020204030204" pitchFamily="49" charset="0"/>
              </a:rPr>
            </a:br>
            <a:r>
              <a:rPr kumimoji="0" lang="en-US" b="0" i="0" u="none" strike="noStrike" cap="none" normalizeH="0" baseline="0" dirty="0" smtClean="0">
                <a:ln>
                  <a:noFill/>
                </a:ln>
                <a:solidFill>
                  <a:srgbClr val="000000"/>
                </a:solidFill>
                <a:effectLst/>
                <a:latin typeface="Consolas" panose="020B0609020204030204" pitchFamily="49" charset="0"/>
              </a:rPr>
              <a:t/>
            </a:r>
            <a:br>
              <a:rPr kumimoji="0" lang="en-US" b="0" i="0" u="none" strike="noStrike" cap="none" normalizeH="0" baseline="0" dirty="0" smtClean="0">
                <a:ln>
                  <a:noFill/>
                </a:ln>
                <a:solidFill>
                  <a:srgbClr val="000000"/>
                </a:solidFill>
                <a:effectLst/>
                <a:latin typeface="Consolas" panose="020B0609020204030204" pitchFamily="49" charset="0"/>
              </a:rPr>
            </a:br>
            <a:r>
              <a:rPr kumimoji="0" lang="en-US" b="0" i="0" u="none" strike="noStrike" cap="none" normalizeH="0" baseline="0" dirty="0" smtClean="0">
                <a:ln>
                  <a:noFill/>
                </a:ln>
                <a:solidFill>
                  <a:srgbClr val="000000"/>
                </a:solidFill>
                <a:effectLst/>
                <a:latin typeface="Consolas" panose="020B0609020204030204" pitchFamily="49" charset="0"/>
              </a:rPr>
              <a:t>set3 = set1.union(set2)</a:t>
            </a:r>
            <a:br>
              <a:rPr kumimoji="0" lang="en-US" b="0" i="0" u="none" strike="noStrike" cap="none" normalizeH="0" baseline="0" dirty="0" smtClean="0">
                <a:ln>
                  <a:noFill/>
                </a:ln>
                <a:solidFill>
                  <a:srgbClr val="000000"/>
                </a:solidFill>
                <a:effectLst/>
                <a:latin typeface="Consolas" panose="020B0609020204030204" pitchFamily="49" charset="0"/>
              </a:rPr>
            </a:br>
            <a:r>
              <a:rPr kumimoji="0" lang="en-US" b="0" i="0" u="none" strike="noStrike" cap="none" normalizeH="0" baseline="0" dirty="0" smtClean="0">
                <a:ln>
                  <a:noFill/>
                </a:ln>
                <a:solidFill>
                  <a:srgbClr val="0000CD"/>
                </a:solidFill>
                <a:effectLst/>
                <a:latin typeface="Consolas" panose="020B0609020204030204" pitchFamily="49" charset="0"/>
              </a:rPr>
              <a:t>print</a:t>
            </a:r>
            <a:r>
              <a:rPr kumimoji="0" lang="en-US" b="0" i="0" u="none" strike="noStrike" cap="none" normalizeH="0" baseline="0" dirty="0" smtClean="0">
                <a:ln>
                  <a:noFill/>
                </a:ln>
                <a:solidFill>
                  <a:srgbClr val="000000"/>
                </a:solidFill>
                <a:effectLst/>
                <a:latin typeface="Consolas" panose="020B0609020204030204" pitchFamily="49" charset="0"/>
              </a:rPr>
              <a:t>(set3)</a:t>
            </a:r>
            <a:endParaRPr kumimoji="0" lang="en-US"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18151558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3387765" y="563919"/>
            <a:ext cx="2832939" cy="6847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6176" tIns="95220" rIns="-76176" bIns="952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rgbClr val="000000"/>
                </a:solidFill>
                <a:effectLst/>
                <a:latin typeface="Segoe UI" panose="020B0502040204020203" pitchFamily="34" charset="0"/>
                <a:cs typeface="Segoe UI" panose="020B0502040204020203" pitchFamily="34" charset="0"/>
              </a:rPr>
              <a:t>Python Set intersection() Method</a:t>
            </a:r>
          </a:p>
          <a:p>
            <a:pPr marL="0" marR="0" lvl="0" indent="0" algn="ctr" defTabSz="914400" rtl="0" eaLnBrk="0" fontAlgn="ctr"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rgbClr val="FFFFFF"/>
                </a:solidFill>
                <a:effectLst/>
                <a:latin typeface="Verdana" panose="020B0604030504040204" pitchFamily="34" charset="0"/>
                <a:hlinkClick r:id="rId2"/>
              </a:rPr>
              <a:t>❮ Set Methods</a:t>
            </a:r>
            <a:endParaRPr kumimoji="0" lang="en-US" sz="1600" b="0" i="0" u="none" strike="noStrike" cap="none" normalizeH="0" baseline="0" smtClean="0">
              <a:ln>
                <a:noFill/>
              </a:ln>
              <a:solidFill>
                <a:schemeClr val="tx1"/>
              </a:solidFill>
              <a:effectLst/>
            </a:endParaRPr>
          </a:p>
        </p:txBody>
      </p:sp>
      <p:sp>
        <p:nvSpPr>
          <p:cNvPr id="5" name="Rectangle 2"/>
          <p:cNvSpPr>
            <a:spLocks noChangeArrowheads="1"/>
          </p:cNvSpPr>
          <p:nvPr/>
        </p:nvSpPr>
        <p:spPr bwMode="auto">
          <a:xfrm>
            <a:off x="232235" y="973551"/>
            <a:ext cx="184731" cy="338554"/>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sz="1600"/>
          </a:p>
        </p:txBody>
      </p:sp>
      <p:sp>
        <p:nvSpPr>
          <p:cNvPr id="6" name="Rectangle 3"/>
          <p:cNvSpPr>
            <a:spLocks noChangeArrowheads="1"/>
          </p:cNvSpPr>
          <p:nvPr/>
        </p:nvSpPr>
        <p:spPr bwMode="auto">
          <a:xfrm>
            <a:off x="232235" y="235313"/>
            <a:ext cx="7315914" cy="2288104"/>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7610" rIns="0" bIns="2380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Segoe UI" panose="020B0502040204020203" pitchFamily="34" charset="0"/>
                <a:cs typeface="Segoe UI" panose="020B0502040204020203" pitchFamily="34" charset="0"/>
              </a:rPr>
              <a:t>Example</a:t>
            </a:r>
            <a:endParaRPr lang="en-US" sz="1600" dirty="0">
              <a:solidFill>
                <a:srgbClr val="FFFFFF"/>
              </a:solidFill>
              <a:latin typeface="Source Sans Pro"/>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Verdana" panose="020B0604030504040204" pitchFamily="34" charset="0"/>
              </a:rPr>
              <a:t>Return a set that contains the items that exist in both set </a:t>
            </a:r>
            <a:r>
              <a:rPr kumimoji="0" lang="en-US" sz="1600" b="0" i="0" u="none" strike="noStrike" cap="none" normalizeH="0" baseline="0" dirty="0" smtClean="0">
                <a:ln>
                  <a:noFill/>
                </a:ln>
                <a:solidFill>
                  <a:srgbClr val="DC143C"/>
                </a:solidFill>
                <a:effectLst/>
                <a:latin typeface="Consolas" panose="020B0609020204030204" pitchFamily="49" charset="0"/>
              </a:rPr>
              <a:t>x</a:t>
            </a:r>
            <a:r>
              <a:rPr kumimoji="0" lang="en-US" sz="1600" b="0" i="0" u="none" strike="noStrike" cap="none" normalizeH="0" baseline="0" dirty="0" smtClean="0">
                <a:ln>
                  <a:noFill/>
                </a:ln>
                <a:solidFill>
                  <a:srgbClr val="000000"/>
                </a:solidFill>
                <a:effectLst/>
                <a:latin typeface="Verdana" panose="020B0604030504040204" pitchFamily="34" charset="0"/>
              </a:rPr>
              <a:t>, and set </a:t>
            </a:r>
            <a:r>
              <a:rPr kumimoji="0" lang="en-US" sz="1600" b="0" i="0" u="none" strike="noStrike" cap="none" normalizeH="0" baseline="0" dirty="0" smtClean="0">
                <a:ln>
                  <a:noFill/>
                </a:ln>
                <a:solidFill>
                  <a:srgbClr val="DC143C"/>
                </a:solidFill>
                <a:effectLst/>
                <a:latin typeface="Consolas" panose="020B0609020204030204" pitchFamily="49" charset="0"/>
              </a:rPr>
              <a:t>y</a:t>
            </a:r>
            <a:r>
              <a:rPr kumimoji="0" lang="en-US" sz="1600" b="0" i="0" u="none" strike="noStrike" cap="none" normalizeH="0" baseline="0" dirty="0" smtClean="0">
                <a:ln>
                  <a:noFill/>
                </a:ln>
                <a:solidFill>
                  <a:srgbClr val="000000"/>
                </a:solidFill>
                <a:effectLst/>
                <a:latin typeface="Verdana" panose="020B060403050404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Consolas" panose="020B0609020204030204" pitchFamily="49" charset="0"/>
              </a:rPr>
              <a:t>x = {</a:t>
            </a:r>
            <a:r>
              <a:rPr kumimoji="0" lang="en-US" sz="1600" b="0" i="0" u="none" strike="noStrike" cap="none" normalizeH="0" baseline="0" dirty="0" smtClean="0">
                <a:ln>
                  <a:noFill/>
                </a:ln>
                <a:solidFill>
                  <a:srgbClr val="A52A2A"/>
                </a:solidFill>
                <a:effectLst/>
                <a:latin typeface="Consolas" panose="020B0609020204030204" pitchFamily="49" charset="0"/>
              </a:rPr>
              <a:t>"apple"</a:t>
            </a:r>
            <a:r>
              <a:rPr kumimoji="0" lang="en-US" sz="1600" b="0" i="0" u="none" strike="noStrike" cap="none" normalizeH="0" baseline="0" dirty="0" smtClean="0">
                <a:ln>
                  <a:noFill/>
                </a:ln>
                <a:solidFill>
                  <a:srgbClr val="000000"/>
                </a:solidFill>
                <a:effectLst/>
                <a:latin typeface="Consolas" panose="020B0609020204030204" pitchFamily="49" charset="0"/>
              </a:rPr>
              <a:t>, </a:t>
            </a:r>
            <a:r>
              <a:rPr kumimoji="0" lang="en-US" sz="1600" b="0" i="0" u="none" strike="noStrike" cap="none" normalizeH="0" baseline="0" dirty="0" smtClean="0">
                <a:ln>
                  <a:noFill/>
                </a:ln>
                <a:solidFill>
                  <a:srgbClr val="A52A2A"/>
                </a:solidFill>
                <a:effectLst/>
                <a:latin typeface="Consolas" panose="020B0609020204030204" pitchFamily="49" charset="0"/>
              </a:rPr>
              <a:t>"banana"</a:t>
            </a:r>
            <a:r>
              <a:rPr kumimoji="0" lang="en-US" sz="1600" b="0" i="0" u="none" strike="noStrike" cap="none" normalizeH="0" baseline="0" dirty="0" smtClean="0">
                <a:ln>
                  <a:noFill/>
                </a:ln>
                <a:solidFill>
                  <a:srgbClr val="000000"/>
                </a:solidFill>
                <a:effectLst/>
                <a:latin typeface="Consolas" panose="020B0609020204030204" pitchFamily="49" charset="0"/>
              </a:rPr>
              <a:t>, </a:t>
            </a:r>
            <a:r>
              <a:rPr kumimoji="0" lang="en-US" sz="1600" b="0" i="0" u="none" strike="noStrike" cap="none" normalizeH="0" baseline="0" dirty="0" smtClean="0">
                <a:ln>
                  <a:noFill/>
                </a:ln>
                <a:solidFill>
                  <a:srgbClr val="A52A2A"/>
                </a:solidFill>
                <a:effectLst/>
                <a:latin typeface="Consolas" panose="020B0609020204030204" pitchFamily="49" charset="0"/>
              </a:rPr>
              <a:t>"cherry"</a:t>
            </a:r>
            <a:r>
              <a:rPr kumimoji="0" lang="en-US" sz="1600" b="0" i="0" u="none" strike="noStrike" cap="none" normalizeH="0" baseline="0" dirty="0" smtClean="0">
                <a:ln>
                  <a:noFill/>
                </a:ln>
                <a:solidFill>
                  <a:srgbClr val="000000"/>
                </a:solidFill>
                <a:effectLst/>
                <a:latin typeface="Consolas" panose="020B0609020204030204" pitchFamily="49" charset="0"/>
              </a:rPr>
              <a:t>}</a:t>
            </a:r>
            <a:br>
              <a:rPr kumimoji="0" lang="en-US" sz="1600" b="0" i="0" u="none" strike="noStrike" cap="none" normalizeH="0" baseline="0" dirty="0" smtClean="0">
                <a:ln>
                  <a:noFill/>
                </a:ln>
                <a:solidFill>
                  <a:srgbClr val="000000"/>
                </a:solidFill>
                <a:effectLst/>
                <a:latin typeface="Consolas" panose="020B0609020204030204" pitchFamily="49" charset="0"/>
              </a:rPr>
            </a:br>
            <a:r>
              <a:rPr kumimoji="0" lang="en-US" sz="1600" b="0" i="0" u="none" strike="noStrike" cap="none" normalizeH="0" baseline="0" dirty="0" smtClean="0">
                <a:ln>
                  <a:noFill/>
                </a:ln>
                <a:solidFill>
                  <a:srgbClr val="000000"/>
                </a:solidFill>
                <a:effectLst/>
                <a:latin typeface="Consolas" panose="020B0609020204030204" pitchFamily="49" charset="0"/>
              </a:rPr>
              <a:t>y = {</a:t>
            </a:r>
            <a:r>
              <a:rPr kumimoji="0" lang="en-US" sz="1600" b="0" i="0" u="none" strike="noStrike" cap="none" normalizeH="0" baseline="0" dirty="0" smtClean="0">
                <a:ln>
                  <a:noFill/>
                </a:ln>
                <a:solidFill>
                  <a:srgbClr val="A52A2A"/>
                </a:solidFill>
                <a:effectLst/>
                <a:latin typeface="Consolas" panose="020B0609020204030204" pitchFamily="49" charset="0"/>
              </a:rPr>
              <a:t>"google"</a:t>
            </a:r>
            <a:r>
              <a:rPr kumimoji="0" lang="en-US" sz="1600" b="0" i="0" u="none" strike="noStrike" cap="none" normalizeH="0" baseline="0" dirty="0" smtClean="0">
                <a:ln>
                  <a:noFill/>
                </a:ln>
                <a:solidFill>
                  <a:srgbClr val="000000"/>
                </a:solidFill>
                <a:effectLst/>
                <a:latin typeface="Consolas" panose="020B0609020204030204" pitchFamily="49" charset="0"/>
              </a:rPr>
              <a:t>, </a:t>
            </a:r>
            <a:r>
              <a:rPr kumimoji="0" lang="en-US" sz="1600" b="0" i="0" u="none" strike="noStrike" cap="none" normalizeH="0" baseline="0" dirty="0" smtClean="0">
                <a:ln>
                  <a:noFill/>
                </a:ln>
                <a:solidFill>
                  <a:srgbClr val="A52A2A"/>
                </a:solidFill>
                <a:effectLst/>
                <a:latin typeface="Consolas" panose="020B0609020204030204" pitchFamily="49" charset="0"/>
              </a:rPr>
              <a:t>"</a:t>
            </a:r>
            <a:r>
              <a:rPr kumimoji="0" lang="en-US" sz="1600" b="0" i="0" u="none" strike="noStrike" cap="none" normalizeH="0" baseline="0" dirty="0" err="1" smtClean="0">
                <a:ln>
                  <a:noFill/>
                </a:ln>
                <a:solidFill>
                  <a:srgbClr val="A52A2A"/>
                </a:solidFill>
                <a:effectLst/>
                <a:latin typeface="Consolas" panose="020B0609020204030204" pitchFamily="49" charset="0"/>
              </a:rPr>
              <a:t>microsoft</a:t>
            </a:r>
            <a:r>
              <a:rPr kumimoji="0" lang="en-US" sz="1600" b="0" i="0" u="none" strike="noStrike" cap="none" normalizeH="0" baseline="0" dirty="0" smtClean="0">
                <a:ln>
                  <a:noFill/>
                </a:ln>
                <a:solidFill>
                  <a:srgbClr val="A52A2A"/>
                </a:solidFill>
                <a:effectLst/>
                <a:latin typeface="Consolas" panose="020B0609020204030204" pitchFamily="49" charset="0"/>
              </a:rPr>
              <a:t>"</a:t>
            </a:r>
            <a:r>
              <a:rPr kumimoji="0" lang="en-US" sz="1600" b="0" i="0" u="none" strike="noStrike" cap="none" normalizeH="0" baseline="0" dirty="0" smtClean="0">
                <a:ln>
                  <a:noFill/>
                </a:ln>
                <a:solidFill>
                  <a:srgbClr val="000000"/>
                </a:solidFill>
                <a:effectLst/>
                <a:latin typeface="Consolas" panose="020B0609020204030204" pitchFamily="49" charset="0"/>
              </a:rPr>
              <a:t>, </a:t>
            </a:r>
            <a:r>
              <a:rPr kumimoji="0" lang="en-US" sz="1600" b="0" i="0" u="none" strike="noStrike" cap="none" normalizeH="0" baseline="0" dirty="0" smtClean="0">
                <a:ln>
                  <a:noFill/>
                </a:ln>
                <a:solidFill>
                  <a:srgbClr val="A52A2A"/>
                </a:solidFill>
                <a:effectLst/>
                <a:latin typeface="Consolas" panose="020B0609020204030204" pitchFamily="49" charset="0"/>
              </a:rPr>
              <a:t>"apple"</a:t>
            </a:r>
            <a:r>
              <a:rPr kumimoji="0" lang="en-US" sz="1600" b="0" i="0" u="none" strike="noStrike" cap="none" normalizeH="0" baseline="0" dirty="0" smtClean="0">
                <a:ln>
                  <a:noFill/>
                </a:ln>
                <a:solidFill>
                  <a:srgbClr val="000000"/>
                </a:solidFill>
                <a:effectLst/>
                <a:latin typeface="Consolas" panose="020B0609020204030204" pitchFamily="49" charset="0"/>
              </a:rPr>
              <a:t>}</a:t>
            </a:r>
            <a:br>
              <a:rPr kumimoji="0" lang="en-US" sz="1600" b="0" i="0" u="none" strike="noStrike" cap="none" normalizeH="0" baseline="0" dirty="0" smtClean="0">
                <a:ln>
                  <a:noFill/>
                </a:ln>
                <a:solidFill>
                  <a:srgbClr val="000000"/>
                </a:solidFill>
                <a:effectLst/>
                <a:latin typeface="Consolas" panose="020B0609020204030204" pitchFamily="49" charset="0"/>
              </a:rPr>
            </a:br>
            <a:r>
              <a:rPr kumimoji="0" lang="en-US" sz="1600" b="0" i="0" u="none" strike="noStrike" cap="none" normalizeH="0" baseline="0" dirty="0" smtClean="0">
                <a:ln>
                  <a:noFill/>
                </a:ln>
                <a:solidFill>
                  <a:srgbClr val="000000"/>
                </a:solidFill>
                <a:effectLst/>
                <a:latin typeface="Consolas" panose="020B0609020204030204" pitchFamily="49" charset="0"/>
              </a:rPr>
              <a:t/>
            </a:r>
            <a:br>
              <a:rPr kumimoji="0" lang="en-US" sz="1600" b="0" i="0" u="none" strike="noStrike" cap="none" normalizeH="0" baseline="0" dirty="0" smtClean="0">
                <a:ln>
                  <a:noFill/>
                </a:ln>
                <a:solidFill>
                  <a:srgbClr val="000000"/>
                </a:solidFill>
                <a:effectLst/>
                <a:latin typeface="Consolas" panose="020B0609020204030204" pitchFamily="49" charset="0"/>
              </a:rPr>
            </a:br>
            <a:r>
              <a:rPr kumimoji="0" lang="en-US" sz="1600" b="0" i="0" u="none" strike="noStrike" cap="none" normalizeH="0" baseline="0" dirty="0" smtClean="0">
                <a:ln>
                  <a:noFill/>
                </a:ln>
                <a:solidFill>
                  <a:srgbClr val="000000"/>
                </a:solidFill>
                <a:effectLst/>
                <a:latin typeface="Consolas" panose="020B0609020204030204" pitchFamily="49" charset="0"/>
              </a:rPr>
              <a:t>z = </a:t>
            </a:r>
            <a:r>
              <a:rPr kumimoji="0" lang="en-US" sz="1600" b="0" i="0" u="none" strike="noStrike" cap="none" normalizeH="0" baseline="0" dirty="0" err="1" smtClean="0">
                <a:ln>
                  <a:noFill/>
                </a:ln>
                <a:solidFill>
                  <a:srgbClr val="000000"/>
                </a:solidFill>
                <a:effectLst/>
                <a:latin typeface="Consolas" panose="020B0609020204030204" pitchFamily="49" charset="0"/>
              </a:rPr>
              <a:t>x.intersection</a:t>
            </a:r>
            <a:r>
              <a:rPr kumimoji="0" lang="en-US" sz="1600" b="0" i="0" u="none" strike="noStrike" cap="none" normalizeH="0" baseline="0" dirty="0" smtClean="0">
                <a:ln>
                  <a:noFill/>
                </a:ln>
                <a:solidFill>
                  <a:srgbClr val="000000"/>
                </a:solidFill>
                <a:effectLst/>
                <a:latin typeface="Consolas" panose="020B0609020204030204" pitchFamily="49" charset="0"/>
              </a:rPr>
              <a:t>(y)</a:t>
            </a:r>
            <a:br>
              <a:rPr kumimoji="0" lang="en-US" sz="1600" b="0" i="0" u="none" strike="noStrike" cap="none" normalizeH="0" baseline="0" dirty="0" smtClean="0">
                <a:ln>
                  <a:noFill/>
                </a:ln>
                <a:solidFill>
                  <a:srgbClr val="000000"/>
                </a:solidFill>
                <a:effectLst/>
                <a:latin typeface="Consolas" panose="020B0609020204030204" pitchFamily="49" charset="0"/>
              </a:rPr>
            </a:br>
            <a:r>
              <a:rPr kumimoji="0" lang="en-US" sz="1600" b="0" i="0" u="none" strike="noStrike" cap="none" normalizeH="0" baseline="0" dirty="0" smtClean="0">
                <a:ln>
                  <a:noFill/>
                </a:ln>
                <a:solidFill>
                  <a:srgbClr val="000000"/>
                </a:solidFill>
                <a:effectLst/>
                <a:latin typeface="Consolas" panose="020B0609020204030204" pitchFamily="49" charset="0"/>
              </a:rPr>
              <a:t/>
            </a:r>
            <a:br>
              <a:rPr kumimoji="0" lang="en-US" sz="1600" b="0" i="0" u="none" strike="noStrike" cap="none" normalizeH="0" baseline="0" dirty="0" smtClean="0">
                <a:ln>
                  <a:noFill/>
                </a:ln>
                <a:solidFill>
                  <a:srgbClr val="000000"/>
                </a:solidFill>
                <a:effectLst/>
                <a:latin typeface="Consolas" panose="020B0609020204030204" pitchFamily="49" charset="0"/>
              </a:rPr>
            </a:br>
            <a:r>
              <a:rPr kumimoji="0" lang="en-US" sz="1600" b="0" i="0" u="none" strike="noStrike" cap="none" normalizeH="0" baseline="0" dirty="0" smtClean="0">
                <a:ln>
                  <a:noFill/>
                </a:ln>
                <a:solidFill>
                  <a:srgbClr val="0000CD"/>
                </a:solidFill>
                <a:effectLst/>
                <a:latin typeface="Consolas" panose="020B0609020204030204" pitchFamily="49" charset="0"/>
              </a:rPr>
              <a:t>print</a:t>
            </a:r>
            <a:r>
              <a:rPr kumimoji="0" lang="en-US" sz="1600" b="0" i="0" u="none" strike="noStrike" cap="none" normalizeH="0" baseline="0" dirty="0" smtClean="0">
                <a:ln>
                  <a:noFill/>
                </a:ln>
                <a:solidFill>
                  <a:srgbClr val="000000"/>
                </a:solidFill>
                <a:effectLst/>
                <a:latin typeface="Consolas" panose="020B0609020204030204" pitchFamily="49" charset="0"/>
              </a:rPr>
              <a:t>(z)</a:t>
            </a:r>
            <a:endParaRPr kumimoji="0" lang="en-US" sz="1600" b="0" i="0" u="none" strike="noStrike" cap="none" normalizeH="0" baseline="0" dirty="0" smtClean="0">
              <a:ln>
                <a:noFill/>
              </a:ln>
              <a:solidFill>
                <a:schemeClr val="tx1"/>
              </a:solidFill>
              <a:effectLst/>
              <a:latin typeface="Arial" panose="020B0604020202020204" pitchFamily="34" charset="0"/>
            </a:endParaRPr>
          </a:p>
        </p:txBody>
      </p:sp>
      <p:sp>
        <p:nvSpPr>
          <p:cNvPr id="7" name="Rectangle 6"/>
          <p:cNvSpPr/>
          <p:nvPr/>
        </p:nvSpPr>
        <p:spPr>
          <a:xfrm>
            <a:off x="222016" y="2667357"/>
            <a:ext cx="3365921" cy="369332"/>
          </a:xfrm>
          <a:prstGeom prst="rect">
            <a:avLst/>
          </a:prstGeom>
        </p:spPr>
        <p:txBody>
          <a:bodyPr wrap="none">
            <a:spAutoFit/>
          </a:bodyPr>
          <a:lstStyle/>
          <a:p>
            <a:r>
              <a:rPr lang="en-IN" dirty="0">
                <a:solidFill>
                  <a:srgbClr val="000000"/>
                </a:solidFill>
                <a:latin typeface="Segoe UI" panose="020B0502040204020203" pitchFamily="34" charset="0"/>
              </a:rPr>
              <a:t>Python Set difference() Method</a:t>
            </a:r>
            <a:endParaRPr lang="en-IN" b="0" i="0" dirty="0">
              <a:solidFill>
                <a:srgbClr val="000000"/>
              </a:solidFill>
              <a:effectLst/>
              <a:latin typeface="Segoe UI" panose="020B0502040204020203" pitchFamily="34" charset="0"/>
            </a:endParaRPr>
          </a:p>
        </p:txBody>
      </p:sp>
      <p:sp>
        <p:nvSpPr>
          <p:cNvPr id="9" name="Rectangle 5"/>
          <p:cNvSpPr>
            <a:spLocks noChangeArrowheads="1"/>
          </p:cNvSpPr>
          <p:nvPr/>
        </p:nvSpPr>
        <p:spPr bwMode="auto">
          <a:xfrm>
            <a:off x="222016" y="3132168"/>
            <a:ext cx="81930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Verdana" panose="020B0604030504040204" pitchFamily="34" charset="0"/>
              </a:rPr>
              <a:t>Return a set that contains the items that only exist in set </a:t>
            </a:r>
            <a:r>
              <a:rPr kumimoji="0" lang="en-US" sz="1600" b="0" i="0" u="none" strike="noStrike" cap="none" normalizeH="0" baseline="0" dirty="0" smtClean="0">
                <a:ln>
                  <a:noFill/>
                </a:ln>
                <a:solidFill>
                  <a:srgbClr val="DC143C"/>
                </a:solidFill>
                <a:effectLst/>
                <a:latin typeface="Consolas" panose="020B0609020204030204" pitchFamily="49" charset="0"/>
              </a:rPr>
              <a:t>x</a:t>
            </a:r>
            <a:r>
              <a:rPr kumimoji="0" lang="en-US" sz="1600" b="0" i="0" u="none" strike="noStrike" cap="none" normalizeH="0" baseline="0" dirty="0" smtClean="0">
                <a:ln>
                  <a:noFill/>
                </a:ln>
                <a:solidFill>
                  <a:srgbClr val="000000"/>
                </a:solidFill>
                <a:effectLst/>
                <a:latin typeface="Verdana" panose="020B0604030504040204" pitchFamily="34" charset="0"/>
              </a:rPr>
              <a:t>, and not in set </a:t>
            </a:r>
            <a:r>
              <a:rPr kumimoji="0" lang="en-US" sz="1600" b="0" i="0" u="none" strike="noStrike" cap="none" normalizeH="0" baseline="0" dirty="0" smtClean="0">
                <a:ln>
                  <a:noFill/>
                </a:ln>
                <a:solidFill>
                  <a:srgbClr val="DC143C"/>
                </a:solidFill>
                <a:effectLst/>
                <a:latin typeface="Consolas" panose="020B0609020204030204" pitchFamily="49" charset="0"/>
              </a:rPr>
              <a:t>y</a:t>
            </a:r>
            <a:r>
              <a:rPr kumimoji="0" lang="en-US" sz="1600" b="0" i="0" u="none" strike="noStrike" cap="none" normalizeH="0" baseline="0" dirty="0" smtClean="0">
                <a:ln>
                  <a:noFill/>
                </a:ln>
                <a:solidFill>
                  <a:srgbClr val="000000"/>
                </a:solidFill>
                <a:effectLst/>
                <a:latin typeface="Verdana" panose="020B0604030504040204" pitchFamily="34" charset="0"/>
              </a:rPr>
              <a:t>:</a:t>
            </a:r>
            <a:r>
              <a:rPr kumimoji="0" lang="en-US" sz="1600" b="0" i="0" u="none" strike="noStrike" cap="none" normalizeH="0" baseline="0" dirty="0" smtClean="0">
                <a:ln>
                  <a:noFill/>
                </a:ln>
                <a:solidFill>
                  <a:schemeClr val="tx1"/>
                </a:solidFill>
                <a:effectLst/>
              </a:rPr>
              <a:t> </a:t>
            </a:r>
          </a:p>
        </p:txBody>
      </p:sp>
      <p:sp>
        <p:nvSpPr>
          <p:cNvPr id="10" name="Rectangle 9"/>
          <p:cNvSpPr/>
          <p:nvPr/>
        </p:nvSpPr>
        <p:spPr>
          <a:xfrm>
            <a:off x="273682" y="3566202"/>
            <a:ext cx="6628510" cy="1200329"/>
          </a:xfrm>
          <a:prstGeom prst="rect">
            <a:avLst/>
          </a:prstGeom>
        </p:spPr>
        <p:txBody>
          <a:bodyPr wrap="square">
            <a:spAutoFit/>
          </a:bodyPr>
          <a:lstStyle/>
          <a:p>
            <a:r>
              <a:rPr lang="en-IN" dirty="0">
                <a:solidFill>
                  <a:srgbClr val="000000"/>
                </a:solidFill>
                <a:latin typeface="Consolas" panose="020B0609020204030204" pitchFamily="49" charset="0"/>
              </a:rPr>
              <a:t>x = {</a:t>
            </a:r>
            <a:r>
              <a:rPr lang="en-IN" dirty="0">
                <a:solidFill>
                  <a:srgbClr val="A52A2A"/>
                </a:solidFill>
                <a:latin typeface="Consolas" panose="020B0609020204030204" pitchFamily="49" charset="0"/>
              </a:rPr>
              <a:t>"apple"</a:t>
            </a:r>
            <a:r>
              <a:rPr lang="en-IN" dirty="0">
                <a:solidFill>
                  <a:srgbClr val="000000"/>
                </a:solidFill>
                <a:latin typeface="Consolas" panose="020B0609020204030204" pitchFamily="49" charset="0"/>
              </a:rPr>
              <a:t>, </a:t>
            </a:r>
            <a:r>
              <a:rPr lang="en-IN" dirty="0">
                <a:solidFill>
                  <a:srgbClr val="A52A2A"/>
                </a:solidFill>
                <a:latin typeface="Consolas" panose="020B0609020204030204" pitchFamily="49" charset="0"/>
              </a:rPr>
              <a:t>"banana"</a:t>
            </a:r>
            <a:r>
              <a:rPr lang="en-IN" dirty="0">
                <a:solidFill>
                  <a:srgbClr val="000000"/>
                </a:solidFill>
                <a:latin typeface="Consolas" panose="020B0609020204030204" pitchFamily="49" charset="0"/>
              </a:rPr>
              <a:t>, </a:t>
            </a:r>
            <a:r>
              <a:rPr lang="en-IN" dirty="0">
                <a:solidFill>
                  <a:srgbClr val="A52A2A"/>
                </a:solidFill>
                <a:latin typeface="Consolas" panose="020B0609020204030204" pitchFamily="49" charset="0"/>
              </a:rPr>
              <a:t>"cherry"</a:t>
            </a:r>
            <a:r>
              <a:rPr lang="en-IN" dirty="0">
                <a:solidFill>
                  <a:srgbClr val="000000"/>
                </a:solidFill>
                <a:latin typeface="Consolas" panose="020B0609020204030204" pitchFamily="49" charset="0"/>
              </a:rPr>
              <a:t>}</a:t>
            </a:r>
            <a:r>
              <a:rPr lang="en-IN" dirty="0"/>
              <a:t/>
            </a:r>
            <a:br>
              <a:rPr lang="en-IN" dirty="0"/>
            </a:br>
            <a:r>
              <a:rPr lang="en-IN" dirty="0">
                <a:solidFill>
                  <a:srgbClr val="000000"/>
                </a:solidFill>
                <a:latin typeface="Consolas" panose="020B0609020204030204" pitchFamily="49" charset="0"/>
              </a:rPr>
              <a:t>y = </a:t>
            </a:r>
            <a:r>
              <a:rPr lang="en-IN" dirty="0" smtClean="0">
                <a:solidFill>
                  <a:srgbClr val="000000"/>
                </a:solidFill>
                <a:latin typeface="Consolas" panose="020B0609020204030204" pitchFamily="49" charset="0"/>
              </a:rPr>
              <a:t>{</a:t>
            </a:r>
            <a:r>
              <a:rPr lang="en-IN" dirty="0" smtClean="0">
                <a:solidFill>
                  <a:srgbClr val="A52A2A"/>
                </a:solidFill>
                <a:latin typeface="Consolas" panose="020B0609020204030204" pitchFamily="49" charset="0"/>
              </a:rPr>
              <a:t>"</a:t>
            </a:r>
            <a:r>
              <a:rPr lang="en-IN" dirty="0">
                <a:solidFill>
                  <a:srgbClr val="A52A2A"/>
                </a:solidFill>
                <a:latin typeface="Consolas" panose="020B0609020204030204" pitchFamily="49" charset="0"/>
              </a:rPr>
              <a:t>google"</a:t>
            </a:r>
            <a:r>
              <a:rPr lang="en-IN" dirty="0">
                <a:solidFill>
                  <a:srgbClr val="000000"/>
                </a:solidFill>
                <a:latin typeface="Consolas" panose="020B0609020204030204" pitchFamily="49" charset="0"/>
              </a:rPr>
              <a:t>, </a:t>
            </a:r>
            <a:r>
              <a:rPr lang="en-IN" dirty="0">
                <a:solidFill>
                  <a:srgbClr val="A52A2A"/>
                </a:solidFill>
                <a:latin typeface="Consolas" panose="020B0609020204030204" pitchFamily="49" charset="0"/>
              </a:rPr>
              <a:t>"</a:t>
            </a:r>
            <a:r>
              <a:rPr lang="en-IN" dirty="0" err="1">
                <a:solidFill>
                  <a:srgbClr val="A52A2A"/>
                </a:solidFill>
                <a:latin typeface="Consolas" panose="020B0609020204030204" pitchFamily="49" charset="0"/>
              </a:rPr>
              <a:t>microsoft</a:t>
            </a:r>
            <a:r>
              <a:rPr lang="en-IN" dirty="0">
                <a:solidFill>
                  <a:srgbClr val="A52A2A"/>
                </a:solidFill>
                <a:latin typeface="Consolas" panose="020B0609020204030204" pitchFamily="49" charset="0"/>
              </a:rPr>
              <a:t>"</a:t>
            </a:r>
            <a:r>
              <a:rPr lang="en-IN" dirty="0">
                <a:solidFill>
                  <a:srgbClr val="000000"/>
                </a:solidFill>
                <a:latin typeface="Consolas" panose="020B0609020204030204" pitchFamily="49" charset="0"/>
              </a:rPr>
              <a:t>, </a:t>
            </a:r>
            <a:r>
              <a:rPr lang="en-IN" dirty="0">
                <a:solidFill>
                  <a:srgbClr val="A52A2A"/>
                </a:solidFill>
                <a:latin typeface="Consolas" panose="020B0609020204030204" pitchFamily="49" charset="0"/>
              </a:rPr>
              <a:t>"apple"</a:t>
            </a:r>
            <a:r>
              <a:rPr lang="en-IN" dirty="0">
                <a:solidFill>
                  <a:srgbClr val="000000"/>
                </a:solidFill>
                <a:latin typeface="Consolas" panose="020B0609020204030204" pitchFamily="49" charset="0"/>
              </a:rPr>
              <a:t>}</a:t>
            </a:r>
            <a:r>
              <a:rPr lang="en-IN" dirty="0"/>
              <a:t/>
            </a:r>
            <a:br>
              <a:rPr lang="en-IN" dirty="0"/>
            </a:br>
            <a:r>
              <a:rPr lang="en-IN" dirty="0" smtClean="0">
                <a:solidFill>
                  <a:srgbClr val="000000"/>
                </a:solidFill>
                <a:latin typeface="Consolas" panose="020B0609020204030204" pitchFamily="49" charset="0"/>
              </a:rPr>
              <a:t>z </a:t>
            </a:r>
            <a:r>
              <a:rPr lang="en-IN" dirty="0">
                <a:solidFill>
                  <a:srgbClr val="000000"/>
                </a:solidFill>
                <a:latin typeface="Consolas" panose="020B0609020204030204" pitchFamily="49" charset="0"/>
              </a:rPr>
              <a:t>= </a:t>
            </a:r>
            <a:r>
              <a:rPr lang="en-IN" dirty="0" err="1">
                <a:solidFill>
                  <a:srgbClr val="000000"/>
                </a:solidFill>
                <a:latin typeface="Consolas" panose="020B0609020204030204" pitchFamily="49" charset="0"/>
              </a:rPr>
              <a:t>x.difference</a:t>
            </a:r>
            <a:r>
              <a:rPr lang="en-IN" dirty="0">
                <a:solidFill>
                  <a:srgbClr val="000000"/>
                </a:solidFill>
                <a:latin typeface="Consolas" panose="020B0609020204030204" pitchFamily="49" charset="0"/>
              </a:rPr>
              <a:t>(y)</a:t>
            </a:r>
            <a:r>
              <a:rPr lang="en-IN" dirty="0"/>
              <a:t/>
            </a:r>
            <a:br>
              <a:rPr lang="en-IN" dirty="0"/>
            </a:br>
            <a:r>
              <a:rPr lang="en-IN" dirty="0" smtClean="0">
                <a:solidFill>
                  <a:srgbClr val="0000CD"/>
                </a:solidFill>
                <a:latin typeface="Consolas" panose="020B0609020204030204" pitchFamily="49" charset="0"/>
              </a:rPr>
              <a:t>print</a:t>
            </a:r>
            <a:r>
              <a:rPr lang="en-IN" dirty="0" smtClean="0">
                <a:solidFill>
                  <a:srgbClr val="000000"/>
                </a:solidFill>
                <a:latin typeface="Consolas" panose="020B0609020204030204" pitchFamily="49" charset="0"/>
              </a:rPr>
              <a:t>(z</a:t>
            </a:r>
            <a:r>
              <a:rPr lang="en-IN" dirty="0">
                <a:solidFill>
                  <a:srgbClr val="000000"/>
                </a:solidFill>
                <a:latin typeface="Consolas" panose="020B0609020204030204" pitchFamily="49" charset="0"/>
              </a:rPr>
              <a:t>)</a:t>
            </a:r>
            <a:endParaRPr lang="en-IN" dirty="0"/>
          </a:p>
        </p:txBody>
      </p:sp>
    </p:spTree>
    <p:extLst>
      <p:ext uri="{BB962C8B-B14F-4D97-AF65-F5344CB8AC3E}">
        <p14:creationId xmlns:p14="http://schemas.microsoft.com/office/powerpoint/2010/main" val="31454079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2235" y="113830"/>
            <a:ext cx="4853060" cy="369332"/>
          </a:xfrm>
          <a:prstGeom prst="rect">
            <a:avLst/>
          </a:prstGeom>
        </p:spPr>
        <p:txBody>
          <a:bodyPr wrap="none">
            <a:spAutoFit/>
          </a:bodyPr>
          <a:lstStyle/>
          <a:p>
            <a:r>
              <a:rPr lang="en-IN" b="1" dirty="0">
                <a:solidFill>
                  <a:srgbClr val="000000"/>
                </a:solidFill>
                <a:latin typeface="Segoe UI" panose="020B0502040204020203" pitchFamily="34" charset="0"/>
              </a:rPr>
              <a:t>Python Set </a:t>
            </a:r>
            <a:r>
              <a:rPr lang="en-IN" b="1" dirty="0" err="1">
                <a:solidFill>
                  <a:srgbClr val="000000"/>
                </a:solidFill>
                <a:latin typeface="Segoe UI" panose="020B0502040204020203" pitchFamily="34" charset="0"/>
              </a:rPr>
              <a:t>symmetric_difference</a:t>
            </a:r>
            <a:r>
              <a:rPr lang="en-IN" b="1" dirty="0">
                <a:solidFill>
                  <a:srgbClr val="000000"/>
                </a:solidFill>
                <a:latin typeface="Segoe UI" panose="020B0502040204020203" pitchFamily="34" charset="0"/>
              </a:rPr>
              <a:t>() Method</a:t>
            </a:r>
            <a:endParaRPr lang="en-IN" b="1" i="0" dirty="0">
              <a:solidFill>
                <a:srgbClr val="000000"/>
              </a:solidFill>
              <a:effectLst/>
              <a:latin typeface="Segoe UI" panose="020B0502040204020203" pitchFamily="34" charset="0"/>
            </a:endParaRPr>
          </a:p>
        </p:txBody>
      </p:sp>
      <p:sp>
        <p:nvSpPr>
          <p:cNvPr id="5" name="Rectangle 4"/>
          <p:cNvSpPr/>
          <p:nvPr/>
        </p:nvSpPr>
        <p:spPr>
          <a:xfrm>
            <a:off x="232235" y="728310"/>
            <a:ext cx="8679530" cy="646331"/>
          </a:xfrm>
          <a:prstGeom prst="rect">
            <a:avLst/>
          </a:prstGeom>
        </p:spPr>
        <p:txBody>
          <a:bodyPr wrap="square">
            <a:spAutoFit/>
          </a:bodyPr>
          <a:lstStyle/>
          <a:p>
            <a:r>
              <a:rPr lang="en-US" dirty="0">
                <a:solidFill>
                  <a:srgbClr val="000000"/>
                </a:solidFill>
                <a:latin typeface="Verdana" panose="020B0604030504040204" pitchFamily="34" charset="0"/>
              </a:rPr>
              <a:t>Return a set that contains all items from both sets, except items that are present in both sets:</a:t>
            </a:r>
            <a:endParaRPr lang="en-IN" dirty="0"/>
          </a:p>
        </p:txBody>
      </p:sp>
      <p:sp>
        <p:nvSpPr>
          <p:cNvPr id="6" name="Rectangle 5"/>
          <p:cNvSpPr/>
          <p:nvPr/>
        </p:nvSpPr>
        <p:spPr>
          <a:xfrm>
            <a:off x="372764" y="1496410"/>
            <a:ext cx="6657155" cy="1754326"/>
          </a:xfrm>
          <a:prstGeom prst="rect">
            <a:avLst/>
          </a:prstGeom>
        </p:spPr>
        <p:txBody>
          <a:bodyPr wrap="square">
            <a:spAutoFit/>
          </a:bodyPr>
          <a:lstStyle/>
          <a:p>
            <a:r>
              <a:rPr lang="en-IN" dirty="0">
                <a:solidFill>
                  <a:srgbClr val="000000"/>
                </a:solidFill>
                <a:latin typeface="Consolas" panose="020B0609020204030204" pitchFamily="49" charset="0"/>
              </a:rPr>
              <a:t>x = {</a:t>
            </a:r>
            <a:r>
              <a:rPr lang="en-IN" dirty="0">
                <a:solidFill>
                  <a:srgbClr val="A52A2A"/>
                </a:solidFill>
                <a:latin typeface="Consolas" panose="020B0609020204030204" pitchFamily="49" charset="0"/>
              </a:rPr>
              <a:t>"apple"</a:t>
            </a:r>
            <a:r>
              <a:rPr lang="en-IN" dirty="0">
                <a:solidFill>
                  <a:srgbClr val="000000"/>
                </a:solidFill>
                <a:latin typeface="Consolas" panose="020B0609020204030204" pitchFamily="49" charset="0"/>
              </a:rPr>
              <a:t>, </a:t>
            </a:r>
            <a:r>
              <a:rPr lang="en-IN" dirty="0">
                <a:solidFill>
                  <a:srgbClr val="A52A2A"/>
                </a:solidFill>
                <a:latin typeface="Consolas" panose="020B0609020204030204" pitchFamily="49" charset="0"/>
              </a:rPr>
              <a:t>"banana"</a:t>
            </a:r>
            <a:r>
              <a:rPr lang="en-IN" dirty="0">
                <a:solidFill>
                  <a:srgbClr val="000000"/>
                </a:solidFill>
                <a:latin typeface="Consolas" panose="020B0609020204030204" pitchFamily="49" charset="0"/>
              </a:rPr>
              <a:t>, </a:t>
            </a:r>
            <a:r>
              <a:rPr lang="en-IN" dirty="0">
                <a:solidFill>
                  <a:srgbClr val="A52A2A"/>
                </a:solidFill>
                <a:latin typeface="Consolas" panose="020B0609020204030204" pitchFamily="49" charset="0"/>
              </a:rPr>
              <a:t>"cherry"</a:t>
            </a:r>
            <a:r>
              <a:rPr lang="en-IN" dirty="0">
                <a:solidFill>
                  <a:srgbClr val="000000"/>
                </a:solidFill>
                <a:latin typeface="Consolas" panose="020B0609020204030204" pitchFamily="49" charset="0"/>
              </a:rPr>
              <a:t>}</a:t>
            </a:r>
            <a:r>
              <a:rPr lang="en-IN" dirty="0"/>
              <a:t/>
            </a:r>
            <a:br>
              <a:rPr lang="en-IN" dirty="0"/>
            </a:br>
            <a:r>
              <a:rPr lang="en-IN" dirty="0">
                <a:solidFill>
                  <a:srgbClr val="000000"/>
                </a:solidFill>
                <a:latin typeface="Consolas" panose="020B0609020204030204" pitchFamily="49" charset="0"/>
              </a:rPr>
              <a:t>y = {</a:t>
            </a:r>
            <a:r>
              <a:rPr lang="en-IN" dirty="0">
                <a:solidFill>
                  <a:srgbClr val="A52A2A"/>
                </a:solidFill>
                <a:latin typeface="Consolas" panose="020B0609020204030204" pitchFamily="49" charset="0"/>
              </a:rPr>
              <a:t>"google"</a:t>
            </a:r>
            <a:r>
              <a:rPr lang="en-IN" dirty="0">
                <a:solidFill>
                  <a:srgbClr val="000000"/>
                </a:solidFill>
                <a:latin typeface="Consolas" panose="020B0609020204030204" pitchFamily="49" charset="0"/>
              </a:rPr>
              <a:t>, </a:t>
            </a:r>
            <a:r>
              <a:rPr lang="en-IN" dirty="0">
                <a:solidFill>
                  <a:srgbClr val="A52A2A"/>
                </a:solidFill>
                <a:latin typeface="Consolas" panose="020B0609020204030204" pitchFamily="49" charset="0"/>
              </a:rPr>
              <a:t>"</a:t>
            </a:r>
            <a:r>
              <a:rPr lang="en-IN" dirty="0" err="1">
                <a:solidFill>
                  <a:srgbClr val="A52A2A"/>
                </a:solidFill>
                <a:latin typeface="Consolas" panose="020B0609020204030204" pitchFamily="49" charset="0"/>
              </a:rPr>
              <a:t>microsoft</a:t>
            </a:r>
            <a:r>
              <a:rPr lang="en-IN" dirty="0">
                <a:solidFill>
                  <a:srgbClr val="A52A2A"/>
                </a:solidFill>
                <a:latin typeface="Consolas" panose="020B0609020204030204" pitchFamily="49" charset="0"/>
              </a:rPr>
              <a:t>"</a:t>
            </a:r>
            <a:r>
              <a:rPr lang="en-IN" dirty="0">
                <a:solidFill>
                  <a:srgbClr val="000000"/>
                </a:solidFill>
                <a:latin typeface="Consolas" panose="020B0609020204030204" pitchFamily="49" charset="0"/>
              </a:rPr>
              <a:t>, </a:t>
            </a:r>
            <a:r>
              <a:rPr lang="en-IN" dirty="0">
                <a:solidFill>
                  <a:srgbClr val="A52A2A"/>
                </a:solidFill>
                <a:latin typeface="Consolas" panose="020B0609020204030204" pitchFamily="49" charset="0"/>
              </a:rPr>
              <a:t>"apple"</a:t>
            </a:r>
            <a:r>
              <a:rPr lang="en-IN" dirty="0">
                <a:solidFill>
                  <a:srgbClr val="000000"/>
                </a:solidFill>
                <a:latin typeface="Consolas" panose="020B0609020204030204" pitchFamily="49" charset="0"/>
              </a:rPr>
              <a:t>}</a:t>
            </a:r>
            <a:r>
              <a:rPr lang="en-IN" dirty="0"/>
              <a:t/>
            </a:r>
            <a:br>
              <a:rPr lang="en-IN" dirty="0"/>
            </a:br>
            <a:r>
              <a:rPr lang="en-IN" dirty="0"/>
              <a:t/>
            </a:r>
            <a:br>
              <a:rPr lang="en-IN" dirty="0"/>
            </a:br>
            <a:r>
              <a:rPr lang="en-IN" dirty="0">
                <a:solidFill>
                  <a:srgbClr val="000000"/>
                </a:solidFill>
                <a:latin typeface="Consolas" panose="020B0609020204030204" pitchFamily="49" charset="0"/>
              </a:rPr>
              <a:t>z = </a:t>
            </a:r>
            <a:r>
              <a:rPr lang="en-IN" dirty="0" err="1">
                <a:solidFill>
                  <a:srgbClr val="000000"/>
                </a:solidFill>
                <a:latin typeface="Consolas" panose="020B0609020204030204" pitchFamily="49" charset="0"/>
              </a:rPr>
              <a:t>x.symmetric_difference</a:t>
            </a:r>
            <a:r>
              <a:rPr lang="en-IN" dirty="0">
                <a:solidFill>
                  <a:srgbClr val="000000"/>
                </a:solidFill>
                <a:latin typeface="Consolas" panose="020B0609020204030204" pitchFamily="49" charset="0"/>
              </a:rPr>
              <a:t>(y)</a:t>
            </a:r>
            <a:r>
              <a:rPr lang="en-IN" dirty="0"/>
              <a:t/>
            </a:r>
            <a:br>
              <a:rPr lang="en-IN" dirty="0"/>
            </a:br>
            <a:r>
              <a:rPr lang="en-IN" dirty="0"/>
              <a:t/>
            </a:r>
            <a:br>
              <a:rPr lang="en-IN" dirty="0"/>
            </a:br>
            <a:r>
              <a:rPr lang="en-IN" dirty="0">
                <a:solidFill>
                  <a:srgbClr val="0000CD"/>
                </a:solidFill>
                <a:latin typeface="Consolas" panose="020B0609020204030204" pitchFamily="49" charset="0"/>
              </a:rPr>
              <a:t>print</a:t>
            </a:r>
            <a:r>
              <a:rPr lang="en-IN" dirty="0">
                <a:solidFill>
                  <a:srgbClr val="000000"/>
                </a:solidFill>
                <a:latin typeface="Consolas" panose="020B0609020204030204" pitchFamily="49" charset="0"/>
              </a:rPr>
              <a:t>(z)</a:t>
            </a:r>
            <a:endParaRPr lang="en-IN" dirty="0"/>
          </a:p>
        </p:txBody>
      </p:sp>
    </p:spTree>
    <p:extLst>
      <p:ext uri="{BB962C8B-B14F-4D97-AF65-F5344CB8AC3E}">
        <p14:creationId xmlns:p14="http://schemas.microsoft.com/office/powerpoint/2010/main" val="6377384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6700" y="285751"/>
            <a:ext cx="5295900" cy="584775"/>
          </a:xfrm>
          <a:prstGeom prst="rect">
            <a:avLst/>
          </a:prstGeom>
          <a:noFill/>
        </p:spPr>
        <p:txBody>
          <a:bodyPr wrap="square" rtlCol="0">
            <a:spAutoFit/>
          </a:bodyPr>
          <a:lstStyle/>
          <a:p>
            <a:r>
              <a:rPr lang="en-US" sz="3200" dirty="0" smtClean="0"/>
              <a:t>Dictionary</a:t>
            </a:r>
            <a:endParaRPr lang="en-US" sz="3200" dirty="0">
              <a:latin typeface="Times New Roman" pitchFamily="18" charset="0"/>
              <a:cs typeface="Times New Roman" pitchFamily="18" charset="0"/>
            </a:endParaRPr>
          </a:p>
        </p:txBody>
      </p:sp>
      <p:sp>
        <p:nvSpPr>
          <p:cNvPr id="6" name="TextBox 5"/>
          <p:cNvSpPr txBox="1"/>
          <p:nvPr/>
        </p:nvSpPr>
        <p:spPr>
          <a:xfrm>
            <a:off x="419100" y="1009650"/>
            <a:ext cx="8153400" cy="3139321"/>
          </a:xfrm>
          <a:prstGeom prst="rect">
            <a:avLst/>
          </a:prstGeom>
          <a:noFill/>
        </p:spPr>
        <p:txBody>
          <a:bodyPr wrap="square" rtlCol="0">
            <a:spAutoFit/>
          </a:bodyPr>
          <a:lstStyle/>
          <a:p>
            <a:pPr>
              <a:buFont typeface="Arial" pitchFamily="34" charset="0"/>
              <a:buChar char="•"/>
            </a:pPr>
            <a:r>
              <a:rPr lang="en-US" dirty="0" smtClean="0"/>
              <a:t>  A dictionary is like an address-book where you can find the address or contact details of a person by knowing only his/her name i.e. we associate keys (name) with values (details). </a:t>
            </a:r>
          </a:p>
          <a:p>
            <a:pPr>
              <a:buFont typeface="Arial" pitchFamily="34" charset="0"/>
              <a:buChar char="•"/>
            </a:pPr>
            <a:endParaRPr lang="en-US" dirty="0" smtClean="0"/>
          </a:p>
          <a:p>
            <a:pPr>
              <a:buFont typeface="Arial" pitchFamily="34" charset="0"/>
              <a:buChar char="•"/>
            </a:pPr>
            <a:r>
              <a:rPr lang="en-US" dirty="0" smtClean="0"/>
              <a:t> Note that the key must be unique just like you cannot find out the correct information if you have two persons with the exact same name.</a:t>
            </a:r>
          </a:p>
          <a:p>
            <a:pPr>
              <a:buFont typeface="Arial" pitchFamily="34" charset="0"/>
              <a:buChar char="•"/>
            </a:pPr>
            <a:endParaRPr lang="en-US" dirty="0" smtClean="0"/>
          </a:p>
          <a:p>
            <a:pPr>
              <a:buFont typeface="Arial" pitchFamily="34" charset="0"/>
              <a:buChar char="•"/>
            </a:pPr>
            <a:r>
              <a:rPr lang="en-US" dirty="0" smtClean="0"/>
              <a:t> One can use only immutable objects (like strings) for the keys of a dictionary but can use either immutable or mutable objects for the values of the dictionary.</a:t>
            </a:r>
          </a:p>
          <a:p>
            <a:pPr>
              <a:buFont typeface="Arial" pitchFamily="34" charset="0"/>
              <a:buChar char="•"/>
            </a:pPr>
            <a:endParaRPr lang="en-US" dirty="0" smtClean="0"/>
          </a:p>
          <a:p>
            <a:pPr>
              <a:buFont typeface="Arial" pitchFamily="34" charset="0"/>
              <a:buChar char="•"/>
            </a:pPr>
            <a:r>
              <a:rPr lang="en-US" dirty="0" smtClean="0"/>
              <a:t> This basically translates to say that you should use only simple objects for keys.</a:t>
            </a:r>
          </a:p>
        </p:txBody>
      </p:sp>
      <p:sp>
        <p:nvSpPr>
          <p:cNvPr id="7" name="object 8"/>
          <p:cNvSpPr txBox="1">
            <a:spLocks noGrp="1"/>
          </p:cNvSpPr>
          <p:nvPr>
            <p:ph type="ftr" sz="quarter" idx="5"/>
          </p:nvPr>
        </p:nvSpPr>
        <p:spPr>
          <a:xfrm>
            <a:off x="220162" y="4876136"/>
            <a:ext cx="7742738" cy="276999"/>
          </a:xfrm>
          <a:prstGeom prst="rect">
            <a:avLst/>
          </a:prstGeom>
        </p:spPr>
        <p:txBody>
          <a:bodyPr vert="horz" wrap="square" lIns="0" tIns="0" rIns="0" bIns="0" rtlCol="0">
            <a:spAutoFit/>
          </a:bodyPr>
          <a:lstStyle/>
          <a:p>
            <a:pPr marL="12700">
              <a:lnSpc>
                <a:spcPct val="100000"/>
              </a:lnSpc>
            </a:pPr>
            <a:r>
              <a:rPr lang="en-US" dirty="0" smtClean="0"/>
              <a:t>Python Academy – www.pythonacademy.in</a:t>
            </a:r>
            <a:endParaRPr lang="en-US" spc="-5" dirty="0"/>
          </a:p>
        </p:txBody>
      </p:sp>
      <p:pic>
        <p:nvPicPr>
          <p:cNvPr id="10" name="Picture 2" descr="F:\Training\Anup Kelkars Academy\Marketing\09.jpg"/>
          <p:cNvPicPr>
            <a:picLocks noChangeAspect="1" noChangeArrowheads="1"/>
          </p:cNvPicPr>
          <p:nvPr/>
        </p:nvPicPr>
        <p:blipFill>
          <a:blip r:embed="rId2" cstate="print"/>
          <a:srcRect/>
          <a:stretch>
            <a:fillRect/>
          </a:stretch>
        </p:blipFill>
        <p:spPr bwMode="auto">
          <a:xfrm>
            <a:off x="7658100" y="133350"/>
            <a:ext cx="1333500" cy="496105"/>
          </a:xfrm>
          <a:prstGeom prst="rect">
            <a:avLst/>
          </a:prstGeom>
          <a:noFill/>
        </p:spPr>
      </p:pic>
      <p:pic>
        <p:nvPicPr>
          <p:cNvPr id="11" name="Picture 4" descr="F:\Training\Anup Kelkars Academy\PrintMaterial\Visiting Card\PythonAcademy_Logo.png"/>
          <p:cNvPicPr>
            <a:picLocks noChangeAspect="1" noChangeArrowheads="1"/>
          </p:cNvPicPr>
          <p:nvPr/>
        </p:nvPicPr>
        <p:blipFill>
          <a:blip r:embed="rId3" cstate="print"/>
          <a:srcRect/>
          <a:stretch>
            <a:fillRect/>
          </a:stretch>
        </p:blipFill>
        <p:spPr bwMode="auto">
          <a:xfrm>
            <a:off x="6896100" y="112306"/>
            <a:ext cx="762000" cy="630644"/>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6700" y="285751"/>
            <a:ext cx="5295900" cy="584775"/>
          </a:xfrm>
          <a:prstGeom prst="rect">
            <a:avLst/>
          </a:prstGeom>
          <a:noFill/>
        </p:spPr>
        <p:txBody>
          <a:bodyPr wrap="square" rtlCol="0">
            <a:spAutoFit/>
          </a:bodyPr>
          <a:lstStyle/>
          <a:p>
            <a:r>
              <a:rPr lang="en-US" sz="3200" dirty="0" smtClean="0"/>
              <a:t>Dictionary</a:t>
            </a:r>
            <a:endParaRPr lang="en-US" sz="3200" dirty="0">
              <a:latin typeface="Times New Roman" pitchFamily="18" charset="0"/>
              <a:cs typeface="Times New Roman" pitchFamily="18" charset="0"/>
            </a:endParaRPr>
          </a:p>
        </p:txBody>
      </p:sp>
      <p:sp>
        <p:nvSpPr>
          <p:cNvPr id="6" name="TextBox 5"/>
          <p:cNvSpPr txBox="1"/>
          <p:nvPr/>
        </p:nvSpPr>
        <p:spPr>
          <a:xfrm>
            <a:off x="381000" y="933450"/>
            <a:ext cx="8153400" cy="3139321"/>
          </a:xfrm>
          <a:prstGeom prst="rect">
            <a:avLst/>
          </a:prstGeom>
          <a:noFill/>
        </p:spPr>
        <p:txBody>
          <a:bodyPr wrap="square" rtlCol="0">
            <a:spAutoFit/>
          </a:bodyPr>
          <a:lstStyle/>
          <a:p>
            <a:pPr>
              <a:buFont typeface="Arial" pitchFamily="34" charset="0"/>
              <a:buChar char="•"/>
            </a:pPr>
            <a:r>
              <a:rPr lang="en-US" dirty="0" smtClean="0"/>
              <a:t> Pairs of keys and values are specified in a dictionary by using the notation </a:t>
            </a:r>
          </a:p>
          <a:p>
            <a:endParaRPr lang="en-US" dirty="0" smtClean="0"/>
          </a:p>
          <a:p>
            <a:r>
              <a:rPr lang="en-US" dirty="0" smtClean="0"/>
              <a:t>       d = {key1 : value1, key2 : value2 </a:t>
            </a:r>
            <a:r>
              <a:rPr lang="en-US" smtClean="0"/>
              <a:t>} </a:t>
            </a:r>
            <a:endParaRPr lang="en-US" dirty="0" smtClean="0"/>
          </a:p>
          <a:p>
            <a:r>
              <a:rPr lang="en-US" dirty="0" smtClean="0"/>
              <a:t> </a:t>
            </a:r>
          </a:p>
          <a:p>
            <a:pPr>
              <a:buFont typeface="Arial" pitchFamily="34" charset="0"/>
              <a:buChar char="•"/>
            </a:pPr>
            <a:r>
              <a:rPr lang="en-US" dirty="0" smtClean="0"/>
              <a:t> Notice that the key-value pairs are separated by a colon and the pairs are separated themselves by commas and all this is enclosed in a pair of curly braces.</a:t>
            </a:r>
          </a:p>
          <a:p>
            <a:pPr>
              <a:buFont typeface="Arial" pitchFamily="34" charset="0"/>
              <a:buChar char="•"/>
            </a:pPr>
            <a:endParaRPr lang="en-US" dirty="0" smtClean="0"/>
          </a:p>
          <a:p>
            <a:pPr>
              <a:buFont typeface="Arial" pitchFamily="34" charset="0"/>
              <a:buChar char="•"/>
            </a:pPr>
            <a:r>
              <a:rPr lang="en-US" dirty="0" smtClean="0"/>
              <a:t> Remember that key-value pairs in a dictionary are not ordered in any manner. If you want a particular order, then you will have to sort them yourself before using it.</a:t>
            </a:r>
          </a:p>
          <a:p>
            <a:pPr>
              <a:buFont typeface="Arial" pitchFamily="34" charset="0"/>
              <a:buChar char="•"/>
            </a:pPr>
            <a:endParaRPr lang="en-US" dirty="0" smtClean="0"/>
          </a:p>
          <a:p>
            <a:pPr>
              <a:buFont typeface="Arial" pitchFamily="34" charset="0"/>
              <a:buChar char="•"/>
            </a:pPr>
            <a:r>
              <a:rPr lang="en-US" dirty="0" smtClean="0"/>
              <a:t> The dictionaries that we will be using are instances/objects of the </a:t>
            </a:r>
            <a:r>
              <a:rPr lang="en-US" dirty="0" err="1" smtClean="0"/>
              <a:t>dict</a:t>
            </a:r>
            <a:r>
              <a:rPr lang="en-US" dirty="0" smtClean="0"/>
              <a:t> class.</a:t>
            </a:r>
          </a:p>
        </p:txBody>
      </p:sp>
      <p:sp>
        <p:nvSpPr>
          <p:cNvPr id="7" name="object 8"/>
          <p:cNvSpPr txBox="1">
            <a:spLocks noGrp="1"/>
          </p:cNvSpPr>
          <p:nvPr>
            <p:ph type="ftr" sz="quarter" idx="5"/>
          </p:nvPr>
        </p:nvSpPr>
        <p:spPr>
          <a:xfrm>
            <a:off x="220162" y="4876136"/>
            <a:ext cx="7742738" cy="276999"/>
          </a:xfrm>
          <a:prstGeom prst="rect">
            <a:avLst/>
          </a:prstGeom>
        </p:spPr>
        <p:txBody>
          <a:bodyPr vert="horz" wrap="square" lIns="0" tIns="0" rIns="0" bIns="0" rtlCol="0">
            <a:spAutoFit/>
          </a:bodyPr>
          <a:lstStyle/>
          <a:p>
            <a:pPr marL="12700">
              <a:lnSpc>
                <a:spcPct val="100000"/>
              </a:lnSpc>
            </a:pPr>
            <a:r>
              <a:rPr lang="en-US" dirty="0" smtClean="0"/>
              <a:t>Python Academy – www.pythonacademy.in</a:t>
            </a:r>
            <a:endParaRPr lang="en-US" spc="-5" dirty="0"/>
          </a:p>
        </p:txBody>
      </p:sp>
      <p:pic>
        <p:nvPicPr>
          <p:cNvPr id="10" name="Picture 2" descr="F:\Training\Anup Kelkars Academy\Marketing\09.jpg"/>
          <p:cNvPicPr>
            <a:picLocks noChangeAspect="1" noChangeArrowheads="1"/>
          </p:cNvPicPr>
          <p:nvPr/>
        </p:nvPicPr>
        <p:blipFill>
          <a:blip r:embed="rId2" cstate="print"/>
          <a:srcRect/>
          <a:stretch>
            <a:fillRect/>
          </a:stretch>
        </p:blipFill>
        <p:spPr bwMode="auto">
          <a:xfrm>
            <a:off x="7658100" y="133350"/>
            <a:ext cx="1333500" cy="496105"/>
          </a:xfrm>
          <a:prstGeom prst="rect">
            <a:avLst/>
          </a:prstGeom>
          <a:noFill/>
        </p:spPr>
      </p:pic>
      <p:pic>
        <p:nvPicPr>
          <p:cNvPr id="11" name="Picture 4" descr="F:\Training\Anup Kelkars Academy\PrintMaterial\Visiting Card\PythonAcademy_Logo.png"/>
          <p:cNvPicPr>
            <a:picLocks noChangeAspect="1" noChangeArrowheads="1"/>
          </p:cNvPicPr>
          <p:nvPr/>
        </p:nvPicPr>
        <p:blipFill>
          <a:blip r:embed="rId3" cstate="print"/>
          <a:srcRect/>
          <a:stretch>
            <a:fillRect/>
          </a:stretch>
        </p:blipFill>
        <p:spPr bwMode="auto">
          <a:xfrm>
            <a:off x="6896100" y="112306"/>
            <a:ext cx="762000" cy="630644"/>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AWS Day 3 - EC2 - Dem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CC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AWS Day 3 - EC2 - Demo</Template>
  <TotalTime>2426</TotalTime>
  <Words>1404</Words>
  <Application>Microsoft Office PowerPoint</Application>
  <PresentationFormat>On-screen Show (16:9)</PresentationFormat>
  <Paragraphs>221</Paragraphs>
  <Slides>27</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Arial</vt:lpstr>
      <vt:lpstr>Calibri</vt:lpstr>
      <vt:lpstr>Consolas</vt:lpstr>
      <vt:lpstr>Courier New</vt:lpstr>
      <vt:lpstr>Gill Sans MT</vt:lpstr>
      <vt:lpstr>Mangal</vt:lpstr>
      <vt:lpstr>Segoe UI</vt:lpstr>
      <vt:lpstr>Source Sans Pro</vt:lpstr>
      <vt:lpstr>Times New Roman</vt:lpstr>
      <vt:lpstr>Verdana</vt:lpstr>
      <vt:lpstr>AWS Day 3 - EC2 - Demo</vt:lpstr>
      <vt:lpstr>PowerPoint Presentation</vt:lpstr>
      <vt:lpstr> Course Contents </vt:lpstr>
      <vt:lpstr>Native Data Types</vt:lpstr>
      <vt:lpstr>Immutable Types</vt:lpstr>
      <vt:lpstr>String: Accessing Elements</vt:lpstr>
      <vt:lpstr>Counting Backwards</vt:lpstr>
      <vt:lpstr>Index Out of Range!</vt:lpstr>
      <vt:lpstr>Easy Traversals – The FOR Loop</vt:lpstr>
      <vt:lpstr>Grabbing Slices from a Sequence</vt:lpstr>
      <vt:lpstr>Slices – Default Values for Blanks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V11</dc:creator>
  <cp:lastModifiedBy>hp</cp:lastModifiedBy>
  <cp:revision>239</cp:revision>
  <dcterms:created xsi:type="dcterms:W3CDTF">2006-08-16T00:00:00Z</dcterms:created>
  <dcterms:modified xsi:type="dcterms:W3CDTF">2024-03-23T05:15:06Z</dcterms:modified>
</cp:coreProperties>
</file>