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1" r:id="rId4"/>
    <p:sldId id="280" r:id="rId5"/>
    <p:sldId id="281" r:id="rId6"/>
    <p:sldId id="278" r:id="rId7"/>
    <p:sldId id="279" r:id="rId8"/>
    <p:sldId id="272" r:id="rId9"/>
    <p:sldId id="273" r:id="rId10"/>
    <p:sldId id="274" r:id="rId11"/>
    <p:sldId id="275" r:id="rId12"/>
    <p:sldId id="269" r:id="rId13"/>
  </p:sldIdLst>
  <p:sldSz cx="12192000" cy="68580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ezQu757ikBwEkJnaHYREhfMv0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3A1B18-B881-4407-BAFB-5ACBA4219FA1}">
  <a:tblStyle styleId="{063A1B18-B881-4407-BAFB-5ACBA4219F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00500" y="548625"/>
            <a:ext cx="64011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72CD095-9EB4-F6BA-6613-FD0566A9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38AC857-0597-3717-2C8A-2E9E0CF48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6797904-92C6-F77D-3CDB-EF870ED5C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94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602B00D-D456-E92E-8998-CCC72D52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0644FD2-EB0D-24AF-7C0F-2EC5A741D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4C76558-BA42-3A0E-80DB-85F51BCAC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1254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21F471E-0C24-6C7D-FEEE-3C40880B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B25BBAF-67CD-0DD9-89B5-CC4192674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7D38A4B2-B2A0-4078-EC74-FD8624089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477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2530906-1E03-2C94-29BC-A8721055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DF7CA46-76D7-334E-1215-7FAD16ED6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F7AA9E7-A778-715D-066B-F87DFDE2E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6435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F6B1BA8-6061-DDBE-C982-1DFE0D32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5C40FD7-4C02-3B18-72FF-79EB7B42C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5A33D4A-12FD-72AB-6070-201903568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431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7F8CB4D-6BA1-C287-D984-5120D270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B16BF6B-2E20-81B7-6C38-4B4AE34B6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03B1DDC-F03B-AE7E-0BE2-CD1822B54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547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51987" y="2401487"/>
            <a:ext cx="7086600" cy="125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Compression</a:t>
            </a:r>
            <a:endParaRPr b="1" dirty="0"/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705210502</a:t>
            </a:r>
          </a:p>
        </p:txBody>
      </p:sp>
      <p:sp>
        <p:nvSpPr>
          <p:cNvPr id="86" name="Google Shape;86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648509" y="6163616"/>
            <a:ext cx="7086600" cy="3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Gyana Ranjana Panigrahi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01461-FB7C-1A24-5473-F84E8C59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66"/>
          <a:stretch/>
        </p:blipFill>
        <p:spPr>
          <a:xfrm>
            <a:off x="1141987" y="132147"/>
            <a:ext cx="9906597" cy="139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B713DF-7A46-05EC-BB82-3158FD62FAAC}"/>
              </a:ext>
            </a:extLst>
          </p:cNvPr>
          <p:cNvSpPr txBox="1"/>
          <p:nvPr/>
        </p:nvSpPr>
        <p:spPr>
          <a:xfrm>
            <a:off x="3047286" y="48708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Huffman Coding</a:t>
            </a:r>
            <a:endParaRPr lang="en-US" sz="32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3611DA4-8EAC-704B-FA17-8EC0F76D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8193408F-202C-3C63-E781-D56C03533F5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C337F-8767-EE20-1EE6-E8E2E1E8D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831E3F-522C-9484-05DE-5CEA5AE92EB5}"/>
              </a:ext>
            </a:extLst>
          </p:cNvPr>
          <p:cNvSpPr txBox="1"/>
          <p:nvPr/>
        </p:nvSpPr>
        <p:spPr>
          <a:xfrm>
            <a:off x="391885" y="981710"/>
            <a:ext cx="8479972" cy="172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Huffman Coding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way to: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Give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shorter codes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frequent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symbols (like emojis, letters, or numbers).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Give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longer codes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rare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symbols.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So,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overall average number of bits goes down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→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Compression!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F0EEB-CFE3-4AB8-098E-62300DA9CA8A}"/>
              </a:ext>
            </a:extLst>
          </p:cNvPr>
          <p:cNvSpPr txBox="1"/>
          <p:nvPr/>
        </p:nvSpPr>
        <p:spPr>
          <a:xfrm>
            <a:off x="152400" y="5829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What is Huffman Coding?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8EA37-61D5-C841-31E6-9B6069895B89}"/>
              </a:ext>
            </a:extLst>
          </p:cNvPr>
          <p:cNvSpPr txBox="1"/>
          <p:nvPr/>
        </p:nvSpPr>
        <p:spPr>
          <a:xfrm>
            <a:off x="391885" y="286931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Imagine This Real-Life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7B62E-CF3B-855D-CEDC-C3F6BB9571A1}"/>
              </a:ext>
            </a:extLst>
          </p:cNvPr>
          <p:cNvSpPr txBox="1"/>
          <p:nvPr/>
        </p:nvSpPr>
        <p:spPr>
          <a:xfrm>
            <a:off x="391885" y="345475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You have these emojis in your messages: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36B554-B757-DB4B-1908-7888074C3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824931"/>
              </p:ext>
            </p:extLst>
          </p:nvPr>
        </p:nvGraphicFramePr>
        <p:xfrm>
          <a:off x="391885" y="4014431"/>
          <a:ext cx="5900058" cy="1584960"/>
        </p:xfrm>
        <a:graphic>
          <a:graphicData uri="http://schemas.openxmlformats.org/drawingml/2006/table">
            <a:tbl>
              <a:tblPr/>
              <a:tblGrid>
                <a:gridCol w="1661886">
                  <a:extLst>
                    <a:ext uri="{9D8B030D-6E8A-4147-A177-3AD203B41FA5}">
                      <a16:colId xmlns:a16="http://schemas.microsoft.com/office/drawing/2014/main" val="3504138008"/>
                    </a:ext>
                  </a:extLst>
                </a:gridCol>
                <a:gridCol w="2648858">
                  <a:extLst>
                    <a:ext uri="{9D8B030D-6E8A-4147-A177-3AD203B41FA5}">
                      <a16:colId xmlns:a16="http://schemas.microsoft.com/office/drawing/2014/main" val="2947944363"/>
                    </a:ext>
                  </a:extLst>
                </a:gridCol>
                <a:gridCol w="1589314">
                  <a:extLst>
                    <a:ext uri="{9D8B030D-6E8A-4147-A177-3AD203B41FA5}">
                      <a16:colId xmlns:a16="http://schemas.microsoft.com/office/drawing/2014/main" val="3125935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How Often You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3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Very frequent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66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30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Rare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6584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83B6911-CEB9-B42C-F033-B4548EE21D48}"/>
              </a:ext>
            </a:extLst>
          </p:cNvPr>
          <p:cNvSpPr txBox="1"/>
          <p:nvPr/>
        </p:nvSpPr>
        <p:spPr>
          <a:xfrm>
            <a:off x="7652656" y="4014431"/>
            <a:ext cx="40386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😊 → Common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😢 → Less common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😡 → Rare</a:t>
            </a:r>
          </a:p>
        </p:txBody>
      </p:sp>
    </p:spTree>
    <p:extLst>
      <p:ext uri="{BB962C8B-B14F-4D97-AF65-F5344CB8AC3E}">
        <p14:creationId xmlns:p14="http://schemas.microsoft.com/office/powerpoint/2010/main" val="123491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38DAE47-E470-3A7C-D533-ECBC029E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8DBBE00-F234-F90A-E775-CA838AE8009D}"/>
              </a:ext>
            </a:extLst>
          </p:cNvPr>
          <p:cNvSpPr txBox="1"/>
          <p:nvPr/>
        </p:nvSpPr>
        <p:spPr>
          <a:xfrm>
            <a:off x="2648509" y="76201"/>
            <a:ext cx="6893559" cy="124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9D0C0582-26D9-C0B7-B30D-C20C7F68142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2DF53AA1-1AC3-5824-0FE3-74BB2BA9D8BE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E2877869-A5D5-C5AC-F74E-D6FD612591CC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7FF0A-2D38-8740-5146-9C969A950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31DB16-5EEC-B02B-B636-0AE586CA3F24}"/>
              </a:ext>
            </a:extLst>
          </p:cNvPr>
          <p:cNvSpPr txBox="1"/>
          <p:nvPr/>
        </p:nvSpPr>
        <p:spPr>
          <a:xfrm>
            <a:off x="68595" y="1464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Goal of Huffman Coding: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DEE04-E98F-17D6-6B63-B834BF2589A7}"/>
              </a:ext>
            </a:extLst>
          </p:cNvPr>
          <p:cNvSpPr txBox="1"/>
          <p:nvPr/>
        </p:nvSpPr>
        <p:spPr>
          <a:xfrm>
            <a:off x="326572" y="417135"/>
            <a:ext cx="7336971" cy="2718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Assign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binary codes (like 0s and 1s)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to these emojis such that: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Common symbols = Short codes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Rare symbols = Long codes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No code is a prefix of another → no confusion in decoding.</a:t>
            </a:r>
            <a:b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You can decode the message </a:t>
            </a:r>
            <a:r>
              <a:rPr lang="en-US" sz="18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uniquely</a:t>
            </a:r>
            <a:r>
              <a:rPr lang="en-US" sz="1800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correctly</a:t>
            </a:r>
            <a:r>
              <a:rPr lang="en-US" sz="1800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, just by reading it </a:t>
            </a:r>
            <a:r>
              <a:rPr lang="en-US" sz="1800" b="1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from left to right</a:t>
            </a:r>
            <a:r>
              <a:rPr lang="en-US" sz="1800" dirty="0">
                <a:highlight>
                  <a:srgbClr val="FF00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, one bit at a time — no guessing, no backtracking.</a:t>
            </a:r>
            <a:endParaRPr lang="en-US" sz="2000" dirty="0">
              <a:highlight>
                <a:srgbClr val="FF00FF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88DE6-EB6A-4A2E-B852-E2736B0151FB}"/>
              </a:ext>
            </a:extLst>
          </p:cNvPr>
          <p:cNvSpPr txBox="1"/>
          <p:nvPr/>
        </p:nvSpPr>
        <p:spPr>
          <a:xfrm>
            <a:off x="5315078" y="33264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Let’s Do Huffman Coding Step-by-Step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32AA7B-62B1-C754-A3F6-52D8763B529B}"/>
              </a:ext>
            </a:extLst>
          </p:cNvPr>
          <p:cNvSpPr txBox="1"/>
          <p:nvPr/>
        </p:nvSpPr>
        <p:spPr>
          <a:xfrm>
            <a:off x="5660246" y="376340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Step 1: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List emojis with their probabilities: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014D902-302D-3AAB-0614-A325B6422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04099"/>
              </p:ext>
            </p:extLst>
          </p:nvPr>
        </p:nvGraphicFramePr>
        <p:xfrm>
          <a:off x="6164595" y="4413958"/>
          <a:ext cx="3206128" cy="1584960"/>
        </p:xfrm>
        <a:graphic>
          <a:graphicData uri="http://schemas.openxmlformats.org/drawingml/2006/table">
            <a:tbl>
              <a:tblPr/>
              <a:tblGrid>
                <a:gridCol w="1603064">
                  <a:extLst>
                    <a:ext uri="{9D8B030D-6E8A-4147-A177-3AD203B41FA5}">
                      <a16:colId xmlns:a16="http://schemas.microsoft.com/office/drawing/2014/main" val="4292452312"/>
                    </a:ext>
                  </a:extLst>
                </a:gridCol>
                <a:gridCol w="1603064">
                  <a:extLst>
                    <a:ext uri="{9D8B030D-6E8A-4147-A177-3AD203B41FA5}">
                      <a16:colId xmlns:a16="http://schemas.microsoft.com/office/drawing/2014/main" val="532860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2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01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7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86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7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4F33-7474-B0B6-9F77-5A92A218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931"/>
            <a:ext cx="10972800" cy="70507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 With Confusion (BAD codes)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740C7-7118-B9DE-E9AF-61DFC1379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66018"/>
            <a:ext cx="10972800" cy="524566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Let’s say you have these binary codes for 3 symbols: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Now try to decode the string: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011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You could read: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= 0 → leftover: 11 → doesn’t match anything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maybe B = 01 → leftover: 1 → doesn’t match anything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maybe C = 011 → perfect match?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Too many options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→ Confusion!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B74746-8187-FF1F-25ED-8C9C67088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06008"/>
              </p:ext>
            </p:extLst>
          </p:nvPr>
        </p:nvGraphicFramePr>
        <p:xfrm>
          <a:off x="7717971" y="1844040"/>
          <a:ext cx="3984172" cy="1584960"/>
        </p:xfrm>
        <a:graphic>
          <a:graphicData uri="http://schemas.openxmlformats.org/drawingml/2006/table">
            <a:tbl>
              <a:tblPr/>
              <a:tblGrid>
                <a:gridCol w="1992086">
                  <a:extLst>
                    <a:ext uri="{9D8B030D-6E8A-4147-A177-3AD203B41FA5}">
                      <a16:colId xmlns:a16="http://schemas.microsoft.com/office/drawing/2014/main" val="3941196875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1143557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58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818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02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4338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4C29475-8E57-EA32-A759-CA37FE834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7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40DC-51C7-6BA7-2B41-BAD50FD3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Prefix-Free Codes (GOOD Huffman codes)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44C60-D16D-5727-4B7B-05D953841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Let’s use </a:t>
            </a:r>
            <a:r>
              <a:rPr lang="en-US" b="1" dirty="0"/>
              <a:t>valid Huffman codes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A7C75-1A38-3C1C-AAC2-7DDB7EA1B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4DC1EE-E4B0-3D62-FDFF-CDAB489D0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28543"/>
              </p:ext>
            </p:extLst>
          </p:nvPr>
        </p:nvGraphicFramePr>
        <p:xfrm>
          <a:off x="7609114" y="2278222"/>
          <a:ext cx="2351314" cy="1584960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418232206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531058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61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12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29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53142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FAECE6F-5E6F-3A74-B772-E2C6EFE7F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88" y="2432021"/>
            <a:ext cx="69124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Now try to decode: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01110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 → 😊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 → 😡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 → 😊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There’s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ambiguity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because: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code is a starting part (prefix) of any other code.</a:t>
            </a:r>
          </a:p>
        </p:txBody>
      </p:sp>
    </p:spTree>
    <p:extLst>
      <p:ext uri="{BB962C8B-B14F-4D97-AF65-F5344CB8AC3E}">
        <p14:creationId xmlns:p14="http://schemas.microsoft.com/office/powerpoint/2010/main" val="227513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035AD64-41A6-8EF4-A3C6-38F3879B046C}"/>
              </a:ext>
            </a:extLst>
          </p:cNvPr>
          <p:cNvSpPr txBox="1"/>
          <p:nvPr/>
        </p:nvSpPr>
        <p:spPr>
          <a:xfrm>
            <a:off x="1410640" y="1448608"/>
            <a:ext cx="8669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Step 2: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Pick two smallest probabilities and combine them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E7C9B4D-BBAC-B14D-051A-6F1FD263F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640" y="2200205"/>
            <a:ext cx="89976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Combine 😡 (0.2) + 😢 (0.3) → New node with probability = </a:t>
            </a:r>
            <a:r>
              <a:rPr lang="en-US" alt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0.5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Now we have: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D188A04-A746-7419-39E0-DB821253C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31845"/>
              </p:ext>
            </p:extLst>
          </p:nvPr>
        </p:nvGraphicFramePr>
        <p:xfrm>
          <a:off x="3608614" y="3429000"/>
          <a:ext cx="4974772" cy="1188720"/>
        </p:xfrm>
        <a:graphic>
          <a:graphicData uri="http://schemas.openxmlformats.org/drawingml/2006/table">
            <a:tbl>
              <a:tblPr/>
              <a:tblGrid>
                <a:gridCol w="2487386">
                  <a:extLst>
                    <a:ext uri="{9D8B030D-6E8A-4147-A177-3AD203B41FA5}">
                      <a16:colId xmlns:a16="http://schemas.microsoft.com/office/drawing/2014/main" val="2179179659"/>
                    </a:ext>
                  </a:extLst>
                </a:gridCol>
                <a:gridCol w="2487386">
                  <a:extLst>
                    <a:ext uri="{9D8B030D-6E8A-4147-A177-3AD203B41FA5}">
                      <a16:colId xmlns:a16="http://schemas.microsoft.com/office/drawing/2014/main" val="760501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Prob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081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078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😢 + 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91302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EE99699-099A-EFD7-5517-A86F05C7E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00BA5-3FED-93B8-D2FE-A3E0BB231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10012"/>
              </p:ext>
            </p:extLst>
          </p:nvPr>
        </p:nvGraphicFramePr>
        <p:xfrm>
          <a:off x="242767" y="4522815"/>
          <a:ext cx="3206128" cy="1584960"/>
        </p:xfrm>
        <a:graphic>
          <a:graphicData uri="http://schemas.openxmlformats.org/drawingml/2006/table">
            <a:tbl>
              <a:tblPr/>
              <a:tblGrid>
                <a:gridCol w="1603064">
                  <a:extLst>
                    <a:ext uri="{9D8B030D-6E8A-4147-A177-3AD203B41FA5}">
                      <a16:colId xmlns:a16="http://schemas.microsoft.com/office/drawing/2014/main" val="4292452312"/>
                    </a:ext>
                  </a:extLst>
                </a:gridCol>
                <a:gridCol w="1603064">
                  <a:extLst>
                    <a:ext uri="{9D8B030D-6E8A-4147-A177-3AD203B41FA5}">
                      <a16:colId xmlns:a16="http://schemas.microsoft.com/office/drawing/2014/main" val="532860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2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01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7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i="0" dirty="0"/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86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8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5DC74B8-5CD9-34C5-8654-28710B7D157A}"/>
              </a:ext>
            </a:extLst>
          </p:cNvPr>
          <p:cNvSpPr txBox="1"/>
          <p:nvPr/>
        </p:nvSpPr>
        <p:spPr>
          <a:xfrm>
            <a:off x="239485" y="244753"/>
            <a:ext cx="6890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Step 4: Assign binary codes from tree (Left = 0, Right = 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65E21-11E2-0004-6823-91EE9E3EA9BC}"/>
              </a:ext>
            </a:extLst>
          </p:cNvPr>
          <p:cNvSpPr txBox="1"/>
          <p:nvPr/>
        </p:nvSpPr>
        <p:spPr>
          <a:xfrm>
            <a:off x="3026228" y="957274"/>
            <a:ext cx="4528458" cy="188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Starting from the top: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😊 → Left → 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😢 → Right → Left → 10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😡 → Right → Right →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AEF84F-F3D4-448D-CB48-7A481A260100}"/>
              </a:ext>
            </a:extLst>
          </p:cNvPr>
          <p:cNvSpPr txBox="1"/>
          <p:nvPr/>
        </p:nvSpPr>
        <p:spPr>
          <a:xfrm>
            <a:off x="152400" y="3004458"/>
            <a:ext cx="2971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So the final codes are: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7D65C92-7E52-1277-D873-E08B5B39E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21923"/>
              </p:ext>
            </p:extLst>
          </p:nvPr>
        </p:nvGraphicFramePr>
        <p:xfrm>
          <a:off x="3638550" y="3429000"/>
          <a:ext cx="4914900" cy="1584960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964848136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240737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Huffman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2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3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789860"/>
                  </a:ext>
                </a:extLst>
              </a:tr>
              <a:tr h="1318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7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89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F6236CE-4481-6F25-FD41-F1C0ADFF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8280D61-F78F-CEB6-85C8-AE13FFF28CEA}"/>
              </a:ext>
            </a:extLst>
          </p:cNvPr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Times New Roman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b="0" i="0" u="none" strike="noStrike" cap="none">
              <a:solidFill>
                <a:schemeClr val="dk1"/>
              </a:solidFill>
              <a:latin typeface="Times New Roman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Times New Roman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b="0" i="0" u="none" strike="noStrike" cap="none">
              <a:solidFill>
                <a:schemeClr val="dk1"/>
              </a:solidFill>
              <a:latin typeface="Times New Roman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171ACCD9-3B60-FB4C-147E-6CAA53D6FB52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EEEFFAB0-D63C-5E13-E0CD-2F4201EA3E3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5F37537F-0967-F4A9-3AD2-51C59C0A2815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DF932-2BAC-11C9-0233-ED2191264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6D6C40-8174-7579-E0B5-59B81620B6AF}"/>
              </a:ext>
            </a:extLst>
          </p:cNvPr>
          <p:cNvSpPr txBox="1"/>
          <p:nvPr/>
        </p:nvSpPr>
        <p:spPr>
          <a:xfrm>
            <a:off x="152400" y="11164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Step 3: Now combine the two remaining nodes: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D67CD-031A-08E3-9908-6C0BB2323293}"/>
              </a:ext>
            </a:extLst>
          </p:cNvPr>
          <p:cNvSpPr txBox="1"/>
          <p:nvPr/>
        </p:nvSpPr>
        <p:spPr>
          <a:xfrm>
            <a:off x="533400" y="7850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Combine 😊 and (😢 + 😡) → Final root = 1.0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B8B91-AFE7-2111-1BEC-38AAFB55758B}"/>
              </a:ext>
            </a:extLst>
          </p:cNvPr>
          <p:cNvSpPr txBox="1"/>
          <p:nvPr/>
        </p:nvSpPr>
        <p:spPr>
          <a:xfrm>
            <a:off x="1984375" y="134893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Now we’ve built the tree!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F494A-2B4C-B87E-4DB1-0ECC82CD1E89}"/>
              </a:ext>
            </a:extLst>
          </p:cNvPr>
          <p:cNvSpPr txBox="1"/>
          <p:nvPr/>
        </p:nvSpPr>
        <p:spPr>
          <a:xfrm>
            <a:off x="2503714" y="191281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Huffman Tree Diagram (in words):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27228-4D73-4B23-886D-E06C146A22E2}"/>
              </a:ext>
            </a:extLst>
          </p:cNvPr>
          <p:cNvSpPr txBox="1"/>
          <p:nvPr/>
        </p:nvSpPr>
        <p:spPr>
          <a:xfrm>
            <a:off x="3446068" y="2476699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         [1.0]</a:t>
            </a:r>
          </a:p>
          <a:p>
            <a:r>
              <a:rPr lang="en-US" sz="2400" b="1" dirty="0"/>
              <a:t>          /     \</a:t>
            </a:r>
          </a:p>
          <a:p>
            <a:r>
              <a:rPr lang="en-US" sz="2400" b="1" dirty="0"/>
              <a:t>😊 (0.5)  [😢+😡](0.5)</a:t>
            </a:r>
          </a:p>
          <a:p>
            <a:r>
              <a:rPr lang="en-US" sz="2400" b="1" dirty="0"/>
              <a:t>                 /     \</a:t>
            </a:r>
          </a:p>
          <a:p>
            <a:r>
              <a:rPr lang="en-US" sz="2400" b="1" dirty="0"/>
              <a:t>              😢(0.3)  😡(0.2)</a:t>
            </a:r>
          </a:p>
        </p:txBody>
      </p:sp>
    </p:spTree>
    <p:extLst>
      <p:ext uri="{BB962C8B-B14F-4D97-AF65-F5344CB8AC3E}">
        <p14:creationId xmlns:p14="http://schemas.microsoft.com/office/powerpoint/2010/main" val="94012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D4E5D60-3B71-1375-D2BE-8F7CC96F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4B26D6A2-14D1-248A-3E0C-55454A7F0B1A}"/>
              </a:ext>
            </a:extLst>
          </p:cNvPr>
          <p:cNvSpPr txBox="1"/>
          <p:nvPr/>
        </p:nvSpPr>
        <p:spPr>
          <a:xfrm>
            <a:off x="2648509" y="76201"/>
            <a:ext cx="6893559" cy="124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37E88F93-A580-E87E-B812-4131FB9B6DF6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CEE5B8B3-93E1-A5D4-CE4B-F0110931A398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BCC0011B-1DD3-2001-874F-B13F34D40DFF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04885-23B7-D102-851A-893638E46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E0399-AF8A-221A-1849-3575BB78A406}"/>
              </a:ext>
            </a:extLst>
          </p:cNvPr>
          <p:cNvSpPr txBox="1"/>
          <p:nvPr/>
        </p:nvSpPr>
        <p:spPr>
          <a:xfrm>
            <a:off x="152400" y="22117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Step 5: Calculate Average Code Length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4012E-A511-CBA5-1C71-2A4CEE9E26D0}"/>
              </a:ext>
            </a:extLst>
          </p:cNvPr>
          <p:cNvSpPr txBox="1"/>
          <p:nvPr/>
        </p:nvSpPr>
        <p:spPr>
          <a:xfrm>
            <a:off x="435427" y="740033"/>
            <a:ext cx="6738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Now let’s multiply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probability × code length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each: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D9C4CC-D24B-23CB-D502-AD48E1EFC7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5146" y="1313452"/>
            <a:ext cx="9107171" cy="704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3E47BC-4559-06BC-C2A0-B8325415795B}"/>
              </a:ext>
            </a:extLst>
          </p:cNvPr>
          <p:cNvSpPr txBox="1"/>
          <p:nvPr/>
        </p:nvSpPr>
        <p:spPr>
          <a:xfrm>
            <a:off x="609600" y="21008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Compare with Fixed-Length 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D66D2-D1EF-B4FB-2619-DAB485534E10}"/>
              </a:ext>
            </a:extLst>
          </p:cNvPr>
          <p:cNvSpPr txBox="1"/>
          <p:nvPr/>
        </p:nvSpPr>
        <p:spPr>
          <a:xfrm>
            <a:off x="908244" y="2629700"/>
            <a:ext cx="10374086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you didn't use Huffman: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You’d assign each emoji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fixed-length 2-bit code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😊 = 00, 😢 = 01, 😡 = 10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So every emoji would use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 bits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But Huffman coding brings it down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1.5 bits on average!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That’s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25% saving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55BA7A1-4396-55CA-F21F-64AD809B2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564378"/>
              </p:ext>
            </p:extLst>
          </p:nvPr>
        </p:nvGraphicFramePr>
        <p:xfrm>
          <a:off x="7884350" y="4452258"/>
          <a:ext cx="3437164" cy="1889760"/>
        </p:xfrm>
        <a:graphic>
          <a:graphicData uri="http://schemas.openxmlformats.org/drawingml/2006/table">
            <a:tbl>
              <a:tblPr/>
              <a:tblGrid>
                <a:gridCol w="1718582">
                  <a:extLst>
                    <a:ext uri="{9D8B030D-6E8A-4147-A177-3AD203B41FA5}">
                      <a16:colId xmlns:a16="http://schemas.microsoft.com/office/drawing/2014/main" val="2964848136"/>
                    </a:ext>
                  </a:extLst>
                </a:gridCol>
                <a:gridCol w="1718582">
                  <a:extLst>
                    <a:ext uri="{9D8B030D-6E8A-4147-A177-3AD203B41FA5}">
                      <a16:colId xmlns:a16="http://schemas.microsoft.com/office/drawing/2014/main" val="1240737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Huffman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2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3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789860"/>
                  </a:ext>
                </a:extLst>
              </a:tr>
              <a:tr h="1318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7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0E15D93-327F-D36D-DEE1-D44FF251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2B70679-48A4-D25A-6A63-A357910CE6C2}"/>
              </a:ext>
            </a:extLst>
          </p:cNvPr>
          <p:cNvSpPr txBox="1"/>
          <p:nvPr/>
        </p:nvSpPr>
        <p:spPr>
          <a:xfrm>
            <a:off x="2648509" y="76201"/>
            <a:ext cx="6893559" cy="124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20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41FF3630-EF2B-EA30-2B29-B02BD3F20372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393FC745-C7C1-3E80-9A59-FF22F03B15B3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F71739F6-546B-491F-C33E-0153CDF4C6F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03FDA-2302-0DAA-AAB0-3EB47A362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F62AD6-4088-2AC0-541D-48511B1F2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88429"/>
              </p:ext>
            </p:extLst>
          </p:nvPr>
        </p:nvGraphicFramePr>
        <p:xfrm>
          <a:off x="609600" y="1728712"/>
          <a:ext cx="10972800" cy="1584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15620190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844091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210250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19868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Huffman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0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86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333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4627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A0E267-7388-D0B5-6CDE-442B94C75E7B}"/>
              </a:ext>
            </a:extLst>
          </p:cNvPr>
          <p:cNvSpPr txBox="1"/>
          <p:nvPr/>
        </p:nvSpPr>
        <p:spPr>
          <a:xfrm>
            <a:off x="3048000" y="381137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Total average = 1.5 bits/symbol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(vs. 2 bits before)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62479-B3A9-B502-01F8-7D29B423042D}"/>
              </a:ext>
            </a:extLst>
          </p:cNvPr>
          <p:cNvSpPr txBox="1"/>
          <p:nvPr/>
        </p:nvSpPr>
        <p:spPr>
          <a:xfrm>
            <a:off x="1549050" y="1231007"/>
            <a:ext cx="226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2845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31FB3C0E-F463-4EEE-8EB5-D132F551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AA1D7182-C79C-5E76-AEA5-CBA480C81CBE}"/>
              </a:ext>
            </a:extLst>
          </p:cNvPr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1D56A0C7-14EB-2F94-A5C8-C9B1AFA16428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8767184C-D928-6E07-DC9A-DB3CB58C2CF5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558FFCA1-D256-78C2-32EB-828CCD7F533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F87AC-482F-CAB6-A918-F7D9406E2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18FB67-E8E0-8E49-383C-7A39E6AF7691}"/>
              </a:ext>
            </a:extLst>
          </p:cNvPr>
          <p:cNvSpPr txBox="1"/>
          <p:nvPr/>
        </p:nvSpPr>
        <p:spPr>
          <a:xfrm>
            <a:off x="1284596" y="1993388"/>
            <a:ext cx="9621384" cy="259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“Huffman Coding saves space by being smart.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If I use 😊 a lot, I give it a small code like 0.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If I rarely use 😡, I don’t mind giving it a longer code like 11.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When I add up the average, I save space!”</a:t>
            </a:r>
          </a:p>
        </p:txBody>
      </p:sp>
    </p:spTree>
    <p:extLst>
      <p:ext uri="{BB962C8B-B14F-4D97-AF65-F5344CB8AC3E}">
        <p14:creationId xmlns:p14="http://schemas.microsoft.com/office/powerpoint/2010/main" val="266639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0" y="1447800"/>
            <a:ext cx="1161237" cy="5445250"/>
          </a:xfrm>
          <a:prstGeom prst="rect">
            <a:avLst/>
          </a:prstGeom>
          <a:solidFill>
            <a:srgbClr val="D5450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ank you png images | PNGWing">
            <a:extLst>
              <a:ext uri="{FF2B5EF4-FFF2-40B4-BE49-F238E27FC236}">
                <a16:creationId xmlns:a16="http://schemas.microsoft.com/office/drawing/2014/main" id="{06EC04FC-DAEC-E19C-575C-995B348A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86" y="2705100"/>
            <a:ext cx="3429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9A2052-210C-0035-D641-EE3EA6DA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66"/>
          <a:stretch/>
        </p:blipFill>
        <p:spPr>
          <a:xfrm>
            <a:off x="1141988" y="0"/>
            <a:ext cx="9906597" cy="1397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1091</Words>
  <Application>Microsoft Office PowerPoint</Application>
  <PresentationFormat>Widescreen</PresentationFormat>
  <Paragraphs>168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Example With Confusion (BAD codes)</vt:lpstr>
      <vt:lpstr>Prefix-Free Codes (GOOD Huffman codes)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Gyana Ranjana Panigrahi</cp:lastModifiedBy>
  <cp:revision>27</cp:revision>
  <dcterms:created xsi:type="dcterms:W3CDTF">2021-01-13T03:33:40Z</dcterms:created>
  <dcterms:modified xsi:type="dcterms:W3CDTF">2025-07-17T06:09:26Z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2021-01-13T00:00:00Z</vt:filetime>
  </property>
</Properties>
</file>