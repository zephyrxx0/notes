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0" r:id="rId4"/>
    <p:sldId id="269" r:id="rId5"/>
  </p:sldIdLst>
  <p:sldSz cx="12192000" cy="68580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ezQu757ikBwEkJnaHYREhfMv0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3A1B18-B881-4407-BAFB-5ACBA4219FA1}">
  <a:tblStyle styleId="{063A1B18-B881-4407-BAFB-5ACBA4219F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2857" autoAdjust="0"/>
  </p:normalViewPr>
  <p:slideViewPr>
    <p:cSldViewPr snapToGrid="0">
      <p:cViewPr varScale="1">
        <p:scale>
          <a:sx n="63" d="100"/>
          <a:sy n="63" d="100"/>
        </p:scale>
        <p:origin x="70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customschemas.google.com/relationships/presentationmetadata" Target="meta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00500" y="548625"/>
            <a:ext cx="64011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72CD095-9EB4-F6BA-6613-FD0566A9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38AC857-0597-3717-2C8A-2E9E0CF48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6797904-92C6-F77D-3CDB-EF870ED5C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94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51987" y="2401487"/>
            <a:ext cx="7086600" cy="314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Compression</a:t>
            </a:r>
            <a:endParaRPr b="1" dirty="0"/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705210502</a:t>
            </a:r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endParaRPr lang="en-US" sz="4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LZW Coding</a:t>
            </a:r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Lempel–Ziv–Welch</a:t>
            </a:r>
            <a:endParaRPr sz="4000" b="1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648509" y="5918129"/>
            <a:ext cx="7086600" cy="3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Gyana Ranjana Panigrahi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01461-FB7C-1A24-5473-F84E8C59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66"/>
          <a:stretch/>
        </p:blipFill>
        <p:spPr>
          <a:xfrm>
            <a:off x="1141988" y="0"/>
            <a:ext cx="9906597" cy="13976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0B0FDB2-947D-328B-1989-E2D77EE02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884" y="587903"/>
            <a:ext cx="1147301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Full form: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Lempel–Ziv–Welch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Type: Lossless compression algorithm.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Method: Uses a dictionary-based approach to replace repeated patterns with codes.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Initialization: Starts with all single-character entries in the dictionary.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Working: Builds new dictionary entries dynamically as sequences appear.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 Encodes sequences with shorter integer codes.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Advantage: Efficient for text with many repeated patterns.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Applications: Used in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GIF, TIFF, PDF, Unix compress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Benefit: Simple, fast, and works well without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prior knowledge of data statistics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41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3611DA4-8EAC-704B-FA17-8EC0F76D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8193408F-202C-3C63-E781-D56C03533F5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63AE9833-CF59-D345-F50B-3622AA8EBC12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EE60F756-ED7A-9C4B-7307-953023805711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C337F-8767-EE20-1EE6-E8E2E1E8D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A52AC8-9845-439D-3AC7-F2A7E5E008A1}"/>
              </a:ext>
            </a:extLst>
          </p:cNvPr>
          <p:cNvSpPr txBox="1"/>
          <p:nvPr/>
        </p:nvSpPr>
        <p:spPr>
          <a:xfrm>
            <a:off x="211735" y="1510123"/>
            <a:ext cx="265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Calibri Light" panose="020F0302020204030204" pitchFamily="34" charset="0"/>
              </a:rPr>
              <a:t>Initial Given Dictionary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F49933-0546-020E-B800-1122D7578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99288"/>
              </p:ext>
            </p:extLst>
          </p:nvPr>
        </p:nvGraphicFramePr>
        <p:xfrm>
          <a:off x="733239" y="2007990"/>
          <a:ext cx="161348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601">
                  <a:extLst>
                    <a:ext uri="{9D8B030D-6E8A-4147-A177-3AD203B41FA5}">
                      <a16:colId xmlns:a16="http://schemas.microsoft.com/office/drawing/2014/main" val="454216737"/>
                    </a:ext>
                  </a:extLst>
                </a:gridCol>
                <a:gridCol w="832887">
                  <a:extLst>
                    <a:ext uri="{9D8B030D-6E8A-4147-A177-3AD203B41FA5}">
                      <a16:colId xmlns:a16="http://schemas.microsoft.com/office/drawing/2014/main" val="1490384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b’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16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5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7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52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069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B7DAFF-A526-9F69-2A88-9F33647FDAB2}"/>
              </a:ext>
            </a:extLst>
          </p:cNvPr>
          <p:cNvSpPr txBox="1"/>
          <p:nvPr/>
        </p:nvSpPr>
        <p:spPr>
          <a:xfrm>
            <a:off x="176918" y="5528035"/>
            <a:ext cx="3424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Encoded Code:</a:t>
            </a:r>
          </a:p>
          <a:p>
            <a:pPr algn="ctr"/>
            <a:endParaRPr lang="en-US" sz="16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“5, 2, 3, 3, 2, 1, 6, 8, 10, 12, 9, 11, 7, 16”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A0EC1D-025B-E368-EADE-837A16E4F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735426"/>
              </p:ext>
            </p:extLst>
          </p:nvPr>
        </p:nvGraphicFramePr>
        <p:xfrm>
          <a:off x="3381053" y="1643285"/>
          <a:ext cx="32712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670">
                  <a:extLst>
                    <a:ext uri="{9D8B030D-6E8A-4147-A177-3AD203B41FA5}">
                      <a16:colId xmlns:a16="http://schemas.microsoft.com/office/drawing/2014/main" val="225057912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41878968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12055386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33045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20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b’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b’w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50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wab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4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bba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90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ab’w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6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wabb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903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bab</a:t>
                      </a:r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8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b’wa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15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6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bab’w</a:t>
                      </a:r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93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465296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CAEDDF21-C701-3526-3A50-0EACEABB5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0059" y="1650432"/>
            <a:ext cx="4955271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Start with a dictionary of all single characters.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the first input symbol as current string w.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next symbol a.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alt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w+a</a:t>
            </a: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in dictionary → set w = </a:t>
            </a:r>
            <a:r>
              <a:rPr lang="en-US" alt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w+a</a:t>
            </a: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Else → output code for w, add </a:t>
            </a:r>
            <a:r>
              <a:rPr lang="en-US" alt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w+a</a:t>
            </a: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dictionary, set w = a.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Repeat until input ends.</a:t>
            </a:r>
          </a:p>
          <a:p>
            <a:pPr marL="51435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code for the final 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B7D7B-4316-93CF-A23F-71CFF3646F70}"/>
              </a:ext>
            </a:extLst>
          </p:cNvPr>
          <p:cNvSpPr txBox="1"/>
          <p:nvPr/>
        </p:nvSpPr>
        <p:spPr>
          <a:xfrm>
            <a:off x="8354180" y="1252999"/>
            <a:ext cx="2227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LZW Encoding Steps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6FA98E5-0879-F6F5-A703-2A2737519097}"/>
              </a:ext>
            </a:extLst>
          </p:cNvPr>
          <p:cNvGrpSpPr/>
          <p:nvPr/>
        </p:nvGrpSpPr>
        <p:grpSpPr>
          <a:xfrm>
            <a:off x="54049" y="33371"/>
            <a:ext cx="8468985" cy="1388905"/>
            <a:chOff x="0" y="-54477"/>
            <a:chExt cx="8468985" cy="138890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09F7C55-428A-0779-613B-B9AF1C0B2F71}"/>
                </a:ext>
              </a:extLst>
            </p:cNvPr>
            <p:cNvSpPr txBox="1"/>
            <p:nvPr/>
          </p:nvSpPr>
          <p:spPr>
            <a:xfrm>
              <a:off x="0" y="-54477"/>
              <a:ext cx="84689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ambria" panose="02040503050406030204" pitchFamily="18" charset="0"/>
                  <a:ea typeface="Cambria" panose="02040503050406030204" pitchFamily="18" charset="0"/>
                  <a:cs typeface="Calibri Light" panose="020F0302020204030204" pitchFamily="34" charset="0"/>
                </a:rPr>
                <a:t>Encode: wabbab’wqbbab’wabbab’wabbab’w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085EA1-472E-29FC-480D-6A9B4CE52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saturation sat="300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66216" y="419417"/>
              <a:ext cx="6529705" cy="62513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43E2DB-75FD-7A90-5F4E-95F953207921}"/>
                </a:ext>
              </a:extLst>
            </p:cNvPr>
            <p:cNvSpPr txBox="1"/>
            <p:nvPr/>
          </p:nvSpPr>
          <p:spPr>
            <a:xfrm>
              <a:off x="1766216" y="995874"/>
              <a:ext cx="66218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 5,      2,    3,  3,  2,    1,      6,        8,        10,        12,        9,       11,     7,         16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491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0" y="1447800"/>
            <a:ext cx="1161237" cy="5445250"/>
          </a:xfrm>
          <a:prstGeom prst="rect">
            <a:avLst/>
          </a:prstGeom>
          <a:solidFill>
            <a:srgbClr val="D5450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ank you png images | PNGWing">
            <a:extLst>
              <a:ext uri="{FF2B5EF4-FFF2-40B4-BE49-F238E27FC236}">
                <a16:creationId xmlns:a16="http://schemas.microsoft.com/office/drawing/2014/main" id="{06EC04FC-DAEC-E19C-575C-995B348A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86" y="2705100"/>
            <a:ext cx="3429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9A2052-210C-0035-D641-EE3EA6DA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66"/>
          <a:stretch/>
        </p:blipFill>
        <p:spPr>
          <a:xfrm>
            <a:off x="1141988" y="0"/>
            <a:ext cx="9906597" cy="1397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455</Words>
  <Application>Microsoft Office PowerPoint</Application>
  <PresentationFormat>Widescreen</PresentationFormat>
  <Paragraphs>87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Full form: Lempel–Ziv–Welch. Type: Lossless compression algorithm. Method: Uses a dictionary-based approach to replace repeated patterns with codes. Initialization: Starts with all single-character entries in the dictionary. Working: Builds new dictionary entries dynamically as sequences appear. Output: Encodes sequences with shorter integer codes. Advantage: Efficient for text with many repeated patterns. Applications: Used in GIF, TIFF, PDF, Unix compress. Benefit: Simple, fast, and works well without prior knowledge of data statistics.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Gyana Ranjana Panigrahi</cp:lastModifiedBy>
  <cp:revision>25</cp:revision>
  <dcterms:created xsi:type="dcterms:W3CDTF">2021-01-13T03:33:40Z</dcterms:created>
  <dcterms:modified xsi:type="dcterms:W3CDTF">2025-09-07T17:32:15Z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2021-01-13T00:00:00Z</vt:filetime>
  </property>
</Properties>
</file>