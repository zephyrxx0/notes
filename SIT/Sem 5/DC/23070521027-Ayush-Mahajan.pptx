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9" r:id="rId3"/>
    <p:sldId id="257" r:id="rId4"/>
    <p:sldId id="259" r:id="rId5"/>
    <p:sldId id="260" r:id="rId6"/>
    <p:sldId id="261" r:id="rId7"/>
    <p:sldId id="272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CC99"/>
    <a:srgbClr val="000099"/>
    <a:srgbClr val="FF7C80"/>
    <a:srgbClr val="996633"/>
    <a:srgbClr val="00FFCC"/>
    <a:srgbClr val="FF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3FEEA-7EF8-4B4F-B647-AD5DE229E75B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9EBBD-D052-4B1B-97A1-FED2D203A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0551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21C35-106D-45D2-98A3-D27A656E76DB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554F3-B0BD-42B2-A7DD-86BA5FCB81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3174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3962-4865-4228-81E3-00D3CFBC0BFA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8300" y="64452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7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9816-9E0E-4378-B675-9EC54FD6E1EE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7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0435-5393-459B-B8D1-48E7839C38C5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4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6B79-AEBC-4F2D-871B-4F95F7AD7A80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45F7-ABF2-4D18-ACD2-7BD0A8EF4B83}" type="datetime1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3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6FB-CD15-47C6-89EF-F7FE10D1EED8}" type="datetime1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9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808B-F1D3-4175-85AD-E8FCCDE72517}" type="datetime1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6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C0D1-6746-44E2-8941-ACBF328B313B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9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EB3B-693B-49EE-AD0C-7C04F31CDB5B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2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63D-5144-4E9D-ACC1-AE116A0B35F1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9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2366-8802-4337-B04F-63ED80D84AF4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4D1D-AFCB-4734-808E-3BDFE7C445A8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8A635C9-4A98-4745-BD96-9D0E32025E6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7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huffman-coding-greedy-algo-3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Huffman_coding" TargetMode="External"/><Relationship Id="rId4" Type="http://schemas.openxmlformats.org/officeDocument/2006/relationships/hyperlink" Target="https://en.wikipedia.org/wiki/Run-length_encoding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4232" y="2658635"/>
            <a:ext cx="12192000" cy="1323439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Practice Problems on Lossless Compression Techniques</a:t>
            </a:r>
            <a:endParaRPr lang="ko-KR" altLang="en-US" sz="4000" dirty="0">
              <a:solidFill>
                <a:schemeClr val="bg1"/>
              </a:solidFill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075545" y="1164362"/>
            <a:ext cx="985356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400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CA-2</a:t>
            </a:r>
            <a:br>
              <a:rPr lang="en-US" altLang="ko-KR" sz="4400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US" altLang="ko-KR" sz="4400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DATA COMPRESSION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311755" y="4089638"/>
            <a:ext cx="6390099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NAME: AYUSH MAHAJAN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PRN: 23070521027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SEMESTER: V</a:t>
            </a:r>
            <a:r>
              <a:rPr lang="en-US" sz="20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SECTION: A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DATE: 21 Aug 2025	</a:t>
            </a:r>
            <a:endParaRPr lang="en-US" altLang="ko-KR" sz="2000" dirty="0">
              <a:solidFill>
                <a:srgbClr val="000099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125" y="4609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56D1-5B51-0127-48D6-D1E2CC3A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1FFC3038-4C13-AD41-3793-099192E0507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33780D0-BF48-9516-DD04-5F847AA54168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15C108D-F01F-8525-5FAF-9FAE856D4013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605ECF9A-F729-9881-C237-9C5818C89F1A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B5AB68EC-77EF-4E7F-60C5-7399DB11DC2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A7B222B-B575-9C7D-783B-9009CE9B907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01C6B9F7-07AF-ED7B-BB66-28788F5ECBC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490E1A19-B103-8C15-59F1-F94C389F788F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7FA1BA6F-C094-2E57-ED23-69EDAAC2289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6491F2D5-2EAC-0FDD-A57B-847F577E8FB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AF8591B0-FD61-4A34-6396-70089811457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22DD6AE6-F99F-23D9-034E-3B206979321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62A3FD8F-3709-00EA-BA76-E2C00E211D6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4498FE6A-B9E2-15BC-B54C-B7CB69868C08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1672B49-B1F5-DA48-52D6-24B87200420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55F6EBBF-9CF8-7711-5E55-BC6272330530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C1D4976-4061-F5AB-3DB3-D30AA6860DC9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11094875-C052-20A1-97AE-C7EB049850B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411B5BB1-2B8F-657D-510B-5837BCEAE70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219C5E5F-71C6-AFE3-582C-B2DA3877623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43F37785-77F4-F505-5945-5B9EE2440685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DC8C9499-B399-AD54-9244-480A47FF056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0B626E7-4DC8-48E9-532A-9BED58FCB2FC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7CD202A-6525-0CE1-4100-6FE1DD08423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EC074E-9F72-2DBD-FF9A-038FEE0B0936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57F59EC-095D-B5D7-7485-CCF227017BE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64C4FB7B-52CB-DC3D-2088-4B40EDACA548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08D4A63-5FE5-491D-60D5-9092D452538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BC9368BE-BE8F-75BD-D3B8-2A593D9B9A5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8E7A60AC-5511-0661-B010-A83D9FAECAD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EBAC445E-F495-4206-360F-8C839D51AD7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9E454810-4C17-145D-A758-2C32CDC21ABC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13D68A02-17C9-7980-727A-D7A9D7CB300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074FC555-EF75-5E96-7C9C-974CD893733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B169EBF2-D5EA-2D96-2C61-5214CA747D2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3762B06-0E2B-0C38-FD8F-A9D6AA07B78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12202395-4669-5EC9-62D7-1256B30E5656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A78396E3-A461-1E5B-2EBF-DEC1FD00057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E1348EB-D3F2-6045-8413-17DB7F0978E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3AA0BD69-F251-C9E5-8D8D-DB7C85B7B6B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456DC0C-73F5-FBC7-B9BF-ED69D4C1482A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B3E30D5A-31FA-EB6F-C17E-1A059FC4696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C7A0B12-E96A-AF01-1791-D71F122351A6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4D546BD-826E-1EE1-E2B7-4A379D38E9B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2D6FA7BC-CC99-62BA-4AF2-0DD511BCCBC0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9E34420-0E55-B690-582D-2F19EF84010A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547C1BE2-D610-C243-3865-6F561EC63A2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C16E05EA-E6F9-FF41-F44D-ADF96ADFA9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AADE1E26-EE3C-2345-B922-3FE876E1976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C62FDFB0-40A6-5AD3-89A5-DE5CE660FA6F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BC89EAA-D909-1D97-C99C-230F3BA684A7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6DFAAF08-42F3-770F-A457-AA9336D23365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BD13AEA2-2796-EFE3-A153-A11BA94BA9B0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7DCBA2A3-EA1E-0681-D9BB-899B740DD44F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0A323D12-DEBE-364F-A98B-D7928CD6CC47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27FCEEB-9C48-1756-6E27-D60A579C7987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B076C089-9320-0C5D-AC94-FF39F464C64D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A7967A0-747A-5D61-530B-3931AB292FE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791C272-2D2A-8868-2C2B-B657984D8DA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D7BB9278-0DE3-2E18-452E-7B4493DE26E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BE8DB434-686B-0114-5456-399308D89A5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C682D6FA-B7C0-E14A-7FAE-4767CF7EFC94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20CE026-7E81-401A-E36A-E0A3AEF065F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94580424-7B23-88A8-4C58-164864215B9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F18A6C3-895B-9C8C-6195-B10A25C35BE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D79F8276-D58A-1683-EAE3-89E38872BD87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DE6F6414-7D74-6C0D-A79C-DBEBACBEE1F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8898AB3-6723-FDAF-6357-79FD82165627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6F4867DA-C9F4-36E9-FD22-70CC7E48754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8D99C755-11EA-B424-3AED-CFDA4EE4723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F2CF997A-A030-19A5-20BD-8CC13AE070CA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43B6887-98D6-3D55-CD2C-28055A8B2F1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2E8D6957-AE4B-4A83-0189-C2673C395BE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DE333D56-8D08-7BBB-D473-0D1BC781A8C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33B30DB-846B-1F83-2E71-4026B433131E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74D0D-FB0E-9D13-6368-5A741DC366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1F7B8-5A09-A734-D2A5-7796D8FC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2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114400-F3E7-8E73-6B66-34E6F0654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53166"/>
              </p:ext>
            </p:extLst>
          </p:nvPr>
        </p:nvGraphicFramePr>
        <p:xfrm>
          <a:off x="2031999" y="902546"/>
          <a:ext cx="8127999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21752">
                  <a:extLst>
                    <a:ext uri="{9D8B030D-6E8A-4147-A177-3AD203B41FA5}">
                      <a16:colId xmlns:a16="http://schemas.microsoft.com/office/drawing/2014/main" val="640261040"/>
                    </a:ext>
                  </a:extLst>
                </a:gridCol>
                <a:gridCol w="6167887">
                  <a:extLst>
                    <a:ext uri="{9D8B030D-6E8A-4147-A177-3AD203B41FA5}">
                      <a16:colId xmlns:a16="http://schemas.microsoft.com/office/drawing/2014/main" val="618707981"/>
                    </a:ext>
                  </a:extLst>
                </a:gridCol>
                <a:gridCol w="938360">
                  <a:extLst>
                    <a:ext uri="{9D8B030D-6E8A-4147-A177-3AD203B41FA5}">
                      <a16:colId xmlns:a16="http://schemas.microsoft.com/office/drawing/2014/main" val="3112694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Slide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05428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C2B4A6-2806-A348-6918-9BE4B14F3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201382"/>
              </p:ext>
            </p:extLst>
          </p:nvPr>
        </p:nvGraphicFramePr>
        <p:xfrm>
          <a:off x="2032000" y="1562026"/>
          <a:ext cx="8127999" cy="4719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751">
                  <a:extLst>
                    <a:ext uri="{9D8B030D-6E8A-4147-A177-3AD203B41FA5}">
                      <a16:colId xmlns:a16="http://schemas.microsoft.com/office/drawing/2014/main" val="3767170256"/>
                    </a:ext>
                  </a:extLst>
                </a:gridCol>
                <a:gridCol w="6167887">
                  <a:extLst>
                    <a:ext uri="{9D8B030D-6E8A-4147-A177-3AD203B41FA5}">
                      <a16:colId xmlns:a16="http://schemas.microsoft.com/office/drawing/2014/main" val="2255367966"/>
                    </a:ext>
                  </a:extLst>
                </a:gridCol>
                <a:gridCol w="938361">
                  <a:extLst>
                    <a:ext uri="{9D8B030D-6E8A-4147-A177-3AD203B41FA5}">
                      <a16:colId xmlns:a16="http://schemas.microsoft.com/office/drawing/2014/main" val="4100163828"/>
                    </a:ext>
                  </a:extLst>
                </a:gridCol>
              </a:tblGrid>
              <a:tr h="398478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55775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Background / Theory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131043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Mathematical / Technical Foundation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43214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Working / Process Flow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675445"/>
                  </a:ext>
                </a:extLst>
              </a:tr>
              <a:tr h="349878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Problem &amp; Solution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7221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8169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28586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Challenges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55846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Recent Developments / Trends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067724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971531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498512"/>
                  </a:ext>
                </a:extLst>
              </a:tr>
              <a:tr h="395487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Thank You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799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17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5" name="object 2">
            <a:extLst>
              <a:ext uri="{FF2B5EF4-FFF2-40B4-BE49-F238E27FC236}">
                <a16:creationId xmlns:a16="http://schemas.microsoft.com/office/drawing/2014/main" id="{D6CABBEF-84F5-2E1C-7614-FBB992A63905}"/>
              </a:ext>
            </a:extLst>
          </p:cNvPr>
          <p:cNvGrpSpPr/>
          <p:nvPr/>
        </p:nvGrpSpPr>
        <p:grpSpPr>
          <a:xfrm>
            <a:off x="405073" y="943978"/>
            <a:ext cx="11049000" cy="895350"/>
            <a:chOff x="571499" y="1238249"/>
            <a:chExt cx="11049000" cy="895350"/>
          </a:xfrm>
        </p:grpSpPr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C4D56632-ED81-144F-78A5-45C4F6C63DA6}"/>
                </a:ext>
              </a:extLst>
            </p:cNvPr>
            <p:cNvSpPr/>
            <p:nvPr/>
          </p:nvSpPr>
          <p:spPr>
            <a:xfrm>
              <a:off x="590549" y="1238249"/>
              <a:ext cx="11029950" cy="895350"/>
            </a:xfrm>
            <a:custGeom>
              <a:avLst/>
              <a:gdLst/>
              <a:ahLst/>
              <a:cxnLst/>
              <a:rect l="l" t="t" r="r" b="b"/>
              <a:pathLst>
                <a:path w="11029950" h="895350">
                  <a:moveTo>
                    <a:pt x="10988638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854040"/>
                  </a:lnTo>
                  <a:lnTo>
                    <a:pt x="11006383" y="889307"/>
                  </a:lnTo>
                  <a:lnTo>
                    <a:pt x="10988638" y="8953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AEDE6368-4E00-26F3-3D27-964219D148DD}"/>
                </a:ext>
              </a:extLst>
            </p:cNvPr>
            <p:cNvSpPr/>
            <p:nvPr/>
          </p:nvSpPr>
          <p:spPr>
            <a:xfrm>
              <a:off x="571499" y="1238249"/>
              <a:ext cx="38100" cy="895350"/>
            </a:xfrm>
            <a:custGeom>
              <a:avLst/>
              <a:gdLst/>
              <a:ahLst/>
              <a:cxnLst/>
              <a:rect l="l" t="t" r="r" b="b"/>
              <a:pathLst>
                <a:path w="38100" h="895350">
                  <a:moveTo>
                    <a:pt x="3809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9534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6" name="object 9">
            <a:extLst>
              <a:ext uri="{FF2B5EF4-FFF2-40B4-BE49-F238E27FC236}">
                <a16:creationId xmlns:a16="http://schemas.microsoft.com/office/drawing/2014/main" id="{B337F86A-C707-887D-855A-9E5C34F0D742}"/>
              </a:ext>
            </a:extLst>
          </p:cNvPr>
          <p:cNvSpPr txBox="1"/>
          <p:nvPr/>
        </p:nvSpPr>
        <p:spPr>
          <a:xfrm>
            <a:off x="620973" y="1093204"/>
            <a:ext cx="936688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What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is</a:t>
            </a:r>
            <a:r>
              <a:rPr sz="15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Compression?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reduces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file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size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while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perfectly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reconstructed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compressed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F71F1222-E16A-5DD7-DED8-27CC6DC8FDE5}"/>
              </a:ext>
            </a:extLst>
          </p:cNvPr>
          <p:cNvSpPr txBox="1"/>
          <p:nvPr/>
        </p:nvSpPr>
        <p:spPr>
          <a:xfrm>
            <a:off x="441003" y="2451418"/>
            <a:ext cx="2292350" cy="122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Key</a:t>
            </a:r>
            <a:r>
              <a:rPr sz="1500" b="1" spc="-4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4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Techniques:</a:t>
            </a:r>
            <a:endParaRPr sz="1500" dirty="0">
              <a:latin typeface="Segoe UI Semibold"/>
              <a:cs typeface="Segoe UI Semibold"/>
            </a:endParaRPr>
          </a:p>
          <a:p>
            <a:pPr marL="526415" indent="-285750">
              <a:lnSpc>
                <a:spcPct val="100000"/>
              </a:lnSpc>
              <a:spcBef>
                <a:spcPts val="975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Huffman</a:t>
            </a:r>
            <a:r>
              <a:rPr sz="1350" spc="-5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Coding</a:t>
            </a:r>
            <a:endParaRPr sz="1350" dirty="0">
              <a:latin typeface="Segoe UI"/>
              <a:cs typeface="Segoe UI"/>
            </a:endParaRPr>
          </a:p>
          <a:p>
            <a:pPr marL="526415" marR="5080" indent="-285750">
              <a:lnSpc>
                <a:spcPct val="166700"/>
              </a:lnSpc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Run</a:t>
            </a:r>
            <a:r>
              <a:rPr sz="135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Length</a:t>
            </a:r>
            <a:r>
              <a:rPr sz="135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Encoding</a:t>
            </a:r>
            <a:r>
              <a:rPr sz="135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(RLE)</a:t>
            </a:r>
            <a:endParaRPr sz="1350" dirty="0">
              <a:latin typeface="Segoe UI"/>
              <a:cs typeface="Segoe UI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EBC23446-3D8A-2217-8206-6BDD6B6CE861}"/>
              </a:ext>
            </a:extLst>
          </p:cNvPr>
          <p:cNvSpPr txBox="1"/>
          <p:nvPr/>
        </p:nvSpPr>
        <p:spPr>
          <a:xfrm>
            <a:off x="5659121" y="2386242"/>
            <a:ext cx="3599179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Importance:</a:t>
            </a:r>
            <a:endParaRPr sz="1500" dirty="0">
              <a:latin typeface="Segoe UI Semibold"/>
              <a:cs typeface="Segoe UI Semibold"/>
            </a:endParaRPr>
          </a:p>
          <a:p>
            <a:pPr marL="526415" marR="5080" indent="-285750">
              <a:lnSpc>
                <a:spcPts val="2700"/>
              </a:lnSpc>
              <a:spcBef>
                <a:spcPts val="165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Essential</a:t>
            </a:r>
            <a:r>
              <a:rPr sz="135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(text,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program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files)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Preserves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integrity</a:t>
            </a:r>
            <a:endParaRPr sz="1350" dirty="0">
              <a:latin typeface="Segoe UI"/>
              <a:cs typeface="Segoe UI"/>
            </a:endParaRPr>
          </a:p>
          <a:p>
            <a:pPr marL="526415" indent="-285750">
              <a:lnSpc>
                <a:spcPct val="100000"/>
              </a:lnSpc>
              <a:spcBef>
                <a:spcPts val="810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Reduces</a:t>
            </a:r>
            <a:r>
              <a:rPr sz="1350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350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needs</a:t>
            </a:r>
            <a:endParaRPr sz="1350" dirty="0">
              <a:latin typeface="Segoe UI"/>
              <a:cs typeface="Segoe UI"/>
            </a:endParaRPr>
          </a:p>
          <a:p>
            <a:pPr marL="526415" indent="-285750">
              <a:lnSpc>
                <a:spcPct val="100000"/>
              </a:lnSpc>
              <a:spcBef>
                <a:spcPts val="1080"/>
              </a:spcBef>
              <a:buFont typeface="Arial" panose="020B0604020202020204" pitchFamily="34" charset="0"/>
              <a:buChar char="•"/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Improves</a:t>
            </a:r>
            <a:r>
              <a:rPr sz="135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transmission</a:t>
            </a:r>
            <a:r>
              <a:rPr sz="135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efficiency</a:t>
            </a:r>
            <a:endParaRPr sz="1350" dirty="0">
              <a:latin typeface="Segoe UI"/>
              <a:cs typeface="Segoe UI"/>
            </a:endParaRPr>
          </a:p>
        </p:txBody>
      </p:sp>
      <p:sp>
        <p:nvSpPr>
          <p:cNvPr id="37" name="object 6">
            <a:extLst>
              <a:ext uri="{FF2B5EF4-FFF2-40B4-BE49-F238E27FC236}">
                <a16:creationId xmlns:a16="http://schemas.microsoft.com/office/drawing/2014/main" id="{ECFD2A39-9992-7FEA-75D7-1808FDBE5C84}"/>
              </a:ext>
            </a:extLst>
          </p:cNvPr>
          <p:cNvSpPr/>
          <p:nvPr/>
        </p:nvSpPr>
        <p:spPr>
          <a:xfrm>
            <a:off x="1015811" y="4544789"/>
            <a:ext cx="10124772" cy="838200"/>
          </a:xfrm>
          <a:custGeom>
            <a:avLst/>
            <a:gdLst/>
            <a:ahLst/>
            <a:cxnLst/>
            <a:rect l="l" t="t" r="r" b="b"/>
            <a:pathLst>
              <a:path w="11049000" h="838200">
                <a:moveTo>
                  <a:pt x="10977802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6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977802" y="0"/>
                </a:lnTo>
                <a:lnTo>
                  <a:pt x="11019294" y="15621"/>
                </a:lnTo>
                <a:lnTo>
                  <a:pt x="11045112" y="51661"/>
                </a:lnTo>
                <a:lnTo>
                  <a:pt x="11048999" y="71196"/>
                </a:lnTo>
                <a:lnTo>
                  <a:pt x="11048999" y="767003"/>
                </a:lnTo>
                <a:lnTo>
                  <a:pt x="11033378" y="808493"/>
                </a:lnTo>
                <a:lnTo>
                  <a:pt x="10997336" y="834313"/>
                </a:lnTo>
                <a:lnTo>
                  <a:pt x="10982756" y="837711"/>
                </a:lnTo>
                <a:lnTo>
                  <a:pt x="10977802" y="8381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C9890973-44F8-E85B-8CC8-43CCD832D04B}"/>
              </a:ext>
            </a:extLst>
          </p:cNvPr>
          <p:cNvSpPr txBox="1"/>
          <p:nvPr/>
        </p:nvSpPr>
        <p:spPr>
          <a:xfrm>
            <a:off x="1051418" y="4652104"/>
            <a:ext cx="9955530" cy="52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algn="ctr">
              <a:lnSpc>
                <a:spcPct val="1296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Segoe UI"/>
                <a:cs typeface="Segoe UI"/>
              </a:rPr>
              <a:t>Contrast</a:t>
            </a:r>
            <a:r>
              <a:rPr sz="135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35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333333"/>
                </a:solidFill>
                <a:latin typeface="Segoe UI"/>
                <a:cs typeface="Segoe UI"/>
              </a:rPr>
              <a:t>Lossy</a:t>
            </a:r>
            <a:r>
              <a:rPr sz="135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333333"/>
                </a:solidFill>
                <a:latin typeface="Segoe UI"/>
                <a:cs typeface="Segoe UI"/>
              </a:rPr>
              <a:t>Compression:</a:t>
            </a:r>
            <a:r>
              <a:rPr sz="135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lossy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methods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(JPEG,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MP3),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techniques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guarantee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is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lost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during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decompression.</a:t>
            </a:r>
            <a:endParaRPr sz="135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8538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D695-136B-5BAA-BCFB-0792DD14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object 43">
            <a:extLst>
              <a:ext uri="{FF2B5EF4-FFF2-40B4-BE49-F238E27FC236}">
                <a16:creationId xmlns:a16="http://schemas.microsoft.com/office/drawing/2014/main" id="{F4F1E91B-1429-48FB-3CCA-A8AD10C339FB}"/>
              </a:ext>
            </a:extLst>
          </p:cNvPr>
          <p:cNvGrpSpPr/>
          <p:nvPr/>
        </p:nvGrpSpPr>
        <p:grpSpPr>
          <a:xfrm>
            <a:off x="2314483" y="5367588"/>
            <a:ext cx="1400174" cy="609600"/>
            <a:chOff x="8296275" y="6429374"/>
            <a:chExt cx="1400174" cy="609600"/>
          </a:xfrm>
        </p:grpSpPr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0DF75E1C-6CED-730C-80FF-C9B8BD6ECB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6275" y="6676072"/>
              <a:ext cx="134272" cy="116204"/>
            </a:xfrm>
            <a:prstGeom prst="rect">
              <a:avLst/>
            </a:prstGeom>
          </p:spPr>
        </p:pic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CA6F4B7-2AC5-A529-B316-980EE6DF59D5}"/>
                </a:ext>
              </a:extLst>
            </p:cNvPr>
            <p:cNvSpPr/>
            <p:nvPr/>
          </p:nvSpPr>
          <p:spPr>
            <a:xfrm>
              <a:off x="8505824" y="6429374"/>
              <a:ext cx="1190625" cy="609600"/>
            </a:xfrm>
            <a:custGeom>
              <a:avLst/>
              <a:gdLst/>
              <a:ahLst/>
              <a:cxnLst/>
              <a:rect l="l" t="t" r="r" b="b"/>
              <a:pathLst>
                <a:path w="1190625" h="609600">
                  <a:moveTo>
                    <a:pt x="1157576" y="609599"/>
                  </a:moveTo>
                  <a:lnTo>
                    <a:pt x="33047" y="609599"/>
                  </a:lnTo>
                  <a:lnTo>
                    <a:pt x="28187" y="608632"/>
                  </a:lnTo>
                  <a:lnTo>
                    <a:pt x="966" y="581411"/>
                  </a:lnTo>
                  <a:lnTo>
                    <a:pt x="0" y="576552"/>
                  </a:lnTo>
                  <a:lnTo>
                    <a:pt x="0" y="571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57576" y="0"/>
                  </a:lnTo>
                  <a:lnTo>
                    <a:pt x="1189657" y="28187"/>
                  </a:lnTo>
                  <a:lnTo>
                    <a:pt x="1190624" y="33047"/>
                  </a:lnTo>
                  <a:lnTo>
                    <a:pt x="1190624" y="576552"/>
                  </a:lnTo>
                  <a:lnTo>
                    <a:pt x="1162437" y="608632"/>
                  </a:lnTo>
                  <a:lnTo>
                    <a:pt x="1157576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B3333C1-DE03-EFF4-2DC3-8609D70F9090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DD1EF94-1CA3-F59B-BB4F-104D289816DD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5869FAE-7845-EBB5-646C-4F8F6F885FA5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1D3FF09-0313-CF6E-3B36-FF1F4CD4BCED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9B450E4-8124-38BA-8D89-FDF36317E902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4EE3805-7A84-6BB3-2506-B40F9B0BF18F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1921D312-3B00-65F1-9F37-40BE40E1138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FA27074D-4EF5-589D-3311-A8837CFB9E2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BCE81DE3-8E30-802E-6C3B-3319D6BF24D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80134DC5-2DF0-954B-9782-CAA7706F72A2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79B50726-2B58-81C0-3B0C-BA2AED83983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AA98C8B-BBC7-1B5A-EDC1-151F6870D9C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5D210012-58EE-435D-02FB-2EBEE46B1154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8B175018-FDC2-DCC8-AB23-379497D5BDF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C1142045-1EF6-0663-FB1E-41D67913164C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16181B43-2B9B-51CA-F618-1E84B1D1566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708B24A0-D6B3-13C7-46F6-09EBE96FD701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EB941EE6-2185-CF65-2311-82810C4658F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C84A732-E6B4-0AE5-B5BF-AC13818B132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DF4B0E56-9D06-D7D2-5F57-813FD58FED7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DDA928A7-7B38-CFBF-4427-7F79399F5D0D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74D353B-148C-83BA-1A18-C4EDDF75AED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F5A4ACA-BA0E-95A6-D732-B85E761CA537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CF09489B-AF3A-EABA-11E4-BCB1471699A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134FABB8-4B35-1E0A-A298-46763E2D35DF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DFE136BB-5E04-3957-AA98-24430C2EE72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F25A28FF-E351-DDA9-7C7A-FEC89D9DD8E8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78F45D1-331F-CC4F-E125-FCD23BCA5808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D1256A4D-E5BF-3CD9-4EDF-FF6CEB874EC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C190975F-921C-7D0A-72AB-B37BB74BAA2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0718502E-60BE-C8A5-9EAE-0AE4549FCF6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4B6AB357-FD02-819A-D0F7-F7570C72F9F4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590D4CDD-B14B-ED3C-E0AC-563F87FB784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FF3252F8-1301-E214-61FA-C6CA3E748DC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CB7EC4DF-6F73-6269-8701-47E80B9A3FB0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CD68A8AB-4E67-A485-8C86-6BC4125D219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8E94774-F6C6-1DF2-FA28-D52ADDE46406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1E7E98C3-B4AF-83EE-F65D-4109101D2BBE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996A261-DB5F-C52C-A758-8574F9AFB3F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9EB1F389-0CD1-D4DC-D569-4DACFD249F0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FC9AE431-C3E9-9DBD-59E2-9843275FD52A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24ECDEA0-FAF7-2130-2792-FD77B5DE3F0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F8A4800E-428C-B5AF-C9F2-444A20D02F7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CD87DB34-3C64-7715-A474-7D261AFBC88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0181F4EC-7D63-6EC7-A1AC-63AF73B7ED4E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B615217-462F-6D0B-45AD-238734449A9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ECF1FA1-E7FD-F156-8B76-16A06AEB8AC4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6193EDB-C395-EE59-C3B2-54C482A6EBE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2870D845-E39B-54C0-C71A-DF254477B49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66F4962-FF0E-6BFA-A66B-975EA3BD5EE0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1A8DBE53-87B5-69AA-F1F3-FF5204E11E4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B0B41206-0D95-55FA-C70D-A99469D1B03A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7B56DBDB-5552-3E41-288B-43E23164B1C9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745A9860-3C45-63C8-B983-987BB5DC1F2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369EC0F-B87E-5897-8D0D-74F1FF3F1ED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D0C35DB3-DBBE-D392-9616-6F0822EE8E1F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9AA1066-13B7-3075-FD3F-366DC03FA2E4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2A6FE939-9B37-9F9A-2FFB-D3FA19BBCFC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86CD27A-191C-37F2-8CC2-8C30A4C8C97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E30CC35D-044C-76FB-6EEF-A24E637C603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1C86774-A996-FBED-9823-6E0CF20EC82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6FCF1DFF-F508-CD77-58A8-E274E193037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D6237095-AE27-5BC9-2F81-1D4A0E78EFC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4869A12-9BF6-FC39-8536-2EBFE8C269E1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CB77071-5A62-C746-5C50-50930D917449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02B66FBC-1AFA-16C0-7A13-72DCAB0E2AB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EF888DEC-9298-A9E7-D84E-353463749F5B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7ADFEB27-1C62-9EE4-E9B3-F3CEF371EC2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1D15AE1-2A23-2021-D537-24566E3E82D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3DF032D8-E7C3-6E7C-9B10-71CAC025634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EB14F1A8-7BD3-E9F3-F6D1-E959BA04BB0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8AAE4E3F-D9C0-E5B8-E5CC-B37F0871C2A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F5CB9C2-4053-6F77-04A2-01D26073170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35424E35-66AC-5A5A-BB6C-65412F1A6BA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3FB9888-CEF7-AC29-0C98-89F0019DE3D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 / Theory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E70A2-C393-57AC-773C-2186D45CAE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91354-0AA4-0BB4-68C8-33808EE4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4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3CEE1B53-8B95-7C7C-C3CD-4E50A09F38E8}"/>
              </a:ext>
            </a:extLst>
          </p:cNvPr>
          <p:cNvGrpSpPr/>
          <p:nvPr/>
        </p:nvGrpSpPr>
        <p:grpSpPr>
          <a:xfrm>
            <a:off x="550781" y="880812"/>
            <a:ext cx="11049000" cy="2305050"/>
            <a:chOff x="571499" y="1238249"/>
            <a:chExt cx="11049000" cy="2305050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F9215EA9-1224-6DA0-6E12-1F7EB782B8CF}"/>
                </a:ext>
              </a:extLst>
            </p:cNvPr>
            <p:cNvSpPr/>
            <p:nvPr/>
          </p:nvSpPr>
          <p:spPr>
            <a:xfrm>
              <a:off x="590549" y="1238249"/>
              <a:ext cx="11029950" cy="2305050"/>
            </a:xfrm>
            <a:custGeom>
              <a:avLst/>
              <a:gdLst/>
              <a:ahLst/>
              <a:cxnLst/>
              <a:rect l="l" t="t" r="r" b="b"/>
              <a:pathLst>
                <a:path w="11029950" h="2305050">
                  <a:moveTo>
                    <a:pt x="10988638" y="2305049"/>
                  </a:moveTo>
                  <a:lnTo>
                    <a:pt x="0" y="23050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2263739"/>
                  </a:lnTo>
                  <a:lnTo>
                    <a:pt x="11006383" y="2299007"/>
                  </a:lnTo>
                  <a:lnTo>
                    <a:pt x="10988638" y="23050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r>
                <a:rPr lang="en-IN" sz="2400" b="1" dirty="0"/>
                <a:t>    CORE CONCEPTS</a:t>
              </a:r>
              <a:endParaRPr sz="2400" b="1" dirty="0"/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B2DCFC0B-5BBD-3441-0342-978470742B03}"/>
                </a:ext>
              </a:extLst>
            </p:cNvPr>
            <p:cNvSpPr/>
            <p:nvPr/>
          </p:nvSpPr>
          <p:spPr>
            <a:xfrm>
              <a:off x="571499" y="1238249"/>
              <a:ext cx="38100" cy="2305050"/>
            </a:xfrm>
            <a:custGeom>
              <a:avLst/>
              <a:gdLst/>
              <a:ahLst/>
              <a:cxnLst/>
              <a:rect l="l" t="t" r="r" b="b"/>
              <a:pathLst>
                <a:path w="38100" h="2305050">
                  <a:moveTo>
                    <a:pt x="38099" y="2305049"/>
                  </a:moveTo>
                  <a:lnTo>
                    <a:pt x="0" y="2305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30504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24FAEE0-8C88-6D62-1B50-C754919C4239}"/>
              </a:ext>
            </a:extLst>
          </p:cNvPr>
          <p:cNvSpPr txBox="1"/>
          <p:nvPr/>
        </p:nvSpPr>
        <p:spPr>
          <a:xfrm>
            <a:off x="739141" y="1248507"/>
            <a:ext cx="44411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HUFFMAN CODING:</a:t>
            </a:r>
          </a:p>
          <a:p>
            <a:endParaRPr lang="en-IN" sz="2400" b="1" dirty="0">
              <a:solidFill>
                <a:srgbClr val="C00000"/>
              </a:solidFill>
            </a:endParaRPr>
          </a:p>
          <a:p>
            <a:endParaRPr lang="en-IN" sz="2400" b="1" dirty="0">
              <a:solidFill>
                <a:srgbClr val="C00000"/>
              </a:solidFill>
            </a:endParaRPr>
          </a:p>
          <a:p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B9FFB5D-4E84-8439-9975-1CCB49DA4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61" y="1681714"/>
            <a:ext cx="105913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variable-length binary codes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characters based on their usage frequency.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frequent characters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get shorter codes, while less frequent ones get longer codes.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prefix-free binary tree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unambiguous decoding of the data stream.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an optimal way to compress data when considering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symbols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their probabilities.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B720C9EE-4AE5-795F-69CD-FBC72D39313C}"/>
              </a:ext>
            </a:extLst>
          </p:cNvPr>
          <p:cNvSpPr/>
          <p:nvPr/>
        </p:nvSpPr>
        <p:spPr>
          <a:xfrm>
            <a:off x="605885" y="3301888"/>
            <a:ext cx="11029950" cy="1365003"/>
          </a:xfrm>
          <a:custGeom>
            <a:avLst/>
            <a:gdLst/>
            <a:ahLst/>
            <a:cxnLst/>
            <a:rect l="l" t="t" r="r" b="b"/>
            <a:pathLst>
              <a:path w="11029950" h="2305050">
                <a:moveTo>
                  <a:pt x="10988638" y="2305049"/>
                </a:moveTo>
                <a:lnTo>
                  <a:pt x="0" y="2305049"/>
                </a:lnTo>
                <a:lnTo>
                  <a:pt x="0" y="0"/>
                </a:lnTo>
                <a:lnTo>
                  <a:pt x="10988638" y="0"/>
                </a:lnTo>
                <a:lnTo>
                  <a:pt x="10994714" y="1208"/>
                </a:lnTo>
                <a:lnTo>
                  <a:pt x="11028739" y="35234"/>
                </a:lnTo>
                <a:lnTo>
                  <a:pt x="11029947" y="41309"/>
                </a:lnTo>
                <a:lnTo>
                  <a:pt x="11029947" y="2263739"/>
                </a:lnTo>
                <a:lnTo>
                  <a:pt x="11006383" y="2299007"/>
                </a:lnTo>
                <a:lnTo>
                  <a:pt x="10988638" y="23050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sz="2400" b="1" dirty="0">
                <a:solidFill>
                  <a:srgbClr val="C00000"/>
                </a:solidFill>
              </a:rPr>
              <a:t>    Run-Length Encoding (RLE):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Compresses data by replacing </a:t>
            </a:r>
            <a:r>
              <a:rPr lang="en-US" sz="2000" b="1" dirty="0"/>
              <a:t>consecutive sequences</a:t>
            </a:r>
            <a:r>
              <a:rPr lang="en-US" sz="2000" dirty="0"/>
              <a:t> (runs) of identical characters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Highly effective for data with </a:t>
            </a:r>
            <a:r>
              <a:rPr lang="en-US" sz="2000" b="1" dirty="0"/>
              <a:t>high repetition rates</a:t>
            </a:r>
            <a:endParaRPr lang="en-US" sz="2000" b="1" dirty="0">
              <a:solidFill>
                <a:srgbClr val="C0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Very </a:t>
            </a:r>
            <a:r>
              <a:rPr lang="en-US" sz="2000" b="1" dirty="0"/>
              <a:t>simple and fast</a:t>
            </a:r>
            <a:r>
              <a:rPr lang="en-US" sz="2000" dirty="0"/>
              <a:t> to implement</a:t>
            </a:r>
            <a:endParaRPr lang="en-IN" sz="2000" b="1" dirty="0">
              <a:solidFill>
                <a:srgbClr val="C00000"/>
              </a:solidFill>
            </a:endParaRPr>
          </a:p>
          <a:p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F2AD8B4F-BDE9-827E-3F10-ACF2A92E1465}"/>
              </a:ext>
            </a:extLst>
          </p:cNvPr>
          <p:cNvSpPr/>
          <p:nvPr/>
        </p:nvSpPr>
        <p:spPr>
          <a:xfrm>
            <a:off x="543162" y="3293518"/>
            <a:ext cx="45719" cy="1365003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38099" y="2305049"/>
                </a:moveTo>
                <a:lnTo>
                  <a:pt x="0" y="2305049"/>
                </a:lnTo>
                <a:lnTo>
                  <a:pt x="0" y="0"/>
                </a:lnTo>
                <a:lnTo>
                  <a:pt x="38099" y="0"/>
                </a:lnTo>
                <a:lnTo>
                  <a:pt x="38099" y="230504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072740E5-DA87-2889-4A18-EBBE3EC70856}"/>
              </a:ext>
            </a:extLst>
          </p:cNvPr>
          <p:cNvSpPr txBox="1"/>
          <p:nvPr/>
        </p:nvSpPr>
        <p:spPr>
          <a:xfrm>
            <a:off x="5155654" y="5012176"/>
            <a:ext cx="1880870" cy="208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2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</a:t>
            </a:r>
            <a:r>
              <a:rPr sz="1200" b="1" spc="-2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200" b="1" spc="-20" dirty="0">
                <a:solidFill>
                  <a:srgbClr val="333333"/>
                </a:solidFill>
                <a:latin typeface="Segoe UI Semibold"/>
                <a:cs typeface="Segoe UI Semibold"/>
              </a:rPr>
              <a:t>Flow</a:t>
            </a:r>
            <a:endParaRPr sz="1200">
              <a:latin typeface="Segoe UI Semibold"/>
              <a:cs typeface="Segoe UI Semibold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43FE47CD-ED91-9B3F-2495-F03334001DD3}"/>
              </a:ext>
            </a:extLst>
          </p:cNvPr>
          <p:cNvSpPr txBox="1"/>
          <p:nvPr/>
        </p:nvSpPr>
        <p:spPr>
          <a:xfrm>
            <a:off x="2636440" y="5545576"/>
            <a:ext cx="913130" cy="208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Original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200" dirty="0">
              <a:latin typeface="Segoe UI"/>
              <a:cs typeface="Segoe UI"/>
            </a:endParaRPr>
          </a:p>
        </p:txBody>
      </p:sp>
      <p:grpSp>
        <p:nvGrpSpPr>
          <p:cNvPr id="27" name="object 31">
            <a:extLst>
              <a:ext uri="{FF2B5EF4-FFF2-40B4-BE49-F238E27FC236}">
                <a16:creationId xmlns:a16="http://schemas.microsoft.com/office/drawing/2014/main" id="{30EB206F-82D0-8705-6728-91BF16CCD984}"/>
              </a:ext>
            </a:extLst>
          </p:cNvPr>
          <p:cNvGrpSpPr/>
          <p:nvPr/>
        </p:nvGrpSpPr>
        <p:grpSpPr>
          <a:xfrm>
            <a:off x="3762375" y="5348726"/>
            <a:ext cx="1400174" cy="609600"/>
            <a:chOff x="3762375" y="6429374"/>
            <a:chExt cx="1400174" cy="609600"/>
          </a:xfrm>
        </p:grpSpPr>
        <p:pic>
          <p:nvPicPr>
            <p:cNvPr id="41" name="object 32">
              <a:extLst>
                <a:ext uri="{FF2B5EF4-FFF2-40B4-BE49-F238E27FC236}">
                  <a16:creationId xmlns:a16="http://schemas.microsoft.com/office/drawing/2014/main" id="{FFDCF48A-474C-D6DC-D1AA-BEDB3AB7BE3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2375" y="6676072"/>
              <a:ext cx="134272" cy="116204"/>
            </a:xfrm>
            <a:prstGeom prst="rect">
              <a:avLst/>
            </a:prstGeom>
          </p:spPr>
        </p:pic>
        <p:sp>
          <p:nvSpPr>
            <p:cNvPr id="42" name="object 33">
              <a:extLst>
                <a:ext uri="{FF2B5EF4-FFF2-40B4-BE49-F238E27FC236}">
                  <a16:creationId xmlns:a16="http://schemas.microsoft.com/office/drawing/2014/main" id="{028B7E44-930D-6282-22FE-79E7B19336E7}"/>
                </a:ext>
              </a:extLst>
            </p:cNvPr>
            <p:cNvSpPr/>
            <p:nvPr/>
          </p:nvSpPr>
          <p:spPr>
            <a:xfrm>
              <a:off x="3971924" y="6429374"/>
              <a:ext cx="1190625" cy="609600"/>
            </a:xfrm>
            <a:custGeom>
              <a:avLst/>
              <a:gdLst/>
              <a:ahLst/>
              <a:cxnLst/>
              <a:rect l="l" t="t" r="r" b="b"/>
              <a:pathLst>
                <a:path w="1190625" h="609600">
                  <a:moveTo>
                    <a:pt x="1157577" y="609599"/>
                  </a:moveTo>
                  <a:lnTo>
                    <a:pt x="33047" y="609599"/>
                  </a:lnTo>
                  <a:lnTo>
                    <a:pt x="28187" y="608632"/>
                  </a:lnTo>
                  <a:lnTo>
                    <a:pt x="966" y="581411"/>
                  </a:lnTo>
                  <a:lnTo>
                    <a:pt x="0" y="576552"/>
                  </a:lnTo>
                  <a:lnTo>
                    <a:pt x="0" y="571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57577" y="0"/>
                  </a:lnTo>
                  <a:lnTo>
                    <a:pt x="1189657" y="28187"/>
                  </a:lnTo>
                  <a:lnTo>
                    <a:pt x="1190624" y="33047"/>
                  </a:lnTo>
                  <a:lnTo>
                    <a:pt x="1190624" y="576552"/>
                  </a:lnTo>
                  <a:lnTo>
                    <a:pt x="1162436" y="608632"/>
                  </a:lnTo>
                  <a:lnTo>
                    <a:pt x="1157577" y="6095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28" name="object 34">
            <a:extLst>
              <a:ext uri="{FF2B5EF4-FFF2-40B4-BE49-F238E27FC236}">
                <a16:creationId xmlns:a16="http://schemas.microsoft.com/office/drawing/2014/main" id="{B02C2E0B-4B10-FCE7-4DF9-236A7F57BD94}"/>
              </a:ext>
            </a:extLst>
          </p:cNvPr>
          <p:cNvSpPr txBox="1"/>
          <p:nvPr/>
        </p:nvSpPr>
        <p:spPr>
          <a:xfrm>
            <a:off x="4114452" y="5385556"/>
            <a:ext cx="904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14935" marR="5080" indent="-102870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Compression Algorithm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9" name="object 35">
            <a:extLst>
              <a:ext uri="{FF2B5EF4-FFF2-40B4-BE49-F238E27FC236}">
                <a16:creationId xmlns:a16="http://schemas.microsoft.com/office/drawing/2014/main" id="{4EBF265C-B962-6CCB-DC01-DFFC60246690}"/>
              </a:ext>
            </a:extLst>
          </p:cNvPr>
          <p:cNvGrpSpPr/>
          <p:nvPr/>
        </p:nvGrpSpPr>
        <p:grpSpPr>
          <a:xfrm>
            <a:off x="5238749" y="5348726"/>
            <a:ext cx="1343024" cy="609600"/>
            <a:chOff x="5238749" y="6429374"/>
            <a:chExt cx="1343024" cy="609600"/>
          </a:xfrm>
        </p:grpSpPr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094DE9DB-B876-926C-3288-CB97FC74AE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9" y="6676072"/>
              <a:ext cx="134272" cy="116204"/>
            </a:xfrm>
            <a:prstGeom prst="rect">
              <a:avLst/>
            </a:prstGeom>
          </p:spPr>
        </p:pic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C308E6FC-8F57-F1CF-51F9-55AB3046EB22}"/>
                </a:ext>
              </a:extLst>
            </p:cNvPr>
            <p:cNvSpPr/>
            <p:nvPr/>
          </p:nvSpPr>
          <p:spPr>
            <a:xfrm>
              <a:off x="5448298" y="6429374"/>
              <a:ext cx="1133475" cy="609600"/>
            </a:xfrm>
            <a:custGeom>
              <a:avLst/>
              <a:gdLst/>
              <a:ahLst/>
              <a:cxnLst/>
              <a:rect l="l" t="t" r="r" b="b"/>
              <a:pathLst>
                <a:path w="1133475" h="609600">
                  <a:moveTo>
                    <a:pt x="1100428" y="609599"/>
                  </a:moveTo>
                  <a:lnTo>
                    <a:pt x="33047" y="609599"/>
                  </a:lnTo>
                  <a:lnTo>
                    <a:pt x="28187" y="608632"/>
                  </a:lnTo>
                  <a:lnTo>
                    <a:pt x="966" y="581411"/>
                  </a:lnTo>
                  <a:lnTo>
                    <a:pt x="0" y="576552"/>
                  </a:lnTo>
                  <a:lnTo>
                    <a:pt x="0" y="571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00428" y="0"/>
                  </a:lnTo>
                  <a:lnTo>
                    <a:pt x="1132508" y="28187"/>
                  </a:lnTo>
                  <a:lnTo>
                    <a:pt x="1133474" y="33047"/>
                  </a:lnTo>
                  <a:lnTo>
                    <a:pt x="1133474" y="576552"/>
                  </a:lnTo>
                  <a:lnTo>
                    <a:pt x="1105287" y="608632"/>
                  </a:lnTo>
                  <a:lnTo>
                    <a:pt x="1100428" y="6095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30" name="object 38">
            <a:extLst>
              <a:ext uri="{FF2B5EF4-FFF2-40B4-BE49-F238E27FC236}">
                <a16:creationId xmlns:a16="http://schemas.microsoft.com/office/drawing/2014/main" id="{67CF1797-64FC-D487-B523-2A675662AB49}"/>
              </a:ext>
            </a:extLst>
          </p:cNvPr>
          <p:cNvSpPr txBox="1"/>
          <p:nvPr/>
        </p:nvSpPr>
        <p:spPr>
          <a:xfrm>
            <a:off x="5583981" y="5385556"/>
            <a:ext cx="86169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273685" marR="5080" indent="-261620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Compressed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200" dirty="0">
              <a:latin typeface="Segoe UI"/>
              <a:cs typeface="Segoe UI"/>
            </a:endParaRPr>
          </a:p>
        </p:txBody>
      </p:sp>
      <p:grpSp>
        <p:nvGrpSpPr>
          <p:cNvPr id="31" name="object 39">
            <a:extLst>
              <a:ext uri="{FF2B5EF4-FFF2-40B4-BE49-F238E27FC236}">
                <a16:creationId xmlns:a16="http://schemas.microsoft.com/office/drawing/2014/main" id="{A3E042A3-270E-623B-E803-EA6797CA7FEC}"/>
              </a:ext>
            </a:extLst>
          </p:cNvPr>
          <p:cNvGrpSpPr/>
          <p:nvPr/>
        </p:nvGrpSpPr>
        <p:grpSpPr>
          <a:xfrm>
            <a:off x="6657975" y="5348726"/>
            <a:ext cx="1562099" cy="609600"/>
            <a:chOff x="6657975" y="6429374"/>
            <a:chExt cx="1562099" cy="609600"/>
          </a:xfrm>
        </p:grpSpPr>
        <p:pic>
          <p:nvPicPr>
            <p:cNvPr id="37" name="object 40">
              <a:extLst>
                <a:ext uri="{FF2B5EF4-FFF2-40B4-BE49-F238E27FC236}">
                  <a16:creationId xmlns:a16="http://schemas.microsoft.com/office/drawing/2014/main" id="{2DE4B344-4C11-BCB4-F8EE-B4F51AD646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7975" y="6676072"/>
              <a:ext cx="134272" cy="116204"/>
            </a:xfrm>
            <a:prstGeom prst="rect">
              <a:avLst/>
            </a:prstGeom>
          </p:spPr>
        </p:pic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46CE7D03-C10F-F807-E86B-16BDCBB6AB4E}"/>
                </a:ext>
              </a:extLst>
            </p:cNvPr>
            <p:cNvSpPr/>
            <p:nvPr/>
          </p:nvSpPr>
          <p:spPr>
            <a:xfrm>
              <a:off x="6867524" y="6429374"/>
              <a:ext cx="1352550" cy="609600"/>
            </a:xfrm>
            <a:custGeom>
              <a:avLst/>
              <a:gdLst/>
              <a:ahLst/>
              <a:cxnLst/>
              <a:rect l="l" t="t" r="r" b="b"/>
              <a:pathLst>
                <a:path w="1352550" h="609600">
                  <a:moveTo>
                    <a:pt x="1319502" y="609599"/>
                  </a:moveTo>
                  <a:lnTo>
                    <a:pt x="33047" y="609599"/>
                  </a:lnTo>
                  <a:lnTo>
                    <a:pt x="28187" y="608632"/>
                  </a:lnTo>
                  <a:lnTo>
                    <a:pt x="966" y="581411"/>
                  </a:lnTo>
                  <a:lnTo>
                    <a:pt x="0" y="576552"/>
                  </a:lnTo>
                  <a:lnTo>
                    <a:pt x="0" y="571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19502" y="0"/>
                  </a:lnTo>
                  <a:lnTo>
                    <a:pt x="1351582" y="28187"/>
                  </a:lnTo>
                  <a:lnTo>
                    <a:pt x="1352549" y="33047"/>
                  </a:lnTo>
                  <a:lnTo>
                    <a:pt x="1352549" y="576552"/>
                  </a:lnTo>
                  <a:lnTo>
                    <a:pt x="1324362" y="608632"/>
                  </a:lnTo>
                  <a:lnTo>
                    <a:pt x="1319502" y="6095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32" name="object 42">
            <a:extLst>
              <a:ext uri="{FF2B5EF4-FFF2-40B4-BE49-F238E27FC236}">
                <a16:creationId xmlns:a16="http://schemas.microsoft.com/office/drawing/2014/main" id="{17FE566E-8C85-7BE2-89EC-8877288E2345}"/>
              </a:ext>
            </a:extLst>
          </p:cNvPr>
          <p:cNvSpPr txBox="1"/>
          <p:nvPr/>
        </p:nvSpPr>
        <p:spPr>
          <a:xfrm>
            <a:off x="7010499" y="5385556"/>
            <a:ext cx="1067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96215" marR="5080" indent="-184150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Decompression Algorithm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3" name="object 43">
            <a:extLst>
              <a:ext uri="{FF2B5EF4-FFF2-40B4-BE49-F238E27FC236}">
                <a16:creationId xmlns:a16="http://schemas.microsoft.com/office/drawing/2014/main" id="{32B52A51-569D-24F6-A5E3-D7E30E5DC147}"/>
              </a:ext>
            </a:extLst>
          </p:cNvPr>
          <p:cNvGrpSpPr/>
          <p:nvPr/>
        </p:nvGrpSpPr>
        <p:grpSpPr>
          <a:xfrm>
            <a:off x="8296275" y="5348726"/>
            <a:ext cx="1400174" cy="609600"/>
            <a:chOff x="8296275" y="6429374"/>
            <a:chExt cx="1400174" cy="609600"/>
          </a:xfrm>
        </p:grpSpPr>
        <p:pic>
          <p:nvPicPr>
            <p:cNvPr id="35" name="object 44">
              <a:extLst>
                <a:ext uri="{FF2B5EF4-FFF2-40B4-BE49-F238E27FC236}">
                  <a16:creationId xmlns:a16="http://schemas.microsoft.com/office/drawing/2014/main" id="{F28807F3-0554-B1BC-0520-E0062994AB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6275" y="6676072"/>
              <a:ext cx="134272" cy="116204"/>
            </a:xfrm>
            <a:prstGeom prst="rect">
              <a:avLst/>
            </a:prstGeom>
          </p:spPr>
        </p:pic>
        <p:sp>
          <p:nvSpPr>
            <p:cNvPr id="36" name="object 45">
              <a:extLst>
                <a:ext uri="{FF2B5EF4-FFF2-40B4-BE49-F238E27FC236}">
                  <a16:creationId xmlns:a16="http://schemas.microsoft.com/office/drawing/2014/main" id="{062BDD68-5582-8FBC-5ACE-8AACC6A30A09}"/>
                </a:ext>
              </a:extLst>
            </p:cNvPr>
            <p:cNvSpPr/>
            <p:nvPr/>
          </p:nvSpPr>
          <p:spPr>
            <a:xfrm>
              <a:off x="8505824" y="6429374"/>
              <a:ext cx="1190625" cy="609600"/>
            </a:xfrm>
            <a:custGeom>
              <a:avLst/>
              <a:gdLst/>
              <a:ahLst/>
              <a:cxnLst/>
              <a:rect l="l" t="t" r="r" b="b"/>
              <a:pathLst>
                <a:path w="1190625" h="609600">
                  <a:moveTo>
                    <a:pt x="1157576" y="609599"/>
                  </a:moveTo>
                  <a:lnTo>
                    <a:pt x="33047" y="609599"/>
                  </a:lnTo>
                  <a:lnTo>
                    <a:pt x="28187" y="608632"/>
                  </a:lnTo>
                  <a:lnTo>
                    <a:pt x="966" y="581411"/>
                  </a:lnTo>
                  <a:lnTo>
                    <a:pt x="0" y="576552"/>
                  </a:lnTo>
                  <a:lnTo>
                    <a:pt x="0" y="571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57576" y="0"/>
                  </a:lnTo>
                  <a:lnTo>
                    <a:pt x="1189657" y="28187"/>
                  </a:lnTo>
                  <a:lnTo>
                    <a:pt x="1190624" y="33047"/>
                  </a:lnTo>
                  <a:lnTo>
                    <a:pt x="1190624" y="576552"/>
                  </a:lnTo>
                  <a:lnTo>
                    <a:pt x="1162437" y="608632"/>
                  </a:lnTo>
                  <a:lnTo>
                    <a:pt x="1157576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34" name="object 46">
            <a:extLst>
              <a:ext uri="{FF2B5EF4-FFF2-40B4-BE49-F238E27FC236}">
                <a16:creationId xmlns:a16="http://schemas.microsoft.com/office/drawing/2014/main" id="{EF6C2162-332B-D0D7-60F4-A2C5F6A56F53}"/>
              </a:ext>
            </a:extLst>
          </p:cNvPr>
          <p:cNvSpPr txBox="1"/>
          <p:nvPr/>
        </p:nvSpPr>
        <p:spPr>
          <a:xfrm>
            <a:off x="8642697" y="5385556"/>
            <a:ext cx="9131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 marR="5080" indent="158750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Identical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Original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7175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32F-9977-BE69-4D01-F27A294D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D57327E6-06E8-8FE8-F461-666227EF9C3F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F43D761-B3A5-55B5-D3A0-5C6D3EA7292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C282FCF-3179-A257-6A3A-56AA11A1769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61F2ED5-E8B7-ED9C-A072-5D3F0B0874F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F36259B-EDE9-12C3-5353-FD22004A239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315D0E9A-246C-D11F-9081-869521693421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27472C40-5CF3-5116-1CC4-883ADF5AE99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5AC94432-2846-3BCB-4C7A-A33A6FBF2CD5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E0A7D694-CD79-CF77-E7A0-B45CC1E5B398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835EE0D-80D3-5FD8-C4C6-6CCF330EC50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3DECA319-FFC2-1783-FDC3-77A6D76A769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D9397CA0-8A4E-E880-A14E-4A09BC5ACA8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D3F9E978-2078-FB3E-06C8-DA6862F3A95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EDB6CD53-BDD8-7598-601D-48F6367EA33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BB96F858-0BAA-D435-453D-3EB98E02C8E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634270D5-E630-D316-0645-ECA94079B51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C97BCED-D54E-3481-7C0A-62811DD5CF8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3F682AB-D5FD-6EBE-030D-BDE6D5405A7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86C9CC2F-7EBE-C5C6-AA10-9623128911E5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F93D5039-AE4C-9983-705B-B79D8A5ED7A6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783097F-E7C5-A91C-645C-5BF18EC59E2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6DDCA08A-0C8A-9781-5C27-BE648735B058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745238C6-B271-24AC-862C-2B915E6F147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475E2810-2DE1-3A4D-F94D-05AB84725AD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715E752-AD57-5BD0-5DD2-E443D4E797F2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63069517-623F-69EB-70A7-BD4EB5877F4E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FBC75050-7797-5D88-ED7E-CD33506270C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79A4726-6F66-D1A8-1D89-36A248641D5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4B4CEC0A-FD61-CD6D-C85B-227D8E44C90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A54B0607-D5A8-3F33-34D8-C2CF97FF65E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F286C56-C7AF-1635-0318-392C986C2B55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DD2676A3-A070-0999-FEC8-CFEAD575AC1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5F942B8-7BE2-513B-4667-47BDF1B99234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50FB8D8E-5B29-D906-A72D-FE5DA8E6D13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04208D68-A099-42E9-6C60-1AC3CC18A3B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6E0C780-5529-95BA-FE0E-F8F819759C04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867B769C-4EB5-9AA6-4E0C-C9EF9F71751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DAD66A26-2102-124D-90C4-EE29C7D1E7D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CC06CAC-082A-5890-C700-DA2915B7DD9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985F9F2-DEF1-00B6-397A-4EF75F22E460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EA9C4E01-E75C-293C-59D3-1303E77485E2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6DA8DC38-EF79-C74A-D110-6157120518D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5A710C1-5843-3B1D-A95F-A32717177CC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AB88CFF5-E613-ED0C-2B67-4FE5F5D92E0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62D17F2-A2F0-B2B7-9F4C-523F92FDDB5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434224C-B653-E5EF-C3DF-CD8AC55F89D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5A27F506-1DCD-F96C-7AFA-1AC6E03664FE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4EC2A2AC-B0E4-4563-AA2D-E0895E86AD9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AEB51EEC-4054-0D0C-3656-152BA12BAC68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89EEF0DA-2C88-F22F-FC08-84FED26414AF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93ED6C16-2481-AD16-72B5-77E35F268DA9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4FD58E81-AE17-5730-E2D3-69D4E085EB4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B33810BD-EB58-F874-2B82-8C6301DA9C3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28624BCC-392F-D40F-8A60-4F640FDA7C5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70CDB3B8-07F5-4C92-4A83-D30CF73B64EA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DF58EB7-715B-748F-E5AE-FC60953EE14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0763BEDB-E1E5-0F42-4239-2CBC51DE2E10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313EC93C-7E42-A969-BE5A-432C9728CFAC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140D0F5-4AFA-F1F8-3D2D-EC7B5BB04A2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749B1A27-60FD-84DC-BF0A-9AC6925737F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E3BAA8C8-D267-9B4A-2D9C-039D70CF50B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2E0D2BAD-BC41-386C-4A82-F1984CEEBD5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73278C0A-D4FE-BB59-9646-14FB3CC5423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42AC799-1AD4-70EB-55A2-7A3FF24C5A50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893F7872-33A0-09F4-CE11-87158FF683D1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3158AB67-BA6F-B931-9131-02D1F1E26F8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068211C-D0AB-B7FC-A1B7-0ABDE7B5987C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F8DFEDA-C8E7-DBB0-B6B6-25C899D9AA6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DB955CC-775E-38E9-E62E-BA90D7CCAD16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A00E4D5-8694-272D-BAA9-75EB8E7CB35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5E09CA0C-95B0-87E2-CF2F-D1786F5AC58D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EA8A2693-5DD5-6843-FEDF-9E40FA084D6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1A620682-9327-2EB1-C752-544ECEAB5706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DB8EA3C-1678-4B96-93B2-8BAB5392CE8B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73D156E-611B-FF48-B74C-BF7E9F2B2B21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Mathematical / Technical Foundation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102D2-F51A-C196-C8AB-D0BC56BFF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11F88-C991-49E8-DA9F-C8A19541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5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19AEB07-C9D2-4C09-208C-E56E96661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8526" y="1436514"/>
            <a:ext cx="11172974" cy="10833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>
              <a:buNone/>
            </a:pPr>
            <a:r>
              <a:rPr lang="en-US" sz="1800" dirty="0"/>
              <a:t>The core of Huffman coding lies in the creation of a binary tree, known as the Huffman tree. The expected length of a Huffman code can be represented as: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3DB34-EFD2-DCD4-BED3-7678193F3874}"/>
                  </a:ext>
                </a:extLst>
              </p:cNvPr>
              <p:cNvSpPr txBox="1"/>
              <p:nvPr/>
            </p:nvSpPr>
            <p:spPr>
              <a:xfrm>
                <a:off x="2468445" y="2355262"/>
                <a:ext cx="2183034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b="1" baseline="30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3DB34-EFD2-DCD4-BED3-7678193F3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45" y="2355262"/>
                <a:ext cx="2183034" cy="544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780ACFC-C95A-1D43-1C94-DA0CE12A6E87}"/>
              </a:ext>
            </a:extLst>
          </p:cNvPr>
          <p:cNvSpPr txBox="1"/>
          <p:nvPr/>
        </p:nvSpPr>
        <p:spPr>
          <a:xfrm>
            <a:off x="7540522" y="2106755"/>
            <a:ext cx="4853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L = Total length of encoded message in bits</a:t>
            </a:r>
          </a:p>
          <a:p>
            <a:r>
              <a:rPr lang="en-IN" sz="1400" dirty="0"/>
              <a:t>n = number of unique characters</a:t>
            </a:r>
          </a:p>
          <a:p>
            <a:r>
              <a:rPr lang="en-IN" sz="1400" dirty="0"/>
              <a:t>f(</a:t>
            </a:r>
            <a:r>
              <a:rPr lang="en-IN" sz="1400" dirty="0" err="1"/>
              <a:t>i</a:t>
            </a:r>
            <a:r>
              <a:rPr lang="en-IN" sz="1400" dirty="0"/>
              <a:t>) = frequency of </a:t>
            </a:r>
            <a:r>
              <a:rPr lang="en-IN" sz="1400" dirty="0" err="1"/>
              <a:t>i-th</a:t>
            </a:r>
            <a:r>
              <a:rPr lang="en-IN" sz="1400" dirty="0"/>
              <a:t> letter</a:t>
            </a:r>
          </a:p>
          <a:p>
            <a:r>
              <a:rPr lang="en-IN" sz="1400" dirty="0"/>
              <a:t>l(</a:t>
            </a:r>
            <a:r>
              <a:rPr lang="en-IN" sz="1400" dirty="0" err="1"/>
              <a:t>i</a:t>
            </a:r>
            <a:r>
              <a:rPr lang="en-IN" sz="1400" dirty="0"/>
              <a:t>) =  </a:t>
            </a:r>
            <a:r>
              <a:rPr lang="en-US" sz="1400" dirty="0"/>
              <a:t>length of the Huffman code for the </a:t>
            </a:r>
            <a:r>
              <a:rPr lang="en-US" sz="1400" dirty="0" err="1"/>
              <a:t>i-th</a:t>
            </a:r>
            <a:r>
              <a:rPr lang="en-US" sz="1400" dirty="0"/>
              <a:t> character.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803E9-90B5-0B8A-142A-8939B1855E65}"/>
              </a:ext>
            </a:extLst>
          </p:cNvPr>
          <p:cNvSpPr txBox="1"/>
          <p:nvPr/>
        </p:nvSpPr>
        <p:spPr>
          <a:xfrm>
            <a:off x="817301" y="902053"/>
            <a:ext cx="2630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HUFFMAN CODING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8AAB3-6E67-41E4-D7F8-3502A4E61701}"/>
              </a:ext>
            </a:extLst>
          </p:cNvPr>
          <p:cNvSpPr txBox="1"/>
          <p:nvPr/>
        </p:nvSpPr>
        <p:spPr>
          <a:xfrm>
            <a:off x="830835" y="3736921"/>
            <a:ext cx="4031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RUN LENGTH ENCODING (RLE)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BFCCA-BFC5-1D7D-16B2-6D6B3F6E6B9C}"/>
              </a:ext>
            </a:extLst>
          </p:cNvPr>
          <p:cNvSpPr txBox="1"/>
          <p:nvPr/>
        </p:nvSpPr>
        <p:spPr>
          <a:xfrm>
            <a:off x="828526" y="4132804"/>
            <a:ext cx="87923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 sequence of data, if a value v appears n consecutive times, it is encoded as a pair </a:t>
            </a:r>
            <a:r>
              <a:rPr lang="en-US" i="1" dirty="0"/>
              <a:t>(</a:t>
            </a:r>
            <a:r>
              <a:rPr lang="en-US" i="1" dirty="0" err="1"/>
              <a:t>v,n</a:t>
            </a:r>
            <a:r>
              <a:rPr lang="en-US" i="1" dirty="0"/>
              <a:t>).</a:t>
            </a:r>
            <a:br>
              <a:rPr lang="en-US" i="1" dirty="0"/>
            </a:br>
            <a:br>
              <a:rPr lang="en-US" i="1" dirty="0"/>
            </a:br>
            <a:r>
              <a:rPr lang="en-US" dirty="0"/>
              <a:t>For a given string S, RLE can be represented as a sequence of pairs:</a:t>
            </a:r>
          </a:p>
          <a:p>
            <a:endParaRPr lang="en-US" dirty="0"/>
          </a:p>
          <a:p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RLE(S)={(c1​,l1​),(c2​,l2​),...,(ck​,</a:t>
            </a:r>
            <a:r>
              <a:rPr lang="en-US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​)}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30D014-7FEB-B530-9F1F-3862230665DC}"/>
              </a:ext>
            </a:extLst>
          </p:cNvPr>
          <p:cNvSpPr txBox="1"/>
          <p:nvPr/>
        </p:nvSpPr>
        <p:spPr>
          <a:xfrm>
            <a:off x="7540522" y="5061485"/>
            <a:ext cx="2687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ci​ is the </a:t>
            </a:r>
            <a:r>
              <a:rPr lang="en-US" sz="1400" dirty="0" err="1"/>
              <a:t>i-th</a:t>
            </a:r>
            <a:r>
              <a:rPr lang="en-US" sz="1400" dirty="0"/>
              <a:t> character in a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li​ is the length of the </a:t>
            </a:r>
            <a:r>
              <a:rPr lang="en-US" sz="1400" dirty="0" err="1"/>
              <a:t>i-th</a:t>
            </a:r>
            <a:r>
              <a:rPr lang="en-US" sz="1400" dirty="0"/>
              <a:t> run.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6043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D7EDD-7838-3818-8EEC-A4090F9B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0814B19-415E-A31B-9EB1-2BFB5D4726FD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7C803B0-6491-C84C-9E0F-36253661A127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8B94739-1184-BA51-36F1-1EC2245E3EE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23CD9CF9-4722-CD37-7EF0-1FFA580AC3E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2D314480-ADA5-3918-6D6D-C25747532F4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115FCDD-0A4F-B2F5-2160-495A712FB59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A62CB48-A729-B7D4-B39B-C1B4CEE3641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18392DC0-52CF-7C05-56F6-6F0E623A928F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04F443CC-88E0-C363-2AE2-7ABD591BD76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B7495486-55E5-2348-020C-5A5D15234B2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A0A9F848-A63F-109B-C30D-F94339EA0C6A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8242A2B2-7CC2-41AA-7F44-B01386F577C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C55B6C2B-3001-F3D8-3A50-3122192AF6F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7722D2A-2F78-AB58-1F36-D57E70B1DBD4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947F11EB-33A7-B877-B0DA-A48CCF00267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71014A6-CEAF-5D1E-3A9A-E880C57915F6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F383ED4-02D2-43AF-BAFC-9AFA56C39489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73ACADD0-CEB4-103E-2B93-6CF10302D38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68B22D8-F47D-59F7-3C7C-AE54310EBF1A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D8C270E-DAB0-B93F-FAE9-C254AE3028A6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23771E49-5433-4B9B-73AC-3FC280871CE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A48AF2A1-3219-274B-F752-4380A5E1997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8370C9C0-E572-4A03-F83A-638B14C7971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E35040DD-8737-77C1-D975-E478EB6EF00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06C03CBA-89E3-727A-3BD2-6DE84701FF9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86B5721D-5244-5195-E19B-E3AD22D74B95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D2B4259-42B3-0884-1B77-5A51AAC10116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2F0405C5-0AE9-A30D-8AE5-EAE84BF40C9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F0063038-9347-AD88-F164-6AAF495A8D5A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DECB191-8CE3-F090-4729-6FD42C935BC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A7CCEB4-25CD-648E-F1EF-AF4DA6624F4E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1D71F64F-C797-C3D5-5451-7785975A972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E42386D0-3FC4-BB33-3F56-28E847BDEE7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885A00A1-642F-9228-C564-48A6E4A94F6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C4BBA63B-5E6A-2969-0AB9-1EE9B10C4A92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8513F925-9F65-1B8D-43BA-4B44EB54E91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9AD2950C-5628-D339-F18D-7D5A2B83A82D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1EA2C1B-247D-C378-E47F-3333D58C31A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936D3F8-AFDE-942F-BAA8-6FE1CA24E46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DCC05F74-DE87-A1B3-8FFC-ACBD520350F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A67AAC0E-DDE6-78C0-2307-4BA6DBA4570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935AB1CA-37E0-32C2-616D-6D66E3C25C3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B8C92193-9509-D6D8-AFEE-186B4E6BEE5D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9D704AE4-9A8A-0D26-7887-D8F5FA923621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DBE12D62-CA25-A50F-79FA-5CADE355240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019D930-711A-77B8-9429-7F8B3E7C60A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0F9F8B0-75EF-9F93-81C3-590027851B4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00E41317-776E-B473-3A08-E675E398340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A1ACDCFB-6BFE-DCD7-E3A8-B9A12C181DE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E1AC0C4F-BF73-575D-BD1D-E12212AC4CC9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587D58C-432E-14EB-270B-ACB152629BD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0FC294F-F65B-0300-4D80-B9BA9C91318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46E14F2C-6BD6-0C9C-E3C0-A85D0CE7AF4B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430AD0AB-D134-54E1-318B-609686B9462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0EBCBD5E-216D-38E7-6269-6BDC710B1B1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164A513-2002-56D8-4DC8-8FAD7A9A719F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CFF8D516-5D7B-A545-CC61-F83F5188457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90FD5B5-27DE-4690-3C55-4AB9F2F1AC6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7670622-527E-BAB2-8E04-913224F2AAF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FE3EAE73-EEAF-9ADF-F231-1FE4E0EE5D8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C4A0AB80-7AE5-862C-A065-FA727279432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A328FD85-5BCE-E54F-25E9-5C946B4DE80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2CADCA9C-81AE-5A30-940D-4724677CC36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3AF54B87-290A-03EF-53EC-7F4A186A29B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A814E78-582C-0470-7DD1-6FC7D882B84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552A8C13-5857-7B0C-37BE-1443944D0AAB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B0FC61EF-4318-F453-372F-7D2080A9E83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6C425738-DD7B-C64F-B4A8-248DD7F65F82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E9F98082-B558-08BC-D768-757433D477E1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DA490A4D-C1C6-42E6-6F42-9DE35271A2F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1E221F75-52CB-1F59-5F3F-2E719DA78F68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D44611AE-A69B-8190-264B-6025EE5E774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45F0A01-1C9B-CBA5-108F-E1488CDD9BD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70D6DB33-38BB-E9DE-BFCC-D8591D15E45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5F8F679-8312-E4CF-188D-B4400CB2EB8E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Working / Process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BB147-EF34-D81D-4163-7E93F7006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3DDEA-2C4F-88F3-E020-A3EFF77F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6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DA3BE50-8EE9-A037-32CC-D0FE611C2D15}"/>
              </a:ext>
            </a:extLst>
          </p:cNvPr>
          <p:cNvGrpSpPr/>
          <p:nvPr/>
        </p:nvGrpSpPr>
        <p:grpSpPr>
          <a:xfrm>
            <a:off x="419683" y="3401509"/>
            <a:ext cx="5291004" cy="2508164"/>
            <a:chOff x="571499" y="1238249"/>
            <a:chExt cx="5381625" cy="22479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51CB5545-FCD4-1B82-0566-2939EF010874}"/>
                </a:ext>
              </a:extLst>
            </p:cNvPr>
            <p:cNvSpPr/>
            <p:nvPr/>
          </p:nvSpPr>
          <p:spPr>
            <a:xfrm>
              <a:off x="590549" y="1238249"/>
              <a:ext cx="5362575" cy="2247900"/>
            </a:xfrm>
            <a:custGeom>
              <a:avLst/>
              <a:gdLst/>
              <a:ahLst/>
              <a:cxnLst/>
              <a:rect l="l" t="t" r="r" b="b"/>
              <a:pathLst>
                <a:path w="5362575" h="2247900">
                  <a:moveTo>
                    <a:pt x="5321264" y="2247899"/>
                  </a:moveTo>
                  <a:lnTo>
                    <a:pt x="0" y="2247899"/>
                  </a:lnTo>
                  <a:lnTo>
                    <a:pt x="0" y="0"/>
                  </a:lnTo>
                  <a:lnTo>
                    <a:pt x="5321264" y="0"/>
                  </a:lnTo>
                  <a:lnTo>
                    <a:pt x="5327339" y="1208"/>
                  </a:lnTo>
                  <a:lnTo>
                    <a:pt x="5361365" y="35234"/>
                  </a:lnTo>
                  <a:lnTo>
                    <a:pt x="5362574" y="41309"/>
                  </a:lnTo>
                  <a:lnTo>
                    <a:pt x="5362574" y="2206590"/>
                  </a:lnTo>
                  <a:lnTo>
                    <a:pt x="5339009" y="2241857"/>
                  </a:lnTo>
                  <a:lnTo>
                    <a:pt x="5321264" y="22478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B629433A-F09B-189A-8C9A-32EF318E6F67}"/>
                </a:ext>
              </a:extLst>
            </p:cNvPr>
            <p:cNvSpPr/>
            <p:nvPr/>
          </p:nvSpPr>
          <p:spPr>
            <a:xfrm>
              <a:off x="571499" y="1238249"/>
              <a:ext cx="38100" cy="2247900"/>
            </a:xfrm>
            <a:custGeom>
              <a:avLst/>
              <a:gdLst/>
              <a:ahLst/>
              <a:cxnLst/>
              <a:rect l="l" t="t" r="r" b="b"/>
              <a:pathLst>
                <a:path w="38100" h="2247900">
                  <a:moveTo>
                    <a:pt x="38099" y="2247899"/>
                  </a:moveTo>
                  <a:lnTo>
                    <a:pt x="0" y="22478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2478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6" name="object 16">
            <a:extLst>
              <a:ext uri="{FF2B5EF4-FFF2-40B4-BE49-F238E27FC236}">
                <a16:creationId xmlns:a16="http://schemas.microsoft.com/office/drawing/2014/main" id="{59DEC8E7-1959-9CE2-44CA-45DD9373814D}"/>
              </a:ext>
            </a:extLst>
          </p:cNvPr>
          <p:cNvSpPr txBox="1"/>
          <p:nvPr/>
        </p:nvSpPr>
        <p:spPr>
          <a:xfrm>
            <a:off x="684471" y="3897469"/>
            <a:ext cx="7457241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Calculate frequency of each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symbol</a:t>
            </a:r>
            <a:endParaRPr sz="16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Clr>
                <a:srgbClr val="C0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Create leaf nodes for each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symbol</a:t>
            </a:r>
            <a:endParaRPr sz="16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Clr>
                <a:srgbClr val="C0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Huffman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tree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(merge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least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frequent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nodes)</a:t>
            </a:r>
            <a:endParaRPr sz="16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Clr>
                <a:srgbClr val="C0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Assign</a:t>
            </a:r>
            <a:r>
              <a:rPr sz="16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codes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(0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left,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 right)</a:t>
            </a:r>
            <a:endParaRPr sz="16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110"/>
              </a:spcBef>
              <a:buClr>
                <a:srgbClr val="C0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Encode</a:t>
            </a:r>
            <a:r>
              <a:rPr sz="16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message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6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Segoe UI"/>
                <a:cs typeface="Segoe UI"/>
              </a:rPr>
              <a:t>codes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8A821-AC43-1927-9F01-D18603615CE2}"/>
              </a:ext>
            </a:extLst>
          </p:cNvPr>
          <p:cNvSpPr txBox="1"/>
          <p:nvPr/>
        </p:nvSpPr>
        <p:spPr>
          <a:xfrm>
            <a:off x="875307" y="3505659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HUFFMAN CODING</a:t>
            </a:r>
          </a:p>
        </p:txBody>
      </p:sp>
      <p:sp>
        <p:nvSpPr>
          <p:cNvPr id="3094" name="Rounded Rectangle 1"/>
          <p:cNvSpPr/>
          <p:nvPr/>
        </p:nvSpPr>
        <p:spPr>
          <a:xfrm>
            <a:off x="5118518" y="1024987"/>
            <a:ext cx="1210733" cy="1100666"/>
          </a:xfrm>
          <a:custGeom>
            <a:avLst/>
            <a:gdLst/>
            <a:ahLst/>
            <a:cxnLst/>
            <a:rect l="0" t="0" r="0" b="0"/>
            <a:pathLst>
              <a:path w="1210733" h="1100666">
                <a:moveTo>
                  <a:pt x="0" y="0"/>
                </a:moveTo>
                <a:lnTo>
                  <a:pt x="1210733" y="0"/>
                </a:lnTo>
                <a:moveTo>
                  <a:pt x="1210733" y="1100666"/>
                </a:moveTo>
                <a:lnTo>
                  <a:pt x="0" y="1100666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95" name="Rounded Rectangle 2"/>
          <p:cNvSpPr/>
          <p:nvPr/>
        </p:nvSpPr>
        <p:spPr>
          <a:xfrm>
            <a:off x="4953418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165100" y="0"/>
                </a:moveTo>
                <a:lnTo>
                  <a:pt x="146755" y="0"/>
                </a:lnTo>
                <a:cubicBezTo>
                  <a:pt x="65704" y="0"/>
                  <a:pt x="0" y="65704"/>
                  <a:pt x="0" y="146755"/>
                </a:cubicBezTo>
                <a:moveTo>
                  <a:pt x="165100" y="1100666"/>
                </a:moveTo>
                <a:lnTo>
                  <a:pt x="146755" y="1100666"/>
                </a:lnTo>
                <a:cubicBezTo>
                  <a:pt x="65704" y="1100666"/>
                  <a:pt x="0" y="1034962"/>
                  <a:pt x="0" y="953911"/>
                </a:cubicBezTo>
                <a:moveTo>
                  <a:pt x="0" y="953911"/>
                </a:moveTo>
                <a:lnTo>
                  <a:pt x="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96" name="Rounded Rectangle 3"/>
          <p:cNvSpPr/>
          <p:nvPr/>
        </p:nvSpPr>
        <p:spPr>
          <a:xfrm>
            <a:off x="6329252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0" y="0"/>
                </a:moveTo>
                <a:lnTo>
                  <a:pt x="18344" y="0"/>
                </a:lnTo>
                <a:cubicBezTo>
                  <a:pt x="99395" y="0"/>
                  <a:pt x="165100" y="65704"/>
                  <a:pt x="165100" y="146755"/>
                </a:cubicBezTo>
                <a:moveTo>
                  <a:pt x="0" y="1100666"/>
                </a:moveTo>
                <a:lnTo>
                  <a:pt x="18344" y="1100666"/>
                </a:lnTo>
                <a:cubicBezTo>
                  <a:pt x="99395" y="1100666"/>
                  <a:pt x="165100" y="1034962"/>
                  <a:pt x="165100" y="953911"/>
                </a:cubicBezTo>
                <a:moveTo>
                  <a:pt x="165100" y="953911"/>
                </a:moveTo>
                <a:lnTo>
                  <a:pt x="16510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97" name="Rounded Rectangle 4"/>
          <p:cNvSpPr/>
          <p:nvPr/>
        </p:nvSpPr>
        <p:spPr>
          <a:xfrm>
            <a:off x="7686741" y="1024987"/>
            <a:ext cx="1210733" cy="1100666"/>
          </a:xfrm>
          <a:custGeom>
            <a:avLst/>
            <a:gdLst/>
            <a:ahLst/>
            <a:cxnLst/>
            <a:rect l="0" t="0" r="0" b="0"/>
            <a:pathLst>
              <a:path w="1210733" h="1100666">
                <a:moveTo>
                  <a:pt x="0" y="0"/>
                </a:moveTo>
                <a:lnTo>
                  <a:pt x="1210733" y="0"/>
                </a:lnTo>
                <a:moveTo>
                  <a:pt x="1210733" y="1100666"/>
                </a:moveTo>
                <a:lnTo>
                  <a:pt x="0" y="1100666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98" name="Rounded Rectangle 5"/>
          <p:cNvSpPr/>
          <p:nvPr/>
        </p:nvSpPr>
        <p:spPr>
          <a:xfrm>
            <a:off x="7521641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165100" y="0"/>
                </a:moveTo>
                <a:lnTo>
                  <a:pt x="146755" y="0"/>
                </a:lnTo>
                <a:cubicBezTo>
                  <a:pt x="65704" y="0"/>
                  <a:pt x="0" y="65704"/>
                  <a:pt x="0" y="146755"/>
                </a:cubicBezTo>
                <a:moveTo>
                  <a:pt x="165100" y="1100666"/>
                </a:moveTo>
                <a:lnTo>
                  <a:pt x="146755" y="1100666"/>
                </a:lnTo>
                <a:cubicBezTo>
                  <a:pt x="65704" y="1100666"/>
                  <a:pt x="0" y="1034962"/>
                  <a:pt x="0" y="953911"/>
                </a:cubicBezTo>
                <a:moveTo>
                  <a:pt x="0" y="953911"/>
                </a:moveTo>
                <a:lnTo>
                  <a:pt x="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99" name="Rounded Rectangle 6"/>
          <p:cNvSpPr/>
          <p:nvPr/>
        </p:nvSpPr>
        <p:spPr>
          <a:xfrm>
            <a:off x="8897474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0" y="0"/>
                </a:moveTo>
                <a:lnTo>
                  <a:pt x="18344" y="0"/>
                </a:lnTo>
                <a:cubicBezTo>
                  <a:pt x="99395" y="0"/>
                  <a:pt x="165100" y="65704"/>
                  <a:pt x="165100" y="146755"/>
                </a:cubicBezTo>
                <a:moveTo>
                  <a:pt x="0" y="1100666"/>
                </a:moveTo>
                <a:lnTo>
                  <a:pt x="18344" y="1100666"/>
                </a:lnTo>
                <a:cubicBezTo>
                  <a:pt x="99395" y="1100666"/>
                  <a:pt x="165100" y="1034962"/>
                  <a:pt x="165100" y="953911"/>
                </a:cubicBezTo>
                <a:moveTo>
                  <a:pt x="165100" y="953911"/>
                </a:moveTo>
                <a:lnTo>
                  <a:pt x="16510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00" name="Rounded Rectangle 7"/>
          <p:cNvSpPr/>
          <p:nvPr/>
        </p:nvSpPr>
        <p:spPr>
          <a:xfrm>
            <a:off x="10254963" y="1024987"/>
            <a:ext cx="1210733" cy="1100666"/>
          </a:xfrm>
          <a:custGeom>
            <a:avLst/>
            <a:gdLst/>
            <a:ahLst/>
            <a:cxnLst/>
            <a:rect l="0" t="0" r="0" b="0"/>
            <a:pathLst>
              <a:path w="1210733" h="1100666">
                <a:moveTo>
                  <a:pt x="0" y="0"/>
                </a:moveTo>
                <a:lnTo>
                  <a:pt x="1210733" y="0"/>
                </a:lnTo>
                <a:moveTo>
                  <a:pt x="1210733" y="1100666"/>
                </a:moveTo>
                <a:lnTo>
                  <a:pt x="0" y="1100666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01" name="Rounded Rectangle 8"/>
          <p:cNvSpPr/>
          <p:nvPr/>
        </p:nvSpPr>
        <p:spPr>
          <a:xfrm>
            <a:off x="10089863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165100" y="0"/>
                </a:moveTo>
                <a:lnTo>
                  <a:pt x="146755" y="0"/>
                </a:lnTo>
                <a:cubicBezTo>
                  <a:pt x="65704" y="0"/>
                  <a:pt x="0" y="65704"/>
                  <a:pt x="0" y="146755"/>
                </a:cubicBezTo>
                <a:moveTo>
                  <a:pt x="165100" y="1100666"/>
                </a:moveTo>
                <a:lnTo>
                  <a:pt x="146755" y="1100666"/>
                </a:lnTo>
                <a:cubicBezTo>
                  <a:pt x="65704" y="1100666"/>
                  <a:pt x="0" y="1034962"/>
                  <a:pt x="0" y="953911"/>
                </a:cubicBezTo>
                <a:moveTo>
                  <a:pt x="0" y="953911"/>
                </a:moveTo>
                <a:lnTo>
                  <a:pt x="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02" name="Rounded Rectangle 9"/>
          <p:cNvSpPr/>
          <p:nvPr/>
        </p:nvSpPr>
        <p:spPr>
          <a:xfrm>
            <a:off x="11465696" y="1024987"/>
            <a:ext cx="165100" cy="1100666"/>
          </a:xfrm>
          <a:custGeom>
            <a:avLst/>
            <a:gdLst/>
            <a:ahLst/>
            <a:cxnLst/>
            <a:rect l="0" t="0" r="0" b="0"/>
            <a:pathLst>
              <a:path w="165100" h="1100666">
                <a:moveTo>
                  <a:pt x="0" y="0"/>
                </a:moveTo>
                <a:lnTo>
                  <a:pt x="18344" y="0"/>
                </a:lnTo>
                <a:cubicBezTo>
                  <a:pt x="99395" y="0"/>
                  <a:pt x="165100" y="65704"/>
                  <a:pt x="165100" y="146755"/>
                </a:cubicBezTo>
                <a:moveTo>
                  <a:pt x="0" y="1100666"/>
                </a:moveTo>
                <a:lnTo>
                  <a:pt x="18344" y="1100666"/>
                </a:lnTo>
                <a:cubicBezTo>
                  <a:pt x="99395" y="1100666"/>
                  <a:pt x="165100" y="1034962"/>
                  <a:pt x="165100" y="953911"/>
                </a:cubicBezTo>
                <a:moveTo>
                  <a:pt x="165100" y="953911"/>
                </a:moveTo>
                <a:lnTo>
                  <a:pt x="16510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03" name="Group 3102"/>
          <p:cNvGrpSpPr/>
          <p:nvPr/>
        </p:nvGrpSpPr>
        <p:grpSpPr>
          <a:xfrm>
            <a:off x="6797035" y="2451267"/>
            <a:ext cx="371475" cy="119238"/>
            <a:chOff x="2577394" y="2637013"/>
            <a:chExt cx="371475" cy="119238"/>
          </a:xfrm>
        </p:grpSpPr>
        <p:sp>
          <p:nvSpPr>
            <p:cNvPr id="3104" name="Rounded Rectangle 10"/>
            <p:cNvSpPr/>
            <p:nvPr/>
          </p:nvSpPr>
          <p:spPr>
            <a:xfrm>
              <a:off x="2577394" y="2696633"/>
              <a:ext cx="366888" cy="9172"/>
            </a:xfrm>
            <a:custGeom>
              <a:avLst/>
              <a:gdLst/>
              <a:ahLst/>
              <a:cxnLst/>
              <a:rect l="0" t="0" r="0" b="0"/>
              <a:pathLst>
                <a:path w="366888" h="9172">
                  <a:moveTo>
                    <a:pt x="366888" y="0"/>
                  </a:move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05" name="Rounded Rectangle 11"/>
            <p:cNvSpPr/>
            <p:nvPr/>
          </p:nvSpPr>
          <p:spPr>
            <a:xfrm>
              <a:off x="2889250" y="2637013"/>
              <a:ext cx="59619" cy="119238"/>
            </a:xfrm>
            <a:custGeom>
              <a:avLst/>
              <a:gdLst/>
              <a:ahLst/>
              <a:cxnLst/>
              <a:rect l="0" t="0" r="0" b="0"/>
              <a:pathLst>
                <a:path w="59619" h="119238">
                  <a:moveTo>
                    <a:pt x="0" y="119238"/>
                  </a:moveTo>
                  <a:lnTo>
                    <a:pt x="59619" y="59619"/>
                  </a:ln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106" name="Group 3105"/>
          <p:cNvGrpSpPr/>
          <p:nvPr/>
        </p:nvGrpSpPr>
        <p:grpSpPr>
          <a:xfrm>
            <a:off x="9365257" y="2451267"/>
            <a:ext cx="371475" cy="119238"/>
            <a:chOff x="5145616" y="2637013"/>
            <a:chExt cx="371475" cy="119238"/>
          </a:xfrm>
        </p:grpSpPr>
        <p:sp>
          <p:nvSpPr>
            <p:cNvPr id="3107" name="Rounded Rectangle 13"/>
            <p:cNvSpPr/>
            <p:nvPr/>
          </p:nvSpPr>
          <p:spPr>
            <a:xfrm>
              <a:off x="5145616" y="2696633"/>
              <a:ext cx="366888" cy="9172"/>
            </a:xfrm>
            <a:custGeom>
              <a:avLst/>
              <a:gdLst/>
              <a:ahLst/>
              <a:cxnLst/>
              <a:rect l="0" t="0" r="0" b="0"/>
              <a:pathLst>
                <a:path w="366888" h="9172">
                  <a:moveTo>
                    <a:pt x="366888" y="0"/>
                  </a:move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08" name="Rounded Rectangle 14"/>
            <p:cNvSpPr/>
            <p:nvPr/>
          </p:nvSpPr>
          <p:spPr>
            <a:xfrm>
              <a:off x="5457472" y="2637013"/>
              <a:ext cx="59619" cy="119238"/>
            </a:xfrm>
            <a:custGeom>
              <a:avLst/>
              <a:gdLst/>
              <a:ahLst/>
              <a:cxnLst/>
              <a:rect l="0" t="0" r="0" b="0"/>
              <a:pathLst>
                <a:path w="59619" h="119238">
                  <a:moveTo>
                    <a:pt x="0" y="119238"/>
                  </a:moveTo>
                  <a:lnTo>
                    <a:pt x="59619" y="59619"/>
                  </a:ln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09" name="Rounded Rectangle 16"/>
          <p:cNvSpPr/>
          <p:nvPr/>
        </p:nvSpPr>
        <p:spPr>
          <a:xfrm>
            <a:off x="4659907" y="1905520"/>
            <a:ext cx="2127955" cy="1045633"/>
          </a:xfrm>
          <a:custGeom>
            <a:avLst/>
            <a:gdLst/>
            <a:ahLst/>
            <a:cxnLst/>
            <a:rect l="0" t="0" r="0" b="0"/>
            <a:pathLst>
              <a:path w="2127955" h="1045633">
                <a:moveTo>
                  <a:pt x="2127955" y="330200"/>
                </a:moveTo>
                <a:lnTo>
                  <a:pt x="2127955" y="880533"/>
                </a:lnTo>
                <a:moveTo>
                  <a:pt x="0" y="880533"/>
                </a:moveTo>
                <a:lnTo>
                  <a:pt x="0" y="330200"/>
                </a:lnTo>
                <a:moveTo>
                  <a:pt x="2127955" y="880533"/>
                </a:moveTo>
                <a:lnTo>
                  <a:pt x="2127955" y="898877"/>
                </a:lnTo>
                <a:cubicBezTo>
                  <a:pt x="2127955" y="979929"/>
                  <a:pt x="2062251" y="1045633"/>
                  <a:pt x="1981200" y="1045633"/>
                </a:cubicBezTo>
                <a:lnTo>
                  <a:pt x="146755" y="1045633"/>
                </a:lnTo>
                <a:cubicBezTo>
                  <a:pt x="65704" y="1045633"/>
                  <a:pt x="0" y="979929"/>
                  <a:pt x="0" y="898877"/>
                </a:cubicBezTo>
                <a:lnTo>
                  <a:pt x="0" y="880533"/>
                </a:lnTo>
                <a:moveTo>
                  <a:pt x="0" y="330200"/>
                </a:moveTo>
                <a:lnTo>
                  <a:pt x="0" y="146755"/>
                </a:lnTo>
                <a:cubicBezTo>
                  <a:pt x="0" y="65704"/>
                  <a:pt x="65704" y="0"/>
                  <a:pt x="146755" y="0"/>
                </a:cubicBezTo>
                <a:lnTo>
                  <a:pt x="293511" y="0"/>
                </a:lnTo>
                <a:moveTo>
                  <a:pt x="2127955" y="330200"/>
                </a:moveTo>
                <a:lnTo>
                  <a:pt x="2127955" y="146755"/>
                </a:lnTo>
                <a:cubicBezTo>
                  <a:pt x="2127955" y="65704"/>
                  <a:pt x="2062251" y="0"/>
                  <a:pt x="1981200" y="0"/>
                </a:cubicBezTo>
                <a:lnTo>
                  <a:pt x="1834444" y="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0" name="Rounded Rectangle 17"/>
          <p:cNvSpPr/>
          <p:nvPr/>
        </p:nvSpPr>
        <p:spPr>
          <a:xfrm>
            <a:off x="7228129" y="1905520"/>
            <a:ext cx="2127955" cy="1045633"/>
          </a:xfrm>
          <a:custGeom>
            <a:avLst/>
            <a:gdLst/>
            <a:ahLst/>
            <a:cxnLst/>
            <a:rect l="0" t="0" r="0" b="0"/>
            <a:pathLst>
              <a:path w="2127955" h="1045633">
                <a:moveTo>
                  <a:pt x="2127955" y="330200"/>
                </a:moveTo>
                <a:lnTo>
                  <a:pt x="2127955" y="880533"/>
                </a:lnTo>
                <a:moveTo>
                  <a:pt x="0" y="880533"/>
                </a:moveTo>
                <a:lnTo>
                  <a:pt x="0" y="330200"/>
                </a:lnTo>
                <a:moveTo>
                  <a:pt x="2127955" y="880533"/>
                </a:moveTo>
                <a:lnTo>
                  <a:pt x="2127955" y="898877"/>
                </a:lnTo>
                <a:cubicBezTo>
                  <a:pt x="2127955" y="979929"/>
                  <a:pt x="2062251" y="1045633"/>
                  <a:pt x="1981200" y="1045633"/>
                </a:cubicBezTo>
                <a:lnTo>
                  <a:pt x="146755" y="1045633"/>
                </a:lnTo>
                <a:cubicBezTo>
                  <a:pt x="65704" y="1045633"/>
                  <a:pt x="0" y="979929"/>
                  <a:pt x="0" y="898877"/>
                </a:cubicBezTo>
                <a:lnTo>
                  <a:pt x="0" y="880533"/>
                </a:lnTo>
                <a:moveTo>
                  <a:pt x="0" y="330200"/>
                </a:moveTo>
                <a:lnTo>
                  <a:pt x="0" y="146755"/>
                </a:lnTo>
                <a:cubicBezTo>
                  <a:pt x="0" y="65704"/>
                  <a:pt x="65704" y="0"/>
                  <a:pt x="146755" y="0"/>
                </a:cubicBezTo>
                <a:lnTo>
                  <a:pt x="293511" y="0"/>
                </a:lnTo>
                <a:moveTo>
                  <a:pt x="2127955" y="330200"/>
                </a:moveTo>
                <a:lnTo>
                  <a:pt x="2127955" y="146755"/>
                </a:lnTo>
                <a:cubicBezTo>
                  <a:pt x="2127955" y="65704"/>
                  <a:pt x="2062251" y="0"/>
                  <a:pt x="1981200" y="0"/>
                </a:cubicBezTo>
                <a:lnTo>
                  <a:pt x="1834444" y="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11" name="Group 3110"/>
          <p:cNvGrpSpPr/>
          <p:nvPr/>
        </p:nvGrpSpPr>
        <p:grpSpPr>
          <a:xfrm>
            <a:off x="10800710" y="2960326"/>
            <a:ext cx="119238" cy="371474"/>
            <a:chOff x="6581069" y="3146072"/>
            <a:chExt cx="119238" cy="371474"/>
          </a:xfrm>
        </p:grpSpPr>
        <p:sp>
          <p:nvSpPr>
            <p:cNvPr id="3112" name="Rounded Rectangle 18"/>
            <p:cNvSpPr/>
            <p:nvPr/>
          </p:nvSpPr>
          <p:spPr>
            <a:xfrm>
              <a:off x="6640688" y="3146072"/>
              <a:ext cx="9172" cy="366888"/>
            </a:xfrm>
            <a:custGeom>
              <a:avLst/>
              <a:gdLst/>
              <a:ahLst/>
              <a:cxnLst/>
              <a:rect l="0" t="0" r="0" b="0"/>
              <a:pathLst>
                <a:path w="9172" h="366888">
                  <a:moveTo>
                    <a:pt x="0" y="366888"/>
                  </a:move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13" name="Rounded Rectangle 19"/>
            <p:cNvSpPr/>
            <p:nvPr/>
          </p:nvSpPr>
          <p:spPr>
            <a:xfrm>
              <a:off x="6581069" y="3457927"/>
              <a:ext cx="119238" cy="59619"/>
            </a:xfrm>
            <a:custGeom>
              <a:avLst/>
              <a:gdLst/>
              <a:ahLst/>
              <a:cxnLst/>
              <a:rect l="0" t="0" r="0" b="0"/>
              <a:pathLst>
                <a:path w="119238" h="59619">
                  <a:moveTo>
                    <a:pt x="0" y="0"/>
                  </a:moveTo>
                  <a:lnTo>
                    <a:pt x="59619" y="59619"/>
                  </a:lnTo>
                  <a:lnTo>
                    <a:pt x="119238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14" name="Rounded Rectangle 21"/>
          <p:cNvSpPr/>
          <p:nvPr/>
        </p:nvSpPr>
        <p:spPr>
          <a:xfrm>
            <a:off x="9796352" y="1905520"/>
            <a:ext cx="2127955" cy="1045633"/>
          </a:xfrm>
          <a:custGeom>
            <a:avLst/>
            <a:gdLst/>
            <a:ahLst/>
            <a:cxnLst/>
            <a:rect l="0" t="0" r="0" b="0"/>
            <a:pathLst>
              <a:path w="2127955" h="1045633">
                <a:moveTo>
                  <a:pt x="2127955" y="330200"/>
                </a:moveTo>
                <a:lnTo>
                  <a:pt x="2127955" y="880533"/>
                </a:lnTo>
                <a:moveTo>
                  <a:pt x="0" y="880533"/>
                </a:moveTo>
                <a:lnTo>
                  <a:pt x="0" y="330200"/>
                </a:lnTo>
                <a:moveTo>
                  <a:pt x="2127955" y="880533"/>
                </a:moveTo>
                <a:lnTo>
                  <a:pt x="2127955" y="898877"/>
                </a:lnTo>
                <a:cubicBezTo>
                  <a:pt x="2127955" y="979929"/>
                  <a:pt x="2062251" y="1045633"/>
                  <a:pt x="1981200" y="1045633"/>
                </a:cubicBezTo>
                <a:lnTo>
                  <a:pt x="146755" y="1045633"/>
                </a:lnTo>
                <a:cubicBezTo>
                  <a:pt x="65704" y="1045633"/>
                  <a:pt x="0" y="979929"/>
                  <a:pt x="0" y="898877"/>
                </a:cubicBezTo>
                <a:lnTo>
                  <a:pt x="0" y="880533"/>
                </a:lnTo>
                <a:moveTo>
                  <a:pt x="0" y="330200"/>
                </a:moveTo>
                <a:lnTo>
                  <a:pt x="0" y="146755"/>
                </a:lnTo>
                <a:cubicBezTo>
                  <a:pt x="0" y="65704"/>
                  <a:pt x="65704" y="0"/>
                  <a:pt x="146755" y="0"/>
                </a:cubicBezTo>
                <a:lnTo>
                  <a:pt x="293511" y="0"/>
                </a:lnTo>
                <a:moveTo>
                  <a:pt x="2127955" y="330200"/>
                </a:moveTo>
                <a:lnTo>
                  <a:pt x="2127955" y="146755"/>
                </a:lnTo>
                <a:cubicBezTo>
                  <a:pt x="2127955" y="65704"/>
                  <a:pt x="2062251" y="0"/>
                  <a:pt x="1981200" y="0"/>
                </a:cubicBezTo>
                <a:lnTo>
                  <a:pt x="1834444" y="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5" name="Rounded Rectangle 22"/>
          <p:cNvSpPr/>
          <p:nvPr/>
        </p:nvSpPr>
        <p:spPr>
          <a:xfrm>
            <a:off x="7686741" y="3391420"/>
            <a:ext cx="1210733" cy="660400"/>
          </a:xfrm>
          <a:custGeom>
            <a:avLst/>
            <a:gdLst/>
            <a:ahLst/>
            <a:cxnLst/>
            <a:rect l="0" t="0" r="0" b="0"/>
            <a:pathLst>
              <a:path w="1210733" h="660400">
                <a:moveTo>
                  <a:pt x="0" y="0"/>
                </a:moveTo>
                <a:lnTo>
                  <a:pt x="1210733" y="0"/>
                </a:lnTo>
                <a:moveTo>
                  <a:pt x="1210733" y="660400"/>
                </a:moveTo>
                <a:lnTo>
                  <a:pt x="0" y="66040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6" name="Rounded Rectangle 23"/>
          <p:cNvSpPr/>
          <p:nvPr/>
        </p:nvSpPr>
        <p:spPr>
          <a:xfrm>
            <a:off x="7521641" y="3391420"/>
            <a:ext cx="165100" cy="660400"/>
          </a:xfrm>
          <a:custGeom>
            <a:avLst/>
            <a:gdLst/>
            <a:ahLst/>
            <a:cxnLst/>
            <a:rect l="0" t="0" r="0" b="0"/>
            <a:pathLst>
              <a:path w="165100" h="660400">
                <a:moveTo>
                  <a:pt x="165100" y="0"/>
                </a:moveTo>
                <a:lnTo>
                  <a:pt x="146755" y="0"/>
                </a:lnTo>
                <a:cubicBezTo>
                  <a:pt x="65704" y="0"/>
                  <a:pt x="0" y="65704"/>
                  <a:pt x="0" y="146755"/>
                </a:cubicBezTo>
                <a:moveTo>
                  <a:pt x="165100" y="660400"/>
                </a:moveTo>
                <a:lnTo>
                  <a:pt x="146755" y="660400"/>
                </a:lnTo>
                <a:cubicBezTo>
                  <a:pt x="65704" y="660400"/>
                  <a:pt x="0" y="594695"/>
                  <a:pt x="0" y="513644"/>
                </a:cubicBezTo>
                <a:moveTo>
                  <a:pt x="0" y="513644"/>
                </a:moveTo>
                <a:lnTo>
                  <a:pt x="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7" name="Rounded Rectangle 24"/>
          <p:cNvSpPr/>
          <p:nvPr/>
        </p:nvSpPr>
        <p:spPr>
          <a:xfrm>
            <a:off x="8897474" y="3391420"/>
            <a:ext cx="165100" cy="660400"/>
          </a:xfrm>
          <a:custGeom>
            <a:avLst/>
            <a:gdLst/>
            <a:ahLst/>
            <a:cxnLst/>
            <a:rect l="0" t="0" r="0" b="0"/>
            <a:pathLst>
              <a:path w="165100" h="660400">
                <a:moveTo>
                  <a:pt x="0" y="0"/>
                </a:moveTo>
                <a:lnTo>
                  <a:pt x="18344" y="0"/>
                </a:lnTo>
                <a:cubicBezTo>
                  <a:pt x="99395" y="0"/>
                  <a:pt x="165100" y="65704"/>
                  <a:pt x="165100" y="146755"/>
                </a:cubicBezTo>
                <a:moveTo>
                  <a:pt x="0" y="660400"/>
                </a:moveTo>
                <a:lnTo>
                  <a:pt x="18344" y="660400"/>
                </a:lnTo>
                <a:cubicBezTo>
                  <a:pt x="99395" y="660400"/>
                  <a:pt x="165100" y="594695"/>
                  <a:pt x="165100" y="513644"/>
                </a:cubicBezTo>
                <a:moveTo>
                  <a:pt x="165100" y="513644"/>
                </a:moveTo>
                <a:lnTo>
                  <a:pt x="16510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8" name="Rounded Rectangle 25"/>
          <p:cNvSpPr/>
          <p:nvPr/>
        </p:nvSpPr>
        <p:spPr>
          <a:xfrm>
            <a:off x="10254963" y="3391420"/>
            <a:ext cx="1210733" cy="660400"/>
          </a:xfrm>
          <a:custGeom>
            <a:avLst/>
            <a:gdLst/>
            <a:ahLst/>
            <a:cxnLst/>
            <a:rect l="0" t="0" r="0" b="0"/>
            <a:pathLst>
              <a:path w="1210733" h="660400">
                <a:moveTo>
                  <a:pt x="0" y="0"/>
                </a:moveTo>
                <a:lnTo>
                  <a:pt x="1210733" y="0"/>
                </a:lnTo>
                <a:moveTo>
                  <a:pt x="1210733" y="660400"/>
                </a:moveTo>
                <a:lnTo>
                  <a:pt x="0" y="66040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9" name="Rounded Rectangle 26"/>
          <p:cNvSpPr/>
          <p:nvPr/>
        </p:nvSpPr>
        <p:spPr>
          <a:xfrm>
            <a:off x="7228129" y="3831687"/>
            <a:ext cx="2127955" cy="1265766"/>
          </a:xfrm>
          <a:custGeom>
            <a:avLst/>
            <a:gdLst/>
            <a:ahLst/>
            <a:cxnLst/>
            <a:rect l="0" t="0" r="0" b="0"/>
            <a:pathLst>
              <a:path w="2127955" h="1265766">
                <a:moveTo>
                  <a:pt x="2127955" y="330200"/>
                </a:moveTo>
                <a:lnTo>
                  <a:pt x="2127955" y="1100666"/>
                </a:lnTo>
                <a:moveTo>
                  <a:pt x="0" y="1100666"/>
                </a:moveTo>
                <a:lnTo>
                  <a:pt x="0" y="330200"/>
                </a:lnTo>
                <a:moveTo>
                  <a:pt x="2127955" y="1100666"/>
                </a:moveTo>
                <a:lnTo>
                  <a:pt x="2127955" y="1119011"/>
                </a:lnTo>
                <a:cubicBezTo>
                  <a:pt x="2127955" y="1200062"/>
                  <a:pt x="2062251" y="1265766"/>
                  <a:pt x="1981200" y="1265766"/>
                </a:cubicBezTo>
                <a:lnTo>
                  <a:pt x="146755" y="1265766"/>
                </a:lnTo>
                <a:cubicBezTo>
                  <a:pt x="65704" y="1265766"/>
                  <a:pt x="0" y="1200062"/>
                  <a:pt x="0" y="1119011"/>
                </a:cubicBezTo>
                <a:lnTo>
                  <a:pt x="0" y="1100666"/>
                </a:lnTo>
                <a:moveTo>
                  <a:pt x="0" y="330200"/>
                </a:moveTo>
                <a:lnTo>
                  <a:pt x="0" y="146755"/>
                </a:lnTo>
                <a:cubicBezTo>
                  <a:pt x="0" y="65704"/>
                  <a:pt x="65704" y="0"/>
                  <a:pt x="146755" y="0"/>
                </a:cubicBezTo>
                <a:lnTo>
                  <a:pt x="293511" y="0"/>
                </a:lnTo>
                <a:moveTo>
                  <a:pt x="2127955" y="330200"/>
                </a:moveTo>
                <a:lnTo>
                  <a:pt x="2127955" y="146755"/>
                </a:lnTo>
                <a:cubicBezTo>
                  <a:pt x="2127955" y="65704"/>
                  <a:pt x="2062251" y="0"/>
                  <a:pt x="1981200" y="0"/>
                </a:cubicBezTo>
                <a:lnTo>
                  <a:pt x="1834444" y="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20" name="Rounded Rectangle 27"/>
          <p:cNvSpPr/>
          <p:nvPr/>
        </p:nvSpPr>
        <p:spPr>
          <a:xfrm>
            <a:off x="10089863" y="3391420"/>
            <a:ext cx="165100" cy="660400"/>
          </a:xfrm>
          <a:custGeom>
            <a:avLst/>
            <a:gdLst/>
            <a:ahLst/>
            <a:cxnLst/>
            <a:rect l="0" t="0" r="0" b="0"/>
            <a:pathLst>
              <a:path w="165100" h="660400">
                <a:moveTo>
                  <a:pt x="165100" y="0"/>
                </a:moveTo>
                <a:lnTo>
                  <a:pt x="146755" y="0"/>
                </a:lnTo>
                <a:cubicBezTo>
                  <a:pt x="65704" y="0"/>
                  <a:pt x="0" y="65704"/>
                  <a:pt x="0" y="146755"/>
                </a:cubicBezTo>
                <a:moveTo>
                  <a:pt x="165100" y="660400"/>
                </a:moveTo>
                <a:lnTo>
                  <a:pt x="146755" y="660400"/>
                </a:lnTo>
                <a:cubicBezTo>
                  <a:pt x="65704" y="660400"/>
                  <a:pt x="0" y="594695"/>
                  <a:pt x="0" y="513644"/>
                </a:cubicBezTo>
                <a:moveTo>
                  <a:pt x="0" y="513644"/>
                </a:moveTo>
                <a:lnTo>
                  <a:pt x="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21" name="Rounded Rectangle 28"/>
          <p:cNvSpPr/>
          <p:nvPr/>
        </p:nvSpPr>
        <p:spPr>
          <a:xfrm>
            <a:off x="11465696" y="3391420"/>
            <a:ext cx="165100" cy="660400"/>
          </a:xfrm>
          <a:custGeom>
            <a:avLst/>
            <a:gdLst/>
            <a:ahLst/>
            <a:cxnLst/>
            <a:rect l="0" t="0" r="0" b="0"/>
            <a:pathLst>
              <a:path w="165100" h="660400">
                <a:moveTo>
                  <a:pt x="0" y="0"/>
                </a:moveTo>
                <a:lnTo>
                  <a:pt x="18344" y="0"/>
                </a:lnTo>
                <a:cubicBezTo>
                  <a:pt x="99395" y="0"/>
                  <a:pt x="165100" y="65704"/>
                  <a:pt x="165100" y="146755"/>
                </a:cubicBezTo>
                <a:moveTo>
                  <a:pt x="0" y="660400"/>
                </a:moveTo>
                <a:lnTo>
                  <a:pt x="18344" y="660400"/>
                </a:lnTo>
                <a:cubicBezTo>
                  <a:pt x="99395" y="660400"/>
                  <a:pt x="165100" y="594695"/>
                  <a:pt x="165100" y="513644"/>
                </a:cubicBezTo>
                <a:moveTo>
                  <a:pt x="165100" y="513644"/>
                </a:moveTo>
                <a:lnTo>
                  <a:pt x="165100" y="146755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22" name="Group 3121"/>
          <p:cNvGrpSpPr/>
          <p:nvPr/>
        </p:nvGrpSpPr>
        <p:grpSpPr>
          <a:xfrm>
            <a:off x="9397360" y="4487501"/>
            <a:ext cx="371474" cy="119238"/>
            <a:chOff x="5177719" y="4673247"/>
            <a:chExt cx="371474" cy="119238"/>
          </a:xfrm>
        </p:grpSpPr>
        <p:sp>
          <p:nvSpPr>
            <p:cNvPr id="3123" name="Rounded Rectangle 29"/>
            <p:cNvSpPr/>
            <p:nvPr/>
          </p:nvSpPr>
          <p:spPr>
            <a:xfrm>
              <a:off x="5182305" y="4732866"/>
              <a:ext cx="366888" cy="9172"/>
            </a:xfrm>
            <a:custGeom>
              <a:avLst/>
              <a:gdLst/>
              <a:ahLst/>
              <a:cxnLst/>
              <a:rect l="0" t="0" r="0" b="0"/>
              <a:pathLst>
                <a:path w="366888" h="9172">
                  <a:moveTo>
                    <a:pt x="0" y="0"/>
                  </a:moveTo>
                  <a:lnTo>
                    <a:pt x="366888" y="0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24" name="Rounded Rectangle 30"/>
            <p:cNvSpPr/>
            <p:nvPr/>
          </p:nvSpPr>
          <p:spPr>
            <a:xfrm>
              <a:off x="5177719" y="4673247"/>
              <a:ext cx="59619" cy="119238"/>
            </a:xfrm>
            <a:custGeom>
              <a:avLst/>
              <a:gdLst/>
              <a:ahLst/>
              <a:cxnLst/>
              <a:rect l="0" t="0" r="0" b="0"/>
              <a:pathLst>
                <a:path w="59619" h="119238">
                  <a:moveTo>
                    <a:pt x="59619" y="0"/>
                  </a:moveTo>
                  <a:lnTo>
                    <a:pt x="0" y="59619"/>
                  </a:lnTo>
                  <a:lnTo>
                    <a:pt x="59619" y="119238"/>
                  </a:lnTo>
                </a:path>
              </a:pathLst>
            </a:custGeom>
            <a:noFill/>
            <a:ln w="13758">
              <a:solidFill>
                <a:srgbClr val="2C2C2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25" name="Rounded Rectangle 32"/>
          <p:cNvSpPr/>
          <p:nvPr/>
        </p:nvSpPr>
        <p:spPr>
          <a:xfrm>
            <a:off x="9796352" y="3831687"/>
            <a:ext cx="2127955" cy="1265766"/>
          </a:xfrm>
          <a:custGeom>
            <a:avLst/>
            <a:gdLst/>
            <a:ahLst/>
            <a:cxnLst/>
            <a:rect l="0" t="0" r="0" b="0"/>
            <a:pathLst>
              <a:path w="2127955" h="1265766">
                <a:moveTo>
                  <a:pt x="2127955" y="330200"/>
                </a:moveTo>
                <a:lnTo>
                  <a:pt x="2127955" y="1100666"/>
                </a:lnTo>
                <a:moveTo>
                  <a:pt x="0" y="1100666"/>
                </a:moveTo>
                <a:lnTo>
                  <a:pt x="0" y="330200"/>
                </a:lnTo>
                <a:moveTo>
                  <a:pt x="2127955" y="1100666"/>
                </a:moveTo>
                <a:lnTo>
                  <a:pt x="2127955" y="1119011"/>
                </a:lnTo>
                <a:cubicBezTo>
                  <a:pt x="2127955" y="1200062"/>
                  <a:pt x="2062251" y="1265766"/>
                  <a:pt x="1981200" y="1265766"/>
                </a:cubicBezTo>
                <a:lnTo>
                  <a:pt x="146755" y="1265766"/>
                </a:lnTo>
                <a:cubicBezTo>
                  <a:pt x="65704" y="1265766"/>
                  <a:pt x="0" y="1200062"/>
                  <a:pt x="0" y="1119011"/>
                </a:cubicBezTo>
                <a:lnTo>
                  <a:pt x="0" y="1100666"/>
                </a:lnTo>
                <a:moveTo>
                  <a:pt x="0" y="330200"/>
                </a:moveTo>
                <a:lnTo>
                  <a:pt x="0" y="146755"/>
                </a:lnTo>
                <a:cubicBezTo>
                  <a:pt x="0" y="65704"/>
                  <a:pt x="65704" y="0"/>
                  <a:pt x="146755" y="0"/>
                </a:cubicBezTo>
                <a:lnTo>
                  <a:pt x="293511" y="0"/>
                </a:lnTo>
                <a:moveTo>
                  <a:pt x="2127955" y="330200"/>
                </a:moveTo>
                <a:lnTo>
                  <a:pt x="2127955" y="146755"/>
                </a:lnTo>
                <a:cubicBezTo>
                  <a:pt x="2127955" y="65704"/>
                  <a:pt x="2062251" y="0"/>
                  <a:pt x="1981200" y="0"/>
                </a:cubicBezTo>
                <a:lnTo>
                  <a:pt x="1834444" y="0"/>
                </a:lnTo>
              </a:path>
            </a:pathLst>
          </a:custGeom>
          <a:noFill/>
          <a:ln w="13758">
            <a:solidFill>
              <a:srgbClr val="2C2C2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26" name="TextBox 3125"/>
          <p:cNvSpPr txBox="1"/>
          <p:nvPr/>
        </p:nvSpPr>
        <p:spPr>
          <a:xfrm>
            <a:off x="10045011" y="2355876"/>
            <a:ext cx="1630711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73F5B7"/>
                </a:solidFill>
                <a:latin typeface="Roboto"/>
              </a:rPr>
              <a:t>Nodes are merged to form
a binary tree</a:t>
            </a:r>
          </a:p>
        </p:txBody>
      </p:sp>
      <p:sp>
        <p:nvSpPr>
          <p:cNvPr id="3127" name="TextBox 3126"/>
          <p:cNvSpPr txBox="1"/>
          <p:nvPr/>
        </p:nvSpPr>
        <p:spPr>
          <a:xfrm>
            <a:off x="7703984" y="3519831"/>
            <a:ext cx="1176218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FFE711"/>
                </a:solidFill>
                <a:latin typeface="Roboto"/>
              </a:rPr>
              <a:t>Optimal Prefix
Code</a:t>
            </a:r>
          </a:p>
        </p:txBody>
      </p:sp>
      <p:sp>
        <p:nvSpPr>
          <p:cNvPr id="3128" name="TextBox 3127"/>
          <p:cNvSpPr txBox="1"/>
          <p:nvPr/>
        </p:nvSpPr>
        <p:spPr>
          <a:xfrm>
            <a:off x="7509533" y="2355876"/>
            <a:ext cx="1565239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7D9FF"/>
                </a:solidFill>
                <a:latin typeface="Roboto"/>
              </a:rPr>
              <a:t>Characters are organized
based on frequencies</a:t>
            </a:r>
          </a:p>
        </p:txBody>
      </p:sp>
      <p:sp>
        <p:nvSpPr>
          <p:cNvPr id="3129" name="TextBox 3128"/>
          <p:cNvSpPr txBox="1"/>
          <p:nvPr/>
        </p:nvSpPr>
        <p:spPr>
          <a:xfrm>
            <a:off x="5002490" y="2355876"/>
            <a:ext cx="144279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B6FF"/>
                </a:solidFill>
                <a:latin typeface="Roboto"/>
              </a:rPr>
              <a:t>Characters and their
frequencies are entered</a:t>
            </a:r>
          </a:p>
        </p:txBody>
      </p:sp>
      <p:sp>
        <p:nvSpPr>
          <p:cNvPr id="3130" name="TextBox 3129"/>
          <p:cNvSpPr txBox="1"/>
          <p:nvPr/>
        </p:nvSpPr>
        <p:spPr>
          <a:xfrm>
            <a:off x="10405204" y="1373531"/>
            <a:ext cx="910343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3DD93"/>
                </a:solidFill>
                <a:latin typeface="Roboto"/>
              </a:rPr>
              <a:t>Construct
Binary Tree</a:t>
            </a:r>
          </a:p>
        </p:txBody>
      </p:sp>
      <p:sp>
        <p:nvSpPr>
          <p:cNvPr id="3131" name="TextBox 3130"/>
          <p:cNvSpPr txBox="1"/>
          <p:nvPr/>
        </p:nvSpPr>
        <p:spPr>
          <a:xfrm>
            <a:off x="10322562" y="3519831"/>
            <a:ext cx="1075553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A6DA37"/>
                </a:solidFill>
                <a:latin typeface="Roboto"/>
              </a:rPr>
              <a:t>Generate
Binary Codes</a:t>
            </a:r>
          </a:p>
        </p:txBody>
      </p:sp>
      <p:sp>
        <p:nvSpPr>
          <p:cNvPr id="3132" name="TextBox 3131"/>
          <p:cNvSpPr txBox="1"/>
          <p:nvPr/>
        </p:nvSpPr>
        <p:spPr>
          <a:xfrm>
            <a:off x="7699306" y="1373531"/>
            <a:ext cx="1185628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1AC3FB"/>
                </a:solidFill>
                <a:latin typeface="Roboto"/>
              </a:rPr>
              <a:t>Create Priority
Queue</a:t>
            </a:r>
          </a:p>
        </p:txBody>
      </p:sp>
      <p:sp>
        <p:nvSpPr>
          <p:cNvPr id="3133" name="TextBox 3132"/>
          <p:cNvSpPr txBox="1"/>
          <p:nvPr/>
        </p:nvSpPr>
        <p:spPr>
          <a:xfrm>
            <a:off x="5227117" y="1153398"/>
            <a:ext cx="993470" cy="861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F91FC"/>
                </a:solidFill>
                <a:latin typeface="Roboto"/>
              </a:rPr>
              <a:t>Input
Characters
and
Frequencies</a:t>
            </a:r>
          </a:p>
        </p:txBody>
      </p:sp>
      <p:sp>
        <p:nvSpPr>
          <p:cNvPr id="3134" name="TextBox 3133"/>
          <p:cNvSpPr txBox="1"/>
          <p:nvPr/>
        </p:nvSpPr>
        <p:spPr>
          <a:xfrm>
            <a:off x="10152784" y="4282043"/>
            <a:ext cx="1415044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C6F466"/>
                </a:solidFill>
                <a:latin typeface="Roboto"/>
              </a:rPr>
              <a:t>Codes are assigned by
traversing the tree</a:t>
            </a:r>
          </a:p>
        </p:txBody>
      </p:sp>
      <p:sp>
        <p:nvSpPr>
          <p:cNvPr id="3135" name="TextBox 3134"/>
          <p:cNvSpPr txBox="1"/>
          <p:nvPr/>
        </p:nvSpPr>
        <p:spPr>
          <a:xfrm>
            <a:off x="7517330" y="4309560"/>
            <a:ext cx="1549536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06B"/>
                </a:solidFill>
                <a:latin typeface="Roboto"/>
              </a:rPr>
              <a:t>An efficient code is
created to minimize data
size</a:t>
            </a:r>
          </a:p>
        </p:txBody>
      </p:sp>
    </p:spTree>
    <p:extLst>
      <p:ext uri="{BB962C8B-B14F-4D97-AF65-F5344CB8AC3E}">
        <p14:creationId xmlns:p14="http://schemas.microsoft.com/office/powerpoint/2010/main" val="154018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331A-69BE-E6BE-C6C4-5A55EDF9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19FFC424-5C81-2B1B-9245-528B058994E0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6491E83-77D4-C106-2D83-DA72B1EBA11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582EE1C-D01F-C699-EECE-58D7AFD8317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2877FD57-5FFF-4C6E-9F58-F6FD0EF3808E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E4E38224-CF76-C937-C090-088CEFFA6B3C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9F9F3491-FDB4-CCFA-4E23-3D5A5C75A66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99A8DA09-773C-6DBE-B6C7-46E69EB17C0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1B6A7D19-9E3E-C751-BA25-286A023A542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4B1B671A-7AC5-564A-F30B-BC739B3941A5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E9319F01-7A44-E291-9D16-7D5984CF8EFA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952A9F62-F8C9-662A-744A-C91F4C1C0D1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ABD9F75A-AD44-489F-1041-AF040B33F6A8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205AA8C-0CFC-FE9B-B977-4BB98CF3E86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1AF4A616-7EA7-EAA8-9992-57F213FAFC9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559250AD-6DA7-F1AB-52D8-F4C23F0AB923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98221ED7-B224-8DE4-9A7E-9035B2A9D516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22D465E-106A-7290-6BE4-6C3B336F2FC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0213299F-EAD9-0550-9062-E9FA242A959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42A71A56-598F-4D04-7996-1ADE7EE15C3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A7C23244-DB8A-BE97-0916-EB6F028E4DF8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9D137B4-8597-5B2B-3DF4-24BF4F534A6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9A10B70-6093-D9C9-A73F-01991E5EC7B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17896D97-683A-474E-1210-DA291E5E055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921812B-AFB5-19EB-F602-CA4B5847A79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D81F338-34A5-2F58-8F46-85357105F3B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DDEC990F-1C32-85E4-3084-D972F5757AF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F0E3F844-CED9-BCC4-42E1-78A30091548F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F86F7A48-443A-9F05-D4D5-50CB4E0E402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09EB567-9FC4-E3DD-258B-68E39D7503DB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44A992E-EF1D-1F8E-44B2-21C14E73978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EE2874EB-F2A1-5CDB-C935-11F4A0A6B8C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DEFF468B-203B-49CC-9CAB-C5BD2ED9BE19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F68A35A-8887-1307-A128-BAC41B9C81B1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0B4921A-7316-25B3-E9AF-9DAFB823408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C1516BB6-279D-D834-EC9C-95356BB5B8F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CF63EEA4-6854-BC15-CF2D-4F77433DDCC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1424F520-D7EA-5FB4-F215-040143E16C7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2EC07800-49D1-0365-E0C1-C21B75121C4D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252D3B8-44FB-D9DD-6E7A-13DEB5D376E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3B3A5A1-D224-DCBF-F08F-3CCD1462E4A8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848ADB7-2DF5-3C12-8AD3-40774A25516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CA1EF725-AE56-4D84-DC5A-1302BDB5E016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6E482E91-4BB3-E47A-76C0-8BEB8A9376FD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73462954-D3B5-FADF-10B4-677D4E1645C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6C1E7F01-EB55-7E2D-8FA7-1D4BEA27F37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681C202E-C6BE-3476-E86B-7CF5165B75A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BA70B08-5C56-0628-8BDD-439BDA2DBF9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0EC1E1A9-A64F-BD72-604C-6D68B9E861F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1C0F1C2B-F6E0-EE9A-A3B5-3B7D969DC29A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9B9EA642-C11F-34BD-EE62-44F279CB9375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B9CB1987-F813-8546-6D9C-3F3085BA9A3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2F0AD57-53AF-0F98-CA98-8B8135CC78A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4EF46122-B79F-E8BC-A0B6-70BA539DF16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9E63A922-BB6D-73AF-185D-C063F7F3ED46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8E01FE6-DD5A-82F8-C017-7E2D14A88CD0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19EF892B-DCFB-3D9F-42A7-39D5FCB9B896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2266BFB-33A1-3C16-895E-FAEE8388F9D0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D923140C-2B3B-A05F-FCCD-45FB949C4EB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A8D854B1-EC0C-1660-F75A-BC571C4851A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864B922E-EE2A-ABCD-8545-7FF0489782F0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24E1DB0C-CD61-7713-1B22-B5875FD30F7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9CD887D-776D-7F8D-D14C-BA61E2D5B910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9EC7817D-4FE3-5E16-75C8-F9888EDEE0CC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343D7F4A-3130-B7C4-6238-8B880B31A63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612696AD-6DFC-A008-FF2E-07F52CCAC67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6BC50767-168E-4302-37BC-DE298A641710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0BB00ED-69B4-05F6-52D1-622120B3277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84994FA5-BE8B-C502-DEFD-F7C1F2BE70A9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868A4B4B-D2E9-ACE9-899E-A8CD0CD85A44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F408D440-7CA8-D154-219E-00A289B2115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056943ED-C6B9-3733-79BB-8FDB88ACD5EB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53F45275-0CF8-C953-86D2-CD35B766D50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B79AD8EF-FA46-026C-191B-BA587551B5B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E8BF1A1C-A6C9-5EE0-2420-0DFB5A320BA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E0945D4-D73A-C7E7-1848-98033E9BED4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Working / Process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4B64A-D6C9-CE9C-C0C3-E3A6F505B9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7F026-E481-B359-02F2-CA5E2B3B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7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8" name="object 25">
            <a:extLst>
              <a:ext uri="{FF2B5EF4-FFF2-40B4-BE49-F238E27FC236}">
                <a16:creationId xmlns:a16="http://schemas.microsoft.com/office/drawing/2014/main" id="{C4AD2FC4-07F0-0024-28A3-9AA80A1453A6}"/>
              </a:ext>
            </a:extLst>
          </p:cNvPr>
          <p:cNvGrpSpPr/>
          <p:nvPr/>
        </p:nvGrpSpPr>
        <p:grpSpPr>
          <a:xfrm>
            <a:off x="295062" y="1003935"/>
            <a:ext cx="4118841" cy="1924050"/>
            <a:chOff x="6238874" y="1238249"/>
            <a:chExt cx="5381625" cy="1924050"/>
          </a:xfrm>
        </p:grpSpPr>
        <p:sp>
          <p:nvSpPr>
            <p:cNvPr id="12" name="object 26">
              <a:extLst>
                <a:ext uri="{FF2B5EF4-FFF2-40B4-BE49-F238E27FC236}">
                  <a16:creationId xmlns:a16="http://schemas.microsoft.com/office/drawing/2014/main" id="{CB18D72F-B816-0FDE-44B3-F51AAB604396}"/>
                </a:ext>
              </a:extLst>
            </p:cNvPr>
            <p:cNvSpPr/>
            <p:nvPr/>
          </p:nvSpPr>
          <p:spPr>
            <a:xfrm>
              <a:off x="6257924" y="1238249"/>
              <a:ext cx="5362575" cy="1924050"/>
            </a:xfrm>
            <a:custGeom>
              <a:avLst/>
              <a:gdLst/>
              <a:ahLst/>
              <a:cxnLst/>
              <a:rect l="l" t="t" r="r" b="b"/>
              <a:pathLst>
                <a:path w="5362575" h="1924050">
                  <a:moveTo>
                    <a:pt x="5321264" y="1924049"/>
                  </a:moveTo>
                  <a:lnTo>
                    <a:pt x="0" y="1924049"/>
                  </a:lnTo>
                  <a:lnTo>
                    <a:pt x="0" y="0"/>
                  </a:lnTo>
                  <a:lnTo>
                    <a:pt x="5321264" y="0"/>
                  </a:lnTo>
                  <a:lnTo>
                    <a:pt x="5327339" y="1208"/>
                  </a:lnTo>
                  <a:lnTo>
                    <a:pt x="5361365" y="35234"/>
                  </a:lnTo>
                  <a:lnTo>
                    <a:pt x="5362573" y="41309"/>
                  </a:lnTo>
                  <a:lnTo>
                    <a:pt x="5362573" y="1882739"/>
                  </a:lnTo>
                  <a:lnTo>
                    <a:pt x="5339008" y="1918007"/>
                  </a:lnTo>
                  <a:lnTo>
                    <a:pt x="5321264" y="19240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3" name="object 27">
              <a:extLst>
                <a:ext uri="{FF2B5EF4-FFF2-40B4-BE49-F238E27FC236}">
                  <a16:creationId xmlns:a16="http://schemas.microsoft.com/office/drawing/2014/main" id="{A777CF51-CD43-7CDC-E314-B85810004B9E}"/>
                </a:ext>
              </a:extLst>
            </p:cNvPr>
            <p:cNvSpPr/>
            <p:nvPr/>
          </p:nvSpPr>
          <p:spPr>
            <a:xfrm>
              <a:off x="6238874" y="1238249"/>
              <a:ext cx="38100" cy="1924050"/>
            </a:xfrm>
            <a:custGeom>
              <a:avLst/>
              <a:gdLst/>
              <a:ahLst/>
              <a:cxnLst/>
              <a:rect l="l" t="t" r="r" b="b"/>
              <a:pathLst>
                <a:path w="38100" h="1924050">
                  <a:moveTo>
                    <a:pt x="38099" y="1924049"/>
                  </a:moveTo>
                  <a:lnTo>
                    <a:pt x="0" y="1924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92404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sp>
        <p:nvSpPr>
          <p:cNvPr id="10" name="object 31">
            <a:extLst>
              <a:ext uri="{FF2B5EF4-FFF2-40B4-BE49-F238E27FC236}">
                <a16:creationId xmlns:a16="http://schemas.microsoft.com/office/drawing/2014/main" id="{E9635542-3E0C-C5B2-E4CC-C24CF0A3306D}"/>
              </a:ext>
            </a:extLst>
          </p:cNvPr>
          <p:cNvSpPr txBox="1"/>
          <p:nvPr/>
        </p:nvSpPr>
        <p:spPr>
          <a:xfrm>
            <a:off x="510962" y="1153161"/>
            <a:ext cx="23641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Run</a:t>
            </a:r>
            <a:r>
              <a:rPr sz="1500" b="1" spc="-2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Length</a:t>
            </a:r>
            <a:r>
              <a:rPr sz="1500" b="1" spc="-2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Encoding</a:t>
            </a:r>
            <a:r>
              <a:rPr sz="1500" b="1" spc="-2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(RLE)</a:t>
            </a:r>
            <a:endParaRPr sz="1500" dirty="0">
              <a:latin typeface="Segoe UI Semibold"/>
              <a:cs typeface="Segoe UI Semibold"/>
            </a:endParaRPr>
          </a:p>
        </p:txBody>
      </p:sp>
      <p:sp>
        <p:nvSpPr>
          <p:cNvPr id="11" name="object 37">
            <a:extLst>
              <a:ext uri="{FF2B5EF4-FFF2-40B4-BE49-F238E27FC236}">
                <a16:creationId xmlns:a16="http://schemas.microsoft.com/office/drawing/2014/main" id="{D3716658-6297-B61B-F4B3-5D399CF6B178}"/>
              </a:ext>
            </a:extLst>
          </p:cNvPr>
          <p:cNvSpPr txBox="1"/>
          <p:nvPr/>
        </p:nvSpPr>
        <p:spPr>
          <a:xfrm>
            <a:off x="581358" y="1496061"/>
            <a:ext cx="3291204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Scan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sequentially</a:t>
            </a:r>
            <a:endParaRPr sz="1200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Clr>
                <a:srgbClr val="CC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Count consecutive occurrences of each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value</a:t>
            </a:r>
            <a:endParaRPr sz="1200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Clr>
                <a:srgbClr val="CC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Replace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runs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(count,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value)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pairs</a:t>
            </a:r>
            <a:endParaRPr sz="1200" dirty="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Clr>
                <a:srgbClr val="CC0000"/>
              </a:buClr>
              <a:buFont typeface="+mj-lt"/>
              <a:buAutoNum type="arabicPeriod"/>
              <a:tabLst>
                <a:tab pos="266065" algn="l"/>
              </a:tabLst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encoded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sequence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pairs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8C938CD6-27EC-E913-CFED-E8DA93B116A4}"/>
              </a:ext>
            </a:extLst>
          </p:cNvPr>
          <p:cNvSpPr/>
          <p:nvPr/>
        </p:nvSpPr>
        <p:spPr>
          <a:xfrm>
            <a:off x="6708030" y="1300954"/>
            <a:ext cx="1188720" cy="864523"/>
          </a:xfrm>
          <a:custGeom>
            <a:avLst/>
            <a:gdLst/>
            <a:ahLst/>
            <a:cxnLst/>
            <a:rect l="0" t="0" r="0" b="0"/>
            <a:pathLst>
              <a:path w="1188720" h="864523">
                <a:moveTo>
                  <a:pt x="0" y="0"/>
                </a:moveTo>
                <a:lnTo>
                  <a:pt x="1188720" y="0"/>
                </a:lnTo>
                <a:moveTo>
                  <a:pt x="1188720" y="864523"/>
                </a:moveTo>
                <a:lnTo>
                  <a:pt x="0" y="864523"/>
                </a:lnTo>
              </a:path>
            </a:pathLst>
          </a:custGeom>
          <a:noFill/>
          <a:ln w="13507">
            <a:solidFill>
              <a:srgbClr val="4F91FC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0FE578EB-46C6-05AE-F89B-D0B571714C12}"/>
              </a:ext>
            </a:extLst>
          </p:cNvPr>
          <p:cNvSpPr/>
          <p:nvPr/>
        </p:nvSpPr>
        <p:spPr>
          <a:xfrm>
            <a:off x="6545932" y="1300954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162098" y="0"/>
                </a:moveTo>
                <a:lnTo>
                  <a:pt x="144087" y="0"/>
                </a:lnTo>
                <a:cubicBezTo>
                  <a:pt x="64509" y="0"/>
                  <a:pt x="0" y="64509"/>
                  <a:pt x="0" y="144087"/>
                </a:cubicBezTo>
                <a:moveTo>
                  <a:pt x="162098" y="864523"/>
                </a:moveTo>
                <a:lnTo>
                  <a:pt x="144087" y="864523"/>
                </a:lnTo>
                <a:cubicBezTo>
                  <a:pt x="64509" y="864523"/>
                  <a:pt x="0" y="800013"/>
                  <a:pt x="0" y="720436"/>
                </a:cubicBezTo>
                <a:moveTo>
                  <a:pt x="0" y="720436"/>
                </a:moveTo>
                <a:lnTo>
                  <a:pt x="0" y="144087"/>
                </a:lnTo>
              </a:path>
            </a:pathLst>
          </a:custGeom>
          <a:noFill/>
          <a:ln w="13507">
            <a:solidFill>
              <a:srgbClr val="4F91FC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78D64D2-C393-DFF8-815F-D93776F7A6D1}"/>
              </a:ext>
            </a:extLst>
          </p:cNvPr>
          <p:cNvSpPr/>
          <p:nvPr/>
        </p:nvSpPr>
        <p:spPr>
          <a:xfrm>
            <a:off x="7896750" y="1300954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0" y="0"/>
                </a:moveTo>
                <a:lnTo>
                  <a:pt x="18010" y="0"/>
                </a:lnTo>
                <a:cubicBezTo>
                  <a:pt x="97588" y="0"/>
                  <a:pt x="162098" y="64509"/>
                  <a:pt x="162098" y="144087"/>
                </a:cubicBezTo>
                <a:moveTo>
                  <a:pt x="0" y="864523"/>
                </a:moveTo>
                <a:lnTo>
                  <a:pt x="18010" y="864523"/>
                </a:lnTo>
                <a:cubicBezTo>
                  <a:pt x="97588" y="864523"/>
                  <a:pt x="162098" y="800013"/>
                  <a:pt x="162098" y="720436"/>
                </a:cubicBezTo>
                <a:moveTo>
                  <a:pt x="162098" y="720436"/>
                </a:moveTo>
                <a:lnTo>
                  <a:pt x="162098" y="144087"/>
                </a:lnTo>
              </a:path>
            </a:pathLst>
          </a:custGeom>
          <a:noFill/>
          <a:ln w="13507">
            <a:solidFill>
              <a:srgbClr val="4F91FC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AE53CA6-635F-3DCB-A620-60A9960C78B7}"/>
              </a:ext>
            </a:extLst>
          </p:cNvPr>
          <p:cNvSpPr/>
          <p:nvPr/>
        </p:nvSpPr>
        <p:spPr>
          <a:xfrm>
            <a:off x="9229557" y="1300954"/>
            <a:ext cx="1188720" cy="864523"/>
          </a:xfrm>
          <a:custGeom>
            <a:avLst/>
            <a:gdLst/>
            <a:ahLst/>
            <a:cxnLst/>
            <a:rect l="0" t="0" r="0" b="0"/>
            <a:pathLst>
              <a:path w="1188720" h="864523">
                <a:moveTo>
                  <a:pt x="0" y="0"/>
                </a:moveTo>
                <a:lnTo>
                  <a:pt x="1188720" y="0"/>
                </a:lnTo>
                <a:moveTo>
                  <a:pt x="1188720" y="864523"/>
                </a:moveTo>
                <a:lnTo>
                  <a:pt x="0" y="864523"/>
                </a:lnTo>
              </a:path>
            </a:pathLst>
          </a:custGeom>
          <a:noFill/>
          <a:ln w="13507">
            <a:solidFill>
              <a:srgbClr val="43DD9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99DBB705-EA42-B2CF-8F70-86D77ECAB79E}"/>
              </a:ext>
            </a:extLst>
          </p:cNvPr>
          <p:cNvSpPr/>
          <p:nvPr/>
        </p:nvSpPr>
        <p:spPr>
          <a:xfrm>
            <a:off x="9067459" y="1300954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162098" y="0"/>
                </a:moveTo>
                <a:lnTo>
                  <a:pt x="144087" y="0"/>
                </a:lnTo>
                <a:cubicBezTo>
                  <a:pt x="64509" y="0"/>
                  <a:pt x="0" y="64509"/>
                  <a:pt x="0" y="144087"/>
                </a:cubicBezTo>
                <a:moveTo>
                  <a:pt x="162098" y="864523"/>
                </a:moveTo>
                <a:lnTo>
                  <a:pt x="144087" y="864523"/>
                </a:lnTo>
                <a:cubicBezTo>
                  <a:pt x="64509" y="864523"/>
                  <a:pt x="0" y="800013"/>
                  <a:pt x="0" y="720436"/>
                </a:cubicBezTo>
                <a:moveTo>
                  <a:pt x="0" y="720436"/>
                </a:moveTo>
                <a:lnTo>
                  <a:pt x="0" y="144087"/>
                </a:lnTo>
              </a:path>
            </a:pathLst>
          </a:custGeom>
          <a:noFill/>
          <a:ln w="13507">
            <a:solidFill>
              <a:srgbClr val="43DD9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B327AD0D-9761-B8FF-1798-937B4F6828B8}"/>
              </a:ext>
            </a:extLst>
          </p:cNvPr>
          <p:cNvSpPr/>
          <p:nvPr/>
        </p:nvSpPr>
        <p:spPr>
          <a:xfrm>
            <a:off x="10418277" y="1300954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0" y="0"/>
                </a:moveTo>
                <a:lnTo>
                  <a:pt x="18010" y="0"/>
                </a:lnTo>
                <a:cubicBezTo>
                  <a:pt x="97588" y="0"/>
                  <a:pt x="162098" y="64509"/>
                  <a:pt x="162098" y="144087"/>
                </a:cubicBezTo>
                <a:moveTo>
                  <a:pt x="0" y="864523"/>
                </a:moveTo>
                <a:lnTo>
                  <a:pt x="18010" y="864523"/>
                </a:lnTo>
                <a:cubicBezTo>
                  <a:pt x="97588" y="864523"/>
                  <a:pt x="162098" y="800013"/>
                  <a:pt x="162098" y="720436"/>
                </a:cubicBezTo>
                <a:moveTo>
                  <a:pt x="162098" y="720436"/>
                </a:moveTo>
                <a:lnTo>
                  <a:pt x="162098" y="144087"/>
                </a:lnTo>
              </a:path>
            </a:pathLst>
          </a:custGeom>
          <a:noFill/>
          <a:ln w="13507">
            <a:solidFill>
              <a:srgbClr val="43DD9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77F8DDA5-22E5-5695-719B-5CD79E7516FD}"/>
              </a:ext>
            </a:extLst>
          </p:cNvPr>
          <p:cNvSpPr/>
          <p:nvPr/>
        </p:nvSpPr>
        <p:spPr>
          <a:xfrm>
            <a:off x="6257757" y="1949346"/>
            <a:ext cx="2089265" cy="1026621"/>
          </a:xfrm>
          <a:custGeom>
            <a:avLst/>
            <a:gdLst/>
            <a:ahLst/>
            <a:cxnLst/>
            <a:rect l="0" t="0" r="0" b="0"/>
            <a:pathLst>
              <a:path w="2089265" h="1026621">
                <a:moveTo>
                  <a:pt x="2089265" y="324196"/>
                </a:moveTo>
                <a:lnTo>
                  <a:pt x="2089265" y="864523"/>
                </a:lnTo>
                <a:moveTo>
                  <a:pt x="0" y="864523"/>
                </a:moveTo>
                <a:lnTo>
                  <a:pt x="0" y="324196"/>
                </a:lnTo>
                <a:moveTo>
                  <a:pt x="2089265" y="864523"/>
                </a:moveTo>
                <a:lnTo>
                  <a:pt x="2089265" y="882534"/>
                </a:lnTo>
                <a:cubicBezTo>
                  <a:pt x="2089265" y="962112"/>
                  <a:pt x="2024755" y="1026621"/>
                  <a:pt x="1945178" y="1026621"/>
                </a:cubicBezTo>
                <a:lnTo>
                  <a:pt x="144087" y="1026621"/>
                </a:lnTo>
                <a:cubicBezTo>
                  <a:pt x="64509" y="1026621"/>
                  <a:pt x="0" y="962112"/>
                  <a:pt x="0" y="882534"/>
                </a:cubicBezTo>
                <a:lnTo>
                  <a:pt x="0" y="864523"/>
                </a:lnTo>
                <a:moveTo>
                  <a:pt x="0" y="324196"/>
                </a:moveTo>
                <a:lnTo>
                  <a:pt x="0" y="144087"/>
                </a:lnTo>
                <a:cubicBezTo>
                  <a:pt x="0" y="64509"/>
                  <a:pt x="64509" y="0"/>
                  <a:pt x="144087" y="0"/>
                </a:cubicBezTo>
                <a:lnTo>
                  <a:pt x="288174" y="0"/>
                </a:lnTo>
                <a:moveTo>
                  <a:pt x="2089265" y="324196"/>
                </a:moveTo>
                <a:lnTo>
                  <a:pt x="2089265" y="144087"/>
                </a:lnTo>
                <a:cubicBezTo>
                  <a:pt x="2089265" y="64509"/>
                  <a:pt x="2024755" y="0"/>
                  <a:pt x="1945178" y="0"/>
                </a:cubicBezTo>
                <a:lnTo>
                  <a:pt x="1801090" y="0"/>
                </a:lnTo>
              </a:path>
            </a:pathLst>
          </a:custGeom>
          <a:noFill/>
          <a:ln w="13507">
            <a:solidFill>
              <a:srgbClr val="4F91FC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E960010C-4F9F-B450-9F33-4CB525038A13}"/>
              </a:ext>
            </a:extLst>
          </p:cNvPr>
          <p:cNvSpPr/>
          <p:nvPr/>
        </p:nvSpPr>
        <p:spPr>
          <a:xfrm>
            <a:off x="8779285" y="1949346"/>
            <a:ext cx="2089265" cy="1026621"/>
          </a:xfrm>
          <a:custGeom>
            <a:avLst/>
            <a:gdLst/>
            <a:ahLst/>
            <a:cxnLst/>
            <a:rect l="0" t="0" r="0" b="0"/>
            <a:pathLst>
              <a:path w="2089265" h="1026621">
                <a:moveTo>
                  <a:pt x="2089265" y="324196"/>
                </a:moveTo>
                <a:lnTo>
                  <a:pt x="2089265" y="864523"/>
                </a:lnTo>
                <a:moveTo>
                  <a:pt x="0" y="864523"/>
                </a:moveTo>
                <a:lnTo>
                  <a:pt x="0" y="324196"/>
                </a:lnTo>
                <a:moveTo>
                  <a:pt x="2089265" y="864523"/>
                </a:moveTo>
                <a:lnTo>
                  <a:pt x="2089265" y="882534"/>
                </a:lnTo>
                <a:cubicBezTo>
                  <a:pt x="2089265" y="962112"/>
                  <a:pt x="2024755" y="1026621"/>
                  <a:pt x="1945178" y="1026621"/>
                </a:cubicBezTo>
                <a:lnTo>
                  <a:pt x="144087" y="1026621"/>
                </a:lnTo>
                <a:cubicBezTo>
                  <a:pt x="64509" y="1026621"/>
                  <a:pt x="0" y="962112"/>
                  <a:pt x="0" y="882534"/>
                </a:cubicBezTo>
                <a:lnTo>
                  <a:pt x="0" y="864523"/>
                </a:lnTo>
                <a:moveTo>
                  <a:pt x="0" y="324196"/>
                </a:moveTo>
                <a:lnTo>
                  <a:pt x="0" y="144087"/>
                </a:lnTo>
                <a:cubicBezTo>
                  <a:pt x="0" y="64509"/>
                  <a:pt x="64509" y="0"/>
                  <a:pt x="144087" y="0"/>
                </a:cubicBezTo>
                <a:lnTo>
                  <a:pt x="288174" y="0"/>
                </a:lnTo>
                <a:moveTo>
                  <a:pt x="2089265" y="324196"/>
                </a:moveTo>
                <a:lnTo>
                  <a:pt x="2089265" y="144087"/>
                </a:lnTo>
                <a:cubicBezTo>
                  <a:pt x="2089265" y="64509"/>
                  <a:pt x="2024755" y="0"/>
                  <a:pt x="1945178" y="0"/>
                </a:cubicBezTo>
                <a:lnTo>
                  <a:pt x="1801090" y="0"/>
                </a:lnTo>
              </a:path>
            </a:pathLst>
          </a:custGeom>
          <a:noFill/>
          <a:ln w="13507">
            <a:solidFill>
              <a:srgbClr val="43DD9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441202-1D4C-EFDE-0652-C1A7D5F4A0E7}"/>
              </a:ext>
            </a:extLst>
          </p:cNvPr>
          <p:cNvGrpSpPr/>
          <p:nvPr/>
        </p:nvGrpSpPr>
        <p:grpSpPr>
          <a:xfrm>
            <a:off x="9765382" y="2984974"/>
            <a:ext cx="117070" cy="364720"/>
            <a:chOff x="3939886" y="2872740"/>
            <a:chExt cx="117070" cy="364720"/>
          </a:xfrm>
        </p:grpSpPr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79B3ACE8-0D4D-723F-D25D-A13504245AD1}"/>
                </a:ext>
              </a:extLst>
            </p:cNvPr>
            <p:cNvSpPr/>
            <p:nvPr/>
          </p:nvSpPr>
          <p:spPr>
            <a:xfrm>
              <a:off x="3998421" y="2872740"/>
              <a:ext cx="9005" cy="360218"/>
            </a:xfrm>
            <a:custGeom>
              <a:avLst/>
              <a:gdLst/>
              <a:ahLst/>
              <a:cxnLst/>
              <a:rect l="0" t="0" r="0" b="0"/>
              <a:pathLst>
                <a:path w="9005" h="360218">
                  <a:moveTo>
                    <a:pt x="0" y="360218"/>
                  </a:moveTo>
                  <a:lnTo>
                    <a:pt x="0" y="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5" name="Rounded Rectangle 10">
              <a:extLst>
                <a:ext uri="{FF2B5EF4-FFF2-40B4-BE49-F238E27FC236}">
                  <a16:creationId xmlns:a16="http://schemas.microsoft.com/office/drawing/2014/main" id="{D4B66081-B6E1-F809-A256-66BA70F5AD8B}"/>
                </a:ext>
              </a:extLst>
            </p:cNvPr>
            <p:cNvSpPr/>
            <p:nvPr/>
          </p:nvSpPr>
          <p:spPr>
            <a:xfrm>
              <a:off x="3939886" y="3178925"/>
              <a:ext cx="117070" cy="58535"/>
            </a:xfrm>
            <a:custGeom>
              <a:avLst/>
              <a:gdLst/>
              <a:ahLst/>
              <a:cxnLst/>
              <a:rect l="0" t="0" r="0" b="0"/>
              <a:pathLst>
                <a:path w="117070" h="58535">
                  <a:moveTo>
                    <a:pt x="0" y="0"/>
                  </a:moveTo>
                  <a:lnTo>
                    <a:pt x="58535" y="58535"/>
                  </a:lnTo>
                  <a:lnTo>
                    <a:pt x="117070" y="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6ACB63-69F0-7AD7-2681-4BE3E8309A3A}"/>
              </a:ext>
            </a:extLst>
          </p:cNvPr>
          <p:cNvGrpSpPr/>
          <p:nvPr/>
        </p:nvGrpSpPr>
        <p:grpSpPr>
          <a:xfrm>
            <a:off x="8356028" y="2485171"/>
            <a:ext cx="364721" cy="117070"/>
            <a:chOff x="2530532" y="2372937"/>
            <a:chExt cx="364721" cy="117070"/>
          </a:xfrm>
        </p:grpSpPr>
        <p:sp>
          <p:nvSpPr>
            <p:cNvPr id="42" name="Rounded Rectangle 12">
              <a:extLst>
                <a:ext uri="{FF2B5EF4-FFF2-40B4-BE49-F238E27FC236}">
                  <a16:creationId xmlns:a16="http://schemas.microsoft.com/office/drawing/2014/main" id="{6EC5E6E0-4380-9875-C152-6B1BB0DC39DA}"/>
                </a:ext>
              </a:extLst>
            </p:cNvPr>
            <p:cNvSpPr/>
            <p:nvPr/>
          </p:nvSpPr>
          <p:spPr>
            <a:xfrm>
              <a:off x="2530532" y="2431472"/>
              <a:ext cx="360218" cy="9005"/>
            </a:xfrm>
            <a:custGeom>
              <a:avLst/>
              <a:gdLst/>
              <a:ahLst/>
              <a:cxnLst/>
              <a:rect l="0" t="0" r="0" b="0"/>
              <a:pathLst>
                <a:path w="360218" h="9005">
                  <a:moveTo>
                    <a:pt x="360218" y="0"/>
                  </a:moveTo>
                  <a:lnTo>
                    <a:pt x="0" y="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3" name="Rounded Rectangle 13">
              <a:extLst>
                <a:ext uri="{FF2B5EF4-FFF2-40B4-BE49-F238E27FC236}">
                  <a16:creationId xmlns:a16="http://schemas.microsoft.com/office/drawing/2014/main" id="{7340A1A9-1799-9F9D-0D10-17C4BF8D0B87}"/>
                </a:ext>
              </a:extLst>
            </p:cNvPr>
            <p:cNvSpPr/>
            <p:nvPr/>
          </p:nvSpPr>
          <p:spPr>
            <a:xfrm>
              <a:off x="2836718" y="2372937"/>
              <a:ext cx="58535" cy="117070"/>
            </a:xfrm>
            <a:custGeom>
              <a:avLst/>
              <a:gdLst/>
              <a:ahLst/>
              <a:cxnLst/>
              <a:rect l="0" t="0" r="0" b="0"/>
              <a:pathLst>
                <a:path w="58535" h="117070">
                  <a:moveTo>
                    <a:pt x="0" y="117070"/>
                  </a:moveTo>
                  <a:lnTo>
                    <a:pt x="58535" y="58535"/>
                  </a:lnTo>
                  <a:lnTo>
                    <a:pt x="0" y="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20790E96-BB7C-F339-8E6A-3624AD2BF224}"/>
              </a:ext>
            </a:extLst>
          </p:cNvPr>
          <p:cNvSpPr/>
          <p:nvPr/>
        </p:nvSpPr>
        <p:spPr>
          <a:xfrm>
            <a:off x="6708030" y="3408230"/>
            <a:ext cx="1188720" cy="864523"/>
          </a:xfrm>
          <a:custGeom>
            <a:avLst/>
            <a:gdLst/>
            <a:ahLst/>
            <a:cxnLst/>
            <a:rect l="0" t="0" r="0" b="0"/>
            <a:pathLst>
              <a:path w="1188720" h="864523">
                <a:moveTo>
                  <a:pt x="0" y="0"/>
                </a:moveTo>
                <a:lnTo>
                  <a:pt x="1188720" y="0"/>
                </a:lnTo>
                <a:moveTo>
                  <a:pt x="1188720" y="864523"/>
                </a:moveTo>
                <a:lnTo>
                  <a:pt x="0" y="864523"/>
                </a:lnTo>
              </a:path>
            </a:pathLst>
          </a:custGeom>
          <a:noFill/>
          <a:ln w="13507">
            <a:solidFill>
              <a:srgbClr val="1AC3FB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846E2FAD-1173-28E7-9363-3948DEE22AA9}"/>
              </a:ext>
            </a:extLst>
          </p:cNvPr>
          <p:cNvSpPr/>
          <p:nvPr/>
        </p:nvSpPr>
        <p:spPr>
          <a:xfrm>
            <a:off x="6545932" y="3408230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162098" y="0"/>
                </a:moveTo>
                <a:lnTo>
                  <a:pt x="144087" y="0"/>
                </a:lnTo>
                <a:cubicBezTo>
                  <a:pt x="64509" y="0"/>
                  <a:pt x="0" y="64509"/>
                  <a:pt x="0" y="144087"/>
                </a:cubicBezTo>
                <a:moveTo>
                  <a:pt x="162098" y="864523"/>
                </a:moveTo>
                <a:lnTo>
                  <a:pt x="144087" y="864523"/>
                </a:lnTo>
                <a:cubicBezTo>
                  <a:pt x="64509" y="864523"/>
                  <a:pt x="0" y="800013"/>
                  <a:pt x="0" y="720436"/>
                </a:cubicBezTo>
                <a:moveTo>
                  <a:pt x="0" y="720436"/>
                </a:moveTo>
                <a:lnTo>
                  <a:pt x="0" y="144087"/>
                </a:lnTo>
              </a:path>
            </a:pathLst>
          </a:custGeom>
          <a:noFill/>
          <a:ln w="13507">
            <a:solidFill>
              <a:srgbClr val="1AC3FB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DAF410E6-6FA3-0C3F-530A-90C4B2CFBAC5}"/>
              </a:ext>
            </a:extLst>
          </p:cNvPr>
          <p:cNvSpPr/>
          <p:nvPr/>
        </p:nvSpPr>
        <p:spPr>
          <a:xfrm>
            <a:off x="7896750" y="3408230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0" y="0"/>
                </a:moveTo>
                <a:lnTo>
                  <a:pt x="18010" y="0"/>
                </a:lnTo>
                <a:cubicBezTo>
                  <a:pt x="97588" y="0"/>
                  <a:pt x="162098" y="64509"/>
                  <a:pt x="162098" y="144087"/>
                </a:cubicBezTo>
                <a:moveTo>
                  <a:pt x="0" y="864523"/>
                </a:moveTo>
                <a:lnTo>
                  <a:pt x="18010" y="864523"/>
                </a:lnTo>
                <a:cubicBezTo>
                  <a:pt x="97588" y="864523"/>
                  <a:pt x="162098" y="800013"/>
                  <a:pt x="162098" y="720436"/>
                </a:cubicBezTo>
                <a:moveTo>
                  <a:pt x="162098" y="720436"/>
                </a:moveTo>
                <a:lnTo>
                  <a:pt x="162098" y="144087"/>
                </a:lnTo>
              </a:path>
            </a:pathLst>
          </a:custGeom>
          <a:noFill/>
          <a:ln w="13507">
            <a:solidFill>
              <a:srgbClr val="1AC3FB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97AAC176-1950-9619-A1EC-98170D0E25E7}"/>
              </a:ext>
            </a:extLst>
          </p:cNvPr>
          <p:cNvSpPr/>
          <p:nvPr/>
        </p:nvSpPr>
        <p:spPr>
          <a:xfrm>
            <a:off x="9229557" y="3408230"/>
            <a:ext cx="1188720" cy="864523"/>
          </a:xfrm>
          <a:custGeom>
            <a:avLst/>
            <a:gdLst/>
            <a:ahLst/>
            <a:cxnLst/>
            <a:rect l="0" t="0" r="0" b="0"/>
            <a:pathLst>
              <a:path w="1188720" h="864523">
                <a:moveTo>
                  <a:pt x="0" y="0"/>
                </a:moveTo>
                <a:lnTo>
                  <a:pt x="1188720" y="0"/>
                </a:lnTo>
                <a:moveTo>
                  <a:pt x="1188720" y="864523"/>
                </a:moveTo>
                <a:lnTo>
                  <a:pt x="0" y="864523"/>
                </a:lnTo>
              </a:path>
            </a:pathLst>
          </a:custGeom>
          <a:noFill/>
          <a:ln w="13507">
            <a:solidFill>
              <a:srgbClr val="A6DA3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A97BB5D0-1F09-2948-6E9D-F7AFE510CEBB}"/>
              </a:ext>
            </a:extLst>
          </p:cNvPr>
          <p:cNvSpPr/>
          <p:nvPr/>
        </p:nvSpPr>
        <p:spPr>
          <a:xfrm>
            <a:off x="9067459" y="3408230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162098" y="0"/>
                </a:moveTo>
                <a:lnTo>
                  <a:pt x="144087" y="0"/>
                </a:lnTo>
                <a:cubicBezTo>
                  <a:pt x="64509" y="0"/>
                  <a:pt x="0" y="64509"/>
                  <a:pt x="0" y="144087"/>
                </a:cubicBezTo>
                <a:moveTo>
                  <a:pt x="162098" y="864523"/>
                </a:moveTo>
                <a:lnTo>
                  <a:pt x="144087" y="864523"/>
                </a:lnTo>
                <a:cubicBezTo>
                  <a:pt x="64509" y="864523"/>
                  <a:pt x="0" y="800013"/>
                  <a:pt x="0" y="720436"/>
                </a:cubicBezTo>
                <a:moveTo>
                  <a:pt x="0" y="720436"/>
                </a:moveTo>
                <a:lnTo>
                  <a:pt x="0" y="144087"/>
                </a:lnTo>
              </a:path>
            </a:pathLst>
          </a:custGeom>
          <a:noFill/>
          <a:ln w="13507">
            <a:solidFill>
              <a:srgbClr val="A6DA3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8C4F7883-40B6-7358-971B-2FEBD0F04758}"/>
              </a:ext>
            </a:extLst>
          </p:cNvPr>
          <p:cNvSpPr/>
          <p:nvPr/>
        </p:nvSpPr>
        <p:spPr>
          <a:xfrm>
            <a:off x="10418277" y="3408230"/>
            <a:ext cx="162098" cy="864523"/>
          </a:xfrm>
          <a:custGeom>
            <a:avLst/>
            <a:gdLst/>
            <a:ahLst/>
            <a:cxnLst/>
            <a:rect l="0" t="0" r="0" b="0"/>
            <a:pathLst>
              <a:path w="162098" h="864523">
                <a:moveTo>
                  <a:pt x="0" y="0"/>
                </a:moveTo>
                <a:lnTo>
                  <a:pt x="18010" y="0"/>
                </a:lnTo>
                <a:cubicBezTo>
                  <a:pt x="97588" y="0"/>
                  <a:pt x="162098" y="64509"/>
                  <a:pt x="162098" y="144087"/>
                </a:cubicBezTo>
                <a:moveTo>
                  <a:pt x="0" y="864523"/>
                </a:moveTo>
                <a:lnTo>
                  <a:pt x="18010" y="864523"/>
                </a:lnTo>
                <a:cubicBezTo>
                  <a:pt x="97588" y="864523"/>
                  <a:pt x="162098" y="800013"/>
                  <a:pt x="162098" y="720436"/>
                </a:cubicBezTo>
                <a:moveTo>
                  <a:pt x="162098" y="720436"/>
                </a:moveTo>
                <a:lnTo>
                  <a:pt x="162098" y="144087"/>
                </a:lnTo>
              </a:path>
            </a:pathLst>
          </a:custGeom>
          <a:noFill/>
          <a:ln w="13507">
            <a:solidFill>
              <a:srgbClr val="A6DA3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0C40F427-42BF-FCF9-1BE3-623057164DFD}"/>
              </a:ext>
            </a:extLst>
          </p:cNvPr>
          <p:cNvSpPr/>
          <p:nvPr/>
        </p:nvSpPr>
        <p:spPr>
          <a:xfrm>
            <a:off x="6257757" y="4056623"/>
            <a:ext cx="2089265" cy="1350818"/>
          </a:xfrm>
          <a:custGeom>
            <a:avLst/>
            <a:gdLst/>
            <a:ahLst/>
            <a:cxnLst/>
            <a:rect l="0" t="0" r="0" b="0"/>
            <a:pathLst>
              <a:path w="2089265" h="1350818">
                <a:moveTo>
                  <a:pt x="2089265" y="324196"/>
                </a:moveTo>
                <a:lnTo>
                  <a:pt x="2089265" y="1188720"/>
                </a:lnTo>
                <a:moveTo>
                  <a:pt x="0" y="1188720"/>
                </a:moveTo>
                <a:lnTo>
                  <a:pt x="0" y="324196"/>
                </a:lnTo>
                <a:moveTo>
                  <a:pt x="2089265" y="1188720"/>
                </a:moveTo>
                <a:lnTo>
                  <a:pt x="2089265" y="1206730"/>
                </a:lnTo>
                <a:cubicBezTo>
                  <a:pt x="2089265" y="1286308"/>
                  <a:pt x="2024755" y="1350818"/>
                  <a:pt x="1945178" y="1350818"/>
                </a:cubicBezTo>
                <a:lnTo>
                  <a:pt x="144087" y="1350818"/>
                </a:lnTo>
                <a:cubicBezTo>
                  <a:pt x="64509" y="1350818"/>
                  <a:pt x="0" y="1286308"/>
                  <a:pt x="0" y="1206730"/>
                </a:cubicBezTo>
                <a:lnTo>
                  <a:pt x="0" y="1188720"/>
                </a:lnTo>
                <a:moveTo>
                  <a:pt x="0" y="324196"/>
                </a:moveTo>
                <a:lnTo>
                  <a:pt x="0" y="144087"/>
                </a:lnTo>
                <a:cubicBezTo>
                  <a:pt x="0" y="64509"/>
                  <a:pt x="64509" y="0"/>
                  <a:pt x="144087" y="0"/>
                </a:cubicBezTo>
                <a:lnTo>
                  <a:pt x="288174" y="0"/>
                </a:lnTo>
                <a:moveTo>
                  <a:pt x="2089265" y="324196"/>
                </a:moveTo>
                <a:lnTo>
                  <a:pt x="2089265" y="144087"/>
                </a:lnTo>
                <a:cubicBezTo>
                  <a:pt x="2089265" y="64509"/>
                  <a:pt x="2024755" y="0"/>
                  <a:pt x="1945178" y="0"/>
                </a:cubicBezTo>
                <a:lnTo>
                  <a:pt x="1801090" y="0"/>
                </a:lnTo>
              </a:path>
            </a:pathLst>
          </a:custGeom>
          <a:noFill/>
          <a:ln w="13507">
            <a:solidFill>
              <a:srgbClr val="1AC3FB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F9642CD4-DD0C-D032-91E1-FBFF9702C199}"/>
              </a:ext>
            </a:extLst>
          </p:cNvPr>
          <p:cNvSpPr/>
          <p:nvPr/>
        </p:nvSpPr>
        <p:spPr>
          <a:xfrm>
            <a:off x="8779285" y="4056623"/>
            <a:ext cx="2089265" cy="1350818"/>
          </a:xfrm>
          <a:custGeom>
            <a:avLst/>
            <a:gdLst/>
            <a:ahLst/>
            <a:cxnLst/>
            <a:rect l="0" t="0" r="0" b="0"/>
            <a:pathLst>
              <a:path w="2089265" h="1350818">
                <a:moveTo>
                  <a:pt x="2089265" y="324196"/>
                </a:moveTo>
                <a:lnTo>
                  <a:pt x="2089265" y="1188720"/>
                </a:lnTo>
                <a:moveTo>
                  <a:pt x="0" y="1188720"/>
                </a:moveTo>
                <a:lnTo>
                  <a:pt x="0" y="324196"/>
                </a:lnTo>
                <a:moveTo>
                  <a:pt x="2089265" y="1188720"/>
                </a:moveTo>
                <a:lnTo>
                  <a:pt x="2089265" y="1206730"/>
                </a:lnTo>
                <a:cubicBezTo>
                  <a:pt x="2089265" y="1286308"/>
                  <a:pt x="2024755" y="1350818"/>
                  <a:pt x="1945178" y="1350818"/>
                </a:cubicBezTo>
                <a:lnTo>
                  <a:pt x="144087" y="1350818"/>
                </a:lnTo>
                <a:cubicBezTo>
                  <a:pt x="64509" y="1350818"/>
                  <a:pt x="0" y="1286308"/>
                  <a:pt x="0" y="1206730"/>
                </a:cubicBezTo>
                <a:lnTo>
                  <a:pt x="0" y="1188720"/>
                </a:lnTo>
                <a:moveTo>
                  <a:pt x="0" y="324196"/>
                </a:moveTo>
                <a:lnTo>
                  <a:pt x="0" y="144087"/>
                </a:lnTo>
                <a:cubicBezTo>
                  <a:pt x="0" y="64509"/>
                  <a:pt x="64509" y="0"/>
                  <a:pt x="144087" y="0"/>
                </a:cubicBezTo>
                <a:lnTo>
                  <a:pt x="288174" y="0"/>
                </a:lnTo>
                <a:moveTo>
                  <a:pt x="2089265" y="324196"/>
                </a:moveTo>
                <a:lnTo>
                  <a:pt x="2089265" y="144087"/>
                </a:lnTo>
                <a:cubicBezTo>
                  <a:pt x="2089265" y="64509"/>
                  <a:pt x="2024755" y="0"/>
                  <a:pt x="1945178" y="0"/>
                </a:cubicBezTo>
                <a:lnTo>
                  <a:pt x="1801090" y="0"/>
                </a:lnTo>
              </a:path>
            </a:pathLst>
          </a:custGeom>
          <a:noFill/>
          <a:ln w="13507">
            <a:solidFill>
              <a:srgbClr val="A6DA3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3EE6E7-D72E-D6FF-7588-476E0A82F233}"/>
              </a:ext>
            </a:extLst>
          </p:cNvPr>
          <p:cNvGrpSpPr/>
          <p:nvPr/>
        </p:nvGrpSpPr>
        <p:grpSpPr>
          <a:xfrm>
            <a:off x="8405558" y="4754545"/>
            <a:ext cx="364721" cy="117070"/>
            <a:chOff x="2580062" y="4642311"/>
            <a:chExt cx="364721" cy="117070"/>
          </a:xfrm>
        </p:grpSpPr>
        <p:sp>
          <p:nvSpPr>
            <p:cNvPr id="40" name="Rounded Rectangle 23">
              <a:extLst>
                <a:ext uri="{FF2B5EF4-FFF2-40B4-BE49-F238E27FC236}">
                  <a16:creationId xmlns:a16="http://schemas.microsoft.com/office/drawing/2014/main" id="{2EB38EDD-8CB1-1020-D26E-59171149763B}"/>
                </a:ext>
              </a:extLst>
            </p:cNvPr>
            <p:cNvSpPr/>
            <p:nvPr/>
          </p:nvSpPr>
          <p:spPr>
            <a:xfrm>
              <a:off x="2584565" y="4700847"/>
              <a:ext cx="360218" cy="9005"/>
            </a:xfrm>
            <a:custGeom>
              <a:avLst/>
              <a:gdLst/>
              <a:ahLst/>
              <a:cxnLst/>
              <a:rect l="0" t="0" r="0" b="0"/>
              <a:pathLst>
                <a:path w="360218" h="9005">
                  <a:moveTo>
                    <a:pt x="0" y="0"/>
                  </a:moveTo>
                  <a:lnTo>
                    <a:pt x="360218" y="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Rounded Rectangle 24">
              <a:extLst>
                <a:ext uri="{FF2B5EF4-FFF2-40B4-BE49-F238E27FC236}">
                  <a16:creationId xmlns:a16="http://schemas.microsoft.com/office/drawing/2014/main" id="{485CAC85-193A-3301-657E-041C82C2220A}"/>
                </a:ext>
              </a:extLst>
            </p:cNvPr>
            <p:cNvSpPr/>
            <p:nvPr/>
          </p:nvSpPr>
          <p:spPr>
            <a:xfrm>
              <a:off x="2580062" y="4642311"/>
              <a:ext cx="58535" cy="117070"/>
            </a:xfrm>
            <a:custGeom>
              <a:avLst/>
              <a:gdLst/>
              <a:ahLst/>
              <a:cxnLst/>
              <a:rect l="0" t="0" r="0" b="0"/>
              <a:pathLst>
                <a:path w="58535" h="117070">
                  <a:moveTo>
                    <a:pt x="58535" y="0"/>
                  </a:moveTo>
                  <a:lnTo>
                    <a:pt x="0" y="58535"/>
                  </a:lnTo>
                  <a:lnTo>
                    <a:pt x="58535" y="117070"/>
                  </a:lnTo>
                </a:path>
              </a:pathLst>
            </a:custGeom>
            <a:noFill/>
            <a:ln w="13507">
              <a:solidFill>
                <a:srgbClr val="F4F4F4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sp>
        <p:nvSpPr>
          <p:cNvPr id="32" name="TextBox 26">
            <a:extLst>
              <a:ext uri="{FF2B5EF4-FFF2-40B4-BE49-F238E27FC236}">
                <a16:creationId xmlns:a16="http://schemas.microsoft.com/office/drawing/2014/main" id="{F262B547-35FA-9068-4ADD-49AD036F0AF3}"/>
              </a:ext>
            </a:extLst>
          </p:cNvPr>
          <p:cNvSpPr txBox="1"/>
          <p:nvPr/>
        </p:nvSpPr>
        <p:spPr>
          <a:xfrm>
            <a:off x="9116179" y="2391514"/>
            <a:ext cx="1415432" cy="378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0">
                <a:solidFill>
                  <a:srgbClr val="43DD93"/>
                </a:solidFill>
                <a:latin typeface="Roboto"/>
              </a:rPr>
              <a:t>Sequences of identical
elements are identified.</a:t>
            </a: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A69FFB0E-E358-F9F1-ED0F-C653E2A226B9}"/>
              </a:ext>
            </a:extLst>
          </p:cNvPr>
          <p:cNvSpPr txBox="1"/>
          <p:nvPr/>
        </p:nvSpPr>
        <p:spPr>
          <a:xfrm>
            <a:off x="6768907" y="3534306"/>
            <a:ext cx="1066921" cy="794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AC3FB"/>
                </a:solidFill>
                <a:latin typeface="Roboto"/>
              </a:rPr>
              <a:t>Output
Compressed
Data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9D96E8DF-097A-9FED-EFFB-DD068B87EE8E}"/>
              </a:ext>
            </a:extLst>
          </p:cNvPr>
          <p:cNvSpPr txBox="1"/>
          <p:nvPr/>
        </p:nvSpPr>
        <p:spPr>
          <a:xfrm>
            <a:off x="6555748" y="2391514"/>
            <a:ext cx="1493329" cy="378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0">
                <a:solidFill>
                  <a:srgbClr val="4F91FC"/>
                </a:solidFill>
                <a:latin typeface="Roboto"/>
              </a:rPr>
              <a:t>The process begins with
the original data set.</a:t>
            </a: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D1C9F7A9-27E2-9A6F-6930-2B92A8296BA7}"/>
              </a:ext>
            </a:extLst>
          </p:cNvPr>
          <p:cNvSpPr txBox="1"/>
          <p:nvPr/>
        </p:nvSpPr>
        <p:spPr>
          <a:xfrm>
            <a:off x="6886248" y="1643161"/>
            <a:ext cx="832329" cy="264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4F91FC"/>
                </a:solidFill>
                <a:latin typeface="Roboto"/>
              </a:rPr>
              <a:t>Input Data</a:t>
            </a:r>
          </a:p>
        </p:txBody>
      </p:sp>
      <p:sp>
        <p:nvSpPr>
          <p:cNvPr id="36" name="TextBox 30">
            <a:extLst>
              <a:ext uri="{FF2B5EF4-FFF2-40B4-BE49-F238E27FC236}">
                <a16:creationId xmlns:a16="http://schemas.microsoft.com/office/drawing/2014/main" id="{A075A97C-D565-EBDD-BA2C-1B3129EB0D5B}"/>
              </a:ext>
            </a:extLst>
          </p:cNvPr>
          <p:cNvSpPr txBox="1"/>
          <p:nvPr/>
        </p:nvSpPr>
        <p:spPr>
          <a:xfrm>
            <a:off x="9377607" y="1427030"/>
            <a:ext cx="892557" cy="794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43DD93"/>
                </a:solidFill>
                <a:latin typeface="Roboto"/>
              </a:rPr>
              <a:t>Identify
Repeated
Sequences</a:t>
            </a:r>
          </a:p>
        </p:txBody>
      </p:sp>
      <p:sp>
        <p:nvSpPr>
          <p:cNvPr id="37" name="TextBox 31">
            <a:extLst>
              <a:ext uri="{FF2B5EF4-FFF2-40B4-BE49-F238E27FC236}">
                <a16:creationId xmlns:a16="http://schemas.microsoft.com/office/drawing/2014/main" id="{CA3F141B-EFB0-864C-0A28-7A97E112EB09}"/>
              </a:ext>
            </a:extLst>
          </p:cNvPr>
          <p:cNvSpPr txBox="1"/>
          <p:nvPr/>
        </p:nvSpPr>
        <p:spPr>
          <a:xfrm>
            <a:off x="9377607" y="3642372"/>
            <a:ext cx="892557" cy="529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A6DA37"/>
                </a:solidFill>
                <a:latin typeface="Roboto"/>
              </a:rPr>
              <a:t>Encode
Sequences</a:t>
            </a:r>
          </a:p>
        </p:txBody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13B087BA-E42D-A35A-E565-76BC279A7301}"/>
              </a:ext>
            </a:extLst>
          </p:cNvPr>
          <p:cNvSpPr txBox="1"/>
          <p:nvPr/>
        </p:nvSpPr>
        <p:spPr>
          <a:xfrm>
            <a:off x="6564303" y="4525807"/>
            <a:ext cx="1476111" cy="5673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0">
                <a:solidFill>
                  <a:srgbClr val="1AC3FB"/>
                </a:solidFill>
                <a:latin typeface="Roboto"/>
              </a:rPr>
              <a:t>The compressed data is
the final result of the
process.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A1F0BF8B-0D19-DB57-ED88-EE95651FFC61}"/>
              </a:ext>
            </a:extLst>
          </p:cNvPr>
          <p:cNvSpPr txBox="1"/>
          <p:nvPr/>
        </p:nvSpPr>
        <p:spPr>
          <a:xfrm>
            <a:off x="9029726" y="4498790"/>
            <a:ext cx="1588454" cy="7564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0">
                <a:solidFill>
                  <a:srgbClr val="A6DA37"/>
                </a:solidFill>
                <a:latin typeface="Roboto"/>
              </a:rPr>
              <a:t>Repeated Sequenced
characters are paired with
its count
(c,l)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3E9EC03-CB12-F9FD-DAFB-F7DB21CA5925}"/>
              </a:ext>
            </a:extLst>
          </p:cNvPr>
          <p:cNvCxnSpPr/>
          <p:nvPr/>
        </p:nvCxnSpPr>
        <p:spPr>
          <a:xfrm flipV="1">
            <a:off x="8347022" y="2543706"/>
            <a:ext cx="423257" cy="9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7E809F-AA20-E7CF-A640-15D7D6485EBA}"/>
              </a:ext>
            </a:extLst>
          </p:cNvPr>
          <p:cNvCxnSpPr/>
          <p:nvPr/>
        </p:nvCxnSpPr>
        <p:spPr>
          <a:xfrm>
            <a:off x="9823917" y="2984974"/>
            <a:ext cx="0" cy="423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69F4916-04FF-2E37-4271-376EE90BC0F8}"/>
              </a:ext>
            </a:extLst>
          </p:cNvPr>
          <p:cNvCxnSpPr/>
          <p:nvPr/>
        </p:nvCxnSpPr>
        <p:spPr>
          <a:xfrm flipH="1">
            <a:off x="8347022" y="4813081"/>
            <a:ext cx="423257" cy="9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31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E634-0B4D-7621-99F3-2A751964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8D6E9DCF-7892-A17E-DEB5-2D8F3BDC2F84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572E17-C142-86AD-5D1C-D18D42375B2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EA248B5-0F39-E424-3725-2602B0CBC68F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55C446B-7C35-B953-87E7-DDEDC560C06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3347DBE-8A87-D8BE-039E-2B0CA31A57D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BB4EB667-71DC-553D-7C6E-DAA1461CDCC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E9E25F82-CC1B-50E7-80C3-7786D93385D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F9C3010B-A975-7BEC-9CC9-BF789BE2374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40D01B6E-1FC9-77C1-310D-348408925EE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42E39D6-6441-980A-A63E-B2F8AF8BFA5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23FEF66E-3CDD-B4CD-7F14-30642B91C3C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DD990B7-026B-EC41-B22F-19D5E1EE7925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82A461B-CDD8-53A6-82A4-363B91C6667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88381AFD-EA02-9214-DFCA-6A7B4267CCF3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31BB20FF-5ADD-A8C4-1B8B-150D5739ED1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7783A566-FB6D-526A-F64E-650A6AA6B5D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3153EE2F-94AD-C3E6-84E0-73B854F562C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FE6043EC-CB91-5EE4-D99C-442B74B715C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D69ECACE-74A6-25AC-0867-F28B1ABF3B5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65B99AF-CDC2-049C-00CE-BD13DC0ACB1F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5EC9EE3-6D4B-6918-435E-D48289ED07A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69E4703D-E301-810B-B1FA-1C1220975DE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A40A2D9A-B4EB-F029-DF82-48D036F885F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7CE0A65-61E6-FDAB-5466-7E108DF34E1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F5B2CC34-54F0-7057-C36C-F5307B97904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66A9D86E-AD8C-DD5F-3533-86B38E1E0FE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6AA7648-AC22-C6CF-A6F0-A21F54C25CC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BB20FC55-E169-2317-B78A-F185893AC81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D00C20F8-A963-891C-BE08-31FE5D97B0C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4E60D66-1CCD-4146-BEF7-E11DE73CDB17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BC9EE4E1-5C04-3EFB-0E78-8474D733408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5778C59-920E-A5B9-A421-DA12BD89C9DB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40815303-BAB2-60DB-F443-CFE1D685097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17119CDD-726B-38CD-C28F-8F9E2502676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0D3E64E3-CEEA-DE43-E119-26CC60A2E6F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B098375D-3A6D-7786-C5E6-7E3EEB9C376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F258C836-9C43-6127-E406-D29931788B9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A1BCA40-6231-2136-5BE3-00C272A492C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7278CA7-0380-EA4B-B6FB-2591699BAB6C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40D8493B-76E0-BA72-6755-368425BAC86C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12B62340-AC92-DCE9-D1B8-271D38B88255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C5EC2DA9-A98C-1BF6-BFA0-30C2ECDD098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2DC964F2-863E-7A27-DC8C-A6C43D5EF98A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4AB89239-2CE2-557F-158B-43C72424A82C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72F38571-4A96-514C-E628-FE3BF2863952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CA47C94F-0131-6E10-7F3C-826F9D78DE9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E4F323E1-1480-1060-E545-E9FAF80E47D5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52E0D04-747F-0A9D-855A-408E185D855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02482123-A9A7-45FD-D39C-55C28F1887CD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735131A9-11FE-A709-7BAD-4ADDDBFD5EF9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19265DB0-2DBC-9AD1-56FD-94E8BB47A995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A755804-BF50-CE76-AE6D-AB62D62489C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CE7190C8-6659-3A79-E36B-171E9C303A43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4E7DB68-7A88-0A95-1629-E7CBD0F382F6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C5FB34A-4684-0474-8B5E-3CA472368DF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D28B336E-7D23-204F-786C-BA169F67C049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30672F09-D37A-7067-CF71-E253921AD3A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AE5FD2A-B329-41F7-D3B4-0646532CE397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DCB7D190-4EFB-42C9-EAF5-8E3A1513B9A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5B4A783C-B4C7-A50D-049B-805271C8F8BB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3D827163-771D-6F8C-0B48-993C4A216155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F610E424-0B85-101C-8669-C662159C20E8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3EBED855-B04E-B59C-6DEC-9C72DE837CA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6DD1DEF9-7ED9-2F9C-1C64-FA17856A9074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C6A1DD4D-3253-E1AE-203B-1978BCE67FE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D2F10DE-06E7-FFC0-DC26-71B80AD026F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01F1D11-10F2-C15B-2AD5-D647D353A41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C8858085-99B8-7DB9-0047-ADB4D34D6F0B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5E71704A-6582-DCAC-1EE3-ED94A164233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897BC5D6-82C7-5256-3900-2DC33CACBD3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7D6656C4-FA2B-B83B-27DD-684DF4F12BA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EA99B1C9-076F-2314-6A6B-A05F91643DD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8751FBE-32EA-E8AC-54F1-ECAA6C00F165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43DFCEAD-B7E7-CFFF-9060-CFDC6343901E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B455CE8-FB94-3059-FBB2-1B55C9D39A7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Example Problem &amp;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63F13-CF6D-C89C-FF8C-057D1AD94F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12924-131C-102B-3226-8A14CBD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8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A5F6A1D-8C59-B1CD-EB6F-5AC0927072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76" y="695383"/>
            <a:ext cx="10869504" cy="46307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dirty="0"/>
              <a:t>Question: Given the string "BCAADDDCCACACAC", compress it using Huffman coding.</a:t>
            </a:r>
            <a:endParaRPr lang="en-US" alt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69706-B65B-0F3E-2B0F-8EDE1C8A675E}"/>
              </a:ext>
            </a:extLst>
          </p:cNvPr>
          <p:cNvSpPr txBox="1"/>
          <p:nvPr/>
        </p:nvSpPr>
        <p:spPr>
          <a:xfrm>
            <a:off x="88479" y="1158458"/>
            <a:ext cx="6151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Solution</a:t>
            </a:r>
            <a:r>
              <a:rPr lang="en-US" dirty="0"/>
              <a:t>:</a:t>
            </a:r>
          </a:p>
          <a:p>
            <a:r>
              <a:rPr lang="en-US" dirty="0"/>
              <a:t>Count Character Frequencies:   A: 5, B: 1, C: 6, D: 3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EC472-4469-F0A7-29EA-489AA2BB01CC}"/>
              </a:ext>
            </a:extLst>
          </p:cNvPr>
          <p:cNvSpPr txBox="1"/>
          <p:nvPr/>
        </p:nvSpPr>
        <p:spPr>
          <a:xfrm>
            <a:off x="74102" y="1815906"/>
            <a:ext cx="6151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Calculate Probability for each letter: </a:t>
            </a:r>
          </a:p>
          <a:p>
            <a:pPr>
              <a:buNone/>
            </a:pPr>
            <a:r>
              <a:rPr lang="en-US" dirty="0"/>
              <a:t>A = 5/15 = 0.33		C = 6/15 = 0.4</a:t>
            </a:r>
          </a:p>
          <a:p>
            <a:pPr>
              <a:buNone/>
            </a:pPr>
            <a:r>
              <a:rPr lang="en-US" dirty="0"/>
              <a:t>B = 1/15	= 0.06		D = 3/15 = 0.2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Sort in Ascending Order: 0.06, 0.2,0.33, 0.4</a:t>
            </a:r>
          </a:p>
          <a:p>
            <a:pPr>
              <a:buNone/>
            </a:pPr>
            <a:r>
              <a:rPr lang="en-US" dirty="0"/>
              <a:t>Sort and add the least two in each iteration until probability is 1</a:t>
            </a:r>
          </a:p>
          <a:p>
            <a:pPr>
              <a:buNone/>
            </a:pPr>
            <a:r>
              <a:rPr lang="en-US" dirty="0"/>
              <a:t>0.26,0.33,0.4</a:t>
            </a:r>
          </a:p>
          <a:p>
            <a:r>
              <a:rPr lang="en-US" dirty="0"/>
              <a:t>0.59,0.4</a:t>
            </a:r>
          </a:p>
          <a:p>
            <a:r>
              <a:rPr lang="en-US" dirty="0"/>
              <a:t>0.99 </a:t>
            </a:r>
            <a:r>
              <a:rPr lang="en-US" dirty="0">
                <a:latin typeface="Aptos" panose="020B0004020202020204" pitchFamily="34" charset="0"/>
              </a:rPr>
              <a:t>≈ 1</a:t>
            </a:r>
          </a:p>
          <a:p>
            <a:endParaRPr lang="en-US" dirty="0"/>
          </a:p>
          <a:p>
            <a:r>
              <a:rPr lang="en-US" dirty="0"/>
              <a:t>Build the Huffman tree</a:t>
            </a:r>
          </a:p>
          <a:p>
            <a:endParaRPr lang="en-US" dirty="0"/>
          </a:p>
          <a:p>
            <a:r>
              <a:rPr lang="en-US" dirty="0"/>
              <a:t>Assign the Binary Code A</a:t>
            </a:r>
          </a:p>
          <a:p>
            <a:r>
              <a:rPr lang="en-US" dirty="0"/>
              <a:t>A : 10		C : 0</a:t>
            </a:r>
          </a:p>
          <a:p>
            <a:r>
              <a:rPr lang="en-US" dirty="0"/>
              <a:t>B : 111		D : 110</a:t>
            </a:r>
          </a:p>
        </p:txBody>
      </p: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19FDEA47-91E1-A34E-EDC4-264AEF391B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Image of ">
            <a:extLst>
              <a:ext uri="{FF2B5EF4-FFF2-40B4-BE49-F238E27FC236}">
                <a16:creationId xmlns:a16="http://schemas.microsoft.com/office/drawing/2014/main" id="{FA821EC0-76E3-ADE4-3CDA-109CA58B63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63AB0F32-77DB-476A-F734-0F85CCE277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0524B8-607B-A869-3099-69D94E8B969E}"/>
              </a:ext>
            </a:extLst>
          </p:cNvPr>
          <p:cNvSpPr/>
          <p:nvPr/>
        </p:nvSpPr>
        <p:spPr>
          <a:xfrm>
            <a:off x="9367799" y="4774717"/>
            <a:ext cx="1280160" cy="35281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4A65A-F509-4F91-E902-8E2BAD60485E}"/>
              </a:ext>
            </a:extLst>
          </p:cNvPr>
          <p:cNvSpPr/>
          <p:nvPr/>
        </p:nvSpPr>
        <p:spPr>
          <a:xfrm>
            <a:off x="10800359" y="4774717"/>
            <a:ext cx="1280160" cy="35281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5D3B9B-4CAF-0AE8-515D-049AB1DD91F8}"/>
              </a:ext>
            </a:extLst>
          </p:cNvPr>
          <p:cNvSpPr/>
          <p:nvPr/>
        </p:nvSpPr>
        <p:spPr>
          <a:xfrm>
            <a:off x="10117607" y="3939565"/>
            <a:ext cx="1280160" cy="5852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F4CA7A-44E4-4FED-CC69-37F5E01249AF}"/>
              </a:ext>
            </a:extLst>
          </p:cNvPr>
          <p:cNvSpPr/>
          <p:nvPr/>
        </p:nvSpPr>
        <p:spPr>
          <a:xfrm>
            <a:off x="7828559" y="3890797"/>
            <a:ext cx="1280160" cy="5852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DB5337-F090-AE7C-42DE-C6D292C85202}"/>
              </a:ext>
            </a:extLst>
          </p:cNvPr>
          <p:cNvSpPr/>
          <p:nvPr/>
        </p:nvSpPr>
        <p:spPr>
          <a:xfrm>
            <a:off x="8718575" y="2961157"/>
            <a:ext cx="1280160" cy="5852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AE0D3F-8870-0612-6DD7-9759C68B9861}"/>
              </a:ext>
            </a:extLst>
          </p:cNvPr>
          <p:cNvSpPr/>
          <p:nvPr/>
        </p:nvSpPr>
        <p:spPr>
          <a:xfrm>
            <a:off x="6965975" y="2805971"/>
            <a:ext cx="1280160" cy="5852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FE6024-9963-B9CA-B471-FC6E37929E35}"/>
              </a:ext>
            </a:extLst>
          </p:cNvPr>
          <p:cNvSpPr/>
          <p:nvPr/>
        </p:nvSpPr>
        <p:spPr>
          <a:xfrm>
            <a:off x="7916951" y="1592760"/>
            <a:ext cx="1280160" cy="58521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3CB5E2-501C-93E8-573E-E438C67F9034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8468639" y="3546373"/>
            <a:ext cx="890016" cy="344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BEECCE-1BBC-ED22-78DF-9BB7C98E7064}"/>
              </a:ext>
            </a:extLst>
          </p:cNvPr>
          <p:cNvCxnSpPr>
            <a:cxnSpLocks/>
            <a:stCxn id="16" idx="2"/>
            <a:endCxn id="27" idx="0"/>
          </p:cNvCxnSpPr>
          <p:nvPr/>
        </p:nvCxnSpPr>
        <p:spPr>
          <a:xfrm>
            <a:off x="9358655" y="3546373"/>
            <a:ext cx="1389888" cy="3731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C12C3C-C34B-68BC-84B5-D15C79A7DBDF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V="1">
            <a:off x="7606055" y="2177976"/>
            <a:ext cx="950976" cy="6279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122A24-E7A7-9DEF-15C8-EF6E245A9E65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H="1" flipV="1">
            <a:off x="8557031" y="2177976"/>
            <a:ext cx="801624" cy="7831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DDB11B-14F9-2C14-507D-1CF8C09D50E1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10757687" y="4524781"/>
            <a:ext cx="682752" cy="249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9C1A92-4E25-A915-7DF6-0D4F3DA55FAD}"/>
              </a:ext>
            </a:extLst>
          </p:cNvPr>
          <p:cNvCxnSpPr>
            <a:cxnSpLocks/>
            <a:stCxn id="3" idx="0"/>
            <a:endCxn id="13" idx="2"/>
          </p:cNvCxnSpPr>
          <p:nvPr/>
        </p:nvCxnSpPr>
        <p:spPr>
          <a:xfrm flipV="1">
            <a:off x="10007879" y="4524781"/>
            <a:ext cx="749808" cy="2499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3799712-4FD2-ECB8-0F07-FDA1B74723A3}"/>
              </a:ext>
            </a:extLst>
          </p:cNvPr>
          <p:cNvSpPr txBox="1"/>
          <p:nvPr/>
        </p:nvSpPr>
        <p:spPr>
          <a:xfrm>
            <a:off x="9367799" y="4750333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 : 0.2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EE74A9-25C2-D7BE-FB1B-C6E5800ED1EA}"/>
              </a:ext>
            </a:extLst>
          </p:cNvPr>
          <p:cNvSpPr txBox="1"/>
          <p:nvPr/>
        </p:nvSpPr>
        <p:spPr>
          <a:xfrm>
            <a:off x="10739399" y="4774717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 : 0.06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E5AF2-E676-0936-BDF2-3FE1585B0EB2}"/>
              </a:ext>
            </a:extLst>
          </p:cNvPr>
          <p:cNvSpPr txBox="1"/>
          <p:nvPr/>
        </p:nvSpPr>
        <p:spPr>
          <a:xfrm>
            <a:off x="10108463" y="3919491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BD : 0.26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B08D21-6913-E5D5-2928-B1835BCF2D4C}"/>
              </a:ext>
            </a:extLst>
          </p:cNvPr>
          <p:cNvSpPr txBox="1"/>
          <p:nvPr/>
        </p:nvSpPr>
        <p:spPr>
          <a:xfrm>
            <a:off x="7828559" y="3890797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: 0.33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7B05F0-8CAE-35FF-AE6C-5E868C5AE68C}"/>
              </a:ext>
            </a:extLst>
          </p:cNvPr>
          <p:cNvSpPr txBox="1"/>
          <p:nvPr/>
        </p:nvSpPr>
        <p:spPr>
          <a:xfrm>
            <a:off x="8709431" y="2921533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ABD : 0.59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3288D1-BAF0-E3C2-5CF0-F02A9C80D192}"/>
              </a:ext>
            </a:extLst>
          </p:cNvPr>
          <p:cNvSpPr txBox="1"/>
          <p:nvPr/>
        </p:nvSpPr>
        <p:spPr>
          <a:xfrm>
            <a:off x="6965975" y="2736391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 : 0.4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A5578B-61D5-15E7-1A61-CBD63C8D38BC}"/>
              </a:ext>
            </a:extLst>
          </p:cNvPr>
          <p:cNvSpPr txBox="1"/>
          <p:nvPr/>
        </p:nvSpPr>
        <p:spPr>
          <a:xfrm>
            <a:off x="7938287" y="1527228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ABCD :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8CA9CA-B9FF-F038-4664-793417FBAABD}"/>
              </a:ext>
            </a:extLst>
          </p:cNvPr>
          <p:cNvSpPr txBox="1"/>
          <p:nvPr/>
        </p:nvSpPr>
        <p:spPr>
          <a:xfrm>
            <a:off x="9376943" y="25961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444468-88CD-D4ED-A258-2C739E7103F6}"/>
              </a:ext>
            </a:extLst>
          </p:cNvPr>
          <p:cNvSpPr txBox="1"/>
          <p:nvPr/>
        </p:nvSpPr>
        <p:spPr>
          <a:xfrm>
            <a:off x="10692188" y="35702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AB269-8958-D25B-9BCD-631E7B2B62FE}"/>
              </a:ext>
            </a:extLst>
          </p:cNvPr>
          <p:cNvSpPr txBox="1"/>
          <p:nvPr/>
        </p:nvSpPr>
        <p:spPr>
          <a:xfrm>
            <a:off x="11419103" y="44384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ED47D-13B8-9350-AEF7-77495FC23092}"/>
              </a:ext>
            </a:extLst>
          </p:cNvPr>
          <p:cNvSpPr txBox="1"/>
          <p:nvPr/>
        </p:nvSpPr>
        <p:spPr>
          <a:xfrm>
            <a:off x="7304369" y="24534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8290B7-AFCE-0EFA-E6D5-EC1D5BDBCEE1}"/>
              </a:ext>
            </a:extLst>
          </p:cNvPr>
          <p:cNvSpPr txBox="1"/>
          <p:nvPr/>
        </p:nvSpPr>
        <p:spPr>
          <a:xfrm>
            <a:off x="8239360" y="358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0F689A-D173-6E4E-91CB-5701BA2E2E5B}"/>
              </a:ext>
            </a:extLst>
          </p:cNvPr>
          <p:cNvSpPr txBox="1"/>
          <p:nvPr/>
        </p:nvSpPr>
        <p:spPr>
          <a:xfrm>
            <a:off x="9675713" y="44793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F241D2-EC4F-C607-A204-2504730599E3}"/>
              </a:ext>
            </a:extLst>
          </p:cNvPr>
          <p:cNvSpPr txBox="1"/>
          <p:nvPr/>
        </p:nvSpPr>
        <p:spPr>
          <a:xfrm>
            <a:off x="2652307" y="5354236"/>
            <a:ext cx="3433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ECODED STRING IS: 1110101011011011000100100100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F83656D-AFF7-5D2C-C62B-889367EB6EBA}"/>
                  </a:ext>
                </a:extLst>
              </p:cNvPr>
              <p:cNvSpPr txBox="1"/>
              <p:nvPr/>
            </p:nvSpPr>
            <p:spPr>
              <a:xfrm>
                <a:off x="6388017" y="5214227"/>
                <a:ext cx="4552978" cy="109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𝑆𝑎𝑣𝑖𝑛𝑔𝑠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𝑜𝑟𝑖𝑔𝑛𝑎𝑙𝑆𝑖𝑧𝑒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𝑒𝑛𝑐𝑜𝑑𝑒𝑑𝑆𝑖𝑧𝑒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𝑜𝑟𝑖𝑔𝑛𝑎𝑙𝑆𝑖𝑧𝑒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∗100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120−28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∗100=76%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𝑠𝑎𝑣𝑖𝑛𝑔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F83656D-AFF7-5D2C-C62B-889367EB6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017" y="5214227"/>
                <a:ext cx="4552978" cy="1094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89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E2A7-8164-003D-1D13-C99DBBC3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F122027A-1103-E25B-66DC-5059BB3EA607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D51C58D-B1BC-56CA-5BB1-0D893E47284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F181519-99CE-9759-E8E9-062B0874D9B7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4474B74B-64FA-3553-B519-58EC03F68E95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F373D737-5AD9-6483-A14C-B0DFF7941AD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7B49AD23-8A7F-71C9-075F-4BD7918B7EC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BA2B9ED4-95AC-3236-600A-3062673B878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5FB8909B-AE69-C8B2-AD69-ABA7DBBF65C8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E56B27B3-B8BD-C474-6873-7255FE2592C8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00AA0534-1E09-EF87-770E-5087EFE10B9A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6D76A4CE-2408-1012-86BF-26EEF891D7A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C6551345-2E0A-6A9C-622C-E7EABF20DEA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9F6ADE10-6F0C-C6DF-E6AB-7B4FA59A416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0D13BA2F-5772-C930-4CCC-68F819E080D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6579C899-D086-7AC9-AF09-E4F3F8A3129F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8271BBD3-FD77-08DE-476C-06FD03DE41C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792621DE-68F3-FDCD-F807-6EEF293C2F9C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AD2B263F-C9D5-F8DC-0D6F-F71664BA939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6E10311D-974B-5EF3-0AE4-450AF05CF35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3FE9ED3C-97D2-77B2-BF9A-F6F1D8D6085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E6769341-AA36-8214-4914-0960105827E7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F14E02B-C5AF-3203-D069-9D8D859AA24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CF227A09-4C8A-ADEF-234C-F95845A75A2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EE5B4E9F-18DC-C98E-571A-BF5D4AE1007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146FFE19-5638-82D4-188A-6F239FC2E78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FC3CC3C5-59BF-9A1B-59A8-A4FBD443417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3D8CB9D-52FF-E9CB-9B9E-2741C32AEAA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ED175FA-7800-115C-1CBF-27E786C6EC9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1D7D7B4-2688-578D-CF95-17A45824613A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072D1653-7554-F70B-639D-1794133FADC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A3E7CEA4-BF69-585E-A5E3-21C2A231F605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0E4E8D5-E3AD-8881-0421-39AFFD8418F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F89B4B52-8A0B-3CA8-4CF4-2E4A0E05D3E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6266C661-C880-6ADA-6FF9-94BA1AE093A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25965CCE-0DD7-05D4-10BB-AAE3C87918F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1566143-3742-C146-09B7-5AB3D6AACB6F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BEB06C90-25D9-4806-3CF0-CAF0DA7C93F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7D9E9E3-994F-8E25-861F-A5077E433E9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A4A2F5-B4AB-1A6E-F1FC-59A338B67FCE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E0870866-3698-B616-B721-EA95A992D70F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C6ADFD2-A5E0-42CC-9941-EAF1FE64CE4D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AA717AB-0E27-82B0-147F-C7F71D4E15A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56020CF-4DCF-6D2A-B2AB-9AA2882A396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62F4240-9CFC-7BBC-D687-4720859C3C22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9881842A-D801-5091-B799-A500097E0A0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5C55BB5-3F14-13E4-0AE0-9571461A865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2D96085-17CF-C1C7-C0BA-2946D58168B0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87A6760-2D74-A047-586F-872C3AFFF88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00FF5EE-9589-AF8E-4C7D-2ECBF8C028B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E7FD1FD-D0D3-4545-260B-D40A6B74C57A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7BC0591-D3A0-1762-345D-21B4ECA9F250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73FBF95-08F0-FBB3-9844-541E9A37360B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CB8C91C5-1C1F-6249-DCC7-E90E97A8FDF4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0FC10578-E0C6-4C72-E896-45C5514CDB3B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9BB88C35-ADD6-E371-E926-3C39B59DA96D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C6B762F-2925-BFE1-2B35-3B953E063A87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1FCFB04F-FE71-F182-D275-4760138CBF1E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DC83F84C-BACB-D4C3-21DC-CD96DC98F9E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7F9B47D-7AC5-C996-E23C-3CF9DD650C68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A4E216DF-DAD0-D735-5C38-590CE02635E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FAE5F0FE-C0AD-6E72-282F-1F5DCEC1410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92A7C034-D8EC-546A-C064-86B93B968CF8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83DCF5E2-BB3C-5717-F031-1993F24D1FD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171E3D9B-AE95-6BE5-B0A2-219ABBC8CED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5089FAFE-185C-D692-91EB-55DBC998EDA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6FEB0ACA-4B1F-227E-540F-78F74631831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0E23490-C8B8-398D-CF49-8897B990D66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C979F0D-3CB3-1142-0ACC-6E3A883459F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CE18F6A-E256-CEE5-900B-8C96838E01F6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7DDD9308-3D12-B8AE-7870-BF198C5DBA42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C4D3342-5446-94B3-5E2A-D59847F2121C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C46EDE6F-0452-499D-A70E-4BEA210E742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C23C4A3-96E0-A231-7C60-55E5988CD3C7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DF68A833-B910-9F68-6064-2418ECBF494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B0A9076-48DD-478A-11B7-7D940354846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Example Problem &amp;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8E498-DB75-CA6E-9EA7-93EF2D8C3A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E17C2-3259-76EE-13DB-3CC0A964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B3035FBF-5196-85A6-D99C-564D7238E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Image of ">
            <a:extLst>
              <a:ext uri="{FF2B5EF4-FFF2-40B4-BE49-F238E27FC236}">
                <a16:creationId xmlns:a16="http://schemas.microsoft.com/office/drawing/2014/main" id="{F5A2EF5A-5516-BBC6-0D60-B3C2A8CAE4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A18213B7-B331-08D4-5894-2F5AA04E6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038647-3D60-EE2E-D008-A9936EF4E75A}"/>
              </a:ext>
            </a:extLst>
          </p:cNvPr>
          <p:cNvSpPr txBox="1"/>
          <p:nvPr/>
        </p:nvSpPr>
        <p:spPr>
          <a:xfrm>
            <a:off x="164321" y="948013"/>
            <a:ext cx="11537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Question:</a:t>
            </a:r>
            <a:r>
              <a:rPr lang="en-IN" dirty="0"/>
              <a:t> Compress the string "WWWWWWWWWWWWBWWWWWWWWWWWWBBBWWWWWWWWWWWWWWWWWWWWWWWWB" using Run-Length Encoding.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FD670-9313-F860-C7CD-433B2BCD8067}"/>
              </a:ext>
            </a:extLst>
          </p:cNvPr>
          <p:cNvSpPr txBox="1"/>
          <p:nvPr/>
        </p:nvSpPr>
        <p:spPr>
          <a:xfrm>
            <a:off x="137132" y="1854875"/>
            <a:ext cx="6151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Solution:</a:t>
            </a:r>
            <a:endParaRPr lang="en-US" dirty="0"/>
          </a:p>
          <a:p>
            <a:pPr>
              <a:buNone/>
            </a:pPr>
            <a:r>
              <a:rPr lang="en-US" b="1" dirty="0"/>
              <a:t>Identify Consecutive Runs of Identical Characters: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first run is 'W' repeated 12 times.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next character is 'B', which appears once.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is followed by 'W' repeated 12 times.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Then 'B' appears 3 times.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Finally, 'W' appears 24 times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 single ‘B’ at last.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5EF92-03AE-5772-9A2C-36B1CC730E8C}"/>
              </a:ext>
            </a:extLst>
          </p:cNvPr>
          <p:cNvSpPr txBox="1"/>
          <p:nvPr/>
        </p:nvSpPr>
        <p:spPr>
          <a:xfrm>
            <a:off x="112805" y="4233350"/>
            <a:ext cx="6151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Encode the Runs:</a:t>
            </a:r>
          </a:p>
          <a:p>
            <a:r>
              <a:rPr lang="en-IN" dirty="0"/>
              <a:t>(W,12), (B,1), (W,1), (B,3), (W,24), (B,1)</a:t>
            </a:r>
          </a:p>
          <a:p>
            <a:r>
              <a:rPr lang="en-IN" dirty="0"/>
              <a:t>String – 8 bits</a:t>
            </a:r>
          </a:p>
          <a:p>
            <a:r>
              <a:rPr lang="en-IN" dirty="0"/>
              <a:t>Count – 8 bits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11515-057E-BEE5-F055-73C44A5303A5}"/>
              </a:ext>
            </a:extLst>
          </p:cNvPr>
          <p:cNvSpPr txBox="1"/>
          <p:nvPr/>
        </p:nvSpPr>
        <p:spPr>
          <a:xfrm>
            <a:off x="88479" y="5550090"/>
            <a:ext cx="615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Combine the Encoded Parts:</a:t>
            </a:r>
            <a:r>
              <a:rPr lang="en-US" dirty="0"/>
              <a:t> The final compressed string is </a:t>
            </a:r>
            <a:r>
              <a:rPr lang="en-US" b="1" dirty="0"/>
              <a:t>12W1B12W3B24W1B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0CBDB-7B60-F9DE-9E39-84CC652F7554}"/>
                  </a:ext>
                </a:extLst>
              </p:cNvPr>
              <p:cNvSpPr txBox="1"/>
              <p:nvPr/>
            </p:nvSpPr>
            <p:spPr>
              <a:xfrm>
                <a:off x="6400800" y="4916579"/>
                <a:ext cx="4552978" cy="1094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𝑆𝑎𝑣𝑖𝑛𝑔𝑠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𝑜𝑟𝑖𝑔𝑛𝑎𝑙𝑆𝑖𝑧𝑒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𝑒𝑛𝑐𝑜𝑑𝑒𝑑𝑆𝑖𝑧𝑒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𝑜𝑟𝑖𝑔𝑛𝑎𝑙𝑆𝑖𝑧𝑒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∗100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424−96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424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∗100=77.35%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𝑠𝑎𝑣𝑖𝑛𝑔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0CBDB-7B60-F9DE-9E39-84CC652F7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916579"/>
                <a:ext cx="4552978" cy="1094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531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1BDA-DDE1-09A5-2EC2-81A79C94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45BF19F1-B464-08D8-C4F1-ECAB26BBA056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4C15EB1-556B-4074-4269-798E324E1FF3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7BADEEA-52C7-695A-F76B-C4AA8A607E0E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5504116-66F7-7E59-ED5F-F9DF0A1AC37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82E2FF37-8B6C-3AE6-21C4-FBB8818868D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941C951-2708-8AD7-BAE0-00F76CAA289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2F481B31-1DEA-AC4A-DA30-5010C774F18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66FFEAEC-A2AF-24DC-01BC-5586CA5B07CD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863C0685-4623-B2B7-8822-A7276646E56E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C96A4869-BCF3-C59C-9DE6-F6161B3358F6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4BB52F14-1321-8DE7-EC91-F3D1AE7D549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B868063-4731-85EF-768E-650325462E59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545F2B7E-B27D-A4CD-EE9E-293FCC39051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D8C55BC5-E631-A701-D052-89A125A74D3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E3FBF99-5B6B-13AF-E770-AFCB8C400B9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D76C8815-FCC1-B794-FA6E-2C9E129A508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928DFBAC-F7CD-C9E6-C4C2-516750378C0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02DC84E-F130-7FD3-F869-42FDA9EF7FA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BE6845E0-8C7A-7211-03A0-0F8A1FF8833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B018367-6DAF-C4A3-8871-BF1716CDF197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DEF6AFD-701B-B2A8-FE13-B8030BE1CBB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0CDC465B-DC5A-9983-A7A3-B5617EF1F72E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022FDCB-EE06-820A-5C8D-643452F8D891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5EEA1CA6-04EC-2D6A-8988-85416D4CB979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56D62874-3E83-CCA4-41B6-EF634AE12B9E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2E8852B-1868-5A0D-782A-7DC56A5351A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7E398EE6-A44B-9FC1-0263-869A8578C43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3A089E2-388D-604D-A703-0CB77F2D27F8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676C383-1BCD-933D-3F4F-AE57A7A871E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4B7CC032-689B-48CB-6BCF-5F41C7D7BC3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606959F-249F-4BB0-66DE-5149D6BDCF8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8463AF09-0AC8-B18F-624F-B30895544B0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CF15838-F0FA-EDD2-A3E2-2DEB61CC8A6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7CF1B0EA-B88A-0C26-3269-935CAFD890DD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0D51C714-9564-1A49-DB0E-A93620812FDD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6139FE2-A56C-E73D-E33F-6E9CE40EE0B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1953A8B8-5EBD-A0A6-AC22-787CFBACA1E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3170989-0A5F-7302-90ED-F224291D936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600FBD4-8878-1FF2-067E-4C4C2245ABD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27DCFDE-DBD4-F4EC-1D3B-CECBE5A7B7C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5E0B421-510C-9EC3-3C56-169835229EC2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881FA626-1E3F-4896-C406-4B6643E1845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03B74D68-5481-6841-9A20-BDB840AA534E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54D59555-293A-7831-CC55-EEE592F293E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C9B637C-5582-F949-19B3-CD99437C45D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ED88633-9D9C-BF78-8967-809C9410690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D90901DF-3484-DC1A-C88F-376D9281EFC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40700A8C-3673-1651-E24C-AEA13F6E18E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F6447DE6-71FF-C383-2BB1-FDE62BC2674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6A42E5A9-3528-D1D4-EAC1-1BB863DAF35E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D20A4FD0-7EE0-EEAA-E577-FFC3CF5AA23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3F7D40DD-66EC-6DCD-4CF5-17E65566BEB7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7E3E5FF-D4E4-674F-55A1-70A03DE07620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244F79F8-E1B6-A299-CD7D-620249034AF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EA8B64F6-A3F3-9B3B-7294-92775FF162FC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56EB629-C898-D23A-AFB6-F2E72D17D72D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14A3F05-2415-4CCC-B124-E460E48CD222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D6EB741-D88E-2E9F-CA56-7984C1C7DAD7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D0423EF-F16F-FE27-63AF-B1ECAE6FB3A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0736B3BD-410D-7013-5FA7-27972740B7B3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0034876-AF0F-EF45-F0EB-0C12F48C91E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82543643-2591-2321-14BD-ABD314250C2F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78A0FBD-816B-77BC-6082-6AD8AA0FEC0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71D65045-3159-3E75-52A3-C8918B5B38A8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383AADCB-9781-EB04-DB08-A0A49C5541DA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CF3E5601-8EDD-C452-BBB8-4D2FC8D72A8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D98A986-2265-1A3D-A583-80F8D34D021C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B1AB90B4-C101-D6A8-92BB-6A7E0502F442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24EB6EDD-3B0D-E743-D775-BBA895354F1A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8AA70F2-30EF-5965-4855-5F8B50BD6A7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3F6A9E6-FB76-DCD1-75FF-7A47988E7B4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1F44C9A5-BB06-0245-EBDC-F2C185F1FCFA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3B86B247-E728-3608-E97B-2BF9782CEB3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30D68038-F8BB-A55A-542B-977ED961897D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8766B89-13EE-4A68-F560-463D05933735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B01D5-F41D-4E48-EF56-53612011F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F5488-1AF0-039F-C05C-EB3486E7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EF2D8FB-63CF-10C2-FF66-5A92284B95C7}"/>
              </a:ext>
            </a:extLst>
          </p:cNvPr>
          <p:cNvGrpSpPr/>
          <p:nvPr/>
        </p:nvGrpSpPr>
        <p:grpSpPr>
          <a:xfrm>
            <a:off x="571500" y="771525"/>
            <a:ext cx="11049000" cy="895350"/>
            <a:chOff x="571499" y="1238249"/>
            <a:chExt cx="11049000" cy="895350"/>
          </a:xfrm>
        </p:grpSpPr>
        <p:sp>
          <p:nvSpPr>
            <p:cNvPr id="38" name="object 3">
              <a:extLst>
                <a:ext uri="{FF2B5EF4-FFF2-40B4-BE49-F238E27FC236}">
                  <a16:creationId xmlns:a16="http://schemas.microsoft.com/office/drawing/2014/main" id="{DEC78EFC-5DE3-29F4-1F4E-38393403C56D}"/>
                </a:ext>
              </a:extLst>
            </p:cNvPr>
            <p:cNvSpPr/>
            <p:nvPr/>
          </p:nvSpPr>
          <p:spPr>
            <a:xfrm>
              <a:off x="590549" y="1238249"/>
              <a:ext cx="11029950" cy="895350"/>
            </a:xfrm>
            <a:custGeom>
              <a:avLst/>
              <a:gdLst/>
              <a:ahLst/>
              <a:cxnLst/>
              <a:rect l="l" t="t" r="r" b="b"/>
              <a:pathLst>
                <a:path w="11029950" h="895350">
                  <a:moveTo>
                    <a:pt x="10988638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854040"/>
                  </a:lnTo>
                  <a:lnTo>
                    <a:pt x="11006383" y="889307"/>
                  </a:lnTo>
                  <a:lnTo>
                    <a:pt x="10988638" y="8953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9" name="object 4">
              <a:extLst>
                <a:ext uri="{FF2B5EF4-FFF2-40B4-BE49-F238E27FC236}">
                  <a16:creationId xmlns:a16="http://schemas.microsoft.com/office/drawing/2014/main" id="{DE25DDBD-1EF5-24AB-3AE0-E6C51581EDD5}"/>
                </a:ext>
              </a:extLst>
            </p:cNvPr>
            <p:cNvSpPr/>
            <p:nvPr/>
          </p:nvSpPr>
          <p:spPr>
            <a:xfrm>
              <a:off x="571499" y="1238249"/>
              <a:ext cx="38100" cy="895350"/>
            </a:xfrm>
            <a:custGeom>
              <a:avLst/>
              <a:gdLst/>
              <a:ahLst/>
              <a:cxnLst/>
              <a:rect l="l" t="t" r="r" b="b"/>
              <a:pathLst>
                <a:path w="38100" h="895350">
                  <a:moveTo>
                    <a:pt x="3809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9534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6" name="object 9">
            <a:extLst>
              <a:ext uri="{FF2B5EF4-FFF2-40B4-BE49-F238E27FC236}">
                <a16:creationId xmlns:a16="http://schemas.microsoft.com/office/drawing/2014/main" id="{40295E11-958E-623F-54B8-FBE7693DCA7D}"/>
              </a:ext>
            </a:extLst>
          </p:cNvPr>
          <p:cNvSpPr txBox="1"/>
          <p:nvPr/>
        </p:nvSpPr>
        <p:spPr>
          <a:xfrm>
            <a:off x="787400" y="920751"/>
            <a:ext cx="637857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333333"/>
                </a:solidFill>
                <a:latin typeface="Segoe UI Semibold"/>
                <a:cs typeface="Segoe UI Semibold"/>
              </a:rPr>
              <a:t>Real-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World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Uses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of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Techniques</a:t>
            </a:r>
            <a:endParaRPr sz="15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techniques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vital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scenarios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integrity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critical.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8" name="object 10">
            <a:extLst>
              <a:ext uri="{FF2B5EF4-FFF2-40B4-BE49-F238E27FC236}">
                <a16:creationId xmlns:a16="http://schemas.microsoft.com/office/drawing/2014/main" id="{61EAB86A-00DE-65C6-5850-6EEB3F0DB27B}"/>
              </a:ext>
            </a:extLst>
          </p:cNvPr>
          <p:cNvGrpSpPr/>
          <p:nvPr/>
        </p:nvGrpSpPr>
        <p:grpSpPr>
          <a:xfrm>
            <a:off x="571500" y="1895475"/>
            <a:ext cx="3533775" cy="1981200"/>
            <a:chOff x="571499" y="2362199"/>
            <a:chExt cx="3533775" cy="1981200"/>
          </a:xfrm>
        </p:grpSpPr>
        <p:sp>
          <p:nvSpPr>
            <p:cNvPr id="35" name="object 11">
              <a:extLst>
                <a:ext uri="{FF2B5EF4-FFF2-40B4-BE49-F238E27FC236}">
                  <a16:creationId xmlns:a16="http://schemas.microsoft.com/office/drawing/2014/main" id="{B3F6C02F-B15C-A0D1-897C-B99481685EDA}"/>
                </a:ext>
              </a:extLst>
            </p:cNvPr>
            <p:cNvSpPr/>
            <p:nvPr/>
          </p:nvSpPr>
          <p:spPr>
            <a:xfrm>
              <a:off x="571499" y="2362199"/>
              <a:ext cx="3533775" cy="1981200"/>
            </a:xfrm>
            <a:custGeom>
              <a:avLst/>
              <a:gdLst/>
              <a:ahLst/>
              <a:cxnLst/>
              <a:rect l="l" t="t" r="r" b="b"/>
              <a:pathLst>
                <a:path w="3533775" h="1981200">
                  <a:moveTo>
                    <a:pt x="3462577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7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62577" y="0"/>
                  </a:lnTo>
                  <a:lnTo>
                    <a:pt x="3504069" y="15621"/>
                  </a:lnTo>
                  <a:lnTo>
                    <a:pt x="3529888" y="51661"/>
                  </a:lnTo>
                  <a:lnTo>
                    <a:pt x="3533774" y="71196"/>
                  </a:lnTo>
                  <a:lnTo>
                    <a:pt x="3533774" y="1910003"/>
                  </a:lnTo>
                  <a:lnTo>
                    <a:pt x="3518152" y="1951494"/>
                  </a:lnTo>
                  <a:lnTo>
                    <a:pt x="3482112" y="1977313"/>
                  </a:lnTo>
                  <a:lnTo>
                    <a:pt x="3467533" y="1980711"/>
                  </a:lnTo>
                  <a:lnTo>
                    <a:pt x="3462577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FD4F9C45-816F-CD1A-A6A4-D6DD73D476EA}"/>
                </a:ext>
              </a:extLst>
            </p:cNvPr>
            <p:cNvSpPr/>
            <p:nvPr/>
          </p:nvSpPr>
          <p:spPr>
            <a:xfrm>
              <a:off x="2047874" y="25050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7" name="object 13">
              <a:extLst>
                <a:ext uri="{FF2B5EF4-FFF2-40B4-BE49-F238E27FC236}">
                  <a16:creationId xmlns:a16="http://schemas.microsoft.com/office/drawing/2014/main" id="{4946CFFB-A8EC-9EC2-4EDD-460783163317}"/>
                </a:ext>
              </a:extLst>
            </p:cNvPr>
            <p:cNvSpPr/>
            <p:nvPr/>
          </p:nvSpPr>
          <p:spPr>
            <a:xfrm>
              <a:off x="2209799" y="2619374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214312" y="342899"/>
                  </a:moveTo>
                  <a:lnTo>
                    <a:pt x="42862" y="342899"/>
                  </a:lnTo>
                  <a:lnTo>
                    <a:pt x="26191" y="339527"/>
                  </a:lnTo>
                  <a:lnTo>
                    <a:pt x="12565" y="330334"/>
                  </a:lnTo>
                  <a:lnTo>
                    <a:pt x="3372" y="316708"/>
                  </a:lnTo>
                  <a:lnTo>
                    <a:pt x="0" y="300037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150018" y="0"/>
                  </a:lnTo>
                  <a:lnTo>
                    <a:pt x="150018" y="21431"/>
                  </a:lnTo>
                  <a:lnTo>
                    <a:pt x="69115" y="21431"/>
                  </a:lnTo>
                  <a:lnTo>
                    <a:pt x="64355" y="26191"/>
                  </a:lnTo>
                  <a:lnTo>
                    <a:pt x="64293" y="38040"/>
                  </a:lnTo>
                  <a:lnTo>
                    <a:pt x="69115" y="42862"/>
                  </a:lnTo>
                  <a:lnTo>
                    <a:pt x="150018" y="42862"/>
                  </a:lnTo>
                  <a:lnTo>
                    <a:pt x="150018" y="64293"/>
                  </a:lnTo>
                  <a:lnTo>
                    <a:pt x="69115" y="64293"/>
                  </a:lnTo>
                  <a:lnTo>
                    <a:pt x="64293" y="69115"/>
                  </a:lnTo>
                  <a:lnTo>
                    <a:pt x="64293" y="80902"/>
                  </a:lnTo>
                  <a:lnTo>
                    <a:pt x="69115" y="85724"/>
                  </a:lnTo>
                  <a:lnTo>
                    <a:pt x="150018" y="85724"/>
                  </a:lnTo>
                  <a:lnTo>
                    <a:pt x="151700" y="94074"/>
                  </a:lnTo>
                  <a:lnTo>
                    <a:pt x="156289" y="100885"/>
                  </a:lnTo>
                  <a:lnTo>
                    <a:pt x="163100" y="105474"/>
                  </a:lnTo>
                  <a:lnTo>
                    <a:pt x="171449" y="107156"/>
                  </a:lnTo>
                  <a:lnTo>
                    <a:pt x="69115" y="107156"/>
                  </a:lnTo>
                  <a:lnTo>
                    <a:pt x="64293" y="111978"/>
                  </a:lnTo>
                  <a:lnTo>
                    <a:pt x="64293" y="123765"/>
                  </a:lnTo>
                  <a:lnTo>
                    <a:pt x="69115" y="128587"/>
                  </a:lnTo>
                  <a:lnTo>
                    <a:pt x="257174" y="128587"/>
                  </a:lnTo>
                  <a:lnTo>
                    <a:pt x="257174" y="150018"/>
                  </a:lnTo>
                  <a:lnTo>
                    <a:pt x="80769" y="150018"/>
                  </a:lnTo>
                  <a:lnTo>
                    <a:pt x="73843" y="151181"/>
                  </a:lnTo>
                  <a:lnTo>
                    <a:pt x="67755" y="154447"/>
                  </a:lnTo>
                  <a:lnTo>
                    <a:pt x="63014" y="159483"/>
                  </a:lnTo>
                  <a:lnTo>
                    <a:pt x="60074" y="165958"/>
                  </a:lnTo>
                  <a:lnTo>
                    <a:pt x="59940" y="165958"/>
                  </a:lnTo>
                  <a:lnTo>
                    <a:pt x="43264" y="228577"/>
                  </a:lnTo>
                  <a:lnTo>
                    <a:pt x="42795" y="232328"/>
                  </a:lnTo>
                  <a:lnTo>
                    <a:pt x="42795" y="236011"/>
                  </a:lnTo>
                  <a:lnTo>
                    <a:pt x="46177" y="252622"/>
                  </a:lnTo>
                  <a:lnTo>
                    <a:pt x="55386" y="266182"/>
                  </a:lnTo>
                  <a:lnTo>
                    <a:pt x="69015" y="275322"/>
                  </a:lnTo>
                  <a:lnTo>
                    <a:pt x="85658" y="278673"/>
                  </a:lnTo>
                  <a:lnTo>
                    <a:pt x="257174" y="278673"/>
                  </a:lnTo>
                  <a:lnTo>
                    <a:pt x="257174" y="300037"/>
                  </a:lnTo>
                  <a:lnTo>
                    <a:pt x="253802" y="316708"/>
                  </a:lnTo>
                  <a:lnTo>
                    <a:pt x="244609" y="330334"/>
                  </a:lnTo>
                  <a:lnTo>
                    <a:pt x="230983" y="339527"/>
                  </a:lnTo>
                  <a:lnTo>
                    <a:pt x="214312" y="342899"/>
                  </a:lnTo>
                  <a:close/>
                </a:path>
                <a:path w="257175" h="342900">
                  <a:moveTo>
                    <a:pt x="257174" y="85724"/>
                  </a:moveTo>
                  <a:lnTo>
                    <a:pt x="171449" y="85724"/>
                  </a:lnTo>
                  <a:lnTo>
                    <a:pt x="171449" y="0"/>
                  </a:lnTo>
                  <a:lnTo>
                    <a:pt x="257174" y="85724"/>
                  </a:lnTo>
                  <a:close/>
                </a:path>
                <a:path w="257175" h="342900">
                  <a:moveTo>
                    <a:pt x="150018" y="42862"/>
                  </a:moveTo>
                  <a:lnTo>
                    <a:pt x="102334" y="42862"/>
                  </a:lnTo>
                  <a:lnTo>
                    <a:pt x="107156" y="38040"/>
                  </a:lnTo>
                  <a:lnTo>
                    <a:pt x="107094" y="26191"/>
                  </a:lnTo>
                  <a:lnTo>
                    <a:pt x="102334" y="21431"/>
                  </a:lnTo>
                  <a:lnTo>
                    <a:pt x="150018" y="21431"/>
                  </a:lnTo>
                  <a:lnTo>
                    <a:pt x="150018" y="42862"/>
                  </a:lnTo>
                  <a:close/>
                </a:path>
                <a:path w="257175" h="342900">
                  <a:moveTo>
                    <a:pt x="150018" y="85724"/>
                  </a:moveTo>
                  <a:lnTo>
                    <a:pt x="102334" y="85724"/>
                  </a:lnTo>
                  <a:lnTo>
                    <a:pt x="107156" y="80902"/>
                  </a:lnTo>
                  <a:lnTo>
                    <a:pt x="107156" y="69115"/>
                  </a:lnTo>
                  <a:lnTo>
                    <a:pt x="102334" y="64293"/>
                  </a:lnTo>
                  <a:lnTo>
                    <a:pt x="150018" y="64293"/>
                  </a:lnTo>
                  <a:lnTo>
                    <a:pt x="150018" y="85724"/>
                  </a:lnTo>
                  <a:close/>
                </a:path>
                <a:path w="257175" h="342900">
                  <a:moveTo>
                    <a:pt x="257174" y="128587"/>
                  </a:moveTo>
                  <a:lnTo>
                    <a:pt x="102334" y="128587"/>
                  </a:lnTo>
                  <a:lnTo>
                    <a:pt x="107156" y="123765"/>
                  </a:lnTo>
                  <a:lnTo>
                    <a:pt x="107156" y="111978"/>
                  </a:lnTo>
                  <a:lnTo>
                    <a:pt x="102334" y="107156"/>
                  </a:lnTo>
                  <a:lnTo>
                    <a:pt x="257174" y="107156"/>
                  </a:lnTo>
                  <a:lnTo>
                    <a:pt x="257174" y="128587"/>
                  </a:lnTo>
                  <a:close/>
                </a:path>
                <a:path w="257175" h="342900">
                  <a:moveTo>
                    <a:pt x="257174" y="278673"/>
                  </a:moveTo>
                  <a:lnTo>
                    <a:pt x="85658" y="278673"/>
                  </a:lnTo>
                  <a:lnTo>
                    <a:pt x="102300" y="275322"/>
                  </a:lnTo>
                  <a:lnTo>
                    <a:pt x="115929" y="266182"/>
                  </a:lnTo>
                  <a:lnTo>
                    <a:pt x="125138" y="252622"/>
                  </a:lnTo>
                  <a:lnTo>
                    <a:pt x="128520" y="236011"/>
                  </a:lnTo>
                  <a:lnTo>
                    <a:pt x="128520" y="232328"/>
                  </a:lnTo>
                  <a:lnTo>
                    <a:pt x="111375" y="165958"/>
                  </a:lnTo>
                  <a:lnTo>
                    <a:pt x="90680" y="150018"/>
                  </a:lnTo>
                  <a:lnTo>
                    <a:pt x="257174" y="150018"/>
                  </a:lnTo>
                  <a:lnTo>
                    <a:pt x="257174" y="278673"/>
                  </a:lnTo>
                  <a:close/>
                </a:path>
                <a:path w="257175" h="342900">
                  <a:moveTo>
                    <a:pt x="102334" y="246459"/>
                  </a:moveTo>
                  <a:lnTo>
                    <a:pt x="69115" y="246459"/>
                  </a:lnTo>
                  <a:lnTo>
                    <a:pt x="64293" y="241637"/>
                  </a:lnTo>
                  <a:lnTo>
                    <a:pt x="64293" y="229850"/>
                  </a:lnTo>
                  <a:lnTo>
                    <a:pt x="69115" y="225028"/>
                  </a:lnTo>
                  <a:lnTo>
                    <a:pt x="102334" y="225028"/>
                  </a:lnTo>
                  <a:lnTo>
                    <a:pt x="107156" y="229850"/>
                  </a:lnTo>
                  <a:lnTo>
                    <a:pt x="107156" y="241637"/>
                  </a:lnTo>
                  <a:lnTo>
                    <a:pt x="102334" y="24645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sp>
        <p:nvSpPr>
          <p:cNvPr id="9" name="object 14">
            <a:extLst>
              <a:ext uri="{FF2B5EF4-FFF2-40B4-BE49-F238E27FC236}">
                <a16:creationId xmlns:a16="http://schemas.microsoft.com/office/drawing/2014/main" id="{27B5EE8E-74BC-B971-0356-1DE00BE9322E}"/>
              </a:ext>
            </a:extLst>
          </p:cNvPr>
          <p:cNvSpPr txBox="1"/>
          <p:nvPr/>
        </p:nvSpPr>
        <p:spPr>
          <a:xfrm>
            <a:off x="719981" y="2711451"/>
            <a:ext cx="3234055" cy="746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File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Archiving</a:t>
            </a:r>
            <a:endParaRPr sz="1500" dirty="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ZIP,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RAR,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archive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formats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variants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IN" sz="1200" dirty="0">
                <a:solidFill>
                  <a:srgbClr val="333333"/>
                </a:solidFill>
                <a:latin typeface="Segoe UI"/>
                <a:cs typeface="Segoe UI"/>
              </a:rPr>
              <a:t>RLE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compress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without data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loss</a:t>
            </a:r>
            <a:endParaRPr sz="1200" dirty="0">
              <a:latin typeface="Segoe UI"/>
              <a:cs typeface="Segoe UI"/>
            </a:endParaRPr>
          </a:p>
        </p:txBody>
      </p:sp>
      <p:grpSp>
        <p:nvGrpSpPr>
          <p:cNvPr id="10" name="object 15">
            <a:extLst>
              <a:ext uri="{FF2B5EF4-FFF2-40B4-BE49-F238E27FC236}">
                <a16:creationId xmlns:a16="http://schemas.microsoft.com/office/drawing/2014/main" id="{B5DE7452-D2A6-93AA-12A2-7E8329372A6F}"/>
              </a:ext>
            </a:extLst>
          </p:cNvPr>
          <p:cNvGrpSpPr/>
          <p:nvPr/>
        </p:nvGrpSpPr>
        <p:grpSpPr>
          <a:xfrm>
            <a:off x="4333875" y="1895475"/>
            <a:ext cx="3524250" cy="1981200"/>
            <a:chOff x="4333874" y="2362199"/>
            <a:chExt cx="3524250" cy="1981200"/>
          </a:xfrm>
        </p:grpSpPr>
        <p:sp>
          <p:nvSpPr>
            <p:cNvPr id="32" name="object 16">
              <a:extLst>
                <a:ext uri="{FF2B5EF4-FFF2-40B4-BE49-F238E27FC236}">
                  <a16:creationId xmlns:a16="http://schemas.microsoft.com/office/drawing/2014/main" id="{6862A134-DB4E-F309-531B-8BC1493C4743}"/>
                </a:ext>
              </a:extLst>
            </p:cNvPr>
            <p:cNvSpPr/>
            <p:nvPr/>
          </p:nvSpPr>
          <p:spPr>
            <a:xfrm>
              <a:off x="4333874" y="2362199"/>
              <a:ext cx="3524250" cy="1981200"/>
            </a:xfrm>
            <a:custGeom>
              <a:avLst/>
              <a:gdLst/>
              <a:ahLst/>
              <a:cxnLst/>
              <a:rect l="l" t="t" r="r" b="b"/>
              <a:pathLst>
                <a:path w="3524250" h="1981200">
                  <a:moveTo>
                    <a:pt x="3453052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7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53052" y="0"/>
                  </a:lnTo>
                  <a:lnTo>
                    <a:pt x="3494543" y="15621"/>
                  </a:lnTo>
                  <a:lnTo>
                    <a:pt x="3520363" y="51661"/>
                  </a:lnTo>
                  <a:lnTo>
                    <a:pt x="3524249" y="71196"/>
                  </a:lnTo>
                  <a:lnTo>
                    <a:pt x="3524249" y="1910003"/>
                  </a:lnTo>
                  <a:lnTo>
                    <a:pt x="3508627" y="1951494"/>
                  </a:lnTo>
                  <a:lnTo>
                    <a:pt x="3472586" y="1977313"/>
                  </a:lnTo>
                  <a:lnTo>
                    <a:pt x="3458007" y="1980711"/>
                  </a:lnTo>
                  <a:lnTo>
                    <a:pt x="3453052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3" name="object 17">
              <a:extLst>
                <a:ext uri="{FF2B5EF4-FFF2-40B4-BE49-F238E27FC236}">
                  <a16:creationId xmlns:a16="http://schemas.microsoft.com/office/drawing/2014/main" id="{02F3E703-85D0-86F3-EB31-6C4BE068C92B}"/>
                </a:ext>
              </a:extLst>
            </p:cNvPr>
            <p:cNvSpPr/>
            <p:nvPr/>
          </p:nvSpPr>
          <p:spPr>
            <a:xfrm>
              <a:off x="5810249" y="25050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7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817D0D38-8791-8D0D-58A8-7BDF5CCD3422}"/>
                </a:ext>
              </a:extLst>
            </p:cNvPr>
            <p:cNvSpPr/>
            <p:nvPr/>
          </p:nvSpPr>
          <p:spPr>
            <a:xfrm>
              <a:off x="5924549" y="2640806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00037" y="300037"/>
                  </a:moveTo>
                  <a:lnTo>
                    <a:pt x="42862" y="300037"/>
                  </a:lnTo>
                  <a:lnTo>
                    <a:pt x="26191" y="296664"/>
                  </a:lnTo>
                  <a:lnTo>
                    <a:pt x="12565" y="287471"/>
                  </a:lnTo>
                  <a:lnTo>
                    <a:pt x="3372" y="273845"/>
                  </a:lnTo>
                  <a:lnTo>
                    <a:pt x="0" y="257174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00037" y="0"/>
                  </a:lnTo>
                  <a:lnTo>
                    <a:pt x="316708" y="3372"/>
                  </a:lnTo>
                  <a:lnTo>
                    <a:pt x="330334" y="12565"/>
                  </a:lnTo>
                  <a:lnTo>
                    <a:pt x="339527" y="26191"/>
                  </a:lnTo>
                  <a:lnTo>
                    <a:pt x="342899" y="42862"/>
                  </a:lnTo>
                  <a:lnTo>
                    <a:pt x="70746" y="42862"/>
                  </a:lnTo>
                  <a:lnTo>
                    <a:pt x="66645" y="43678"/>
                  </a:lnTo>
                  <a:lnTo>
                    <a:pt x="42862" y="70746"/>
                  </a:lnTo>
                  <a:lnTo>
                    <a:pt x="42862" y="79272"/>
                  </a:lnTo>
                  <a:lnTo>
                    <a:pt x="70746" y="107156"/>
                  </a:lnTo>
                  <a:lnTo>
                    <a:pt x="198306" y="107156"/>
                  </a:lnTo>
                  <a:lnTo>
                    <a:pt x="193283" y="109768"/>
                  </a:lnTo>
                  <a:lnTo>
                    <a:pt x="190336" y="114188"/>
                  </a:lnTo>
                  <a:lnTo>
                    <a:pt x="151294" y="171449"/>
                  </a:lnTo>
                  <a:lnTo>
                    <a:pt x="96976" y="171449"/>
                  </a:lnTo>
                  <a:lnTo>
                    <a:pt x="92288" y="173660"/>
                  </a:lnTo>
                  <a:lnTo>
                    <a:pt x="89274" y="177477"/>
                  </a:lnTo>
                  <a:lnTo>
                    <a:pt x="42527" y="235877"/>
                  </a:lnTo>
                  <a:lnTo>
                    <a:pt x="41790" y="242507"/>
                  </a:lnTo>
                  <a:lnTo>
                    <a:pt x="47148" y="253625"/>
                  </a:lnTo>
                  <a:lnTo>
                    <a:pt x="52774" y="257174"/>
                  </a:lnTo>
                  <a:lnTo>
                    <a:pt x="342899" y="257174"/>
                  </a:lnTo>
                  <a:lnTo>
                    <a:pt x="339527" y="273845"/>
                  </a:lnTo>
                  <a:lnTo>
                    <a:pt x="330334" y="287471"/>
                  </a:lnTo>
                  <a:lnTo>
                    <a:pt x="316708" y="296664"/>
                  </a:lnTo>
                  <a:lnTo>
                    <a:pt x="300037" y="300037"/>
                  </a:lnTo>
                  <a:close/>
                </a:path>
                <a:path w="342900" h="300355">
                  <a:moveTo>
                    <a:pt x="342899" y="257174"/>
                  </a:moveTo>
                  <a:lnTo>
                    <a:pt x="289924" y="257174"/>
                  </a:lnTo>
                  <a:lnTo>
                    <a:pt x="295416" y="253893"/>
                  </a:lnTo>
                  <a:lnTo>
                    <a:pt x="300908" y="243311"/>
                  </a:lnTo>
                  <a:lnTo>
                    <a:pt x="300573" y="236949"/>
                  </a:lnTo>
                  <a:lnTo>
                    <a:pt x="213843" y="109768"/>
                  </a:lnTo>
                  <a:lnTo>
                    <a:pt x="208887" y="107156"/>
                  </a:lnTo>
                  <a:lnTo>
                    <a:pt x="79272" y="107156"/>
                  </a:lnTo>
                  <a:lnTo>
                    <a:pt x="83372" y="106340"/>
                  </a:lnTo>
                  <a:lnTo>
                    <a:pt x="107156" y="79272"/>
                  </a:lnTo>
                  <a:lnTo>
                    <a:pt x="107156" y="70746"/>
                  </a:lnTo>
                  <a:lnTo>
                    <a:pt x="79272" y="42862"/>
                  </a:lnTo>
                  <a:lnTo>
                    <a:pt x="342899" y="42862"/>
                  </a:lnTo>
                  <a:lnTo>
                    <a:pt x="342899" y="257174"/>
                  </a:lnTo>
                  <a:close/>
                </a:path>
                <a:path w="342900" h="300355">
                  <a:moveTo>
                    <a:pt x="132070" y="199645"/>
                  </a:moveTo>
                  <a:lnTo>
                    <a:pt x="111241" y="173660"/>
                  </a:lnTo>
                  <a:lnTo>
                    <a:pt x="106620" y="171449"/>
                  </a:lnTo>
                  <a:lnTo>
                    <a:pt x="151294" y="171449"/>
                  </a:lnTo>
                  <a:lnTo>
                    <a:pt x="132070" y="199645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1" name="object 19">
            <a:extLst>
              <a:ext uri="{FF2B5EF4-FFF2-40B4-BE49-F238E27FC236}">
                <a16:creationId xmlns:a16="http://schemas.microsoft.com/office/drawing/2014/main" id="{22368AE0-C5DC-9AEA-F94D-A0DE6D7EFA9B}"/>
              </a:ext>
            </a:extLst>
          </p:cNvPr>
          <p:cNvSpPr txBox="1"/>
          <p:nvPr/>
        </p:nvSpPr>
        <p:spPr>
          <a:xfrm>
            <a:off x="4580136" y="2711451"/>
            <a:ext cx="303212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Image</a:t>
            </a:r>
            <a:r>
              <a:rPr sz="15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Formats</a:t>
            </a:r>
            <a:endParaRPr sz="150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PNG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GIF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formats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techniques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(LZW) for graphics</a:t>
            </a:r>
            <a:r>
              <a:rPr sz="12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requiring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perfect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359"/>
              </a:spcBef>
            </a:pP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reproduction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" name="object 20">
            <a:extLst>
              <a:ext uri="{FF2B5EF4-FFF2-40B4-BE49-F238E27FC236}">
                <a16:creationId xmlns:a16="http://schemas.microsoft.com/office/drawing/2014/main" id="{B90E89ED-FFEF-C3D3-A637-3271879A0961}"/>
              </a:ext>
            </a:extLst>
          </p:cNvPr>
          <p:cNvGrpSpPr/>
          <p:nvPr/>
        </p:nvGrpSpPr>
        <p:grpSpPr>
          <a:xfrm>
            <a:off x="8086724" y="1895475"/>
            <a:ext cx="3533775" cy="1981200"/>
            <a:chOff x="8086723" y="2362199"/>
            <a:chExt cx="3533775" cy="1981200"/>
          </a:xfrm>
        </p:grpSpPr>
        <p:sp>
          <p:nvSpPr>
            <p:cNvPr id="29" name="object 21">
              <a:extLst>
                <a:ext uri="{FF2B5EF4-FFF2-40B4-BE49-F238E27FC236}">
                  <a16:creationId xmlns:a16="http://schemas.microsoft.com/office/drawing/2014/main" id="{7958ED32-53FC-35DF-8BF4-F53821981AAF}"/>
                </a:ext>
              </a:extLst>
            </p:cNvPr>
            <p:cNvSpPr/>
            <p:nvPr/>
          </p:nvSpPr>
          <p:spPr>
            <a:xfrm>
              <a:off x="8086723" y="2362199"/>
              <a:ext cx="3533775" cy="1981200"/>
            </a:xfrm>
            <a:custGeom>
              <a:avLst/>
              <a:gdLst/>
              <a:ahLst/>
              <a:cxnLst/>
              <a:rect l="l" t="t" r="r" b="b"/>
              <a:pathLst>
                <a:path w="3533775" h="1981200">
                  <a:moveTo>
                    <a:pt x="3462578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7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62578" y="0"/>
                  </a:lnTo>
                  <a:lnTo>
                    <a:pt x="3504070" y="15621"/>
                  </a:lnTo>
                  <a:lnTo>
                    <a:pt x="3529888" y="51661"/>
                  </a:lnTo>
                  <a:lnTo>
                    <a:pt x="3533775" y="71196"/>
                  </a:lnTo>
                  <a:lnTo>
                    <a:pt x="3533775" y="1910003"/>
                  </a:lnTo>
                  <a:lnTo>
                    <a:pt x="3518154" y="1951494"/>
                  </a:lnTo>
                  <a:lnTo>
                    <a:pt x="3482112" y="1977313"/>
                  </a:lnTo>
                  <a:lnTo>
                    <a:pt x="3467532" y="1980711"/>
                  </a:lnTo>
                  <a:lnTo>
                    <a:pt x="3462578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0" name="object 22">
              <a:extLst>
                <a:ext uri="{FF2B5EF4-FFF2-40B4-BE49-F238E27FC236}">
                  <a16:creationId xmlns:a16="http://schemas.microsoft.com/office/drawing/2014/main" id="{E902211E-2B88-0F89-83F4-CCA5DC172D0A}"/>
                </a:ext>
              </a:extLst>
            </p:cNvPr>
            <p:cNvSpPr/>
            <p:nvPr/>
          </p:nvSpPr>
          <p:spPr>
            <a:xfrm>
              <a:off x="9572623" y="25050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0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7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C74594D9-CEA3-8CAB-962D-6B3B92FDA26C}"/>
                </a:ext>
              </a:extLst>
            </p:cNvPr>
            <p:cNvSpPr/>
            <p:nvPr/>
          </p:nvSpPr>
          <p:spPr>
            <a:xfrm>
              <a:off x="9705974" y="26193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150018" y="139303"/>
                  </a:moveTo>
                  <a:lnTo>
                    <a:pt x="91628" y="135094"/>
                  </a:lnTo>
                  <a:lnTo>
                    <a:pt x="43942" y="123614"/>
                  </a:lnTo>
                  <a:lnTo>
                    <a:pt x="11790" y="106584"/>
                  </a:lnTo>
                  <a:lnTo>
                    <a:pt x="0" y="85724"/>
                  </a:lnTo>
                  <a:lnTo>
                    <a:pt x="0" y="53578"/>
                  </a:lnTo>
                  <a:lnTo>
                    <a:pt x="11790" y="32718"/>
                  </a:lnTo>
                  <a:lnTo>
                    <a:pt x="43942" y="15688"/>
                  </a:lnTo>
                  <a:lnTo>
                    <a:pt x="91628" y="4208"/>
                  </a:lnTo>
                  <a:lnTo>
                    <a:pt x="150018" y="0"/>
                  </a:lnTo>
                  <a:lnTo>
                    <a:pt x="208409" y="4208"/>
                  </a:lnTo>
                  <a:lnTo>
                    <a:pt x="256095" y="15688"/>
                  </a:lnTo>
                  <a:lnTo>
                    <a:pt x="288247" y="32718"/>
                  </a:lnTo>
                  <a:lnTo>
                    <a:pt x="300037" y="53578"/>
                  </a:lnTo>
                  <a:lnTo>
                    <a:pt x="300037" y="85724"/>
                  </a:lnTo>
                  <a:lnTo>
                    <a:pt x="288247" y="106584"/>
                  </a:lnTo>
                  <a:lnTo>
                    <a:pt x="256095" y="123614"/>
                  </a:lnTo>
                  <a:lnTo>
                    <a:pt x="208409" y="135094"/>
                  </a:lnTo>
                  <a:lnTo>
                    <a:pt x="150018" y="139303"/>
                  </a:lnTo>
                  <a:close/>
                </a:path>
                <a:path w="300354" h="342900">
                  <a:moveTo>
                    <a:pt x="150018" y="246459"/>
                  </a:moveTo>
                  <a:lnTo>
                    <a:pt x="91628" y="242250"/>
                  </a:lnTo>
                  <a:lnTo>
                    <a:pt x="43942" y="230771"/>
                  </a:lnTo>
                  <a:lnTo>
                    <a:pt x="11790" y="213741"/>
                  </a:lnTo>
                  <a:lnTo>
                    <a:pt x="0" y="192881"/>
                  </a:lnTo>
                  <a:lnTo>
                    <a:pt x="0" y="124636"/>
                  </a:lnTo>
                  <a:lnTo>
                    <a:pt x="7945" y="130237"/>
                  </a:lnTo>
                  <a:lnTo>
                    <a:pt x="16824" y="135293"/>
                  </a:lnTo>
                  <a:lnTo>
                    <a:pt x="61018" y="150958"/>
                  </a:lnTo>
                  <a:lnTo>
                    <a:pt x="118317" y="159593"/>
                  </a:lnTo>
                  <a:lnTo>
                    <a:pt x="150018" y="160734"/>
                  </a:lnTo>
                  <a:lnTo>
                    <a:pt x="300037" y="160734"/>
                  </a:lnTo>
                  <a:lnTo>
                    <a:pt x="300037" y="192881"/>
                  </a:lnTo>
                  <a:lnTo>
                    <a:pt x="288247" y="213741"/>
                  </a:lnTo>
                  <a:lnTo>
                    <a:pt x="256095" y="230771"/>
                  </a:lnTo>
                  <a:lnTo>
                    <a:pt x="208409" y="242250"/>
                  </a:lnTo>
                  <a:lnTo>
                    <a:pt x="150018" y="246459"/>
                  </a:lnTo>
                  <a:close/>
                </a:path>
                <a:path w="300354" h="342900">
                  <a:moveTo>
                    <a:pt x="300037" y="160734"/>
                  </a:moveTo>
                  <a:lnTo>
                    <a:pt x="150018" y="160734"/>
                  </a:lnTo>
                  <a:lnTo>
                    <a:pt x="181719" y="159593"/>
                  </a:lnTo>
                  <a:lnTo>
                    <a:pt x="211600" y="156280"/>
                  </a:lnTo>
                  <a:lnTo>
                    <a:pt x="263336" y="143790"/>
                  </a:lnTo>
                  <a:lnTo>
                    <a:pt x="300037" y="124636"/>
                  </a:lnTo>
                  <a:lnTo>
                    <a:pt x="300037" y="160734"/>
                  </a:lnTo>
                  <a:close/>
                </a:path>
                <a:path w="300354" h="342900">
                  <a:moveTo>
                    <a:pt x="150018" y="342899"/>
                  </a:moveTo>
                  <a:lnTo>
                    <a:pt x="91628" y="338691"/>
                  </a:lnTo>
                  <a:lnTo>
                    <a:pt x="43942" y="327211"/>
                  </a:lnTo>
                  <a:lnTo>
                    <a:pt x="11790" y="310181"/>
                  </a:lnTo>
                  <a:lnTo>
                    <a:pt x="0" y="289321"/>
                  </a:lnTo>
                  <a:lnTo>
                    <a:pt x="0" y="231792"/>
                  </a:lnTo>
                  <a:lnTo>
                    <a:pt x="7945" y="237394"/>
                  </a:lnTo>
                  <a:lnTo>
                    <a:pt x="16824" y="242449"/>
                  </a:lnTo>
                  <a:lnTo>
                    <a:pt x="61018" y="258114"/>
                  </a:lnTo>
                  <a:lnTo>
                    <a:pt x="118317" y="266749"/>
                  </a:lnTo>
                  <a:lnTo>
                    <a:pt x="150018" y="267890"/>
                  </a:lnTo>
                  <a:lnTo>
                    <a:pt x="300037" y="267890"/>
                  </a:lnTo>
                  <a:lnTo>
                    <a:pt x="300037" y="289321"/>
                  </a:lnTo>
                  <a:lnTo>
                    <a:pt x="288247" y="310181"/>
                  </a:lnTo>
                  <a:lnTo>
                    <a:pt x="256095" y="327211"/>
                  </a:lnTo>
                  <a:lnTo>
                    <a:pt x="208409" y="338691"/>
                  </a:lnTo>
                  <a:lnTo>
                    <a:pt x="150018" y="342899"/>
                  </a:lnTo>
                  <a:close/>
                </a:path>
                <a:path w="300354" h="342900">
                  <a:moveTo>
                    <a:pt x="300037" y="267890"/>
                  </a:moveTo>
                  <a:lnTo>
                    <a:pt x="150018" y="267890"/>
                  </a:lnTo>
                  <a:lnTo>
                    <a:pt x="181719" y="266749"/>
                  </a:lnTo>
                  <a:lnTo>
                    <a:pt x="211600" y="263436"/>
                  </a:lnTo>
                  <a:lnTo>
                    <a:pt x="263336" y="250946"/>
                  </a:lnTo>
                  <a:lnTo>
                    <a:pt x="300037" y="231792"/>
                  </a:lnTo>
                  <a:lnTo>
                    <a:pt x="300037" y="26789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3" name="object 24">
            <a:extLst>
              <a:ext uri="{FF2B5EF4-FFF2-40B4-BE49-F238E27FC236}">
                <a16:creationId xmlns:a16="http://schemas.microsoft.com/office/drawing/2014/main" id="{7CBE04A9-7958-555B-61F4-F75AD5263CB2}"/>
              </a:ext>
            </a:extLst>
          </p:cNvPr>
          <p:cNvSpPr txBox="1"/>
          <p:nvPr/>
        </p:nvSpPr>
        <p:spPr>
          <a:xfrm>
            <a:off x="8344297" y="2711451"/>
            <a:ext cx="302196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500" b="1" spc="-8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Systems</a:t>
            </a:r>
            <a:endParaRPr sz="150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Column-based compression using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dictionary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encoding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RLE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efficient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4" name="object 25">
            <a:extLst>
              <a:ext uri="{FF2B5EF4-FFF2-40B4-BE49-F238E27FC236}">
                <a16:creationId xmlns:a16="http://schemas.microsoft.com/office/drawing/2014/main" id="{403E64F1-1D77-D652-A70B-5823E9DD018B}"/>
              </a:ext>
            </a:extLst>
          </p:cNvPr>
          <p:cNvGrpSpPr/>
          <p:nvPr/>
        </p:nvGrpSpPr>
        <p:grpSpPr>
          <a:xfrm>
            <a:off x="571500" y="4105275"/>
            <a:ext cx="3533775" cy="1981200"/>
            <a:chOff x="571499" y="4571999"/>
            <a:chExt cx="3533775" cy="1981200"/>
          </a:xfrm>
        </p:grpSpPr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AA799098-1958-8BAC-52C8-A7FB24B3BCF3}"/>
                </a:ext>
              </a:extLst>
            </p:cNvPr>
            <p:cNvSpPr/>
            <p:nvPr/>
          </p:nvSpPr>
          <p:spPr>
            <a:xfrm>
              <a:off x="571499" y="4571999"/>
              <a:ext cx="3533775" cy="1981200"/>
            </a:xfrm>
            <a:custGeom>
              <a:avLst/>
              <a:gdLst/>
              <a:ahLst/>
              <a:cxnLst/>
              <a:rect l="l" t="t" r="r" b="b"/>
              <a:pathLst>
                <a:path w="3533775" h="1981200">
                  <a:moveTo>
                    <a:pt x="3462577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8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62577" y="0"/>
                  </a:lnTo>
                  <a:lnTo>
                    <a:pt x="3504069" y="15621"/>
                  </a:lnTo>
                  <a:lnTo>
                    <a:pt x="3529888" y="51661"/>
                  </a:lnTo>
                  <a:lnTo>
                    <a:pt x="3533774" y="71196"/>
                  </a:lnTo>
                  <a:lnTo>
                    <a:pt x="3533774" y="1910003"/>
                  </a:lnTo>
                  <a:lnTo>
                    <a:pt x="3518152" y="1951493"/>
                  </a:lnTo>
                  <a:lnTo>
                    <a:pt x="3482112" y="1977313"/>
                  </a:lnTo>
                  <a:lnTo>
                    <a:pt x="3467533" y="1980711"/>
                  </a:lnTo>
                  <a:lnTo>
                    <a:pt x="3462577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12F5047-FE6D-279F-5D81-A1F01E3A5589}"/>
                </a:ext>
              </a:extLst>
            </p:cNvPr>
            <p:cNvSpPr/>
            <p:nvPr/>
          </p:nvSpPr>
          <p:spPr>
            <a:xfrm>
              <a:off x="2047874" y="47148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0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7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5"/>
                  </a:lnTo>
                  <a:lnTo>
                    <a:pt x="420451" y="537757"/>
                  </a:lnTo>
                  <a:lnTo>
                    <a:pt x="382016" y="554795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04A904C0-A9E8-BB2F-040A-85488DF9796C}"/>
                </a:ext>
              </a:extLst>
            </p:cNvPr>
            <p:cNvSpPr/>
            <p:nvPr/>
          </p:nvSpPr>
          <p:spPr>
            <a:xfrm>
              <a:off x="2124074" y="4829174"/>
              <a:ext cx="428625" cy="342900"/>
            </a:xfrm>
            <a:custGeom>
              <a:avLst/>
              <a:gdLst/>
              <a:ahLst/>
              <a:cxnLst/>
              <a:rect l="l" t="t" r="r" b="b"/>
              <a:pathLst>
                <a:path w="428625" h="342900">
                  <a:moveTo>
                    <a:pt x="267890" y="128587"/>
                  </a:moveTo>
                  <a:lnTo>
                    <a:pt x="160734" y="128587"/>
                  </a:lnTo>
                  <a:lnTo>
                    <a:pt x="148224" y="126060"/>
                  </a:lnTo>
                  <a:lnTo>
                    <a:pt x="138005" y="119169"/>
                  </a:lnTo>
                  <a:lnTo>
                    <a:pt x="131114" y="108950"/>
                  </a:lnTo>
                  <a:lnTo>
                    <a:pt x="128587" y="96440"/>
                  </a:lnTo>
                  <a:lnTo>
                    <a:pt x="128587" y="32146"/>
                  </a:lnTo>
                  <a:lnTo>
                    <a:pt x="131114" y="19636"/>
                  </a:lnTo>
                  <a:lnTo>
                    <a:pt x="138005" y="9418"/>
                  </a:lnTo>
                  <a:lnTo>
                    <a:pt x="148224" y="2527"/>
                  </a:lnTo>
                  <a:lnTo>
                    <a:pt x="160734" y="0"/>
                  </a:lnTo>
                  <a:lnTo>
                    <a:pt x="267890" y="0"/>
                  </a:lnTo>
                  <a:lnTo>
                    <a:pt x="280400" y="2527"/>
                  </a:lnTo>
                  <a:lnTo>
                    <a:pt x="290619" y="9418"/>
                  </a:lnTo>
                  <a:lnTo>
                    <a:pt x="297510" y="19636"/>
                  </a:lnTo>
                  <a:lnTo>
                    <a:pt x="300037" y="32146"/>
                  </a:lnTo>
                  <a:lnTo>
                    <a:pt x="300037" y="42862"/>
                  </a:lnTo>
                  <a:lnTo>
                    <a:pt x="171449" y="42862"/>
                  </a:lnTo>
                  <a:lnTo>
                    <a:pt x="171449" y="85724"/>
                  </a:lnTo>
                  <a:lnTo>
                    <a:pt x="300037" y="85724"/>
                  </a:lnTo>
                  <a:lnTo>
                    <a:pt x="300037" y="96440"/>
                  </a:lnTo>
                  <a:lnTo>
                    <a:pt x="297510" y="108950"/>
                  </a:lnTo>
                  <a:lnTo>
                    <a:pt x="290619" y="119169"/>
                  </a:lnTo>
                  <a:lnTo>
                    <a:pt x="280400" y="126060"/>
                  </a:lnTo>
                  <a:lnTo>
                    <a:pt x="267890" y="128587"/>
                  </a:lnTo>
                  <a:close/>
                </a:path>
                <a:path w="428625" h="342900">
                  <a:moveTo>
                    <a:pt x="300037" y="85724"/>
                  </a:moveTo>
                  <a:lnTo>
                    <a:pt x="257174" y="85724"/>
                  </a:lnTo>
                  <a:lnTo>
                    <a:pt x="257174" y="42862"/>
                  </a:lnTo>
                  <a:lnTo>
                    <a:pt x="300037" y="42862"/>
                  </a:lnTo>
                  <a:lnTo>
                    <a:pt x="300037" y="85724"/>
                  </a:lnTo>
                  <a:close/>
                </a:path>
                <a:path w="428625" h="342900">
                  <a:moveTo>
                    <a:pt x="235743" y="150018"/>
                  </a:moveTo>
                  <a:lnTo>
                    <a:pt x="192881" y="150018"/>
                  </a:lnTo>
                  <a:lnTo>
                    <a:pt x="192881" y="128587"/>
                  </a:lnTo>
                  <a:lnTo>
                    <a:pt x="235743" y="128587"/>
                  </a:lnTo>
                  <a:lnTo>
                    <a:pt x="235743" y="150018"/>
                  </a:lnTo>
                  <a:close/>
                </a:path>
                <a:path w="428625" h="342900">
                  <a:moveTo>
                    <a:pt x="407193" y="192881"/>
                  </a:moveTo>
                  <a:lnTo>
                    <a:pt x="21431" y="192881"/>
                  </a:lnTo>
                  <a:lnTo>
                    <a:pt x="13081" y="191199"/>
                  </a:lnTo>
                  <a:lnTo>
                    <a:pt x="6270" y="186610"/>
                  </a:lnTo>
                  <a:lnTo>
                    <a:pt x="1681" y="179799"/>
                  </a:lnTo>
                  <a:lnTo>
                    <a:pt x="0" y="171449"/>
                  </a:lnTo>
                  <a:lnTo>
                    <a:pt x="1681" y="163100"/>
                  </a:lnTo>
                  <a:lnTo>
                    <a:pt x="6270" y="156289"/>
                  </a:lnTo>
                  <a:lnTo>
                    <a:pt x="13081" y="151700"/>
                  </a:lnTo>
                  <a:lnTo>
                    <a:pt x="21431" y="150018"/>
                  </a:lnTo>
                  <a:lnTo>
                    <a:pt x="407193" y="150018"/>
                  </a:lnTo>
                  <a:lnTo>
                    <a:pt x="415543" y="151700"/>
                  </a:lnTo>
                  <a:lnTo>
                    <a:pt x="422354" y="156289"/>
                  </a:lnTo>
                  <a:lnTo>
                    <a:pt x="426943" y="163100"/>
                  </a:lnTo>
                  <a:lnTo>
                    <a:pt x="428624" y="171449"/>
                  </a:lnTo>
                  <a:lnTo>
                    <a:pt x="426943" y="179799"/>
                  </a:lnTo>
                  <a:lnTo>
                    <a:pt x="422354" y="186610"/>
                  </a:lnTo>
                  <a:lnTo>
                    <a:pt x="415543" y="191199"/>
                  </a:lnTo>
                  <a:lnTo>
                    <a:pt x="407193" y="192881"/>
                  </a:lnTo>
                  <a:close/>
                </a:path>
                <a:path w="428625" h="342900">
                  <a:moveTo>
                    <a:pt x="128587" y="214312"/>
                  </a:moveTo>
                  <a:lnTo>
                    <a:pt x="85724" y="214312"/>
                  </a:lnTo>
                  <a:lnTo>
                    <a:pt x="85724" y="192881"/>
                  </a:lnTo>
                  <a:lnTo>
                    <a:pt x="128587" y="192881"/>
                  </a:lnTo>
                  <a:lnTo>
                    <a:pt x="128587" y="214312"/>
                  </a:lnTo>
                  <a:close/>
                </a:path>
                <a:path w="428625" h="342900">
                  <a:moveTo>
                    <a:pt x="342899" y="214312"/>
                  </a:moveTo>
                  <a:lnTo>
                    <a:pt x="300037" y="214312"/>
                  </a:lnTo>
                  <a:lnTo>
                    <a:pt x="300037" y="192881"/>
                  </a:lnTo>
                  <a:lnTo>
                    <a:pt x="342899" y="192881"/>
                  </a:lnTo>
                  <a:lnTo>
                    <a:pt x="342899" y="214312"/>
                  </a:lnTo>
                  <a:close/>
                </a:path>
                <a:path w="428625" h="342900">
                  <a:moveTo>
                    <a:pt x="160734" y="342899"/>
                  </a:moveTo>
                  <a:lnTo>
                    <a:pt x="53578" y="342899"/>
                  </a:lnTo>
                  <a:lnTo>
                    <a:pt x="41067" y="340372"/>
                  </a:lnTo>
                  <a:lnTo>
                    <a:pt x="30849" y="333481"/>
                  </a:lnTo>
                  <a:lnTo>
                    <a:pt x="23958" y="323263"/>
                  </a:lnTo>
                  <a:lnTo>
                    <a:pt x="21431" y="310753"/>
                  </a:lnTo>
                  <a:lnTo>
                    <a:pt x="21431" y="246459"/>
                  </a:lnTo>
                  <a:lnTo>
                    <a:pt x="23958" y="233949"/>
                  </a:lnTo>
                  <a:lnTo>
                    <a:pt x="30849" y="223730"/>
                  </a:lnTo>
                  <a:lnTo>
                    <a:pt x="41067" y="216839"/>
                  </a:lnTo>
                  <a:lnTo>
                    <a:pt x="53578" y="214312"/>
                  </a:lnTo>
                  <a:lnTo>
                    <a:pt x="160734" y="214312"/>
                  </a:lnTo>
                  <a:lnTo>
                    <a:pt x="173244" y="216839"/>
                  </a:lnTo>
                  <a:lnTo>
                    <a:pt x="183463" y="223730"/>
                  </a:lnTo>
                  <a:lnTo>
                    <a:pt x="190354" y="233949"/>
                  </a:lnTo>
                  <a:lnTo>
                    <a:pt x="192881" y="246459"/>
                  </a:lnTo>
                  <a:lnTo>
                    <a:pt x="192881" y="257174"/>
                  </a:lnTo>
                  <a:lnTo>
                    <a:pt x="64293" y="257174"/>
                  </a:lnTo>
                  <a:lnTo>
                    <a:pt x="64293" y="300037"/>
                  </a:lnTo>
                  <a:lnTo>
                    <a:pt x="192881" y="300037"/>
                  </a:lnTo>
                  <a:lnTo>
                    <a:pt x="192881" y="310753"/>
                  </a:lnTo>
                  <a:lnTo>
                    <a:pt x="190354" y="323263"/>
                  </a:lnTo>
                  <a:lnTo>
                    <a:pt x="183463" y="333481"/>
                  </a:lnTo>
                  <a:lnTo>
                    <a:pt x="173244" y="340372"/>
                  </a:lnTo>
                  <a:lnTo>
                    <a:pt x="160734" y="342899"/>
                  </a:lnTo>
                  <a:close/>
                </a:path>
                <a:path w="428625" h="342900">
                  <a:moveTo>
                    <a:pt x="375046" y="342899"/>
                  </a:moveTo>
                  <a:lnTo>
                    <a:pt x="267890" y="342899"/>
                  </a:lnTo>
                  <a:lnTo>
                    <a:pt x="255380" y="340372"/>
                  </a:lnTo>
                  <a:lnTo>
                    <a:pt x="245161" y="333481"/>
                  </a:lnTo>
                  <a:lnTo>
                    <a:pt x="238270" y="323263"/>
                  </a:lnTo>
                  <a:lnTo>
                    <a:pt x="235743" y="310753"/>
                  </a:lnTo>
                  <a:lnTo>
                    <a:pt x="235743" y="246459"/>
                  </a:lnTo>
                  <a:lnTo>
                    <a:pt x="238270" y="233949"/>
                  </a:lnTo>
                  <a:lnTo>
                    <a:pt x="245161" y="223730"/>
                  </a:lnTo>
                  <a:lnTo>
                    <a:pt x="255380" y="216839"/>
                  </a:lnTo>
                  <a:lnTo>
                    <a:pt x="267890" y="214312"/>
                  </a:lnTo>
                  <a:lnTo>
                    <a:pt x="375046" y="214312"/>
                  </a:lnTo>
                  <a:lnTo>
                    <a:pt x="387557" y="216839"/>
                  </a:lnTo>
                  <a:lnTo>
                    <a:pt x="397775" y="223730"/>
                  </a:lnTo>
                  <a:lnTo>
                    <a:pt x="404666" y="233949"/>
                  </a:lnTo>
                  <a:lnTo>
                    <a:pt x="407193" y="246459"/>
                  </a:lnTo>
                  <a:lnTo>
                    <a:pt x="407193" y="257174"/>
                  </a:lnTo>
                  <a:lnTo>
                    <a:pt x="278606" y="257174"/>
                  </a:lnTo>
                  <a:lnTo>
                    <a:pt x="278606" y="300037"/>
                  </a:lnTo>
                  <a:lnTo>
                    <a:pt x="407193" y="300037"/>
                  </a:lnTo>
                  <a:lnTo>
                    <a:pt x="407193" y="310753"/>
                  </a:lnTo>
                  <a:lnTo>
                    <a:pt x="404666" y="323263"/>
                  </a:lnTo>
                  <a:lnTo>
                    <a:pt x="397775" y="333481"/>
                  </a:lnTo>
                  <a:lnTo>
                    <a:pt x="387557" y="340372"/>
                  </a:lnTo>
                  <a:lnTo>
                    <a:pt x="375046" y="342899"/>
                  </a:lnTo>
                  <a:close/>
                </a:path>
                <a:path w="428625" h="342900">
                  <a:moveTo>
                    <a:pt x="192881" y="300037"/>
                  </a:moveTo>
                  <a:lnTo>
                    <a:pt x="150018" y="300037"/>
                  </a:lnTo>
                  <a:lnTo>
                    <a:pt x="150018" y="257174"/>
                  </a:lnTo>
                  <a:lnTo>
                    <a:pt x="192881" y="257174"/>
                  </a:lnTo>
                  <a:lnTo>
                    <a:pt x="192881" y="300037"/>
                  </a:lnTo>
                  <a:close/>
                </a:path>
                <a:path w="428625" h="342900">
                  <a:moveTo>
                    <a:pt x="407193" y="300037"/>
                  </a:moveTo>
                  <a:lnTo>
                    <a:pt x="364331" y="300037"/>
                  </a:lnTo>
                  <a:lnTo>
                    <a:pt x="364331" y="257174"/>
                  </a:lnTo>
                  <a:lnTo>
                    <a:pt x="407193" y="257174"/>
                  </a:lnTo>
                  <a:lnTo>
                    <a:pt x="407193" y="300037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5" name="object 29">
            <a:extLst>
              <a:ext uri="{FF2B5EF4-FFF2-40B4-BE49-F238E27FC236}">
                <a16:creationId xmlns:a16="http://schemas.microsoft.com/office/drawing/2014/main" id="{F1CEEC95-E8FF-7655-FCAB-8762FC88F4ED}"/>
              </a:ext>
            </a:extLst>
          </p:cNvPr>
          <p:cNvSpPr txBox="1"/>
          <p:nvPr/>
        </p:nvSpPr>
        <p:spPr>
          <a:xfrm>
            <a:off x="801986" y="4921251"/>
            <a:ext cx="306959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5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Transmission</a:t>
            </a:r>
            <a:endParaRPr sz="150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Network protocols utilize Huffman coding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reduce bandwidth requirements without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data loss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6" name="object 30">
            <a:extLst>
              <a:ext uri="{FF2B5EF4-FFF2-40B4-BE49-F238E27FC236}">
                <a16:creationId xmlns:a16="http://schemas.microsoft.com/office/drawing/2014/main" id="{9A71DAFA-62D5-939C-759A-B1525AB7546D}"/>
              </a:ext>
            </a:extLst>
          </p:cNvPr>
          <p:cNvGrpSpPr/>
          <p:nvPr/>
        </p:nvGrpSpPr>
        <p:grpSpPr>
          <a:xfrm>
            <a:off x="4333875" y="4105275"/>
            <a:ext cx="3524250" cy="1981200"/>
            <a:chOff x="4333874" y="4571999"/>
            <a:chExt cx="3524250" cy="1981200"/>
          </a:xfrm>
        </p:grpSpPr>
        <p:sp>
          <p:nvSpPr>
            <p:cNvPr id="23" name="object 31">
              <a:extLst>
                <a:ext uri="{FF2B5EF4-FFF2-40B4-BE49-F238E27FC236}">
                  <a16:creationId xmlns:a16="http://schemas.microsoft.com/office/drawing/2014/main" id="{6E05D41B-0AA0-1AA4-B3A5-9C102F5829EC}"/>
                </a:ext>
              </a:extLst>
            </p:cNvPr>
            <p:cNvSpPr/>
            <p:nvPr/>
          </p:nvSpPr>
          <p:spPr>
            <a:xfrm>
              <a:off x="4333874" y="4571999"/>
              <a:ext cx="3524250" cy="1981200"/>
            </a:xfrm>
            <a:custGeom>
              <a:avLst/>
              <a:gdLst/>
              <a:ahLst/>
              <a:cxnLst/>
              <a:rect l="l" t="t" r="r" b="b"/>
              <a:pathLst>
                <a:path w="3524250" h="1981200">
                  <a:moveTo>
                    <a:pt x="3453052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8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53052" y="0"/>
                  </a:lnTo>
                  <a:lnTo>
                    <a:pt x="3494543" y="15621"/>
                  </a:lnTo>
                  <a:lnTo>
                    <a:pt x="3520363" y="51661"/>
                  </a:lnTo>
                  <a:lnTo>
                    <a:pt x="3524249" y="71196"/>
                  </a:lnTo>
                  <a:lnTo>
                    <a:pt x="3524249" y="1910003"/>
                  </a:lnTo>
                  <a:lnTo>
                    <a:pt x="3508627" y="1951493"/>
                  </a:lnTo>
                  <a:lnTo>
                    <a:pt x="3472586" y="1977313"/>
                  </a:lnTo>
                  <a:lnTo>
                    <a:pt x="3458007" y="1980711"/>
                  </a:lnTo>
                  <a:lnTo>
                    <a:pt x="3453052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4" name="object 32">
              <a:extLst>
                <a:ext uri="{FF2B5EF4-FFF2-40B4-BE49-F238E27FC236}">
                  <a16:creationId xmlns:a16="http://schemas.microsoft.com/office/drawing/2014/main" id="{9F1218BD-553B-CFB6-29F7-72C51F265093}"/>
                </a:ext>
              </a:extLst>
            </p:cNvPr>
            <p:cNvSpPr/>
            <p:nvPr/>
          </p:nvSpPr>
          <p:spPr>
            <a:xfrm>
              <a:off x="5810249" y="47148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0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7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5"/>
                  </a:lnTo>
                  <a:lnTo>
                    <a:pt x="420451" y="537757"/>
                  </a:lnTo>
                  <a:lnTo>
                    <a:pt x="382016" y="554795"/>
                  </a:lnTo>
                  <a:lnTo>
                    <a:pt x="341497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8FD4EA60-2549-16C5-0338-286CDC05C555}"/>
                </a:ext>
              </a:extLst>
            </p:cNvPr>
            <p:cNvSpPr/>
            <p:nvPr/>
          </p:nvSpPr>
          <p:spPr>
            <a:xfrm>
              <a:off x="5924549" y="4857667"/>
              <a:ext cx="342900" cy="293370"/>
            </a:xfrm>
            <a:custGeom>
              <a:avLst/>
              <a:gdLst/>
              <a:ahLst/>
              <a:cxnLst/>
              <a:rect l="l" t="t" r="r" b="b"/>
              <a:pathLst>
                <a:path w="342900" h="293370">
                  <a:moveTo>
                    <a:pt x="5826" y="133045"/>
                  </a:moveTo>
                  <a:lnTo>
                    <a:pt x="3305" y="124890"/>
                  </a:lnTo>
                  <a:lnTo>
                    <a:pt x="1481" y="116528"/>
                  </a:lnTo>
                  <a:lnTo>
                    <a:pt x="373" y="108002"/>
                  </a:lnTo>
                  <a:lnTo>
                    <a:pt x="0" y="99358"/>
                  </a:lnTo>
                  <a:lnTo>
                    <a:pt x="0" y="95473"/>
                  </a:lnTo>
                  <a:lnTo>
                    <a:pt x="22678" y="33590"/>
                  </a:lnTo>
                  <a:lnTo>
                    <a:pt x="79965" y="1042"/>
                  </a:lnTo>
                  <a:lnTo>
                    <a:pt x="102817" y="0"/>
                  </a:lnTo>
                  <a:lnTo>
                    <a:pt x="124954" y="4307"/>
                  </a:lnTo>
                  <a:lnTo>
                    <a:pt x="145458" y="13662"/>
                  </a:lnTo>
                  <a:lnTo>
                    <a:pt x="163413" y="27764"/>
                  </a:lnTo>
                  <a:lnTo>
                    <a:pt x="171449" y="35801"/>
                  </a:lnTo>
                  <a:lnTo>
                    <a:pt x="321516" y="35801"/>
                  </a:lnTo>
                  <a:lnTo>
                    <a:pt x="336894" y="62052"/>
                  </a:lnTo>
                  <a:lnTo>
                    <a:pt x="337941" y="67880"/>
                  </a:lnTo>
                  <a:lnTo>
                    <a:pt x="129391" y="67880"/>
                  </a:lnTo>
                  <a:lnTo>
                    <a:pt x="116666" y="68148"/>
                  </a:lnTo>
                  <a:lnTo>
                    <a:pt x="110906" y="71966"/>
                  </a:lnTo>
                  <a:lnTo>
                    <a:pt x="87131" y="129027"/>
                  </a:lnTo>
                  <a:lnTo>
                    <a:pt x="86327" y="131036"/>
                  </a:lnTo>
                  <a:lnTo>
                    <a:pt x="84424" y="132241"/>
                  </a:lnTo>
                  <a:lnTo>
                    <a:pt x="9376" y="132241"/>
                  </a:lnTo>
                  <a:lnTo>
                    <a:pt x="7366" y="132576"/>
                  </a:lnTo>
                  <a:lnTo>
                    <a:pt x="5826" y="133045"/>
                  </a:lnTo>
                  <a:close/>
                </a:path>
                <a:path w="342900" h="293370">
                  <a:moveTo>
                    <a:pt x="321516" y="35801"/>
                  </a:moveTo>
                  <a:lnTo>
                    <a:pt x="171449" y="35801"/>
                  </a:lnTo>
                  <a:lnTo>
                    <a:pt x="179486" y="27764"/>
                  </a:lnTo>
                  <a:lnTo>
                    <a:pt x="197441" y="13662"/>
                  </a:lnTo>
                  <a:lnTo>
                    <a:pt x="217945" y="4307"/>
                  </a:lnTo>
                  <a:lnTo>
                    <a:pt x="240082" y="0"/>
                  </a:lnTo>
                  <a:lnTo>
                    <a:pt x="262934" y="1042"/>
                  </a:lnTo>
                  <a:lnTo>
                    <a:pt x="294896" y="12463"/>
                  </a:lnTo>
                  <a:lnTo>
                    <a:pt x="320221" y="33590"/>
                  </a:lnTo>
                  <a:lnTo>
                    <a:pt x="321516" y="35801"/>
                  </a:lnTo>
                  <a:close/>
                </a:path>
                <a:path w="342900" h="293370">
                  <a:moveTo>
                    <a:pt x="172052" y="153739"/>
                  </a:moveTo>
                  <a:lnTo>
                    <a:pt x="135284" y="71631"/>
                  </a:lnTo>
                  <a:lnTo>
                    <a:pt x="129391" y="67880"/>
                  </a:lnTo>
                  <a:lnTo>
                    <a:pt x="337941" y="67880"/>
                  </a:lnTo>
                  <a:lnTo>
                    <a:pt x="341804" y="89379"/>
                  </a:lnTo>
                  <a:lnTo>
                    <a:pt x="208084" y="89379"/>
                  </a:lnTo>
                  <a:lnTo>
                    <a:pt x="202525" y="92794"/>
                  </a:lnTo>
                  <a:lnTo>
                    <a:pt x="172052" y="153739"/>
                  </a:lnTo>
                  <a:close/>
                </a:path>
                <a:path w="342900" h="293370">
                  <a:moveTo>
                    <a:pt x="337341" y="132241"/>
                  </a:moveTo>
                  <a:lnTo>
                    <a:pt x="246928" y="132241"/>
                  </a:lnTo>
                  <a:lnTo>
                    <a:pt x="245018" y="131036"/>
                  </a:lnTo>
                  <a:lnTo>
                    <a:pt x="244115" y="129294"/>
                  </a:lnTo>
                  <a:lnTo>
                    <a:pt x="227153" y="95473"/>
                  </a:lnTo>
                  <a:lnTo>
                    <a:pt x="225724" y="92794"/>
                  </a:lnTo>
                  <a:lnTo>
                    <a:pt x="220273" y="89379"/>
                  </a:lnTo>
                  <a:lnTo>
                    <a:pt x="341804" y="89379"/>
                  </a:lnTo>
                  <a:lnTo>
                    <a:pt x="342899" y="95473"/>
                  </a:lnTo>
                  <a:lnTo>
                    <a:pt x="342899" y="99358"/>
                  </a:lnTo>
                  <a:lnTo>
                    <a:pt x="342549" y="107801"/>
                  </a:lnTo>
                  <a:lnTo>
                    <a:pt x="341501" y="116126"/>
                  </a:lnTo>
                  <a:lnTo>
                    <a:pt x="339763" y="124287"/>
                  </a:lnTo>
                  <a:lnTo>
                    <a:pt x="337341" y="132241"/>
                  </a:lnTo>
                  <a:close/>
                </a:path>
                <a:path w="342900" h="293370">
                  <a:moveTo>
                    <a:pt x="178348" y="292976"/>
                  </a:moveTo>
                  <a:lnTo>
                    <a:pt x="164551" y="292976"/>
                  </a:lnTo>
                  <a:lnTo>
                    <a:pt x="157921" y="290364"/>
                  </a:lnTo>
                  <a:lnTo>
                    <a:pt x="29066" y="170081"/>
                  </a:lnTo>
                  <a:lnTo>
                    <a:pt x="26387" y="167268"/>
                  </a:lnTo>
                  <a:lnTo>
                    <a:pt x="23909" y="164388"/>
                  </a:lnTo>
                  <a:lnTo>
                    <a:pt x="82175" y="164388"/>
                  </a:lnTo>
                  <a:lnTo>
                    <a:pt x="93151" y="162746"/>
                  </a:lnTo>
                  <a:lnTo>
                    <a:pt x="123881" y="124287"/>
                  </a:lnTo>
                  <a:lnTo>
                    <a:pt x="124050" y="124890"/>
                  </a:lnTo>
                  <a:lnTo>
                    <a:pt x="156849" y="197740"/>
                  </a:lnTo>
                  <a:lnTo>
                    <a:pt x="159394" y="203433"/>
                  </a:lnTo>
                  <a:lnTo>
                    <a:pt x="164953" y="207117"/>
                  </a:lnTo>
                  <a:lnTo>
                    <a:pt x="274208" y="207117"/>
                  </a:lnTo>
                  <a:lnTo>
                    <a:pt x="184978" y="290364"/>
                  </a:lnTo>
                  <a:lnTo>
                    <a:pt x="178348" y="292976"/>
                  </a:lnTo>
                  <a:close/>
                </a:path>
                <a:path w="342900" h="293370">
                  <a:moveTo>
                    <a:pt x="274208" y="207117"/>
                  </a:moveTo>
                  <a:lnTo>
                    <a:pt x="177633" y="207117"/>
                  </a:lnTo>
                  <a:lnTo>
                    <a:pt x="183103" y="203835"/>
                  </a:lnTo>
                  <a:lnTo>
                    <a:pt x="185916" y="198276"/>
                  </a:lnTo>
                  <a:lnTo>
                    <a:pt x="214312" y="141416"/>
                  </a:lnTo>
                  <a:lnTo>
                    <a:pt x="215451" y="143694"/>
                  </a:lnTo>
                  <a:lnTo>
                    <a:pt x="221381" y="152306"/>
                  </a:lnTo>
                  <a:lnTo>
                    <a:pt x="229289" y="158846"/>
                  </a:lnTo>
                  <a:lnTo>
                    <a:pt x="238666" y="163000"/>
                  </a:lnTo>
                  <a:lnTo>
                    <a:pt x="248528" y="164388"/>
                  </a:lnTo>
                  <a:lnTo>
                    <a:pt x="319048" y="164388"/>
                  </a:lnTo>
                  <a:lnTo>
                    <a:pt x="316570" y="167268"/>
                  </a:lnTo>
                  <a:lnTo>
                    <a:pt x="313897" y="170081"/>
                  </a:lnTo>
                  <a:lnTo>
                    <a:pt x="274208" y="207117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7" name="object 34">
            <a:extLst>
              <a:ext uri="{FF2B5EF4-FFF2-40B4-BE49-F238E27FC236}">
                <a16:creationId xmlns:a16="http://schemas.microsoft.com/office/drawing/2014/main" id="{844CF5A6-50B8-0AB7-9025-D2D2C0575C97}"/>
              </a:ext>
            </a:extLst>
          </p:cNvPr>
          <p:cNvSpPr txBox="1"/>
          <p:nvPr/>
        </p:nvSpPr>
        <p:spPr>
          <a:xfrm>
            <a:off x="4588024" y="4921251"/>
            <a:ext cx="301625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Medical</a:t>
            </a:r>
            <a:r>
              <a:rPr sz="1500" b="1" spc="-6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Imaging</a:t>
            </a:r>
            <a:endParaRPr sz="150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DICOM</a:t>
            </a:r>
            <a:r>
              <a:rPr sz="12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for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medical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scans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diagnosis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accuracy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is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8" name="object 35">
            <a:extLst>
              <a:ext uri="{FF2B5EF4-FFF2-40B4-BE49-F238E27FC236}">
                <a16:creationId xmlns:a16="http://schemas.microsoft.com/office/drawing/2014/main" id="{02C38F9D-8679-4E2C-2C53-2EC2F689BA16}"/>
              </a:ext>
            </a:extLst>
          </p:cNvPr>
          <p:cNvGrpSpPr/>
          <p:nvPr/>
        </p:nvGrpSpPr>
        <p:grpSpPr>
          <a:xfrm>
            <a:off x="8086724" y="4105275"/>
            <a:ext cx="3533775" cy="1981200"/>
            <a:chOff x="8086723" y="4571999"/>
            <a:chExt cx="3533775" cy="1981200"/>
          </a:xfrm>
        </p:grpSpPr>
        <p:sp>
          <p:nvSpPr>
            <p:cNvPr id="20" name="object 36">
              <a:extLst>
                <a:ext uri="{FF2B5EF4-FFF2-40B4-BE49-F238E27FC236}">
                  <a16:creationId xmlns:a16="http://schemas.microsoft.com/office/drawing/2014/main" id="{D98483A8-B921-58A9-ACBC-282A93E97388}"/>
                </a:ext>
              </a:extLst>
            </p:cNvPr>
            <p:cNvSpPr/>
            <p:nvPr/>
          </p:nvSpPr>
          <p:spPr>
            <a:xfrm>
              <a:off x="8086723" y="4571999"/>
              <a:ext cx="3533775" cy="1981200"/>
            </a:xfrm>
            <a:custGeom>
              <a:avLst/>
              <a:gdLst/>
              <a:ahLst/>
              <a:cxnLst/>
              <a:rect l="l" t="t" r="r" b="b"/>
              <a:pathLst>
                <a:path w="3533775" h="1981200">
                  <a:moveTo>
                    <a:pt x="3462578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8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462578" y="0"/>
                  </a:lnTo>
                  <a:lnTo>
                    <a:pt x="3504070" y="15621"/>
                  </a:lnTo>
                  <a:lnTo>
                    <a:pt x="3529888" y="51661"/>
                  </a:lnTo>
                  <a:lnTo>
                    <a:pt x="3533775" y="71196"/>
                  </a:lnTo>
                  <a:lnTo>
                    <a:pt x="3533775" y="1910003"/>
                  </a:lnTo>
                  <a:lnTo>
                    <a:pt x="3518154" y="1951493"/>
                  </a:lnTo>
                  <a:lnTo>
                    <a:pt x="3482112" y="1977313"/>
                  </a:lnTo>
                  <a:lnTo>
                    <a:pt x="3467532" y="1980711"/>
                  </a:lnTo>
                  <a:lnTo>
                    <a:pt x="3462578" y="19811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1" name="object 37">
              <a:extLst>
                <a:ext uri="{FF2B5EF4-FFF2-40B4-BE49-F238E27FC236}">
                  <a16:creationId xmlns:a16="http://schemas.microsoft.com/office/drawing/2014/main" id="{B73BE9A6-41D1-A846-DE71-0CB545FE6502}"/>
                </a:ext>
              </a:extLst>
            </p:cNvPr>
            <p:cNvSpPr/>
            <p:nvPr/>
          </p:nvSpPr>
          <p:spPr>
            <a:xfrm>
              <a:off x="9572623" y="47148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0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0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7" y="151047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5"/>
                  </a:lnTo>
                  <a:lnTo>
                    <a:pt x="537757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5"/>
                  </a:lnTo>
                  <a:lnTo>
                    <a:pt x="420451" y="537757"/>
                  </a:lnTo>
                  <a:lnTo>
                    <a:pt x="382016" y="554795"/>
                  </a:lnTo>
                  <a:lnTo>
                    <a:pt x="341496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2" name="object 38">
              <a:extLst>
                <a:ext uri="{FF2B5EF4-FFF2-40B4-BE49-F238E27FC236}">
                  <a16:creationId xmlns:a16="http://schemas.microsoft.com/office/drawing/2014/main" id="{0FAA5A1F-4256-0C11-BA04-FA5EE2B9F624}"/>
                </a:ext>
              </a:extLst>
            </p:cNvPr>
            <p:cNvSpPr/>
            <p:nvPr/>
          </p:nvSpPr>
          <p:spPr>
            <a:xfrm>
              <a:off x="9705974" y="48291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53578" y="342899"/>
                  </a:moveTo>
                  <a:lnTo>
                    <a:pt x="32718" y="338691"/>
                  </a:lnTo>
                  <a:lnTo>
                    <a:pt x="15688" y="327211"/>
                  </a:lnTo>
                  <a:lnTo>
                    <a:pt x="4208" y="310181"/>
                  </a:lnTo>
                  <a:lnTo>
                    <a:pt x="0" y="289321"/>
                  </a:lnTo>
                  <a:lnTo>
                    <a:pt x="2357" y="273542"/>
                  </a:lnTo>
                  <a:lnTo>
                    <a:pt x="8965" y="259627"/>
                  </a:lnTo>
                  <a:lnTo>
                    <a:pt x="19128" y="248287"/>
                  </a:lnTo>
                  <a:lnTo>
                    <a:pt x="32146" y="240230"/>
                  </a:lnTo>
                  <a:lnTo>
                    <a:pt x="32146" y="102669"/>
                  </a:lnTo>
                  <a:lnTo>
                    <a:pt x="2497" y="69651"/>
                  </a:lnTo>
                  <a:lnTo>
                    <a:pt x="0" y="53578"/>
                  </a:lnTo>
                  <a:lnTo>
                    <a:pt x="4208" y="32718"/>
                  </a:lnTo>
                  <a:lnTo>
                    <a:pt x="15688" y="15688"/>
                  </a:lnTo>
                  <a:lnTo>
                    <a:pt x="32718" y="4208"/>
                  </a:lnTo>
                  <a:lnTo>
                    <a:pt x="53578" y="0"/>
                  </a:lnTo>
                  <a:lnTo>
                    <a:pt x="74438" y="4208"/>
                  </a:lnTo>
                  <a:lnTo>
                    <a:pt x="91467" y="15688"/>
                  </a:lnTo>
                  <a:lnTo>
                    <a:pt x="102947" y="32718"/>
                  </a:lnTo>
                  <a:lnTo>
                    <a:pt x="103913" y="37504"/>
                  </a:lnTo>
                  <a:lnTo>
                    <a:pt x="51446" y="37504"/>
                  </a:lnTo>
                  <a:lnTo>
                    <a:pt x="49396" y="37912"/>
                  </a:lnTo>
                  <a:lnTo>
                    <a:pt x="37504" y="51446"/>
                  </a:lnTo>
                  <a:lnTo>
                    <a:pt x="37504" y="55709"/>
                  </a:lnTo>
                  <a:lnTo>
                    <a:pt x="51446" y="69651"/>
                  </a:lnTo>
                  <a:lnTo>
                    <a:pt x="104658" y="69651"/>
                  </a:lnTo>
                  <a:lnTo>
                    <a:pt x="98190" y="83272"/>
                  </a:lnTo>
                  <a:lnTo>
                    <a:pt x="88028" y="94612"/>
                  </a:lnTo>
                  <a:lnTo>
                    <a:pt x="75009" y="102669"/>
                  </a:lnTo>
                  <a:lnTo>
                    <a:pt x="75009" y="161471"/>
                  </a:lnTo>
                  <a:lnTo>
                    <a:pt x="247034" y="161471"/>
                  </a:lnTo>
                  <a:lnTo>
                    <a:pt x="242784" y="167774"/>
                  </a:lnTo>
                  <a:lnTo>
                    <a:pt x="215535" y="186145"/>
                  </a:lnTo>
                  <a:lnTo>
                    <a:pt x="182165" y="192881"/>
                  </a:lnTo>
                  <a:lnTo>
                    <a:pt x="117871" y="192881"/>
                  </a:lnTo>
                  <a:lnTo>
                    <a:pt x="101200" y="196253"/>
                  </a:lnTo>
                  <a:lnTo>
                    <a:pt x="87575" y="205446"/>
                  </a:lnTo>
                  <a:lnTo>
                    <a:pt x="78382" y="219072"/>
                  </a:lnTo>
                  <a:lnTo>
                    <a:pt x="75009" y="235743"/>
                  </a:lnTo>
                  <a:lnTo>
                    <a:pt x="75009" y="240230"/>
                  </a:lnTo>
                  <a:lnTo>
                    <a:pt x="88028" y="248287"/>
                  </a:lnTo>
                  <a:lnTo>
                    <a:pt x="98190" y="259627"/>
                  </a:lnTo>
                  <a:lnTo>
                    <a:pt x="104658" y="273248"/>
                  </a:lnTo>
                  <a:lnTo>
                    <a:pt x="51446" y="273248"/>
                  </a:lnTo>
                  <a:lnTo>
                    <a:pt x="49968" y="273542"/>
                  </a:lnTo>
                  <a:lnTo>
                    <a:pt x="49670" y="273542"/>
                  </a:lnTo>
                  <a:lnTo>
                    <a:pt x="45457" y="275287"/>
                  </a:lnTo>
                  <a:lnTo>
                    <a:pt x="37504" y="287190"/>
                  </a:lnTo>
                  <a:lnTo>
                    <a:pt x="37504" y="291453"/>
                  </a:lnTo>
                  <a:lnTo>
                    <a:pt x="51446" y="305395"/>
                  </a:lnTo>
                  <a:lnTo>
                    <a:pt x="103913" y="305395"/>
                  </a:lnTo>
                  <a:lnTo>
                    <a:pt x="102947" y="310181"/>
                  </a:lnTo>
                  <a:lnTo>
                    <a:pt x="91467" y="327211"/>
                  </a:lnTo>
                  <a:lnTo>
                    <a:pt x="74438" y="338691"/>
                  </a:lnTo>
                  <a:lnTo>
                    <a:pt x="53578" y="342899"/>
                  </a:lnTo>
                  <a:close/>
                </a:path>
                <a:path w="300354" h="342900">
                  <a:moveTo>
                    <a:pt x="247034" y="161471"/>
                  </a:moveTo>
                  <a:lnTo>
                    <a:pt x="75009" y="161471"/>
                  </a:lnTo>
                  <a:lnTo>
                    <a:pt x="84824" y="156601"/>
                  </a:lnTo>
                  <a:lnTo>
                    <a:pt x="95310" y="153007"/>
                  </a:lnTo>
                  <a:lnTo>
                    <a:pt x="106361" y="150781"/>
                  </a:lnTo>
                  <a:lnTo>
                    <a:pt x="117871" y="150018"/>
                  </a:lnTo>
                  <a:lnTo>
                    <a:pt x="182165" y="150018"/>
                  </a:lnTo>
                  <a:lnTo>
                    <a:pt x="198836" y="146646"/>
                  </a:lnTo>
                  <a:lnTo>
                    <a:pt x="212462" y="137453"/>
                  </a:lnTo>
                  <a:lnTo>
                    <a:pt x="221655" y="123827"/>
                  </a:lnTo>
                  <a:lnTo>
                    <a:pt x="225028" y="107156"/>
                  </a:lnTo>
                  <a:lnTo>
                    <a:pt x="225028" y="102669"/>
                  </a:lnTo>
                  <a:lnTo>
                    <a:pt x="212009" y="94612"/>
                  </a:lnTo>
                  <a:lnTo>
                    <a:pt x="201847" y="83272"/>
                  </a:lnTo>
                  <a:lnTo>
                    <a:pt x="195378" y="69651"/>
                  </a:lnTo>
                  <a:lnTo>
                    <a:pt x="195221" y="69243"/>
                  </a:lnTo>
                  <a:lnTo>
                    <a:pt x="192881" y="53578"/>
                  </a:lnTo>
                  <a:lnTo>
                    <a:pt x="197090" y="32718"/>
                  </a:lnTo>
                  <a:lnTo>
                    <a:pt x="208569" y="15688"/>
                  </a:lnTo>
                  <a:lnTo>
                    <a:pt x="225599" y="4208"/>
                  </a:lnTo>
                  <a:lnTo>
                    <a:pt x="246459" y="0"/>
                  </a:lnTo>
                  <a:lnTo>
                    <a:pt x="267319" y="4208"/>
                  </a:lnTo>
                  <a:lnTo>
                    <a:pt x="284349" y="15688"/>
                  </a:lnTo>
                  <a:lnTo>
                    <a:pt x="295828" y="32718"/>
                  </a:lnTo>
                  <a:lnTo>
                    <a:pt x="296794" y="37504"/>
                  </a:lnTo>
                  <a:lnTo>
                    <a:pt x="244327" y="37504"/>
                  </a:lnTo>
                  <a:lnTo>
                    <a:pt x="242277" y="37912"/>
                  </a:lnTo>
                  <a:lnTo>
                    <a:pt x="230385" y="51446"/>
                  </a:lnTo>
                  <a:lnTo>
                    <a:pt x="230385" y="55709"/>
                  </a:lnTo>
                  <a:lnTo>
                    <a:pt x="244327" y="69651"/>
                  </a:lnTo>
                  <a:lnTo>
                    <a:pt x="297540" y="69651"/>
                  </a:lnTo>
                  <a:lnTo>
                    <a:pt x="291071" y="83272"/>
                  </a:lnTo>
                  <a:lnTo>
                    <a:pt x="280909" y="94612"/>
                  </a:lnTo>
                  <a:lnTo>
                    <a:pt x="267890" y="102669"/>
                  </a:lnTo>
                  <a:lnTo>
                    <a:pt x="267890" y="107156"/>
                  </a:lnTo>
                  <a:lnTo>
                    <a:pt x="261154" y="140526"/>
                  </a:lnTo>
                  <a:lnTo>
                    <a:pt x="247034" y="161471"/>
                  </a:lnTo>
                  <a:close/>
                </a:path>
                <a:path w="300354" h="342900">
                  <a:moveTo>
                    <a:pt x="104658" y="69651"/>
                  </a:moveTo>
                  <a:lnTo>
                    <a:pt x="55709" y="69651"/>
                  </a:lnTo>
                  <a:lnTo>
                    <a:pt x="57759" y="69243"/>
                  </a:lnTo>
                  <a:lnTo>
                    <a:pt x="61698" y="67612"/>
                  </a:lnTo>
                  <a:lnTo>
                    <a:pt x="69651" y="55709"/>
                  </a:lnTo>
                  <a:lnTo>
                    <a:pt x="69651" y="51446"/>
                  </a:lnTo>
                  <a:lnTo>
                    <a:pt x="55709" y="37504"/>
                  </a:lnTo>
                  <a:lnTo>
                    <a:pt x="103913" y="37504"/>
                  </a:lnTo>
                  <a:lnTo>
                    <a:pt x="107156" y="53578"/>
                  </a:lnTo>
                  <a:lnTo>
                    <a:pt x="104815" y="69243"/>
                  </a:lnTo>
                  <a:lnTo>
                    <a:pt x="104658" y="69651"/>
                  </a:lnTo>
                  <a:close/>
                </a:path>
                <a:path w="300354" h="342900">
                  <a:moveTo>
                    <a:pt x="297540" y="69651"/>
                  </a:moveTo>
                  <a:lnTo>
                    <a:pt x="248590" y="69651"/>
                  </a:lnTo>
                  <a:lnTo>
                    <a:pt x="250641" y="69243"/>
                  </a:lnTo>
                  <a:lnTo>
                    <a:pt x="254579" y="67612"/>
                  </a:lnTo>
                  <a:lnTo>
                    <a:pt x="262532" y="55709"/>
                  </a:lnTo>
                  <a:lnTo>
                    <a:pt x="262532" y="51446"/>
                  </a:lnTo>
                  <a:lnTo>
                    <a:pt x="248590" y="37504"/>
                  </a:lnTo>
                  <a:lnTo>
                    <a:pt x="296794" y="37504"/>
                  </a:lnTo>
                  <a:lnTo>
                    <a:pt x="300037" y="53578"/>
                  </a:lnTo>
                  <a:lnTo>
                    <a:pt x="297696" y="69243"/>
                  </a:lnTo>
                  <a:lnTo>
                    <a:pt x="297540" y="69651"/>
                  </a:lnTo>
                  <a:close/>
                </a:path>
                <a:path w="300354" h="342900">
                  <a:moveTo>
                    <a:pt x="103913" y="305395"/>
                  </a:moveTo>
                  <a:lnTo>
                    <a:pt x="55709" y="305395"/>
                  </a:lnTo>
                  <a:lnTo>
                    <a:pt x="57759" y="304987"/>
                  </a:lnTo>
                  <a:lnTo>
                    <a:pt x="61698" y="303356"/>
                  </a:lnTo>
                  <a:lnTo>
                    <a:pt x="69651" y="291453"/>
                  </a:lnTo>
                  <a:lnTo>
                    <a:pt x="69651" y="287190"/>
                  </a:lnTo>
                  <a:lnTo>
                    <a:pt x="57485" y="273542"/>
                  </a:lnTo>
                  <a:lnTo>
                    <a:pt x="57187" y="273542"/>
                  </a:lnTo>
                  <a:lnTo>
                    <a:pt x="55709" y="273248"/>
                  </a:lnTo>
                  <a:lnTo>
                    <a:pt x="104658" y="273248"/>
                  </a:lnTo>
                  <a:lnTo>
                    <a:pt x="104798" y="273542"/>
                  </a:lnTo>
                  <a:lnTo>
                    <a:pt x="107156" y="289321"/>
                  </a:lnTo>
                  <a:lnTo>
                    <a:pt x="103995" y="304987"/>
                  </a:lnTo>
                  <a:lnTo>
                    <a:pt x="103913" y="305395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9" name="object 39">
            <a:extLst>
              <a:ext uri="{FF2B5EF4-FFF2-40B4-BE49-F238E27FC236}">
                <a16:creationId xmlns:a16="http://schemas.microsoft.com/office/drawing/2014/main" id="{00D51190-C7D3-A887-99A7-1A08E225C64D}"/>
              </a:ext>
            </a:extLst>
          </p:cNvPr>
          <p:cNvSpPr txBox="1"/>
          <p:nvPr/>
        </p:nvSpPr>
        <p:spPr>
          <a:xfrm>
            <a:off x="8378826" y="4921251"/>
            <a:ext cx="2952750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Version</a:t>
            </a:r>
            <a:r>
              <a:rPr sz="1500" b="1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"/>
                <a:cs typeface="Segoe UI"/>
              </a:rPr>
              <a:t>Control</a:t>
            </a:r>
            <a:endParaRPr sz="1500">
              <a:latin typeface="Segoe UI"/>
              <a:cs typeface="Segoe UI"/>
            </a:endParaRPr>
          </a:p>
          <a:p>
            <a:pPr marL="12700" marR="5080" algn="ctr">
              <a:lnSpc>
                <a:spcPct val="125000"/>
              </a:lnSpc>
              <a:spcBef>
                <a:spcPts val="540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Git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VCS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delta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to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efficiently store code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history</a:t>
            </a:r>
            <a:endParaRPr sz="1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4682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9F36-B020-2506-78BE-067A7528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540FF00-9470-DD13-D3EE-1D044DBBDEA4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D8A88E1-2E25-B97E-3728-28EE02A811DE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8A953DB-E752-7C4E-03F9-BF77B9CC314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79F5D41-9748-B6AB-0F25-247A7FFB158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7CFAB46B-6DE3-43E2-277B-28219A1FC9A9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104B78DB-443C-CBB9-246B-B05D25929F3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92FE398B-2793-D4B0-617C-7E8E326FFAD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1CA4EB75-E36F-BC45-DA0A-62A255CC6A5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27C1A51D-0B21-6620-64AD-0AB133EC039A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7E53EDA0-0E72-238A-678B-D2D0F3C8E2B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7C925904-CCBA-7170-1006-6CF040AE864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6758980-7CAD-536D-8593-10CA0E901E3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35304BD-529B-E2A8-E3B3-C585DF6CE59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383754A5-5A41-58A6-7867-8B8FBAA4C2E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5DE4C3ED-7FC3-EE2B-DFB7-D1336333C1C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766DC512-D7DF-F8F2-7973-065AAC5F55A0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0511ED3-CC57-9DC6-B667-E27580FD5762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A16E6B6-F01C-B995-408A-503099589DA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53AF73C1-0D30-E7C4-DDE4-2B388DC1A9F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9BFC587E-84D8-FCBA-A4D3-0D5D4A0242F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2596D2FB-018D-29FF-5465-8858F3AD4BC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2CC4030-0F8D-3EDF-EF32-342C184AD4C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23A06DC-9CC3-CF94-6EE2-C525D41C10B7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F31DA31C-1402-8499-80F0-67EE7D4AC4D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07D15F12-376E-8198-EC1A-A38B93C2EF0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8AE4A9F5-7D26-03F0-6243-E9370D0650D7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021D1A63-ECB7-EB63-F32E-6D2E824F2897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87CB286-1C6A-8DD7-6511-652DFDD03EA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30E45B8-E330-0F15-8E01-C29F7491CE0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26288E50-9051-B382-9180-B2F1721DA58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7B281587-0966-D1E9-5355-6601E3C454C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C40CFD0-ED13-9D0A-A427-989E77B2BB1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332FAAA9-165E-BC66-50D9-8DD8EC0CAB2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E346AC6B-FB05-AAF5-BB93-FB64F047363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62208080-8F4F-434A-9F8B-54D1F1216D9D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041B673-C58F-2A45-13E3-E1EA0FA88BBD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2ECEE994-2A47-52C3-9B35-6C34992E239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C9DCE9A7-6EAF-C94D-EA99-F0D92ADAD48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D6A5880-1BF5-AB42-38C7-408BEA7578E8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066F321-E8F3-A8B6-BB71-D1CDB27F9E37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7192F219-0D7F-5409-1FA1-1E89C6BCD1D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B02A7D1A-69B0-59D4-EE14-39594B8AA1B3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BC89E04-E5FC-0298-443E-2B925E35C53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CECC5B3-6E0F-8BCF-B2D7-23947FD0DEA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10146EA4-1778-C48C-1EAD-3006EC2FBAE6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E1B95E32-1663-37F6-D655-98614B668C6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45A28DBA-EB0E-72E9-BC22-6578647E11FA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FE69DD73-68BD-C723-4482-72277F923BF2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F07836E8-0858-7B50-4EEA-60198B926D18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A9EA358-76F1-B2CD-E8AD-EB9A7D6B726C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E29CE80D-915B-EA30-6363-1FBEE5BCBE5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5210B83B-D500-EF8A-4E3A-B5C28F51F67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6C759CC9-F6A7-1F2F-24F8-BAC95CFC24C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5DEF2C72-43E5-2664-9811-5CE00CD413F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D92C649F-B212-1A9D-2899-F30FDD6661BB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EF8E3D23-13DA-D577-18AA-D6676C36E2F6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9B0F1A63-2744-5AE4-220A-FD5C751C234F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B5292C8-4D8A-DA40-91C9-97DFE08CB04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615D1407-A0F6-327E-CB6F-115049691C66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499CD161-CAF3-597E-1A6E-470AFD23234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715A805-B85A-6308-49F9-02E41873958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50F08BD6-B04F-4205-5E54-2AAC69C5F9E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497D389-616C-AFF8-58E1-E3BE85F1D90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B69CFFD2-A84E-6FE7-CD99-CBC3F3956CA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DF543314-CD25-7946-97DF-14006B41693F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7CA7FCE0-9492-CF56-1020-6FBC41CCE8C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4FDCA914-3537-42A7-2C2E-EC745653BFDD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1F9C316D-F0FC-C6C0-F570-93352E6F17D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7E327860-AB0E-572A-A522-65E7FFDF95E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D4847AF-AE5E-6795-1FB6-F33EE1B433C0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40FDB3CD-CE42-3EA3-6723-E2C7B8B29CA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584AEEE-D871-78E4-C442-650D7DF51B4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8AD90CA6-3874-02DF-4E9A-F8ED962C2B20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883901BD-0F81-90C6-C8FC-C61FDC94E40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B0E16F-D469-B957-B167-DB14CDA4E47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33F15-F40A-ABA9-BED2-80651C50B6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C9977-4021-CCCE-5F4E-B0EE9F81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F4E05424-4ED6-D7EC-494F-3CF97EA57B5B}"/>
              </a:ext>
            </a:extLst>
          </p:cNvPr>
          <p:cNvGrpSpPr/>
          <p:nvPr/>
        </p:nvGrpSpPr>
        <p:grpSpPr>
          <a:xfrm>
            <a:off x="571500" y="1062038"/>
            <a:ext cx="11049000" cy="552450"/>
            <a:chOff x="571499" y="1238249"/>
            <a:chExt cx="11049000" cy="552450"/>
          </a:xfrm>
        </p:grpSpPr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EF2D32EF-1CFD-27C6-3A6A-F7C094850B9F}"/>
                </a:ext>
              </a:extLst>
            </p:cNvPr>
            <p:cNvSpPr/>
            <p:nvPr/>
          </p:nvSpPr>
          <p:spPr>
            <a:xfrm>
              <a:off x="590549" y="1238249"/>
              <a:ext cx="11029950" cy="552450"/>
            </a:xfrm>
            <a:custGeom>
              <a:avLst/>
              <a:gdLst/>
              <a:ahLst/>
              <a:cxnLst/>
              <a:rect l="l" t="t" r="r" b="b"/>
              <a:pathLst>
                <a:path w="11029950" h="552450">
                  <a:moveTo>
                    <a:pt x="10988638" y="552449"/>
                  </a:moveTo>
                  <a:lnTo>
                    <a:pt x="0" y="5524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511140"/>
                  </a:lnTo>
                  <a:lnTo>
                    <a:pt x="11006383" y="546407"/>
                  </a:lnTo>
                  <a:lnTo>
                    <a:pt x="10988638" y="5524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852E5F36-BFDD-CF85-DFF8-C2E88F85C15A}"/>
                </a:ext>
              </a:extLst>
            </p:cNvPr>
            <p:cNvSpPr/>
            <p:nvPr/>
          </p:nvSpPr>
          <p:spPr>
            <a:xfrm>
              <a:off x="571499" y="1238249"/>
              <a:ext cx="38100" cy="552450"/>
            </a:xfrm>
            <a:custGeom>
              <a:avLst/>
              <a:gdLst/>
              <a:ahLst/>
              <a:cxnLst/>
              <a:rect l="l" t="t" r="r" b="b"/>
              <a:pathLst>
                <a:path w="38100" h="552450">
                  <a:moveTo>
                    <a:pt x="38099" y="552449"/>
                  </a:moveTo>
                  <a:lnTo>
                    <a:pt x="0" y="5524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5244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B8CD12F4-4C10-04B3-BD03-2CAAD6BCDCC8}"/>
              </a:ext>
            </a:extLst>
          </p:cNvPr>
          <p:cNvSpPr/>
          <p:nvPr/>
        </p:nvSpPr>
        <p:spPr>
          <a:xfrm>
            <a:off x="571500" y="1804988"/>
            <a:ext cx="11049000" cy="819150"/>
          </a:xfrm>
          <a:custGeom>
            <a:avLst/>
            <a:gdLst/>
            <a:ahLst/>
            <a:cxnLst/>
            <a:rect l="l" t="t" r="r" b="b"/>
            <a:pathLst>
              <a:path w="11049000" h="819150">
                <a:moveTo>
                  <a:pt x="10977802" y="819149"/>
                </a:moveTo>
                <a:lnTo>
                  <a:pt x="71196" y="819149"/>
                </a:lnTo>
                <a:lnTo>
                  <a:pt x="66241" y="818661"/>
                </a:lnTo>
                <a:lnTo>
                  <a:pt x="29705" y="803528"/>
                </a:lnTo>
                <a:lnTo>
                  <a:pt x="3885" y="767487"/>
                </a:lnTo>
                <a:lnTo>
                  <a:pt x="0" y="747953"/>
                </a:lnTo>
                <a:lnTo>
                  <a:pt x="0" y="7429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0977802" y="0"/>
                </a:lnTo>
                <a:lnTo>
                  <a:pt x="11019294" y="15621"/>
                </a:lnTo>
                <a:lnTo>
                  <a:pt x="11045112" y="51661"/>
                </a:lnTo>
                <a:lnTo>
                  <a:pt x="11048999" y="71196"/>
                </a:lnTo>
                <a:lnTo>
                  <a:pt x="11048999" y="747953"/>
                </a:lnTo>
                <a:lnTo>
                  <a:pt x="11033378" y="789444"/>
                </a:lnTo>
                <a:lnTo>
                  <a:pt x="10997336" y="815264"/>
                </a:lnTo>
                <a:lnTo>
                  <a:pt x="10982756" y="818661"/>
                </a:lnTo>
                <a:lnTo>
                  <a:pt x="10977802" y="8191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2EEA263-9481-ECC6-8FA9-431DE613215F}"/>
              </a:ext>
            </a:extLst>
          </p:cNvPr>
          <p:cNvSpPr/>
          <p:nvPr/>
        </p:nvSpPr>
        <p:spPr>
          <a:xfrm>
            <a:off x="571500" y="2862263"/>
            <a:ext cx="11049000" cy="819150"/>
          </a:xfrm>
          <a:custGeom>
            <a:avLst/>
            <a:gdLst/>
            <a:ahLst/>
            <a:cxnLst/>
            <a:rect l="l" t="t" r="r" b="b"/>
            <a:pathLst>
              <a:path w="11049000" h="819150">
                <a:moveTo>
                  <a:pt x="10977802" y="819149"/>
                </a:moveTo>
                <a:lnTo>
                  <a:pt x="71196" y="819149"/>
                </a:lnTo>
                <a:lnTo>
                  <a:pt x="66241" y="818661"/>
                </a:lnTo>
                <a:lnTo>
                  <a:pt x="29705" y="803527"/>
                </a:lnTo>
                <a:lnTo>
                  <a:pt x="3885" y="767487"/>
                </a:lnTo>
                <a:lnTo>
                  <a:pt x="0" y="747953"/>
                </a:lnTo>
                <a:lnTo>
                  <a:pt x="0" y="7429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0977802" y="0"/>
                </a:lnTo>
                <a:lnTo>
                  <a:pt x="11019294" y="15621"/>
                </a:lnTo>
                <a:lnTo>
                  <a:pt x="11045112" y="51661"/>
                </a:lnTo>
                <a:lnTo>
                  <a:pt x="11048999" y="71196"/>
                </a:lnTo>
                <a:lnTo>
                  <a:pt x="11048999" y="747953"/>
                </a:lnTo>
                <a:lnTo>
                  <a:pt x="11033378" y="789444"/>
                </a:lnTo>
                <a:lnTo>
                  <a:pt x="10997336" y="815263"/>
                </a:lnTo>
                <a:lnTo>
                  <a:pt x="10982756" y="818661"/>
                </a:lnTo>
                <a:lnTo>
                  <a:pt x="10977802" y="8191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9D03E10-ADC0-3F6D-6E86-D3298A91812E}"/>
              </a:ext>
            </a:extLst>
          </p:cNvPr>
          <p:cNvSpPr/>
          <p:nvPr/>
        </p:nvSpPr>
        <p:spPr>
          <a:xfrm>
            <a:off x="571500" y="3919538"/>
            <a:ext cx="11049000" cy="819150"/>
          </a:xfrm>
          <a:custGeom>
            <a:avLst/>
            <a:gdLst/>
            <a:ahLst/>
            <a:cxnLst/>
            <a:rect l="l" t="t" r="r" b="b"/>
            <a:pathLst>
              <a:path w="11049000" h="819150">
                <a:moveTo>
                  <a:pt x="10977802" y="819149"/>
                </a:moveTo>
                <a:lnTo>
                  <a:pt x="71196" y="819149"/>
                </a:lnTo>
                <a:lnTo>
                  <a:pt x="66241" y="818661"/>
                </a:lnTo>
                <a:lnTo>
                  <a:pt x="29705" y="803527"/>
                </a:lnTo>
                <a:lnTo>
                  <a:pt x="3885" y="767487"/>
                </a:lnTo>
                <a:lnTo>
                  <a:pt x="0" y="747952"/>
                </a:lnTo>
                <a:lnTo>
                  <a:pt x="0" y="74294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977802" y="0"/>
                </a:lnTo>
                <a:lnTo>
                  <a:pt x="11019294" y="15621"/>
                </a:lnTo>
                <a:lnTo>
                  <a:pt x="11045112" y="51661"/>
                </a:lnTo>
                <a:lnTo>
                  <a:pt x="11048999" y="71196"/>
                </a:lnTo>
                <a:lnTo>
                  <a:pt x="11048999" y="747952"/>
                </a:lnTo>
                <a:lnTo>
                  <a:pt x="11033378" y="789443"/>
                </a:lnTo>
                <a:lnTo>
                  <a:pt x="10997336" y="815262"/>
                </a:lnTo>
                <a:lnTo>
                  <a:pt x="10982756" y="818661"/>
                </a:lnTo>
                <a:lnTo>
                  <a:pt x="10977802" y="8191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grpSp>
        <p:nvGrpSpPr>
          <p:cNvPr id="10" name="object 8">
            <a:extLst>
              <a:ext uri="{FF2B5EF4-FFF2-40B4-BE49-F238E27FC236}">
                <a16:creationId xmlns:a16="http://schemas.microsoft.com/office/drawing/2014/main" id="{0A663178-1D4E-CA3D-CDF6-4794B88BA8EC}"/>
              </a:ext>
            </a:extLst>
          </p:cNvPr>
          <p:cNvGrpSpPr/>
          <p:nvPr/>
        </p:nvGrpSpPr>
        <p:grpSpPr>
          <a:xfrm>
            <a:off x="571500" y="4976813"/>
            <a:ext cx="11049000" cy="819150"/>
            <a:chOff x="571499" y="5153024"/>
            <a:chExt cx="11049000" cy="819150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2760132D-B43A-4BEB-DAFF-6FA0279DDA18}"/>
                </a:ext>
              </a:extLst>
            </p:cNvPr>
            <p:cNvSpPr/>
            <p:nvPr/>
          </p:nvSpPr>
          <p:spPr>
            <a:xfrm>
              <a:off x="571499" y="5153024"/>
              <a:ext cx="11049000" cy="819150"/>
            </a:xfrm>
            <a:custGeom>
              <a:avLst/>
              <a:gdLst/>
              <a:ahLst/>
              <a:cxnLst/>
              <a:rect l="l" t="t" r="r" b="b"/>
              <a:pathLst>
                <a:path w="11049000" h="819150">
                  <a:moveTo>
                    <a:pt x="10977802" y="819149"/>
                  </a:moveTo>
                  <a:lnTo>
                    <a:pt x="71196" y="819149"/>
                  </a:lnTo>
                  <a:lnTo>
                    <a:pt x="66241" y="818661"/>
                  </a:lnTo>
                  <a:lnTo>
                    <a:pt x="29705" y="803527"/>
                  </a:lnTo>
                  <a:lnTo>
                    <a:pt x="3885" y="767486"/>
                  </a:lnTo>
                  <a:lnTo>
                    <a:pt x="0" y="747953"/>
                  </a:lnTo>
                  <a:lnTo>
                    <a:pt x="0" y="7429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0977802" y="0"/>
                  </a:lnTo>
                  <a:lnTo>
                    <a:pt x="11019294" y="15621"/>
                  </a:lnTo>
                  <a:lnTo>
                    <a:pt x="11045112" y="51661"/>
                  </a:lnTo>
                  <a:lnTo>
                    <a:pt x="11048999" y="71196"/>
                  </a:lnTo>
                  <a:lnTo>
                    <a:pt x="11048999" y="747953"/>
                  </a:lnTo>
                  <a:lnTo>
                    <a:pt x="11033378" y="789442"/>
                  </a:lnTo>
                  <a:lnTo>
                    <a:pt x="10997336" y="815263"/>
                  </a:lnTo>
                  <a:lnTo>
                    <a:pt x="10982756" y="818661"/>
                  </a:lnTo>
                  <a:lnTo>
                    <a:pt x="10977802" y="819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784ED7F1-8ADF-586B-9639-5CFE9CE4F5F3}"/>
                </a:ext>
              </a:extLst>
            </p:cNvPr>
            <p:cNvSpPr/>
            <p:nvPr/>
          </p:nvSpPr>
          <p:spPr>
            <a:xfrm>
              <a:off x="714374" y="5342334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50031" y="107156"/>
                  </a:moveTo>
                  <a:lnTo>
                    <a:pt x="35718" y="107156"/>
                  </a:lnTo>
                  <a:lnTo>
                    <a:pt x="21826" y="104345"/>
                  </a:lnTo>
                  <a:lnTo>
                    <a:pt x="10471" y="96684"/>
                  </a:lnTo>
                  <a:lnTo>
                    <a:pt x="2810" y="85329"/>
                  </a:lnTo>
                  <a:lnTo>
                    <a:pt x="0" y="71437"/>
                  </a:lnTo>
                  <a:lnTo>
                    <a:pt x="0" y="35718"/>
                  </a:lnTo>
                  <a:lnTo>
                    <a:pt x="2810" y="21826"/>
                  </a:lnTo>
                  <a:lnTo>
                    <a:pt x="10471" y="10471"/>
                  </a:lnTo>
                  <a:lnTo>
                    <a:pt x="21826" y="2810"/>
                  </a:lnTo>
                  <a:lnTo>
                    <a:pt x="35718" y="0"/>
                  </a:lnTo>
                  <a:lnTo>
                    <a:pt x="250031" y="0"/>
                  </a:lnTo>
                  <a:lnTo>
                    <a:pt x="263923" y="2810"/>
                  </a:lnTo>
                  <a:lnTo>
                    <a:pt x="275278" y="10471"/>
                  </a:lnTo>
                  <a:lnTo>
                    <a:pt x="282939" y="21826"/>
                  </a:lnTo>
                  <a:lnTo>
                    <a:pt x="285750" y="35718"/>
                  </a:lnTo>
                  <a:lnTo>
                    <a:pt x="285750" y="40183"/>
                  </a:lnTo>
                  <a:lnTo>
                    <a:pt x="190212" y="40183"/>
                  </a:lnTo>
                  <a:lnTo>
                    <a:pt x="188503" y="40523"/>
                  </a:lnTo>
                  <a:lnTo>
                    <a:pt x="178593" y="51801"/>
                  </a:lnTo>
                  <a:lnTo>
                    <a:pt x="178593" y="55354"/>
                  </a:lnTo>
                  <a:lnTo>
                    <a:pt x="190212" y="66972"/>
                  </a:lnTo>
                  <a:lnTo>
                    <a:pt x="285750" y="66972"/>
                  </a:lnTo>
                  <a:lnTo>
                    <a:pt x="285750" y="71437"/>
                  </a:lnTo>
                  <a:lnTo>
                    <a:pt x="282939" y="85329"/>
                  </a:lnTo>
                  <a:lnTo>
                    <a:pt x="275278" y="96684"/>
                  </a:lnTo>
                  <a:lnTo>
                    <a:pt x="263923" y="104345"/>
                  </a:lnTo>
                  <a:lnTo>
                    <a:pt x="250031" y="107156"/>
                  </a:lnTo>
                  <a:close/>
                </a:path>
                <a:path w="285750" h="250189">
                  <a:moveTo>
                    <a:pt x="230395" y="66972"/>
                  </a:moveTo>
                  <a:lnTo>
                    <a:pt x="193764" y="66972"/>
                  </a:lnTo>
                  <a:lnTo>
                    <a:pt x="195473" y="66632"/>
                  </a:lnTo>
                  <a:lnTo>
                    <a:pt x="198755" y="65273"/>
                  </a:lnTo>
                  <a:lnTo>
                    <a:pt x="205382" y="55354"/>
                  </a:lnTo>
                  <a:lnTo>
                    <a:pt x="205382" y="51801"/>
                  </a:lnTo>
                  <a:lnTo>
                    <a:pt x="193764" y="40183"/>
                  </a:lnTo>
                  <a:lnTo>
                    <a:pt x="230395" y="40183"/>
                  </a:lnTo>
                  <a:lnTo>
                    <a:pt x="218777" y="51801"/>
                  </a:lnTo>
                  <a:lnTo>
                    <a:pt x="218777" y="55354"/>
                  </a:lnTo>
                  <a:lnTo>
                    <a:pt x="228687" y="66632"/>
                  </a:lnTo>
                  <a:lnTo>
                    <a:pt x="230395" y="66972"/>
                  </a:lnTo>
                  <a:close/>
                </a:path>
                <a:path w="285750" h="250189">
                  <a:moveTo>
                    <a:pt x="285750" y="66972"/>
                  </a:moveTo>
                  <a:lnTo>
                    <a:pt x="233948" y="66972"/>
                  </a:lnTo>
                  <a:lnTo>
                    <a:pt x="235656" y="66632"/>
                  </a:lnTo>
                  <a:lnTo>
                    <a:pt x="238938" y="65273"/>
                  </a:lnTo>
                  <a:lnTo>
                    <a:pt x="245566" y="55354"/>
                  </a:lnTo>
                  <a:lnTo>
                    <a:pt x="245566" y="51801"/>
                  </a:lnTo>
                  <a:lnTo>
                    <a:pt x="233948" y="40183"/>
                  </a:lnTo>
                  <a:lnTo>
                    <a:pt x="285750" y="40183"/>
                  </a:lnTo>
                  <a:lnTo>
                    <a:pt x="285750" y="66972"/>
                  </a:lnTo>
                  <a:close/>
                </a:path>
                <a:path w="285750" h="250189">
                  <a:moveTo>
                    <a:pt x="250031" y="250031"/>
                  </a:moveTo>
                  <a:lnTo>
                    <a:pt x="35718" y="250031"/>
                  </a:lnTo>
                  <a:lnTo>
                    <a:pt x="21826" y="247220"/>
                  </a:lnTo>
                  <a:lnTo>
                    <a:pt x="10471" y="239559"/>
                  </a:lnTo>
                  <a:lnTo>
                    <a:pt x="2810" y="228204"/>
                  </a:lnTo>
                  <a:lnTo>
                    <a:pt x="0" y="214312"/>
                  </a:lnTo>
                  <a:lnTo>
                    <a:pt x="0" y="178593"/>
                  </a:lnTo>
                  <a:lnTo>
                    <a:pt x="2810" y="164701"/>
                  </a:lnTo>
                  <a:lnTo>
                    <a:pt x="10471" y="153346"/>
                  </a:lnTo>
                  <a:lnTo>
                    <a:pt x="21826" y="145685"/>
                  </a:lnTo>
                  <a:lnTo>
                    <a:pt x="35718" y="142875"/>
                  </a:lnTo>
                  <a:lnTo>
                    <a:pt x="250031" y="142875"/>
                  </a:lnTo>
                  <a:lnTo>
                    <a:pt x="263923" y="145685"/>
                  </a:lnTo>
                  <a:lnTo>
                    <a:pt x="275278" y="153346"/>
                  </a:lnTo>
                  <a:lnTo>
                    <a:pt x="282939" y="164701"/>
                  </a:lnTo>
                  <a:lnTo>
                    <a:pt x="285750" y="178593"/>
                  </a:lnTo>
                  <a:lnTo>
                    <a:pt x="285750" y="183058"/>
                  </a:lnTo>
                  <a:lnTo>
                    <a:pt x="190212" y="183058"/>
                  </a:lnTo>
                  <a:lnTo>
                    <a:pt x="188503" y="183398"/>
                  </a:lnTo>
                  <a:lnTo>
                    <a:pt x="178593" y="194676"/>
                  </a:lnTo>
                  <a:lnTo>
                    <a:pt x="178593" y="198229"/>
                  </a:lnTo>
                  <a:lnTo>
                    <a:pt x="190212" y="209847"/>
                  </a:lnTo>
                  <a:lnTo>
                    <a:pt x="285750" y="209847"/>
                  </a:lnTo>
                  <a:lnTo>
                    <a:pt x="285750" y="214312"/>
                  </a:lnTo>
                  <a:lnTo>
                    <a:pt x="282939" y="228204"/>
                  </a:lnTo>
                  <a:lnTo>
                    <a:pt x="275278" y="239559"/>
                  </a:lnTo>
                  <a:lnTo>
                    <a:pt x="263923" y="247220"/>
                  </a:lnTo>
                  <a:lnTo>
                    <a:pt x="250031" y="250031"/>
                  </a:lnTo>
                  <a:close/>
                </a:path>
                <a:path w="285750" h="250189">
                  <a:moveTo>
                    <a:pt x="234860" y="209847"/>
                  </a:moveTo>
                  <a:lnTo>
                    <a:pt x="193764" y="209847"/>
                  </a:lnTo>
                  <a:lnTo>
                    <a:pt x="195473" y="209507"/>
                  </a:lnTo>
                  <a:lnTo>
                    <a:pt x="198755" y="208148"/>
                  </a:lnTo>
                  <a:lnTo>
                    <a:pt x="205382" y="198229"/>
                  </a:lnTo>
                  <a:lnTo>
                    <a:pt x="205382" y="194676"/>
                  </a:lnTo>
                  <a:lnTo>
                    <a:pt x="193764" y="183058"/>
                  </a:lnTo>
                  <a:lnTo>
                    <a:pt x="234860" y="183058"/>
                  </a:lnTo>
                  <a:lnTo>
                    <a:pt x="223242" y="194676"/>
                  </a:lnTo>
                  <a:lnTo>
                    <a:pt x="223242" y="198229"/>
                  </a:lnTo>
                  <a:lnTo>
                    <a:pt x="233151" y="209507"/>
                  </a:lnTo>
                  <a:lnTo>
                    <a:pt x="234860" y="209847"/>
                  </a:lnTo>
                  <a:close/>
                </a:path>
                <a:path w="285750" h="250189">
                  <a:moveTo>
                    <a:pt x="285750" y="209847"/>
                  </a:moveTo>
                  <a:lnTo>
                    <a:pt x="238412" y="209847"/>
                  </a:lnTo>
                  <a:lnTo>
                    <a:pt x="240121" y="209507"/>
                  </a:lnTo>
                  <a:lnTo>
                    <a:pt x="243403" y="208148"/>
                  </a:lnTo>
                  <a:lnTo>
                    <a:pt x="250031" y="198229"/>
                  </a:lnTo>
                  <a:lnTo>
                    <a:pt x="250031" y="194676"/>
                  </a:lnTo>
                  <a:lnTo>
                    <a:pt x="238412" y="183058"/>
                  </a:lnTo>
                  <a:lnTo>
                    <a:pt x="285750" y="183058"/>
                  </a:lnTo>
                  <a:lnTo>
                    <a:pt x="285750" y="209847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11" name="object 15">
            <a:extLst>
              <a:ext uri="{FF2B5EF4-FFF2-40B4-BE49-F238E27FC236}">
                <a16:creationId xmlns:a16="http://schemas.microsoft.com/office/drawing/2014/main" id="{7EF2655A-ED4E-9142-4F3B-61184C91CDDB}"/>
              </a:ext>
            </a:extLst>
          </p:cNvPr>
          <p:cNvSpPr txBox="1"/>
          <p:nvPr/>
        </p:nvSpPr>
        <p:spPr>
          <a:xfrm>
            <a:off x="787400" y="1211264"/>
            <a:ext cx="8145145" cy="442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Key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Benefits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of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</a:t>
            </a:r>
            <a:r>
              <a:rPr sz="1500" b="1" spc="-3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Techniques</a:t>
            </a:r>
            <a:endParaRPr sz="15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</a:pPr>
            <a:endParaRPr sz="15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 dirty="0">
              <a:latin typeface="Segoe UI Semibold"/>
              <a:cs typeface="Segoe UI Semibold"/>
            </a:endParaRPr>
          </a:p>
          <a:p>
            <a:pPr marL="36449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Perfect</a:t>
            </a:r>
            <a:r>
              <a:rPr sz="1500" b="1" spc="-5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Data</a:t>
            </a:r>
            <a:r>
              <a:rPr sz="1500" b="1" spc="-4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C00000"/>
                </a:solidFill>
                <a:latin typeface="Segoe UI"/>
                <a:cs typeface="Segoe UI"/>
              </a:rPr>
              <a:t>Reconstruction</a:t>
            </a:r>
            <a:endParaRPr sz="1500" dirty="0">
              <a:solidFill>
                <a:srgbClr val="C00000"/>
              </a:solidFill>
              <a:latin typeface="Segoe UI"/>
              <a:cs typeface="Segoe UI"/>
            </a:endParaRPr>
          </a:p>
          <a:p>
            <a:pPr marL="36449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completely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recovered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essential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applications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 dirty="0">
              <a:latin typeface="Segoe UI"/>
              <a:cs typeface="Segoe UI"/>
            </a:endParaRPr>
          </a:p>
          <a:p>
            <a:pPr marL="293370">
              <a:lnSpc>
                <a:spcPct val="100000"/>
              </a:lnSpc>
            </a:pP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Highly</a:t>
            </a:r>
            <a:r>
              <a:rPr sz="1500" b="1" spc="-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Efficient</a:t>
            </a:r>
            <a:r>
              <a:rPr sz="1500" b="1" spc="-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for</a:t>
            </a:r>
            <a:r>
              <a:rPr sz="1500" b="1" spc="-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spc="-20" dirty="0">
                <a:solidFill>
                  <a:srgbClr val="C00000"/>
                </a:solidFill>
                <a:latin typeface="Segoe UI"/>
                <a:cs typeface="Segoe UI"/>
              </a:rPr>
              <a:t>Textual</a:t>
            </a:r>
            <a:r>
              <a:rPr sz="1500" b="1" spc="-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spc="-20" dirty="0">
                <a:solidFill>
                  <a:srgbClr val="C00000"/>
                </a:solidFill>
                <a:latin typeface="Segoe UI"/>
                <a:cs typeface="Segoe UI"/>
              </a:rPr>
              <a:t>Data</a:t>
            </a:r>
            <a:endParaRPr sz="1500" dirty="0">
              <a:solidFill>
                <a:srgbClr val="C00000"/>
              </a:solidFill>
              <a:latin typeface="Segoe UI"/>
              <a:cs typeface="Segoe UI"/>
            </a:endParaRPr>
          </a:p>
          <a:p>
            <a:pPr marL="29337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achieve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significant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ratios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files,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program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code,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350" dirty="0">
              <a:latin typeface="Segoe UI"/>
              <a:cs typeface="Segoe UI"/>
            </a:endParaRPr>
          </a:p>
          <a:p>
            <a:pPr marL="436245">
              <a:lnSpc>
                <a:spcPct val="100000"/>
              </a:lnSpc>
            </a:pP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Essential</a:t>
            </a:r>
            <a:r>
              <a:rPr sz="1500" b="1" spc="-4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for</a:t>
            </a:r>
            <a:r>
              <a:rPr sz="1500" b="1" spc="-3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Critical</a:t>
            </a:r>
            <a:r>
              <a:rPr sz="1500" b="1" spc="-3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C00000"/>
                </a:solidFill>
                <a:latin typeface="Segoe UI"/>
                <a:cs typeface="Segoe UI"/>
              </a:rPr>
              <a:t>Applications</a:t>
            </a:r>
            <a:endParaRPr sz="1500" dirty="0">
              <a:solidFill>
                <a:srgbClr val="C00000"/>
              </a:solidFill>
              <a:latin typeface="Segoe UI"/>
              <a:cs typeface="Segoe UI"/>
            </a:endParaRPr>
          </a:p>
          <a:p>
            <a:pPr marL="436245">
              <a:lnSpc>
                <a:spcPct val="100000"/>
              </a:lnSpc>
              <a:spcBef>
                <a:spcPts val="375"/>
              </a:spcBef>
            </a:pP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Required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medical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imaging,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legal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documents,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scientific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unacceptable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350" dirty="0">
              <a:latin typeface="Segoe UI"/>
              <a:cs typeface="Segoe UI"/>
            </a:endParaRPr>
          </a:p>
          <a:p>
            <a:pPr marL="364490">
              <a:lnSpc>
                <a:spcPct val="100000"/>
              </a:lnSpc>
            </a:pP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Universal</a:t>
            </a:r>
            <a:r>
              <a:rPr sz="1500" b="1" spc="-5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Segoe UI"/>
                <a:cs typeface="Segoe UI"/>
              </a:rPr>
              <a:t>Format</a:t>
            </a:r>
            <a:r>
              <a:rPr sz="1500" b="1" spc="-5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500" b="1" spc="-10" dirty="0">
                <a:solidFill>
                  <a:srgbClr val="C00000"/>
                </a:solidFill>
                <a:latin typeface="Segoe UI"/>
                <a:cs typeface="Segoe UI"/>
              </a:rPr>
              <a:t>Support</a:t>
            </a:r>
            <a:endParaRPr sz="1500" dirty="0">
              <a:solidFill>
                <a:srgbClr val="C00000"/>
              </a:solidFill>
              <a:latin typeface="Segoe UI"/>
              <a:cs typeface="Segoe UI"/>
            </a:endParaRPr>
          </a:p>
          <a:p>
            <a:pPr marL="36449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Widely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supported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standard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file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formats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utilities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(ZIP,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PNG,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GIF,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TIFF)</a:t>
            </a:r>
            <a:endParaRPr sz="135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0251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7657-5D93-2AA3-0A4D-B312179E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AC8806E-5853-8DC4-265A-8DE8BBD535E4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DE9F465-9DC1-9944-CFE5-C97256A81306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A9E2482-09D1-553C-982B-6D8F3A110BC9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E1259345-B361-C0B8-874A-992BA5FAFE03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D83BB4F0-EF80-7C6F-3BAE-54A2F77C5E9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A2BFD2B5-16E0-5B97-0EF2-E686C58153E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D4AFAC0-EFEB-621C-8867-30A864BF127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83BBE1B3-DD2B-A02D-A241-76E586FC5A1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7DA5A39D-42A4-9421-468B-6C4EA2EB1FA0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5167F851-24ED-2841-8639-CE1009F9A94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81751865-163A-F97F-25F5-0BA0BE314686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2E686DDE-1D5A-9047-E15F-3767501E1E8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DC2BAB05-42BB-DFE9-5515-794D3AA3287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AEF57E51-24E7-BFF2-AED3-A4371A77788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6A0C111-E2F5-00AB-F74C-1D2D52DB6084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B333A607-CFD7-2199-36B4-8AD10264813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A3E7E0F8-521E-FFD9-B5BE-90644D097CCF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CA2CF626-99D9-ABF0-427B-4C1ED7A251B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16E9E51D-13DC-B6D4-791C-52FCEFE114D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D6090E4E-0657-CFE9-13C5-E89677489B8E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BFE15665-A4CF-7135-F3AB-650241531E8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A00AC27A-7255-5775-500D-F85C77BFACA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C94C504F-1FEE-E3B9-3E39-52118FE60F6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207BA57D-6A3D-2816-90CE-B5BA128C19CA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EEA489A-9ACE-121A-962B-191A58A80B4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EF53F173-C9E1-87EC-22A6-627A0A81F74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9E60B931-F529-498C-7D76-DBD6D8CA945E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53673418-7ADE-CF7F-6033-226531BC65C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3938F44-DEE2-7D96-9468-59DC511ABC5F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E63CEB9-6545-A099-BFBB-12FE8BF291A7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357E5A4A-66A1-4AA5-CF3F-54B1E1FB34B5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438CC7EE-A892-B611-815A-F2AB3EC32A36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D95B8B8-B1F0-BCD7-3252-EF265F9780A4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86C654C8-0D3A-72F6-1CA6-DDF18E8E755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8BE0C23-EBBE-5917-AC66-293F103948F2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F05A82F9-DF07-D8BD-4C56-E859B44BD829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42D25FF6-BFEC-5560-96CB-D4C2FC6BDAB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4DB3FB6A-D785-B37A-4DA3-9D392A3F85F2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BAF6F89-57A1-0087-104D-56E6B5678C1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5C41383F-743A-000C-15F0-8BAEF46339A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85479BEB-13F0-CE82-7C73-2B4C4BF4A95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0C00E4D0-0212-7937-F177-0B6115AE08B6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4C406F4B-9EAE-7D7E-0D06-FB0F9B7A654E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81BD139A-047C-89BA-BDDF-06C66230EF1A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8EE76C61-D391-9881-BE82-0483319080A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F89405E-4653-0A4E-1122-FE48E9C444F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6A97AA2A-C26A-E7DD-DD65-E2B841195A7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9CF84CB4-4ACA-8EF0-CEA4-FFA7B50CEBC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A619B431-BD36-0C08-3300-B99F1A0F51ED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B74A8926-A931-BD90-CC21-2FEB1FC3A7D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18A92A99-ED7B-E9DA-A7D7-F9508251845C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DF332599-DE2B-452D-1AD5-AAAA0F2BCFA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260EC94C-48D6-9A4C-29D2-D0D905C64EB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0ABC7E97-BC90-F4B6-1A1A-3A7FC9BFF6A1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672FDEAC-16EC-B31A-1A45-CE62EDF50D0D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B3636A7-3841-652A-0605-3D9ADFFFFBB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FC6849A1-294B-2EB3-3EEE-6358069DC65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733E4D93-3801-D004-489B-9E447CF2620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E2B54A3-2A48-1712-68F9-4DC8101F5D0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668FE628-A290-A139-B6D6-12D0B71C0880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64AFE09F-660D-77D3-4770-7C3606CC4AA7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1441ED4-4D8F-3C3B-7D3A-BA737F2DA9A5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28D14A2-7637-A7A6-52BC-750E56BC06E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50E4065B-B5FD-09CD-9F38-D943A29C9E2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E0FA235-5FDE-A2A8-65DB-57670181162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285EA2DB-5EE2-7089-56EC-CE5A1F97052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5262ECC6-523F-5BE7-5E98-7BB4AD018DF6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36AAB917-7C1B-D470-827B-901306F4118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83964568-9040-6FC6-87F4-2F9CC56B9C0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F9F5E22C-C85C-C968-E9E8-5BA39AD48C3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2EDA8ED-8B1D-E1B9-789C-F3F0983E2CEC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3086D09D-AE56-DBD8-32B7-000547DC0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0FFC2E61-4A52-71B2-E9F8-695F7B74ACC8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AB9C5E15-70E7-0AD3-5A84-C1B45EB36234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2CDC821-7659-AFA3-BCDF-CAE062EB1D9F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Limitations /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465B6-A09E-DAB3-4347-25822D78C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44C7D-4228-58B6-641F-77963F7C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AEDBCCC8-AB43-562F-40CC-034EB37F210B}"/>
              </a:ext>
            </a:extLst>
          </p:cNvPr>
          <p:cNvGrpSpPr/>
          <p:nvPr/>
        </p:nvGrpSpPr>
        <p:grpSpPr>
          <a:xfrm>
            <a:off x="571500" y="1704975"/>
            <a:ext cx="11049000" cy="1162050"/>
            <a:chOff x="571499" y="1238249"/>
            <a:chExt cx="11049000" cy="1162050"/>
          </a:xfrm>
        </p:grpSpPr>
        <p:sp>
          <p:nvSpPr>
            <p:cNvPr id="28" name="object 3">
              <a:extLst>
                <a:ext uri="{FF2B5EF4-FFF2-40B4-BE49-F238E27FC236}">
                  <a16:creationId xmlns:a16="http://schemas.microsoft.com/office/drawing/2014/main" id="{B83854B6-B17F-37DC-6A7B-1CD7398738F6}"/>
                </a:ext>
              </a:extLst>
            </p:cNvPr>
            <p:cNvSpPr/>
            <p:nvPr/>
          </p:nvSpPr>
          <p:spPr>
            <a:xfrm>
              <a:off x="590549" y="1238249"/>
              <a:ext cx="11029950" cy="1162050"/>
            </a:xfrm>
            <a:custGeom>
              <a:avLst/>
              <a:gdLst/>
              <a:ahLst/>
              <a:cxnLst/>
              <a:rect l="l" t="t" r="r" b="b"/>
              <a:pathLst>
                <a:path w="11029950" h="1162050">
                  <a:moveTo>
                    <a:pt x="10988638" y="1162049"/>
                  </a:moveTo>
                  <a:lnTo>
                    <a:pt x="0" y="11620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1120740"/>
                  </a:lnTo>
                  <a:lnTo>
                    <a:pt x="11006383" y="1156007"/>
                  </a:lnTo>
                  <a:lnTo>
                    <a:pt x="10988638" y="11620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9" name="object 4">
              <a:extLst>
                <a:ext uri="{FF2B5EF4-FFF2-40B4-BE49-F238E27FC236}">
                  <a16:creationId xmlns:a16="http://schemas.microsoft.com/office/drawing/2014/main" id="{3D33E7D7-058F-33E3-9DDA-F700EA0B78C0}"/>
                </a:ext>
              </a:extLst>
            </p:cNvPr>
            <p:cNvSpPr/>
            <p:nvPr/>
          </p:nvSpPr>
          <p:spPr>
            <a:xfrm>
              <a:off x="571499" y="1238249"/>
              <a:ext cx="38100" cy="1162050"/>
            </a:xfrm>
            <a:custGeom>
              <a:avLst/>
              <a:gdLst/>
              <a:ahLst/>
              <a:cxnLst/>
              <a:rect l="l" t="t" r="r" b="b"/>
              <a:pathLst>
                <a:path w="38100" h="1162050">
                  <a:moveTo>
                    <a:pt x="38099" y="1162049"/>
                  </a:moveTo>
                  <a:lnTo>
                    <a:pt x="0" y="1162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6204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6" name="object 9">
            <a:extLst>
              <a:ext uri="{FF2B5EF4-FFF2-40B4-BE49-F238E27FC236}">
                <a16:creationId xmlns:a16="http://schemas.microsoft.com/office/drawing/2014/main" id="{676A9D3E-13B0-FB91-23E6-ABE61855FFE5}"/>
              </a:ext>
            </a:extLst>
          </p:cNvPr>
          <p:cNvSpPr txBox="1"/>
          <p:nvPr/>
        </p:nvSpPr>
        <p:spPr>
          <a:xfrm>
            <a:off x="787400" y="1854201"/>
            <a:ext cx="974598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Key</a:t>
            </a:r>
            <a:r>
              <a:rPr sz="1500" b="1" spc="-5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Constraints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of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</a:t>
            </a:r>
            <a:endParaRPr sz="1500">
              <a:latin typeface="Segoe UI Semibold"/>
              <a:cs typeface="Segoe UI Semibold"/>
            </a:endParaRPr>
          </a:p>
          <a:p>
            <a:pPr marL="12700" marR="5080">
              <a:lnSpc>
                <a:spcPct val="129600"/>
              </a:lnSpc>
              <a:spcBef>
                <a:spcPts val="49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Despite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advantages,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techniques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face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several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fundamental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limitations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affect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applicability.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8" name="object 10">
            <a:extLst>
              <a:ext uri="{FF2B5EF4-FFF2-40B4-BE49-F238E27FC236}">
                <a16:creationId xmlns:a16="http://schemas.microsoft.com/office/drawing/2014/main" id="{2E59EBDB-CB30-33E2-59DE-28591DC92761}"/>
              </a:ext>
            </a:extLst>
          </p:cNvPr>
          <p:cNvGrpSpPr/>
          <p:nvPr/>
        </p:nvGrpSpPr>
        <p:grpSpPr>
          <a:xfrm>
            <a:off x="571500" y="3095625"/>
            <a:ext cx="5381943" cy="952500"/>
            <a:chOff x="571499" y="2628899"/>
            <a:chExt cx="5381943" cy="952500"/>
          </a:xfrm>
        </p:grpSpPr>
        <p:sp>
          <p:nvSpPr>
            <p:cNvPr id="25" name="object 11">
              <a:extLst>
                <a:ext uri="{FF2B5EF4-FFF2-40B4-BE49-F238E27FC236}">
                  <a16:creationId xmlns:a16="http://schemas.microsoft.com/office/drawing/2014/main" id="{8F13C70A-9D24-5A63-FBE9-3F7FE8903720}"/>
                </a:ext>
              </a:extLst>
            </p:cNvPr>
            <p:cNvSpPr/>
            <p:nvPr/>
          </p:nvSpPr>
          <p:spPr>
            <a:xfrm>
              <a:off x="585787" y="2628899"/>
              <a:ext cx="5367655" cy="952500"/>
            </a:xfrm>
            <a:custGeom>
              <a:avLst/>
              <a:gdLst/>
              <a:ahLst/>
              <a:cxnLst/>
              <a:rect l="l" t="t" r="r" b="b"/>
              <a:pathLst>
                <a:path w="5367655" h="952500">
                  <a:moveTo>
                    <a:pt x="5326027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326027" y="0"/>
                  </a:lnTo>
                  <a:lnTo>
                    <a:pt x="5332102" y="1208"/>
                  </a:lnTo>
                  <a:lnTo>
                    <a:pt x="5366128" y="35234"/>
                  </a:lnTo>
                  <a:lnTo>
                    <a:pt x="5367337" y="41309"/>
                  </a:lnTo>
                  <a:lnTo>
                    <a:pt x="5367337" y="911190"/>
                  </a:lnTo>
                  <a:lnTo>
                    <a:pt x="5343771" y="946457"/>
                  </a:lnTo>
                  <a:lnTo>
                    <a:pt x="5326027" y="9524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6" name="object 12">
              <a:extLst>
                <a:ext uri="{FF2B5EF4-FFF2-40B4-BE49-F238E27FC236}">
                  <a16:creationId xmlns:a16="http://schemas.microsoft.com/office/drawing/2014/main" id="{5E3C65B2-7219-EE7D-6401-0EEFE48FE2FA}"/>
                </a:ext>
              </a:extLst>
            </p:cNvPr>
            <p:cNvSpPr/>
            <p:nvPr/>
          </p:nvSpPr>
          <p:spPr>
            <a:xfrm>
              <a:off x="571499" y="2628899"/>
              <a:ext cx="28575" cy="952500"/>
            </a:xfrm>
            <a:custGeom>
              <a:avLst/>
              <a:gdLst/>
              <a:ahLst/>
              <a:cxnLst/>
              <a:rect l="l" t="t" r="r" b="b"/>
              <a:pathLst>
                <a:path w="28575" h="952500">
                  <a:moveTo>
                    <a:pt x="2857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7" name="object 13">
              <a:extLst>
                <a:ext uri="{FF2B5EF4-FFF2-40B4-BE49-F238E27FC236}">
                  <a16:creationId xmlns:a16="http://schemas.microsoft.com/office/drawing/2014/main" id="{80403B09-6788-5AD5-158A-399D3BF8B3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571" y="2790021"/>
              <a:ext cx="173023" cy="173057"/>
            </a:xfrm>
            <a:prstGeom prst="rect">
              <a:avLst/>
            </a:prstGeom>
          </p:spPr>
        </p:pic>
      </p:grpSp>
      <p:grpSp>
        <p:nvGrpSpPr>
          <p:cNvPr id="9" name="object 14">
            <a:extLst>
              <a:ext uri="{FF2B5EF4-FFF2-40B4-BE49-F238E27FC236}">
                <a16:creationId xmlns:a16="http://schemas.microsoft.com/office/drawing/2014/main" id="{D2D70D9B-031F-EEF4-75A6-2097097B73B1}"/>
              </a:ext>
            </a:extLst>
          </p:cNvPr>
          <p:cNvGrpSpPr/>
          <p:nvPr/>
        </p:nvGrpSpPr>
        <p:grpSpPr>
          <a:xfrm>
            <a:off x="571500" y="4200525"/>
            <a:ext cx="5381943" cy="952500"/>
            <a:chOff x="571499" y="3733799"/>
            <a:chExt cx="5381943" cy="952500"/>
          </a:xfrm>
        </p:grpSpPr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D857E054-DB85-B91E-154A-BD6A1CC0E3DC}"/>
                </a:ext>
              </a:extLst>
            </p:cNvPr>
            <p:cNvSpPr/>
            <p:nvPr/>
          </p:nvSpPr>
          <p:spPr>
            <a:xfrm>
              <a:off x="585787" y="3733799"/>
              <a:ext cx="5367655" cy="952500"/>
            </a:xfrm>
            <a:custGeom>
              <a:avLst/>
              <a:gdLst/>
              <a:ahLst/>
              <a:cxnLst/>
              <a:rect l="l" t="t" r="r" b="b"/>
              <a:pathLst>
                <a:path w="5367655" h="952500">
                  <a:moveTo>
                    <a:pt x="5326027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326027" y="0"/>
                  </a:lnTo>
                  <a:lnTo>
                    <a:pt x="5332102" y="1208"/>
                  </a:lnTo>
                  <a:lnTo>
                    <a:pt x="5366128" y="35233"/>
                  </a:lnTo>
                  <a:lnTo>
                    <a:pt x="5367337" y="41309"/>
                  </a:lnTo>
                  <a:lnTo>
                    <a:pt x="5367337" y="911190"/>
                  </a:lnTo>
                  <a:lnTo>
                    <a:pt x="5343771" y="946457"/>
                  </a:lnTo>
                  <a:lnTo>
                    <a:pt x="5326027" y="9524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D83AAEFD-21FE-830B-28BD-5ADB32714547}"/>
                </a:ext>
              </a:extLst>
            </p:cNvPr>
            <p:cNvSpPr/>
            <p:nvPr/>
          </p:nvSpPr>
          <p:spPr>
            <a:xfrm>
              <a:off x="571499" y="3733799"/>
              <a:ext cx="28575" cy="952500"/>
            </a:xfrm>
            <a:custGeom>
              <a:avLst/>
              <a:gdLst/>
              <a:ahLst/>
              <a:cxnLst/>
              <a:rect l="l" t="t" r="r" b="b"/>
              <a:pathLst>
                <a:path w="28575" h="952500">
                  <a:moveTo>
                    <a:pt x="2857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4" name="object 17">
              <a:extLst>
                <a:ext uri="{FF2B5EF4-FFF2-40B4-BE49-F238E27FC236}">
                  <a16:creationId xmlns:a16="http://schemas.microsoft.com/office/drawing/2014/main" id="{F2A50DE6-2290-448B-E3B6-E2D448FA6D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4" y="3895724"/>
              <a:ext cx="171449" cy="171449"/>
            </a:xfrm>
            <a:prstGeom prst="rect">
              <a:avLst/>
            </a:prstGeom>
          </p:spPr>
        </p:pic>
      </p:grpSp>
      <p:sp>
        <p:nvSpPr>
          <p:cNvPr id="10" name="object 18">
            <a:extLst>
              <a:ext uri="{FF2B5EF4-FFF2-40B4-BE49-F238E27FC236}">
                <a16:creationId xmlns:a16="http://schemas.microsoft.com/office/drawing/2014/main" id="{09AA8689-84F7-D5DB-5834-D5A71F70F270}"/>
              </a:ext>
            </a:extLst>
          </p:cNvPr>
          <p:cNvSpPr txBox="1"/>
          <p:nvPr/>
        </p:nvSpPr>
        <p:spPr>
          <a:xfrm>
            <a:off x="701675" y="3167936"/>
            <a:ext cx="4641850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kern="0"/>
            </a:defPPr>
          </a:lstStyle>
          <a:p>
            <a:pPr marL="30734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Lower</a:t>
            </a:r>
            <a:r>
              <a:rPr sz="1350" b="1" spc="-30" dirty="0">
                <a:solidFill>
                  <a:srgbClr val="E74B3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Compression</a:t>
            </a:r>
            <a:r>
              <a:rPr sz="1350" b="1" spc="-30" dirty="0">
                <a:solidFill>
                  <a:srgbClr val="E74B3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E74B3C"/>
                </a:solidFill>
                <a:latin typeface="Segoe UI"/>
                <a:cs typeface="Segoe UI"/>
              </a:rPr>
              <a:t>Ratios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Significantly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lower compression ratios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compared to lossy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techniques,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typically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2:1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8:1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versus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10:1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50:1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lossy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methods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2A5D180A-9AD0-17BF-1E03-2730555B6BC0}"/>
              </a:ext>
            </a:extLst>
          </p:cNvPr>
          <p:cNvSpPr txBox="1"/>
          <p:nvPr/>
        </p:nvSpPr>
        <p:spPr>
          <a:xfrm>
            <a:off x="701675" y="4272836"/>
            <a:ext cx="4838065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kern="0"/>
            </a:defPPr>
          </a:lstStyle>
          <a:p>
            <a:pPr marL="30734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Implementation </a:t>
            </a:r>
            <a:r>
              <a:rPr sz="1350" b="1" spc="-10" dirty="0">
                <a:solidFill>
                  <a:srgbClr val="E74B3C"/>
                </a:solidFill>
                <a:latin typeface="Segoe UI"/>
                <a:cs typeface="Segoe UI"/>
              </a:rPr>
              <a:t>Complexity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algorithms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(particularly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arithmetic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coding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adaptive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dictionary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techniques)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require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implementation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optimization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" name="object 20">
            <a:extLst>
              <a:ext uri="{FF2B5EF4-FFF2-40B4-BE49-F238E27FC236}">
                <a16:creationId xmlns:a16="http://schemas.microsoft.com/office/drawing/2014/main" id="{B079B04C-67B3-842C-E249-C0FBA47D56DA}"/>
              </a:ext>
            </a:extLst>
          </p:cNvPr>
          <p:cNvGrpSpPr/>
          <p:nvPr/>
        </p:nvGrpSpPr>
        <p:grpSpPr>
          <a:xfrm>
            <a:off x="6238875" y="3095625"/>
            <a:ext cx="5381943" cy="952500"/>
            <a:chOff x="6238874" y="2628899"/>
            <a:chExt cx="5381943" cy="952500"/>
          </a:xfrm>
        </p:grpSpPr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482ECFAE-70DE-7497-6EDF-35BEA492C3BC}"/>
                </a:ext>
              </a:extLst>
            </p:cNvPr>
            <p:cNvSpPr/>
            <p:nvPr/>
          </p:nvSpPr>
          <p:spPr>
            <a:xfrm>
              <a:off x="6253162" y="2628899"/>
              <a:ext cx="5367655" cy="952500"/>
            </a:xfrm>
            <a:custGeom>
              <a:avLst/>
              <a:gdLst/>
              <a:ahLst/>
              <a:cxnLst/>
              <a:rect l="l" t="t" r="r" b="b"/>
              <a:pathLst>
                <a:path w="5367655" h="952500">
                  <a:moveTo>
                    <a:pt x="5326026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326026" y="0"/>
                  </a:lnTo>
                  <a:lnTo>
                    <a:pt x="5332102" y="1208"/>
                  </a:lnTo>
                  <a:lnTo>
                    <a:pt x="5366127" y="35234"/>
                  </a:lnTo>
                  <a:lnTo>
                    <a:pt x="5367335" y="41309"/>
                  </a:lnTo>
                  <a:lnTo>
                    <a:pt x="5367335" y="911190"/>
                  </a:lnTo>
                  <a:lnTo>
                    <a:pt x="5343771" y="946457"/>
                  </a:lnTo>
                  <a:lnTo>
                    <a:pt x="5326026" y="9524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667FCD13-6D1B-6A01-E729-25667611079E}"/>
                </a:ext>
              </a:extLst>
            </p:cNvPr>
            <p:cNvSpPr/>
            <p:nvPr/>
          </p:nvSpPr>
          <p:spPr>
            <a:xfrm>
              <a:off x="6238874" y="2628899"/>
              <a:ext cx="28575" cy="952500"/>
            </a:xfrm>
            <a:custGeom>
              <a:avLst/>
              <a:gdLst/>
              <a:ahLst/>
              <a:cxnLst/>
              <a:rect l="l" t="t" r="r" b="b"/>
              <a:pathLst>
                <a:path w="28575" h="952500">
                  <a:moveTo>
                    <a:pt x="2857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21" name="object 23">
              <a:extLst>
                <a:ext uri="{FF2B5EF4-FFF2-40B4-BE49-F238E27FC236}">
                  <a16:creationId xmlns:a16="http://schemas.microsoft.com/office/drawing/2014/main" id="{7A892BB9-708F-740D-0042-C1B957C3B62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1749" y="2812256"/>
              <a:ext cx="192881" cy="128587"/>
            </a:xfrm>
            <a:prstGeom prst="rect">
              <a:avLst/>
            </a:prstGeom>
          </p:spPr>
        </p:pic>
      </p:grpSp>
      <p:grpSp>
        <p:nvGrpSpPr>
          <p:cNvPr id="13" name="object 24">
            <a:extLst>
              <a:ext uri="{FF2B5EF4-FFF2-40B4-BE49-F238E27FC236}">
                <a16:creationId xmlns:a16="http://schemas.microsoft.com/office/drawing/2014/main" id="{F29EE2AF-408D-1F12-E1EE-4364172138D0}"/>
              </a:ext>
            </a:extLst>
          </p:cNvPr>
          <p:cNvGrpSpPr/>
          <p:nvPr/>
        </p:nvGrpSpPr>
        <p:grpSpPr>
          <a:xfrm>
            <a:off x="6238875" y="4200525"/>
            <a:ext cx="5381943" cy="952500"/>
            <a:chOff x="6238874" y="3733799"/>
            <a:chExt cx="5381943" cy="952500"/>
          </a:xfrm>
        </p:grpSpPr>
        <p:sp>
          <p:nvSpPr>
            <p:cNvPr id="16" name="object 25">
              <a:extLst>
                <a:ext uri="{FF2B5EF4-FFF2-40B4-BE49-F238E27FC236}">
                  <a16:creationId xmlns:a16="http://schemas.microsoft.com/office/drawing/2014/main" id="{1E23113F-E18B-6DFE-5EB6-F0D7389EB5DB}"/>
                </a:ext>
              </a:extLst>
            </p:cNvPr>
            <p:cNvSpPr/>
            <p:nvPr/>
          </p:nvSpPr>
          <p:spPr>
            <a:xfrm>
              <a:off x="6253162" y="3733799"/>
              <a:ext cx="5367655" cy="952500"/>
            </a:xfrm>
            <a:custGeom>
              <a:avLst/>
              <a:gdLst/>
              <a:ahLst/>
              <a:cxnLst/>
              <a:rect l="l" t="t" r="r" b="b"/>
              <a:pathLst>
                <a:path w="5367655" h="952500">
                  <a:moveTo>
                    <a:pt x="5326026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5326026" y="0"/>
                  </a:lnTo>
                  <a:lnTo>
                    <a:pt x="5332102" y="1208"/>
                  </a:lnTo>
                  <a:lnTo>
                    <a:pt x="5366127" y="35233"/>
                  </a:lnTo>
                  <a:lnTo>
                    <a:pt x="5367335" y="41309"/>
                  </a:lnTo>
                  <a:lnTo>
                    <a:pt x="5367335" y="911190"/>
                  </a:lnTo>
                  <a:lnTo>
                    <a:pt x="5343771" y="946457"/>
                  </a:lnTo>
                  <a:lnTo>
                    <a:pt x="5326026" y="9524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7" name="object 26">
              <a:extLst>
                <a:ext uri="{FF2B5EF4-FFF2-40B4-BE49-F238E27FC236}">
                  <a16:creationId xmlns:a16="http://schemas.microsoft.com/office/drawing/2014/main" id="{93AD5088-E3A0-ED7B-8872-D101F15B8623}"/>
                </a:ext>
              </a:extLst>
            </p:cNvPr>
            <p:cNvSpPr/>
            <p:nvPr/>
          </p:nvSpPr>
          <p:spPr>
            <a:xfrm>
              <a:off x="6238874" y="3733799"/>
              <a:ext cx="28575" cy="952500"/>
            </a:xfrm>
            <a:custGeom>
              <a:avLst/>
              <a:gdLst/>
              <a:ahLst/>
              <a:cxnLst/>
              <a:rect l="l" t="t" r="r" b="b"/>
              <a:pathLst>
                <a:path w="28575" h="952500">
                  <a:moveTo>
                    <a:pt x="2857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99"/>
                  </a:lnTo>
                  <a:close/>
                </a:path>
              </a:pathLst>
            </a:custGeom>
            <a:solidFill>
              <a:srgbClr val="E74B3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18" name="object 27">
              <a:extLst>
                <a:ext uri="{FF2B5EF4-FFF2-40B4-BE49-F238E27FC236}">
                  <a16:creationId xmlns:a16="http://schemas.microsoft.com/office/drawing/2014/main" id="{15C6CD24-2F37-91F6-3CAA-F31A3C1DB6F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1749" y="3895724"/>
              <a:ext cx="128587" cy="171449"/>
            </a:xfrm>
            <a:prstGeom prst="rect">
              <a:avLst/>
            </a:prstGeom>
          </p:spPr>
        </p:pic>
      </p:grpSp>
      <p:sp>
        <p:nvSpPr>
          <p:cNvPr id="14" name="object 28">
            <a:extLst>
              <a:ext uri="{FF2B5EF4-FFF2-40B4-BE49-F238E27FC236}">
                <a16:creationId xmlns:a16="http://schemas.microsoft.com/office/drawing/2014/main" id="{97158B07-1F70-2349-AA81-897F9A5BCFF4}"/>
              </a:ext>
            </a:extLst>
          </p:cNvPr>
          <p:cNvSpPr txBox="1"/>
          <p:nvPr/>
        </p:nvSpPr>
        <p:spPr>
          <a:xfrm>
            <a:off x="6369050" y="3167936"/>
            <a:ext cx="4739005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kern="0"/>
            </a:defPPr>
          </a:lstStyle>
          <a:p>
            <a:pPr marL="32893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Resource</a:t>
            </a:r>
            <a:r>
              <a:rPr sz="1350" b="1" spc="-55" dirty="0">
                <a:solidFill>
                  <a:srgbClr val="E74B3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E74B3C"/>
                </a:solidFill>
                <a:latin typeface="Segoe UI"/>
                <a:cs typeface="Segoe UI"/>
              </a:rPr>
              <a:t>Requirements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High</a:t>
            </a:r>
            <a:r>
              <a:rPr sz="12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memory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CPU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usage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processing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large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files,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especially</a:t>
            </a:r>
            <a:r>
              <a:rPr sz="12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dictionary-based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methods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LZW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6FA8A627-B437-7530-0E80-022025F64DC6}"/>
              </a:ext>
            </a:extLst>
          </p:cNvPr>
          <p:cNvSpPr txBox="1"/>
          <p:nvPr/>
        </p:nvSpPr>
        <p:spPr>
          <a:xfrm>
            <a:off x="6369050" y="4272836"/>
            <a:ext cx="4462780" cy="7524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kern="0"/>
            </a:defPPr>
          </a:lstStyle>
          <a:p>
            <a:pPr marL="26416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Data</a:t>
            </a:r>
            <a:r>
              <a:rPr sz="1350" b="1" spc="-50" dirty="0">
                <a:solidFill>
                  <a:srgbClr val="E74B3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E74B3C"/>
                </a:solidFill>
                <a:latin typeface="Segoe UI"/>
                <a:cs typeface="Segoe UI"/>
              </a:rPr>
              <a:t>Type</a:t>
            </a:r>
            <a:r>
              <a:rPr sz="1350" b="1" spc="-45" dirty="0">
                <a:solidFill>
                  <a:srgbClr val="E74B3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E74B3C"/>
                </a:solidFill>
                <a:latin typeface="Segoe UI"/>
                <a:cs typeface="Segoe UI"/>
              </a:rPr>
              <a:t>Limitations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45"/>
              </a:spcBef>
            </a:pP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Less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already-compressed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formats</a:t>
            </a:r>
            <a:r>
              <a:rPr sz="12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(JPEG,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MP3)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200" dirty="0">
                <a:solidFill>
                  <a:srgbClr val="333333"/>
                </a:solidFill>
                <a:latin typeface="Segoe UI"/>
                <a:cs typeface="Segoe UI"/>
              </a:rPr>
              <a:t>random/non-redundant </a:t>
            </a:r>
            <a:r>
              <a:rPr sz="1200" spc="-2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endParaRPr sz="1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2040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EF9D-E818-4872-0C00-618842EF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03259E18-28E9-425B-B538-64D9FB436853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473B4DB-308A-E144-DA49-E69213698D4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9A37F3D-1341-262A-C4BB-A75C779FBA38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00AFBCD2-50C2-83C6-9C8D-D4D471D1CE1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19AC87F1-69F1-4322-595C-BD05B6A8E96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88EEBCCA-EBE4-CDD7-2F2D-0BD7F3FC2B8C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F9FD4E3-91E4-0501-57B5-2020101AD7B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D39F0428-7ED9-5253-1BFC-A0542241119A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5B971CEC-2F7A-43A7-C0B1-D49239FC9BF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54EC46E0-6FC8-DEB9-7D31-1436959BD4D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4E80DE1E-643D-F998-5E87-EB645E13F9A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2ACB6C53-790C-B923-AC05-E2FDE53ED82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F3050406-0C9E-3A4A-EBB8-B5939A5D412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1C20B86-FEC9-82C2-2A66-3C4686556F4C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669243BD-0C9E-DF38-8D71-80A95D03F104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D34B811F-AFE8-ADCD-8B9A-5C6F815DD16E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5A43058B-C753-0DD9-9CFB-8416F8EB8A1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5350752-F621-1BBE-5BB8-4216F0A7E085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BE7AFE5-3291-CE66-442B-C23BA80FBF47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200C5633-299C-157E-B05C-7808D79B1F0B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F3DBAD89-7492-B0AA-B648-B81A8712D6A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D792E72C-F5E8-AB7E-62E6-67219CFE267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F982966E-0A05-46BD-BBCF-AD6F2D96A637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DD969BCE-B7B0-711E-D42A-A566C25EB6A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A87FE541-041F-01B9-2272-C4551C21AD2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C005CB2-6820-5162-3284-84F8BBCFC87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A7BB4319-F14C-F775-F01F-D9236837321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8FEC03EA-5243-E7DA-516B-67788EDAD8D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60EACEC-6FA2-59C7-4241-ADEAE482EA5B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16ACB59D-E20E-72A1-D67B-09E5B923767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5749CA2-9A15-2F49-0BB5-D468EF4D8766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C90EB447-573D-9C6A-FBD3-4636F01DF05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27C04611-2C74-22BB-0718-B919C26F53D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D851AAE1-6558-AC50-4CBE-6D9FBD73C87A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C4CF2497-DC78-56B8-3BF4-E81F030F09E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3577AE5E-708F-CD9D-DD34-90046E54D55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962DBD6A-A3D6-4593-2697-CF05D6A14A7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CD8402B-FD7D-A6B8-7C02-82DE0D42421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A64E903-161E-997A-7D75-C9A9DF4EAE87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84B13776-4602-5EC3-BD5B-6BFD22DD718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B2F33E56-A86C-BE2D-3AB3-4682F43A52C3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DD122531-AC47-AEDE-D580-B0B6501CA7B1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111AA1F8-F1DD-4C29-DF3D-F2174CAA8E0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181F47E1-9381-EDF6-BB77-AA60F4F26AC2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343A2EE-930F-8B54-33DF-05621B36996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77DB6559-9E40-EC65-EF8F-0F77600E25FE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96A6BE2A-CC7A-363C-2522-DA1E241E90E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D40B809-D457-442B-6719-751C11CFA19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ECA7ABB5-9BE7-D406-7C50-D8C45C5FFB1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110255B6-ADF9-7880-8219-537CE97F0889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BAAA8445-55B8-233C-8DAE-0F79D0996EF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6E406BD4-DA35-C0FB-CEEA-333C4E7E537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00C956D1-A91E-1CFE-DF14-A89E028D4B2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CF41C61-F34A-4C92-DD2B-5B186B954B7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EADFE0C-B300-3B39-1820-19E66CE66153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C42F69AF-5640-83F2-7AD0-008F870B5185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AE8F796F-FF3C-22AE-AC25-77F437BDF84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72B1B7F-CC92-9EC9-7310-C0790D0DE51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04D2D51-C24D-0577-867E-FFB95714463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E0B9CB23-8AC0-5F94-0B96-5DE95E5CEEF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C42AAF0-4809-45F8-537C-747F5A359F86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896BEF64-67EE-3FAE-C92C-D63E327ABA27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8EE594EA-7F19-4D9E-DF9A-37BF718BDF90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DD0D9355-9D21-26AD-AE67-0FB397FEB3D5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8DE0CC20-311E-56C1-BFEC-974FC07C769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7E964D4C-95F5-4A3A-7AC7-1D4FF0CCE3B0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777C746D-EB50-CCD8-28D9-6CBFF7FBD9E5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C456B3EB-F442-48CA-388A-4FF2C87CED07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64AA3602-0AE0-EEB4-5B42-7E6AF27F597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AD03978F-515D-CCC5-60EF-8D3EF37260A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55FD25B-9D45-4812-B9D6-9832E9BD7C5D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7EDC5A0-CACB-C0F4-0494-EF6FD508728A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E1FECFB-B3F2-5563-9708-94CFF511CE7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587075BE-218D-B2D9-064F-774D32EE6A2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298B8B-5681-9D53-23E0-F19000B920C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Recent Developments /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3FC25-2B46-12FA-34CB-2C59DE81CF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9F65D-4753-6FC3-F0A1-771063A55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13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74338F73-4811-08F0-28C6-6550926F3E13}"/>
              </a:ext>
            </a:extLst>
          </p:cNvPr>
          <p:cNvGrpSpPr/>
          <p:nvPr/>
        </p:nvGrpSpPr>
        <p:grpSpPr>
          <a:xfrm>
            <a:off x="571500" y="1209675"/>
            <a:ext cx="11049000" cy="895350"/>
            <a:chOff x="571499" y="1238249"/>
            <a:chExt cx="11049000" cy="895350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B005A34B-515D-68F8-5694-DDBCDB71DCEB}"/>
                </a:ext>
              </a:extLst>
            </p:cNvPr>
            <p:cNvSpPr/>
            <p:nvPr/>
          </p:nvSpPr>
          <p:spPr>
            <a:xfrm>
              <a:off x="590549" y="1238249"/>
              <a:ext cx="11029950" cy="895350"/>
            </a:xfrm>
            <a:custGeom>
              <a:avLst/>
              <a:gdLst/>
              <a:ahLst/>
              <a:cxnLst/>
              <a:rect l="l" t="t" r="r" b="b"/>
              <a:pathLst>
                <a:path w="11029950" h="895350">
                  <a:moveTo>
                    <a:pt x="10988638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854040"/>
                  </a:lnTo>
                  <a:lnTo>
                    <a:pt x="11006383" y="889307"/>
                  </a:lnTo>
                  <a:lnTo>
                    <a:pt x="10988638" y="8953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C9DE15FD-6308-40D8-7667-1E363104F664}"/>
                </a:ext>
              </a:extLst>
            </p:cNvPr>
            <p:cNvSpPr/>
            <p:nvPr/>
          </p:nvSpPr>
          <p:spPr>
            <a:xfrm>
              <a:off x="571499" y="1238249"/>
              <a:ext cx="38100" cy="895350"/>
            </a:xfrm>
            <a:custGeom>
              <a:avLst/>
              <a:gdLst/>
              <a:ahLst/>
              <a:cxnLst/>
              <a:rect l="l" t="t" r="r" b="b"/>
              <a:pathLst>
                <a:path w="38100" h="895350">
                  <a:moveTo>
                    <a:pt x="3809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9534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/>
            </a:p>
          </p:txBody>
        </p:sp>
      </p:grpSp>
      <p:sp>
        <p:nvSpPr>
          <p:cNvPr id="7" name="object 13">
            <a:extLst>
              <a:ext uri="{FF2B5EF4-FFF2-40B4-BE49-F238E27FC236}">
                <a16:creationId xmlns:a16="http://schemas.microsoft.com/office/drawing/2014/main" id="{E05885B5-1319-B2D6-D08C-495E139E4D08}"/>
              </a:ext>
            </a:extLst>
          </p:cNvPr>
          <p:cNvSpPr txBox="1"/>
          <p:nvPr/>
        </p:nvSpPr>
        <p:spPr>
          <a:xfrm>
            <a:off x="711200" y="1358901"/>
            <a:ext cx="10520045" cy="322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Latest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Advances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in</a:t>
            </a:r>
            <a:r>
              <a:rPr sz="1500" b="1" spc="-5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Lossless</a:t>
            </a:r>
            <a:r>
              <a:rPr sz="1500" b="1" spc="-4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Compression</a:t>
            </a:r>
            <a:endParaRPr sz="1500" dirty="0">
              <a:latin typeface="Segoe UI Semibold"/>
              <a:cs typeface="Segoe UI Semibold"/>
            </a:endParaRPr>
          </a:p>
          <a:p>
            <a:pPr marL="88265">
              <a:lnSpc>
                <a:spcPct val="100000"/>
              </a:lnSpc>
              <a:spcBef>
                <a:spcPts val="9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field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continues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evolve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innovative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approaches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achieve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ratios</a:t>
            </a:r>
            <a:r>
              <a:rPr sz="135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performance.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350" dirty="0">
              <a:latin typeface="Segoe UI"/>
              <a:cs typeface="Segoe UI"/>
            </a:endParaRPr>
          </a:p>
          <a:p>
            <a:pPr marL="57404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Hardware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Acceleration</a:t>
            </a:r>
            <a:endParaRPr sz="1500" dirty="0">
              <a:latin typeface="Segoe UI Semibold"/>
              <a:cs typeface="Segoe UI Semibold"/>
            </a:endParaRPr>
          </a:p>
          <a:p>
            <a:pPr marL="57404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hardware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compression/decompression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operations,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real-time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processing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35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large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 streams.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50" dirty="0">
              <a:latin typeface="Segoe UI"/>
              <a:cs typeface="Segoe UI"/>
            </a:endParaRPr>
          </a:p>
          <a:p>
            <a:pPr marL="574040">
              <a:lnSpc>
                <a:spcPct val="100000"/>
              </a:lnSpc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Machine</a:t>
            </a:r>
            <a:r>
              <a:rPr sz="15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Learning</a:t>
            </a:r>
            <a:r>
              <a:rPr sz="1500" b="1" spc="-3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Integration</a:t>
            </a:r>
            <a:endParaRPr sz="1500" dirty="0">
              <a:latin typeface="Segoe UI Semibold"/>
              <a:cs typeface="Segoe UI Semibold"/>
            </a:endParaRPr>
          </a:p>
          <a:p>
            <a:pPr marL="57404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Neural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networks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being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applied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predict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optimize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algorithms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types.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 dirty="0">
              <a:latin typeface="Segoe UI"/>
              <a:cs typeface="Segoe UI"/>
            </a:endParaRPr>
          </a:p>
          <a:p>
            <a:pPr marL="574040">
              <a:lnSpc>
                <a:spcPct val="100000"/>
              </a:lnSpc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Adaptive</a:t>
            </a:r>
            <a:r>
              <a:rPr sz="1500" b="1" spc="1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Dictionary</a:t>
            </a:r>
            <a:r>
              <a:rPr sz="1500" b="1" spc="1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Techniques</a:t>
            </a:r>
            <a:endParaRPr sz="1500" dirty="0">
              <a:latin typeface="Segoe UI Semibold"/>
              <a:cs typeface="Segoe UI Semibold"/>
            </a:endParaRPr>
          </a:p>
          <a:p>
            <a:pPr marL="57404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Advanced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algorithms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dynamically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adjust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parameters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35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35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3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35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46123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033C-7EE4-3DD4-68E0-219E1754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21AE6B62-27AB-5D25-FB6E-F1B540301FF9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A53C468-59AB-207C-12FA-B07D2A602B00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99E3823-2D7B-A586-4EC7-D45D9295D353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282C7C35-EC18-D5E2-0E0C-A3CD35E7252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E3F37AF6-D362-5DEB-9C3F-C150C1A18AD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2D35A49D-AB8E-A5B6-5AA7-C45D7729D0C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E115D822-36F0-19B5-FD25-0933DA3BB95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B4BB79DD-F41D-3779-5180-0669432DA94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49BBBE9E-BF77-2655-1033-F89F982F668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3A120F2-F1EC-0990-3FF6-D02B586B19E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F2C8FC21-D91F-8F22-EE16-7EAC18CE67C1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3235B5B-2FD8-2BBE-A88F-96EB80191A5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AB6B21F9-4EFE-24E6-E11B-09FCD0932B5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ABD93AE0-6CE9-58EB-2103-642DA959AF9C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2C138497-998C-6DB7-67B5-670D4548EB1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304887F8-12AC-8DBF-B2F5-5C90282CD2F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3A563A89-FFBB-272A-3C81-57677CEF57C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A1924B74-7A79-8E51-D307-FA5658BF941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A8662E69-A155-3315-DC29-D190107C779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C306722B-9EC8-F4D1-FB68-1B6B139916EA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58A7DD4-DD07-9013-8FEF-960931F76DB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43964378-8E79-2818-31F5-6C658F51F29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9E8F811-5769-07D9-3AF2-666583EE1D02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5F11928D-A80B-A075-C832-6DF275EFEE25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F35C68CC-7232-C827-9A07-EF6C34BB99B7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CDF0364-84CA-59FA-5E1E-958ACCF1A79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87ECC6AD-2BF5-784B-6419-168FFDE611C0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F11888E0-C7AB-BC74-42BE-5354039CC39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346E33C9-86DB-A9B5-4871-DFEE5632085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CD35258E-B494-7F9C-0220-F3F00D821F5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499D1DB-9874-4AFF-7AD6-84138D86AAE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1270131-B016-1770-D7A6-BA1D6E099CD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169AE5B1-4AD0-CF4C-E420-98A52E49607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3BDACF76-B629-4B8A-47FE-6D555C860F9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8758FBD6-5765-150F-D1A8-FF854C64676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BF4AC34-4D37-D168-5E8D-1E96511B0CB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5A1C23EE-9BD0-C714-43F6-BEC30992409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520B04FB-C818-FB06-CC98-47A70C5FC90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4C07555-4584-C89A-9C57-576018701C9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95C61A64-48FF-F038-B6F7-0935873BB79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D96D1067-3E69-CB03-741D-374463B9E277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51D4A416-76A4-BD07-AB01-F0B33DF364B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6BD5A772-5186-0512-A430-024E42EBFD3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0BAFAFA6-4F3A-DC48-EA29-4E3A193D80CC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551AD36F-5F58-50E0-DA5D-2092F569A7C1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B9CF59C9-3CBB-A539-6AE7-E01BAFC035F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10F9A3A3-A0C7-4E83-C55F-965B383058C9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90F9A494-DA4F-A208-3496-5AFFBE130F4B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45437F4C-5A7C-D0BF-5D7C-4F582CBDE837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92B032C-B9A8-94CC-23B8-DAF8646E25F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7FF2F48-4E58-6AE9-CD58-87E9750B5C9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EB6FCBA-2E9E-B7C6-CB09-325DBDCC94F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A7077F3A-C971-FF37-55F3-D9B54BC71769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7402086-28A7-7180-7DC5-799BAB21FAF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B268E746-4407-748D-020C-A6A1FB403E19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45DAA455-353D-3855-294F-AA0CC9657C38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B2D5B9FF-923E-B49F-1C01-234BBB8B3C3F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680E1276-DEDD-0F28-37B0-DB56AA414C69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D93B5E18-A43D-9A5E-4B38-C42126DCF291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E7BCB498-D5A3-B0A9-5A93-637E276C17E9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0021DB5A-D705-4105-C623-B0E0E7C2326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31AACC0B-DF84-8B93-054B-5D188B11E4B9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4E1BD1BF-24CF-91BC-9A4F-EE85B9CCD3B8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AC04EFFB-4389-5549-E3D5-B452D1FD4274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1EA10AC5-92B1-1681-D693-AF31D8415CE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1F10EBEA-088E-71A9-D6BE-C826DD2B239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49417D6-E079-E15E-88CD-E17B72E8938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E45D0CE9-73EF-EF5A-5995-D4EF642DD2C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30B193B-E8F8-E835-A4AD-F23BF541160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CFC3C77D-E5BB-69AC-3926-10B9C86DCA1A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539E1533-D765-3618-8D1C-FE135A3F1F90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2991FC50-30AF-7FFB-C779-13145B0E11A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542DD9E1-F3EC-8989-BCFB-B997A596939A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C26DC2ED-7F57-54E9-5844-F995DCC91E9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0C816DC-CCCF-865E-E599-7B84ED7F562C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4F60B-0BF2-AB69-73D2-D29577667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A5722-8DEC-6C85-F06E-7BEABA6A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14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60193A54-F497-4584-C290-2920E2852848}"/>
              </a:ext>
            </a:extLst>
          </p:cNvPr>
          <p:cNvGrpSpPr/>
          <p:nvPr/>
        </p:nvGrpSpPr>
        <p:grpSpPr>
          <a:xfrm>
            <a:off x="571500" y="1721207"/>
            <a:ext cx="11049000" cy="628650"/>
            <a:chOff x="571499" y="1238249"/>
            <a:chExt cx="11049000" cy="628650"/>
          </a:xfrm>
        </p:grpSpPr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9473C387-4C4F-222A-F315-70AEAE904DDA}"/>
                </a:ext>
              </a:extLst>
            </p:cNvPr>
            <p:cNvSpPr/>
            <p:nvPr/>
          </p:nvSpPr>
          <p:spPr>
            <a:xfrm>
              <a:off x="590549" y="1238249"/>
              <a:ext cx="11029950" cy="628650"/>
            </a:xfrm>
            <a:custGeom>
              <a:avLst/>
              <a:gdLst/>
              <a:ahLst/>
              <a:cxnLst/>
              <a:rect l="l" t="t" r="r" b="b"/>
              <a:pathLst>
                <a:path w="11029950" h="628650">
                  <a:moveTo>
                    <a:pt x="10988638" y="628649"/>
                  </a:moveTo>
                  <a:lnTo>
                    <a:pt x="0" y="628649"/>
                  </a:lnTo>
                  <a:lnTo>
                    <a:pt x="0" y="0"/>
                  </a:lnTo>
                  <a:lnTo>
                    <a:pt x="10988638" y="0"/>
                  </a:lnTo>
                  <a:lnTo>
                    <a:pt x="10994714" y="1208"/>
                  </a:lnTo>
                  <a:lnTo>
                    <a:pt x="11028739" y="35234"/>
                  </a:lnTo>
                  <a:lnTo>
                    <a:pt x="11029947" y="41309"/>
                  </a:lnTo>
                  <a:lnTo>
                    <a:pt x="11029947" y="587340"/>
                  </a:lnTo>
                  <a:lnTo>
                    <a:pt x="11006383" y="622607"/>
                  </a:lnTo>
                  <a:lnTo>
                    <a:pt x="10988638" y="6286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E20D4253-BD67-A8FA-7E6E-33EFEE2452FC}"/>
                </a:ext>
              </a:extLst>
            </p:cNvPr>
            <p:cNvSpPr/>
            <p:nvPr/>
          </p:nvSpPr>
          <p:spPr>
            <a:xfrm>
              <a:off x="571499" y="1238249"/>
              <a:ext cx="38100" cy="628650"/>
            </a:xfrm>
            <a:custGeom>
              <a:avLst/>
              <a:gdLst/>
              <a:ahLst/>
              <a:cxnLst/>
              <a:rect l="l" t="t" r="r" b="b"/>
              <a:pathLst>
                <a:path w="38100" h="628650">
                  <a:moveTo>
                    <a:pt x="38099" y="628649"/>
                  </a:moveTo>
                  <a:lnTo>
                    <a:pt x="0" y="6286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2864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24EBABD-6387-B307-E2A8-494D97DA97CD}"/>
              </a:ext>
            </a:extLst>
          </p:cNvPr>
          <p:cNvSpPr txBox="1"/>
          <p:nvPr/>
        </p:nvSpPr>
        <p:spPr>
          <a:xfrm>
            <a:off x="787400" y="1870433"/>
            <a:ext cx="1296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33333"/>
                </a:solidFill>
                <a:latin typeface="Segoe UI Semibold"/>
                <a:cs typeface="Segoe UI Semibold"/>
              </a:rPr>
              <a:t>Key</a:t>
            </a:r>
            <a:r>
              <a:rPr sz="1500" b="1" spc="-40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500" b="1" spc="-20" dirty="0">
                <a:solidFill>
                  <a:srgbClr val="333333"/>
                </a:solidFill>
                <a:latin typeface="Segoe UI Semibold"/>
                <a:cs typeface="Segoe UI Semibold"/>
              </a:rPr>
              <a:t>Takeaways</a:t>
            </a:r>
            <a:endParaRPr sz="1500">
              <a:latin typeface="Segoe UI Semibold"/>
              <a:cs typeface="Segoe UI Semibold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E248DCEC-73F1-5363-C4D8-929815807A55}"/>
              </a:ext>
            </a:extLst>
          </p:cNvPr>
          <p:cNvSpPr txBox="1"/>
          <p:nvPr/>
        </p:nvSpPr>
        <p:spPr>
          <a:xfrm>
            <a:off x="930276" y="2612668"/>
            <a:ext cx="8357870" cy="2569293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Understanding</a:t>
            </a:r>
            <a:r>
              <a:rPr sz="1400" b="1" spc="-1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Core</a:t>
            </a:r>
            <a:r>
              <a:rPr sz="1400" b="1" spc="-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Principles</a:t>
            </a:r>
            <a:r>
              <a:rPr lang="en-IN" sz="14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: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Lossless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techniques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focus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eliminating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redundancy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while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maintaining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perfect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reconstruction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endParaRPr sz="1400" dirty="0">
              <a:latin typeface="Segoe UI"/>
              <a:cs typeface="Segoe UI"/>
            </a:endParaRPr>
          </a:p>
          <a:p>
            <a:pPr marL="285750" indent="-285750">
              <a:lnSpc>
                <a:spcPct val="100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Algorithm Selection </a:t>
            </a:r>
            <a:r>
              <a:rPr sz="14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Matters</a:t>
            </a:r>
            <a:r>
              <a:rPr lang="en-IN" sz="1400" b="1" spc="-10" dirty="0">
                <a:latin typeface="Segoe UI Semibold"/>
                <a:cs typeface="Segoe UI Semibold"/>
              </a:rPr>
              <a:t>: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algorithm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(Huffman,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LZW,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RLE,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Arithmetic)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unique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strengths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scenarios</a:t>
            </a:r>
            <a:endParaRPr sz="1400" dirty="0">
              <a:latin typeface="Segoe UI"/>
              <a:cs typeface="Segoe UI"/>
            </a:endParaRPr>
          </a:p>
          <a:p>
            <a:pPr marL="285750" indent="-285750">
              <a:lnSpc>
                <a:spcPct val="100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Practice</a:t>
            </a:r>
            <a:r>
              <a:rPr sz="1400" b="1" spc="-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Problems</a:t>
            </a:r>
            <a:r>
              <a:rPr sz="1400" b="1" spc="-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Build</a:t>
            </a:r>
            <a:r>
              <a:rPr sz="1400" b="1" spc="-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Proficiency</a:t>
            </a:r>
            <a:r>
              <a:rPr lang="en-IN" sz="1400" b="1" spc="-10" dirty="0">
                <a:latin typeface="Segoe UI Semibold"/>
                <a:cs typeface="Segoe UI Semibold"/>
              </a:rPr>
              <a:t>: 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Solving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diverse compression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problems develops algorithmic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thinking and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practical implementation 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skills</a:t>
            </a:r>
            <a:endParaRPr sz="1400" dirty="0">
              <a:latin typeface="Segoe UI"/>
              <a:cs typeface="Segoe UI"/>
            </a:endParaRPr>
          </a:p>
          <a:p>
            <a:pPr marL="285750" indent="-28575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333333"/>
                </a:solidFill>
                <a:latin typeface="Segoe UI Semibold"/>
                <a:cs typeface="Segoe UI Semibold"/>
              </a:rPr>
              <a:t>Growing</a:t>
            </a:r>
            <a:r>
              <a:rPr sz="1400" b="1" spc="-15" dirty="0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Segoe UI Semibold"/>
                <a:cs typeface="Segoe UI Semibold"/>
              </a:rPr>
              <a:t>Importance</a:t>
            </a:r>
            <a:r>
              <a:rPr lang="en-IN" sz="1400" b="1" spc="-10" dirty="0">
                <a:latin typeface="Segoe UI Semibold"/>
                <a:cs typeface="Segoe UI Semibold"/>
              </a:rPr>
              <a:t>: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volumes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increase,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efficient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compression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becomes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increasingly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storage</a:t>
            </a:r>
            <a:r>
              <a:rPr sz="14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10" dirty="0">
                <a:solidFill>
                  <a:srgbClr val="333333"/>
                </a:solidFill>
                <a:latin typeface="Segoe UI"/>
                <a:cs typeface="Segoe UI"/>
              </a:rPr>
              <a:t> transmission</a:t>
            </a:r>
            <a:endParaRPr sz="1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34653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8CBA-5C4F-B3D0-AE18-1E8CD377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1F98985C-D9B4-1836-E602-B3A412C6B356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0F89615-2AAA-6667-8BE3-4E6EC20C55CE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71B30F1-60FA-A337-B092-500711BE2F9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99A83B76-39E4-F130-9940-6D5B670A92B8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CB3F1ABB-98CC-6A93-1510-C11AE3DD81F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0BD55869-A701-DED7-185D-3A2BFD4FDB3B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F98B1150-BD20-0998-49DD-FAA1F6023BBF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668371D8-A5F9-B955-C40F-A8B65E7F8C9F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000E504C-0F73-AFFF-5DA3-05C62773A46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93DF2436-BE2C-3454-AE6F-456F2C6C8C8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32C46C7-9D22-C253-3554-E1D259E2EE7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A70979A1-8708-1A11-DE3C-A5D1A8772C4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F7B84616-1E22-9A74-638E-42954C934084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E15EA78D-D71A-9EA0-8800-65B8DEDFC0E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E6DDD98-EDB8-FA90-D24F-51B9CBE5D84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9E361C12-B8AD-984C-FEB3-129D1F1997F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596E4A59-5C47-3649-E04A-B0E93120A406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87FFCCBF-4862-0041-7B9C-271366AD546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6B3D3F9F-C5AA-B97F-E4ED-615D957192E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B381E72-21C3-2960-7620-0EB6898F488E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ED38F77-3BFE-0B55-CC31-5C8A6C772CD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456C922-E083-83F5-2E97-78EB85D6DBC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EFB43D1-A117-7C59-C744-075561357EF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C0C51AB9-D278-B9B8-41EA-E61603C5684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17BF7ACF-92B6-616A-9189-CFC951B10CAA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2348722A-863B-A9FF-FC46-B4EF1357F06B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CD93750-6633-55B2-8F3A-15B7A5D0447D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0D930103-1EBA-CFD2-4B59-D390837131D8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69F2D66E-3A63-890D-1AD8-8E515409162F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AC0227AF-6482-55C7-E4F4-99C3E8E63560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C13D638-9D50-DAD0-3A59-E45B3071082A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8672790-00DE-6BA6-6861-38982717380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81E3D6D-97CE-9EDB-A241-78C34CA43B68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18725C1-B76C-7257-5C71-4BE345791E5C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6A4D262A-FBAE-9C35-E504-990B848F6536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224CA59A-F46B-928B-9B24-F6645B2E82FE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C689A78C-DF8B-8DCB-B43F-F63095B963A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52323E7A-9FEA-5E97-32AB-E0B80FFF9CD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FA6A47C-EC21-56DA-AEDC-228CDF6EED81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F1D82826-A5E3-6298-A707-7681340F8491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8A0ECBB0-55CB-EE4A-B77B-77C792FCE204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93ACCD4F-6710-EC96-9874-07171C198DB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27D6037-8951-FD62-6734-7645C33E212C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FBAA2587-1FA7-4002-D27A-BC3AC2027E7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53B2808A-33A2-0985-04BE-059251AEBE58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EC46E976-AC2B-A7BA-B775-14B7888D1CFD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842DA92C-08B4-B890-50C5-EC3B9476594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5F35D2C0-F425-F3C9-DF04-0876EFFDF9CC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68943BBA-C036-8A89-BA3D-4863383F4D3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26598323-662F-A728-0260-D49861458C8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404624CA-8E3B-7EB1-42DE-FE835207BE3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C017133C-6D0D-7B26-6053-1A8FE2BAA902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4904E8BD-B28C-2674-D9A8-9DD67D38834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BEEBFA7B-D021-A0F2-BE84-46E9B3ACB2B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F823DF0D-A7FD-FAE4-980C-3A084E50B0F0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5BC0E86-D465-5677-34CF-42B9606BAFF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078DDBCB-01FB-E2F3-4699-B322227A996A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91B5C587-7F49-FEEF-8EC1-C258D0927047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23548D00-DEB1-C5C7-EA30-FCE80CC0D084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716084E2-228C-D7B8-D1D2-993AF03B386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B37548FA-ACE3-C58D-B033-6990E2E86C5A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4D9270AE-13A7-E4F6-1188-DE2BC8C98344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CF11600D-0360-474D-270D-3ADD65ABBCB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CBC2238A-0C90-94D4-A984-9E0D2D12EC5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3D9D8FD9-177D-368C-EA1B-9E019394F6D7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378AEE0-23B2-8706-A2B3-95CAC0DC4FF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AA06E0A7-BE8E-F734-3FA0-493AC99BBC6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224F3CB-CEDC-B4AF-3C69-870609D1472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0E3BAB09-2F3D-F84A-87F2-B54A5BA595A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81344D3-1B32-6D70-A2E3-18B48E1A801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DCED851-E79F-E85B-519F-7526871447DB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0CF46CD0-D9A7-D0E3-63CA-5F5D3E61CF64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4B6B28E-5C1B-2483-F0FF-CA2DDF38197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06189ABF-DFE1-8963-8EC2-C9C164107C7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BFD38EB-90A5-54DB-3B5C-A0D405F06D7D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2DE1C-6AE6-3C09-3EBF-1D18415BA9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24E65-6353-AE3F-6A77-688C85E15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7" y="681272"/>
            <a:ext cx="10515600" cy="2087687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IN" sz="1800" dirty="0">
                <a:hlinkClick r:id="rId3"/>
              </a:rPr>
              <a:t>Huffman Coding</a:t>
            </a:r>
            <a:r>
              <a:rPr lang="en-IN" sz="1800" dirty="0"/>
              <a:t> From </a:t>
            </a:r>
            <a:r>
              <a:rPr lang="en-IN" sz="1800" i="1" dirty="0" err="1"/>
              <a:t>GeeksForGeeks</a:t>
            </a:r>
            <a:endParaRPr lang="en-IN" sz="1800" i="1" dirty="0"/>
          </a:p>
          <a:p>
            <a:pPr marL="285750" indent="-285750" algn="just">
              <a:lnSpc>
                <a:spcPct val="150000"/>
              </a:lnSpc>
            </a:pPr>
            <a:r>
              <a:rPr lang="en-IN" sz="1800" i="1" dirty="0">
                <a:hlinkClick r:id="rId4"/>
              </a:rPr>
              <a:t>RLE</a:t>
            </a:r>
            <a:r>
              <a:rPr lang="en-IN" sz="1800" i="1" dirty="0"/>
              <a:t> from Wikipedia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1800" i="1" dirty="0">
                <a:hlinkClick r:id="rId5"/>
              </a:rPr>
              <a:t>Huffman coding</a:t>
            </a:r>
            <a:r>
              <a:rPr lang="en-IN" sz="1800" i="1" dirty="0"/>
              <a:t> </a:t>
            </a:r>
            <a:r>
              <a:rPr lang="en-IN" sz="1800" i="1"/>
              <a:t>from Wikipedia</a:t>
            </a:r>
            <a:endParaRPr lang="en-IN" sz="1800" i="1" dirty="0"/>
          </a:p>
          <a:p>
            <a:pPr marL="285750" indent="-285750" algn="just">
              <a:lnSpc>
                <a:spcPct val="150000"/>
              </a:lnSpc>
            </a:pPr>
            <a:endParaRPr lang="en-US" sz="18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0110F-87EB-F42B-89AC-968E3122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598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0F94-4A57-6D87-52D3-11A8FBC4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F3E83520-F873-5E10-FFC5-30AFD3279A7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53B0236-9EB8-4CE3-3844-022CADB3A34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33A7F8C-153A-BFB0-7F58-EC691F81A653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AAF7AFA4-F5D8-BBAD-5C5E-DEC32B5C769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6B6DA6A3-548A-5A1C-7F85-E171F0197DDC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4075B0C0-3B14-DAC1-F2CA-C267AE600A3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772E434-10C3-E60C-CE56-5959ED43D1D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30CA5F31-FA69-FD95-79D7-23B48EE3C4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67DD55B3-30E3-2624-D983-85F0428B3DE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F1E5664-E085-5674-1BE8-4A8703FDC3A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2C982EDC-5E7B-D0E0-1CCD-AD58BB0AB58F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888CACE7-989D-FA8C-C622-F2DFBE21FEE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291417E2-5E97-A3CD-EE88-770630818FFB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995F1842-CD54-22E1-CE2E-65C49D16B98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39390CCA-8C73-B3DE-8C58-8732C4D65EFF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C0B8B94F-20B5-009A-BD93-1A2F254E97E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1796EB0A-0001-116C-058B-2B1C1EC04EE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943F94A7-F65B-6B8D-7189-3D19D3BB1DAC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C55D22EB-281E-BF84-A217-C1C88457A4E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5C18B3E0-07F3-2029-40D1-4006E2C307C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43E87A2-23B4-8797-2CCE-C9C13E0A4601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3929A9BE-DD86-2952-018D-B525C9F086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8A4D28D1-A999-71AD-53AA-CE18A914A4C5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61DE9B21-A0CF-A94D-32B3-A43029EC4F7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7B813BEB-6143-9643-4AA3-E54E7884A05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AD64EAB8-81BA-B00B-8D5E-601577FBA4D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B2C74708-5300-FA26-59FB-4E2B97DFFBE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955BB163-24A5-DD28-BC4F-ABBD1F038F1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8E046162-1D94-93A4-3599-30D9F1B93E8F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7EE0AFF7-4D13-9B12-7449-1E0AE8D951F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3C8EF69-EAD8-A10F-C81C-FA441FE87CBD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9F127149-8F13-5DA9-DFBF-E0940FCF8DE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BD1CA0AB-1E07-8495-D032-E63CCAFDD9B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474A4AF9-7B0C-1D34-7E94-940F3C72A72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6F22BC48-2875-CA9E-470D-A70F6EA7ABA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F091B520-3D55-654C-D078-E2A1E029704D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A5C8B765-C515-200C-5A4B-70E2AB17651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31A704B1-20ED-F9DC-F98C-270C46984A46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C700DAF-B95E-43DE-1F47-F357596C8D93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02D7604E-47FA-1CB6-2140-C7DCD6899133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7D6CB22-1B72-994A-E780-9EBC5F133BE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1FC920FE-1D05-68A8-F215-1D287D12DD1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8E032459-E498-E65B-75BD-4A3E096140FD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CD724624-C15A-3AF0-E56A-F1335622B514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57AFBE25-0711-FDA5-D288-BDC335FD58B6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5E33E69E-85D1-1FAC-2CDF-5EDFBAFEBF77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FDBAE808-B718-DFC0-DB5D-9F58F1C5F5DA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E3B92C90-3720-730F-C06C-EC46DAD781E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99AB8CE0-E47D-C9E1-D899-93DDC7F025E6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AA17C35D-4BE7-4C77-7C63-A23AEE159A5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640AF33F-D0CB-2028-D4EE-42885884BFF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CED0ADAB-45DF-B01B-1291-0F7FF50A5A6F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9411B3B-7645-A890-B716-0E4FFD23E01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0E50BC62-B2E5-8810-EF34-BB2E57237D8A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4FE7102A-2110-CC79-87E0-0D557F7CABA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FC6753C2-3827-3541-2F5A-7B9FDB124D4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7379D872-6E15-ABE3-77C2-B3DAACCC9F6D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A6C91EE-1B54-024B-5FF5-B341EC91DC0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3E25E095-8743-1AF6-9118-85CB3E5ED785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40D1F471-5935-BA45-E470-8B7226FEAF1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FCBDD91-B72A-5632-0122-29E46F711EFF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C1F7EF0-1CCF-83CF-7F4F-C71FA7FC7529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73E726BB-ECC6-2FE5-F39F-E9C6192B24B7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E5C20800-34F3-A240-05D7-B6599AABF305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3D6C3A0F-44E0-FEAB-8E5E-69B852C4EF0B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92DCBE84-59A1-2F71-55F6-2758D51BD18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7E8EC06C-5CE5-8450-009A-304B3F82C43A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CF0273C8-B88C-866A-3E81-4C362C9902D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073A7F2-34C3-E2A9-3727-6970D202FAB2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0766B9EF-B4BB-2C26-291C-8E6C1B320FE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DC5E6F1E-0542-BB42-9BFE-3F4E828ECE1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A638D075-8036-F2E9-FFF5-2878F096A4AA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DB159EF2-D1BF-6585-1EA0-6293081B0117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34AC1770-5FE2-FA9F-E3A8-A5A5D0393686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BA57F4E-992E-8589-772F-11A7927221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39541-A027-597C-A614-56D322DB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9C9FF-3D70-FAFF-8288-96A4EE28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527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Thank You…..</a:t>
            </a:r>
          </a:p>
        </p:txBody>
      </p:sp>
    </p:spTree>
    <p:extLst>
      <p:ext uri="{BB962C8B-B14F-4D97-AF65-F5344CB8AC3E}">
        <p14:creationId xmlns:p14="http://schemas.microsoft.com/office/powerpoint/2010/main" val="306113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1466</Words>
  <Application>Microsoft Office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</vt:lpstr>
      <vt:lpstr>Cambria Math</vt:lpstr>
      <vt:lpstr>Roboto</vt:lpstr>
      <vt:lpstr>Segoe UI</vt:lpstr>
      <vt:lpstr>Segoe UI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Mahajan</cp:lastModifiedBy>
  <cp:revision>127</cp:revision>
  <dcterms:created xsi:type="dcterms:W3CDTF">2024-06-03T04:50:38Z</dcterms:created>
  <dcterms:modified xsi:type="dcterms:W3CDTF">2025-08-21T06:41:17Z</dcterms:modified>
</cp:coreProperties>
</file>