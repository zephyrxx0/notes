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1" r:id="rId4"/>
    <p:sldId id="273" r:id="rId5"/>
    <p:sldId id="272" r:id="rId6"/>
    <p:sldId id="274" r:id="rId7"/>
    <p:sldId id="275" r:id="rId8"/>
    <p:sldId id="276" r:id="rId9"/>
    <p:sldId id="280" r:id="rId10"/>
    <p:sldId id="277" r:id="rId11"/>
    <p:sldId id="278" r:id="rId12"/>
    <p:sldId id="281" r:id="rId13"/>
    <p:sldId id="279" r:id="rId14"/>
    <p:sldId id="269" r:id="rId15"/>
  </p:sldIdLst>
  <p:sldSz cx="12192000" cy="6858000"/>
  <p:notesSz cx="96012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ezQu757ikBwEkJnaHYREhfMv0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3A1B18-B881-4407-BAFB-5ACBA4219FA1}">
  <a:tblStyle styleId="{063A1B18-B881-4407-BAFB-5ACBA4219F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8"/>
      </p:cViewPr>
      <p:guideLst>
        <p:guide orient="horz" pos="2880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00500" y="548625"/>
            <a:ext cx="64011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72CD095-9EB4-F6BA-6613-FD0566A9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38AC857-0597-3717-2C8A-2E9E0CF48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6797904-92C6-F77D-3CDB-EF870ED5C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94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602B00D-D456-E92E-8998-CCC72D52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0644FD2-EB0D-24AF-7C0F-2EC5A741D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4C76558-BA42-3A0E-80DB-85F51BCAC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1254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2530906-1E03-2C94-29BC-A8721055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DF7CA46-76D7-334E-1215-7FAD16ED6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F7AA9E7-A778-715D-066B-F87DFDE2E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6435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21F471E-0C24-6C7D-FEEE-3C40880B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B25BBAF-67CD-0DD9-89B5-CC4192674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7D38A4B2-B2A0-4078-EC74-FD8624089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4776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F6B1BA8-6061-DDBE-C982-1DFE0D32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5C40FD7-4C02-3B18-72FF-79EB7B42C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5A33D4A-12FD-72AB-6070-201903568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431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7F8CB4D-6BA1-C287-D984-5120D270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B16BF6B-2E20-81B7-6C38-4B4AE34B6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03B1DDC-F03B-AE7E-0BE2-CD1822B54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547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491CC38-828D-135E-A318-EAF5E05F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90191A9-056D-AA28-0EB1-9F1BAB8B1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AEB02B1-9A8E-C769-B60F-ADCE70707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8511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121B84C-2608-E06B-3F81-5A9BC452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5D4AD0C-06C3-4DB0-9E7C-77CD3D051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836799C-BA0E-3BA2-27D6-03D93624E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069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B97F781-1A84-D743-83F3-1F445262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93ADE84-7360-1064-F66E-ECD5C4FE8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749ACB3-AB9A-0A5A-0FC8-C1F4BF8E3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1530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BDA3DC6-6F0D-7DAB-B153-57ECF717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AAA88D6-5711-EFBA-0D74-0D2CDBB4E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BC98699-0B85-A1F5-CD44-84B9C09771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769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960100" y="3474700"/>
            <a:ext cx="7680950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51987" y="2401487"/>
            <a:ext cx="7086600" cy="125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Data Compression</a:t>
            </a:r>
            <a:endParaRPr b="1" dirty="0"/>
          </a:p>
          <a:p>
            <a:pPr marL="12700" marR="0" lvl="0" indent="0" algn="ctr" rtl="0"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705210502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648509" y="6228930"/>
            <a:ext cx="7086600" cy="3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Gyana Ranjana Panigrahi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01461-FB7C-1A24-5473-F84E8C590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66"/>
          <a:stretch/>
        </p:blipFill>
        <p:spPr>
          <a:xfrm>
            <a:off x="1141988" y="0"/>
            <a:ext cx="9906597" cy="139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3CE710-3483-ACBD-93F1-E6223EF2B1A6}"/>
              </a:ext>
            </a:extLst>
          </p:cNvPr>
          <p:cNvSpPr txBox="1"/>
          <p:nvPr/>
        </p:nvSpPr>
        <p:spPr>
          <a:xfrm>
            <a:off x="3047286" y="417189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Cambria" panose="02040503050406030204" pitchFamily="18" charset="0"/>
                <a:ea typeface="Cambria" panose="02040503050406030204" pitchFamily="18" charset="0"/>
              </a:rPr>
              <a:t>Mathematical Preliminaries for Data Compression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3611DA4-8EAC-704B-FA17-8EC0F76D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8193408F-202C-3C63-E781-D56C03533F5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C337F-8767-EE20-1EE6-E8E2E1E8D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15B7A3-79B9-53B6-E863-10EBF521DF0C}"/>
              </a:ext>
            </a:extLst>
          </p:cNvPr>
          <p:cNvSpPr txBox="1"/>
          <p:nvPr/>
        </p:nvSpPr>
        <p:spPr>
          <a:xfrm>
            <a:off x="3047288" y="5008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Mathematical Preliminaries for Data Compression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012F1-A22B-09D8-6AF9-48801C1BD118}"/>
              </a:ext>
            </a:extLst>
          </p:cNvPr>
          <p:cNvSpPr txBox="1"/>
          <p:nvPr/>
        </p:nvSpPr>
        <p:spPr>
          <a:xfrm>
            <a:off x="239484" y="12539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Use Math in Data Compression?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92897E-A020-6B79-45BB-2835D5832FC8}"/>
              </a:ext>
            </a:extLst>
          </p:cNvPr>
          <p:cNvSpPr txBox="1"/>
          <p:nvPr/>
        </p:nvSpPr>
        <p:spPr>
          <a:xfrm>
            <a:off x="239484" y="1988841"/>
            <a:ext cx="11658601" cy="334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Think of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compression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like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packing clothes in a suitcase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You want to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save space without damaging anything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Calculations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helps you: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Measure </a:t>
            </a:r>
            <a:r>
              <a:rPr lang="en-US" sz="24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how much information</a:t>
            </a:r>
            <a:r>
              <a:rPr lang="en-US" sz="24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in your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Decide </a:t>
            </a:r>
            <a:r>
              <a:rPr lang="en-US" sz="24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how many bits</a:t>
            </a:r>
            <a:r>
              <a:rPr lang="en-US" sz="24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are needed to represent it.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</a:t>
            </a:r>
            <a:r>
              <a:rPr lang="en-US" sz="24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ways to reduce space</a:t>
            </a:r>
            <a:r>
              <a:rPr lang="en-US" sz="24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without losing meaning (like folding clothes better).</a:t>
            </a:r>
          </a:p>
        </p:txBody>
      </p:sp>
      <p:pic>
        <p:nvPicPr>
          <p:cNvPr id="1026" name="Picture 2" descr="How to Fit Clothing in a Suitcase — How to Travel With Only a Carry On">
            <a:extLst>
              <a:ext uri="{FF2B5EF4-FFF2-40B4-BE49-F238E27FC236}">
                <a16:creationId xmlns:a16="http://schemas.microsoft.com/office/drawing/2014/main" id="{DC31DC4B-2BA4-EC1C-916F-D06BE9C33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1" r="16696" b="2500"/>
          <a:stretch>
            <a:fillRect/>
          </a:stretch>
        </p:blipFill>
        <p:spPr bwMode="auto">
          <a:xfrm>
            <a:off x="8632372" y="1062422"/>
            <a:ext cx="3320144" cy="236657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91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38DAE47-E470-3A7C-D533-ECBC029E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9D0C0582-26D9-C0B7-B30D-C20C7F681427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2DF53AA1-1AC3-5824-0FE3-74BB2BA9D8BE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E2877869-A5D5-C5AC-F74E-D6FD612591CC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7FF0A-2D38-8740-5146-9C969A950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91C2A4-1737-3337-B5E8-7FD47A5A31F5}"/>
              </a:ext>
            </a:extLst>
          </p:cNvPr>
          <p:cNvSpPr txBox="1"/>
          <p:nvPr/>
        </p:nvSpPr>
        <p:spPr>
          <a:xfrm>
            <a:off x="152400" y="13462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How much surprise is in a message?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96319-DD15-7E2F-DCCC-F0BF1038474D}"/>
              </a:ext>
            </a:extLst>
          </p:cNvPr>
          <p:cNvSpPr txBox="1"/>
          <p:nvPr/>
        </p:nvSpPr>
        <p:spPr>
          <a:xfrm>
            <a:off x="152400" y="1758117"/>
            <a:ext cx="6868886" cy="3328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Let’s say you're guessing today’s weather.</a:t>
            </a:r>
          </a:p>
          <a:p>
            <a:pPr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If someone tells you:</a:t>
            </a:r>
          </a:p>
          <a:p>
            <a:pPr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"It's raining in the desert" —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surprising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"It’s hot in summer in India" —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not surprising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Formula: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0AEC6D-F60D-A855-ACC1-A369FB852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6807" y="4460509"/>
            <a:ext cx="2944218" cy="791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B0D3E7-9A27-8199-E9E6-D1B4760DD00A}"/>
              </a:ext>
            </a:extLst>
          </p:cNvPr>
          <p:cNvSpPr txBox="1"/>
          <p:nvPr/>
        </p:nvSpPr>
        <p:spPr>
          <a:xfrm>
            <a:off x="1589682" y="5086592"/>
            <a:ext cx="9075511" cy="1685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Where: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P(x) = probability of the event happening/symbol.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log⁡</a:t>
            </a:r>
            <a:r>
              <a:rPr 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means "log base 2", used because computers use binary.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1AC2D-40F9-41CE-BD97-C88AA8C7F750}"/>
              </a:ext>
            </a:extLst>
          </p:cNvPr>
          <p:cNvSpPr txBox="1"/>
          <p:nvPr/>
        </p:nvSpPr>
        <p:spPr>
          <a:xfrm>
            <a:off x="6089033" y="784537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Represent </a:t>
            </a:r>
            <a:r>
              <a:rPr lang="en-US" sz="22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common vs. rare events:</a:t>
            </a:r>
          </a:p>
          <a:p>
            <a:pPr lvl="1"/>
            <a:endParaRPr lang="en-US" sz="2200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/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So, if an event is </a:t>
            </a:r>
            <a:r>
              <a:rPr lang="en-US" sz="22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very likely</a:t>
            </a:r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(like 1/2), it gives </a:t>
            </a:r>
            <a:r>
              <a:rPr lang="en-US" sz="22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less surprise </a:t>
            </a:r>
            <a:r>
              <a:rPr lang="en-US" sz="2400" dirty="0">
                <a:highlight>
                  <a:srgbClr val="00FFFF"/>
                </a:highlight>
              </a:rPr>
              <a:t>high probability of occurring=1</a:t>
            </a:r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1" algn="just"/>
            <a:b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If it’s </a:t>
            </a:r>
            <a:r>
              <a:rPr lang="en-US" sz="22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very rare</a:t>
            </a:r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(like 1/16), it gives </a:t>
            </a:r>
            <a:r>
              <a:rPr lang="en-US" sz="22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more surprise </a:t>
            </a:r>
            <a:r>
              <a:rPr lang="en-US" sz="2400" dirty="0">
                <a:highlight>
                  <a:srgbClr val="00FFFF"/>
                </a:highlight>
              </a:rPr>
              <a:t>very low probability of occurring=0</a:t>
            </a:r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1"/>
            <a:endParaRPr lang="en-US" sz="2200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/>
            <a:r>
              <a:rPr lang="en-US" sz="2200" dirty="0">
                <a:highlight>
                  <a:srgbClr val="00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This helps us illustrate a core idea: </a:t>
            </a:r>
            <a:r>
              <a:rPr lang="en-US" sz="22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Less likely events carry more information (higher bits).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B7379C-4F2E-290B-6743-7525DBBC8B40}"/>
              </a:ext>
            </a:extLst>
          </p:cNvPr>
          <p:cNvSpPr txBox="1"/>
          <p:nvPr/>
        </p:nvSpPr>
        <p:spPr>
          <a:xfrm>
            <a:off x="4365171" y="4674523"/>
            <a:ext cx="7826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I(x)= Information Content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of an event </a:t>
            </a:r>
            <a:r>
              <a:rPr lang="en-US" sz="2000" i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x,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It’s for </a:t>
            </a:r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one symbol/event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i="1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D4E5D60-3B71-1375-D2BE-8F7CC96F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4B26D6A2-14D1-248A-3E0C-55454A7F0B1A}"/>
              </a:ext>
            </a:extLst>
          </p:cNvPr>
          <p:cNvSpPr txBox="1"/>
          <p:nvPr/>
        </p:nvSpPr>
        <p:spPr>
          <a:xfrm>
            <a:off x="2648509" y="76201"/>
            <a:ext cx="6893559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37E88F93-A580-E87E-B812-4131FB9B6DF6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CEE5B8B3-93E1-A5D4-CE4B-F0110931A398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BCC0011B-1DD3-2001-874F-B13F34D40DFF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04885-23B7-D102-851A-893638E46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B9637-FB56-7B67-7D40-DAA8A15ADF22}"/>
              </a:ext>
            </a:extLst>
          </p:cNvPr>
          <p:cNvSpPr txBox="1"/>
          <p:nvPr/>
        </p:nvSpPr>
        <p:spPr>
          <a:xfrm>
            <a:off x="1241847" y="2772631"/>
            <a:ext cx="9706882" cy="2597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These powers of 2 match real-world binary encoding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2 values (1/2)       → needs 1 bit → like a coin toss (0 or 1)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4 values (1/4)       → needs 2 bits → like 00, 01, 10, 11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16 values (1/16)   → needs 4 bits → like 0000 to 1111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AE7A86-9110-6EC7-B546-AB87D9B7C81F}"/>
              </a:ext>
            </a:extLst>
          </p:cNvPr>
          <p:cNvSpPr txBox="1"/>
          <p:nvPr/>
        </p:nvSpPr>
        <p:spPr>
          <a:xfrm>
            <a:off x="61396" y="302578"/>
            <a:ext cx="12130604" cy="2239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Think of: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A coin toss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→ heads/tails = 1/2 → needs 1 bit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Rolling a die and getting a specific number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→ 1/6 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approx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0.167) → needs ~2.58 bits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Guessing a password from 1 in 16 options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→ needs 4 bits to represent</a:t>
            </a:r>
          </a:p>
        </p:txBody>
      </p:sp>
    </p:spTree>
    <p:extLst>
      <p:ext uri="{BB962C8B-B14F-4D97-AF65-F5344CB8AC3E}">
        <p14:creationId xmlns:p14="http://schemas.microsoft.com/office/powerpoint/2010/main" val="2131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F6236CE-4481-6F25-FD41-F1C0ADFF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8280D61-F78F-CEB6-85C8-AE13FFF28CEA}"/>
              </a:ext>
            </a:extLst>
          </p:cNvPr>
          <p:cNvSpPr txBox="1"/>
          <p:nvPr/>
        </p:nvSpPr>
        <p:spPr>
          <a:xfrm>
            <a:off x="2648509" y="76201"/>
            <a:ext cx="6893559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171ACCD9-3B60-FB4C-147E-6CAA53D6FB52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EEEFFAB0-D63C-5E13-E0CD-2F4201EA3E3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5F37537F-0967-F4A9-3AD2-51C59C0A2815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DF932-2BAC-11C9-0233-ED2191264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A4A253-3E97-6F38-6665-BD9932E2E9B9}"/>
              </a:ext>
            </a:extLst>
          </p:cNvPr>
          <p:cNvSpPr txBox="1"/>
          <p:nvPr/>
        </p:nvSpPr>
        <p:spPr>
          <a:xfrm>
            <a:off x="348342" y="2655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Real-Life Calculation: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08D53-3173-5EC4-90E7-487FA5A20060}"/>
              </a:ext>
            </a:extLst>
          </p:cNvPr>
          <p:cNvSpPr txBox="1"/>
          <p:nvPr/>
        </p:nvSpPr>
        <p:spPr>
          <a:xfrm>
            <a:off x="348342" y="830897"/>
            <a:ext cx="6096000" cy="1685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Let’s say: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Probability of event A = 1/2     → common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Probability of event B = 1/16  → </a:t>
            </a:r>
            <a:r>
              <a:rPr lang="en-US" sz="2400" dirty="0">
                <a:highlight>
                  <a:srgbClr val="00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rare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90B0B-121E-D7A3-F319-439FC66048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7485" y="2627398"/>
            <a:ext cx="5156600" cy="11415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8355F-6DD7-2BE9-24CA-E0B6FAE4F018}"/>
              </a:ext>
            </a:extLst>
          </p:cNvPr>
          <p:cNvSpPr txBox="1"/>
          <p:nvPr/>
        </p:nvSpPr>
        <p:spPr>
          <a:xfrm>
            <a:off x="348342" y="2967335"/>
            <a:ext cx="3265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Now calculate surprise: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2C5A2-24A5-8163-81BC-8DDCA6BA39C0}"/>
              </a:ext>
            </a:extLst>
          </p:cNvPr>
          <p:cNvSpPr txBox="1"/>
          <p:nvPr/>
        </p:nvSpPr>
        <p:spPr>
          <a:xfrm>
            <a:off x="2268056" y="4083630"/>
            <a:ext cx="7413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More </a:t>
            </a:r>
            <a:r>
              <a:rPr lang="en-US" sz="2400" b="1" dirty="0">
                <a:highlight>
                  <a:srgbClr val="00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rare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→ More bits needed to describe it</a:t>
            </a:r>
          </a:p>
        </p:txBody>
      </p:sp>
    </p:spTree>
    <p:extLst>
      <p:ext uri="{BB962C8B-B14F-4D97-AF65-F5344CB8AC3E}">
        <p14:creationId xmlns:p14="http://schemas.microsoft.com/office/powerpoint/2010/main" val="94012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0E15D93-327F-D36D-DEE1-D44FF251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41FF3630-EF2B-EA30-2B29-B02BD3F20372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393FC745-C7C1-3E80-9A59-FF22F03B15B3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F71739F6-546B-491F-C33E-0153CDF4C6FD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03FDA-2302-0DAA-AAB0-3EB47A362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5FF21-9F3D-193B-0625-BE95FF5EBBD2}"/>
              </a:ext>
            </a:extLst>
          </p:cNvPr>
          <p:cNvSpPr txBox="1"/>
          <p:nvPr/>
        </p:nvSpPr>
        <p:spPr>
          <a:xfrm>
            <a:off x="61396" y="10252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General Rule to Remember: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2055C-7F06-EF9E-0964-DAACF04998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9017" y="878990"/>
            <a:ext cx="9732542" cy="4302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2AF878-A872-92F8-8915-C52B73A2A343}"/>
              </a:ext>
            </a:extLst>
          </p:cNvPr>
          <p:cNvSpPr txBox="1"/>
          <p:nvPr/>
        </p:nvSpPr>
        <p:spPr>
          <a:xfrm>
            <a:off x="1528553" y="5296544"/>
            <a:ext cx="9133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lower the probability, higher the information (more bits required)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45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31FB3C0E-F463-4EEE-8EB5-D132F5514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AA1D7182-C79C-5E76-AEA5-CBA480C81CBE}"/>
              </a:ext>
            </a:extLst>
          </p:cNvPr>
          <p:cNvSpPr txBox="1"/>
          <p:nvPr/>
        </p:nvSpPr>
        <p:spPr>
          <a:xfrm>
            <a:off x="2648509" y="76201"/>
            <a:ext cx="6893559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1D56A0C7-14EB-2F94-A5C8-C9B1AFA16428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8767184C-D928-6E07-DC9A-DB3CB58C2CF5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558FFCA1-D256-78C2-32EB-828CCD7F5337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F87AC-482F-CAB6-A918-F7D9406E2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B1CF3-AF32-E26E-0F78-F152180EFB4D}"/>
              </a:ext>
            </a:extLst>
          </p:cNvPr>
          <p:cNvSpPr txBox="1"/>
          <p:nvPr/>
        </p:nvSpPr>
        <p:spPr>
          <a:xfrm>
            <a:off x="152399" y="111640"/>
            <a:ext cx="9753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Entropy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— How much info on average per symbol?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DE65A-E2C3-4DA1-9C3D-4FADCC7245CB}"/>
              </a:ext>
            </a:extLst>
          </p:cNvPr>
          <p:cNvSpPr txBox="1"/>
          <p:nvPr/>
        </p:nvSpPr>
        <p:spPr>
          <a:xfrm>
            <a:off x="152399" y="626717"/>
            <a:ext cx="6640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Let’s say you're texting using only 3 emojis: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DE2C76-5672-2088-643C-12D25B3C4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963455"/>
              </p:ext>
            </p:extLst>
          </p:nvPr>
        </p:nvGraphicFramePr>
        <p:xfrm>
          <a:off x="3673216" y="1302881"/>
          <a:ext cx="4844144" cy="2072640"/>
        </p:xfrm>
        <a:graphic>
          <a:graphicData uri="http://schemas.openxmlformats.org/drawingml/2006/table">
            <a:tbl>
              <a:tblPr/>
              <a:tblGrid>
                <a:gridCol w="2422072">
                  <a:extLst>
                    <a:ext uri="{9D8B030D-6E8A-4147-A177-3AD203B41FA5}">
                      <a16:colId xmlns:a16="http://schemas.microsoft.com/office/drawing/2014/main" val="3583449510"/>
                    </a:ext>
                  </a:extLst>
                </a:gridCol>
                <a:gridCol w="2422072">
                  <a:extLst>
                    <a:ext uri="{9D8B030D-6E8A-4147-A177-3AD203B41FA5}">
                      <a16:colId xmlns:a16="http://schemas.microsoft.com/office/drawing/2014/main" val="30734214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Emoji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306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11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243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2443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997F75-3F54-6FC3-2DA1-7EDF20C94AF4}"/>
              </a:ext>
            </a:extLst>
          </p:cNvPr>
          <p:cNvSpPr txBox="1"/>
          <p:nvPr/>
        </p:nvSpPr>
        <p:spPr>
          <a:xfrm>
            <a:off x="830486" y="38956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Entropy formula: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822146-0888-B447-0A47-B50BE557F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4264" y="3590020"/>
            <a:ext cx="6099417" cy="11145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D16B10-4BB1-830C-6276-F4428EFD947E}"/>
              </a:ext>
            </a:extLst>
          </p:cNvPr>
          <p:cNvSpPr txBox="1"/>
          <p:nvPr/>
        </p:nvSpPr>
        <p:spPr>
          <a:xfrm>
            <a:off x="543573" y="4770289"/>
            <a:ext cx="111034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H(X): Entropy of Source X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tells us: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How much information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there on average in each symbol we send or store?”</a:t>
            </a:r>
          </a:p>
        </p:txBody>
      </p:sp>
    </p:spTree>
    <p:extLst>
      <p:ext uri="{BB962C8B-B14F-4D97-AF65-F5344CB8AC3E}">
        <p14:creationId xmlns:p14="http://schemas.microsoft.com/office/powerpoint/2010/main" val="2666399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9F8D546-3593-C8A2-5A10-BE1B9B2D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E2795A89-7BDF-C455-DE65-49E4B3381706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C0E06-48E3-F497-0D6E-C127B4CC1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3846CB-01E3-E18F-D4D9-3E788281D9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333" y="49014"/>
            <a:ext cx="8968409" cy="408415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8408F6EC-A0A4-863C-4B60-B860ACC44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8264" y="5220334"/>
            <a:ext cx="105754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You need about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1.49 bits per emoji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on average,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transmit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them efficiently.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lower the entropy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the more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redundancy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→ easier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higher the entropy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the more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randomness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→ harder to compress.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B123C-FA50-8702-F408-885151792588}"/>
              </a:ext>
            </a:extLst>
          </p:cNvPr>
          <p:cNvSpPr txBox="1"/>
          <p:nvPr/>
        </p:nvSpPr>
        <p:spPr>
          <a:xfrm>
            <a:off x="1679575" y="4133164"/>
            <a:ext cx="7464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On average, you need 1.48 bits to store each emoji in this case</a:t>
            </a:r>
          </a:p>
          <a:p>
            <a:pPr algn="ctr"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buNone/>
            </a:pPr>
            <a:r>
              <a:rPr lang="en-US" sz="1800" b="1" dirty="0">
                <a:highlight>
                  <a:srgbClr val="00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If all emojis had equal chance (1/3), entropy would be: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26345A-BF66-3465-1977-BFF880214E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4299" y="4612836"/>
            <a:ext cx="2915057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7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FBD8B0-71EB-67C6-CF49-FBB5719CD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4969" y="823576"/>
            <a:ext cx="6642060" cy="44102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ACC936-3138-95E3-6337-A2C3314111E4}"/>
              </a:ext>
            </a:extLst>
          </p:cNvPr>
          <p:cNvSpPr txBox="1"/>
          <p:nvPr/>
        </p:nvSpPr>
        <p:spPr>
          <a:xfrm>
            <a:off x="2498271" y="140026"/>
            <a:ext cx="7195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highlight>
                  <a:srgbClr val="00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If all emojis had equal chance (1/3), entropy would be: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0CE7C-DD74-F00F-2F6A-AFEBC5720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4327" y="5517258"/>
            <a:ext cx="4263345" cy="69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3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6E523AD-4C06-797A-5B70-579B6D84B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0B4B19A6-5183-A767-8431-3DE7997989EA}"/>
              </a:ext>
            </a:extLst>
          </p:cNvPr>
          <p:cNvSpPr txBox="1"/>
          <p:nvPr/>
        </p:nvSpPr>
        <p:spPr>
          <a:xfrm>
            <a:off x="2648509" y="76201"/>
            <a:ext cx="6893559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94501DB9-1599-7790-FA84-5A17ED8C104A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61C5B8EC-36F7-A0B0-FAD2-71856F16FBC9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61BDBC20-BA9E-9C13-89D3-1AE26682DFB0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33B0E-3923-6E0F-5A8B-B45E0747D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90B80A-5050-7F95-D20D-A8AD1632E294}"/>
              </a:ext>
            </a:extLst>
          </p:cNvPr>
          <p:cNvSpPr txBox="1"/>
          <p:nvPr/>
        </p:nvSpPr>
        <p:spPr>
          <a:xfrm>
            <a:off x="326572" y="3404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Imagine</a:t>
            </a:r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you're watching a TV channel: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B700CA0-5816-4981-ECC1-E023F38D0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6248" y="949129"/>
            <a:ext cx="108180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the news anchor keeps repeating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“Breaking news”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over and over, it’s boring —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there’s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low information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But if the anchor says something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new and unexpected every second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there’s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high information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Entropy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a number that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measures how "informative" or "surprising"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 source is.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795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6355B4F-52FB-2754-43C0-1C8890B5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7E64A67-6772-F9DD-33D4-51330FC3B01A}"/>
              </a:ext>
            </a:extLst>
          </p:cNvPr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036F73C3-ECDD-0579-C89C-2FF6F05FE4D5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FC0FDB9B-0286-3404-48D9-CE5A46E6CC36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B37AD3F4-38FA-E9EE-3E8F-1E5B7657AB24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EBE34-C998-212A-7E69-24DA2D50F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0B68E8-0EFC-BED6-0981-8D4562D9EBBE}"/>
              </a:ext>
            </a:extLst>
          </p:cNvPr>
          <p:cNvSpPr txBox="1"/>
          <p:nvPr/>
        </p:nvSpPr>
        <p:spPr>
          <a:xfrm>
            <a:off x="61396" y="384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Mathematical Definition of Entropy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B056F-84F2-D0D1-6257-2096E12083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535" y="640251"/>
            <a:ext cx="8986207" cy="3566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7DE33E-EED0-39E1-57E1-039522F9D4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112" y="4344398"/>
            <a:ext cx="10150351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5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8C4E22B-E28A-D33C-100C-D50F911BA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1049" y="888729"/>
            <a:ext cx="8449901" cy="436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3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834A334-8E5A-7093-06C7-012AE1FC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 descr="Learn Compiler Design Tutorial - javatpoint">
            <a:extLst>
              <a:ext uri="{FF2B5EF4-FFF2-40B4-BE49-F238E27FC236}">
                <a16:creationId xmlns:a16="http://schemas.microsoft.com/office/drawing/2014/main" id="{1AA0604B-D88C-2131-B2F3-0C8BE2428186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7" name="Google Shape;87;p1" descr="Learn Compiler Design Tutorial - javatpoint">
            <a:extLst>
              <a:ext uri="{FF2B5EF4-FFF2-40B4-BE49-F238E27FC236}">
                <a16:creationId xmlns:a16="http://schemas.microsoft.com/office/drawing/2014/main" id="{BF586CBC-08A6-D141-CEBE-E8FDBA69F7DC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88" name="Google Shape;88;p1" descr="Learn Compiler Design Tutorial - javatpoint">
            <a:extLst>
              <a:ext uri="{FF2B5EF4-FFF2-40B4-BE49-F238E27FC236}">
                <a16:creationId xmlns:a16="http://schemas.microsoft.com/office/drawing/2014/main" id="{908DD719-C452-A510-572F-993193414643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35FAD-5484-9D70-EFF2-117A39840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4857" b="24286"/>
          <a:stretch>
            <a:fillRect/>
          </a:stretch>
        </p:blipFill>
        <p:spPr>
          <a:xfrm>
            <a:off x="10512425" y="7937"/>
            <a:ext cx="1618179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1F7CDE-F228-456B-86A6-ED773C3670F4}"/>
              </a:ext>
            </a:extLst>
          </p:cNvPr>
          <p:cNvSpPr txBox="1"/>
          <p:nvPr/>
        </p:nvSpPr>
        <p:spPr>
          <a:xfrm>
            <a:off x="152400" y="1885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Redundancy — What’s compressible?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789ED-BCF1-06EA-800E-388952489E41}"/>
              </a:ext>
            </a:extLst>
          </p:cNvPr>
          <p:cNvSpPr txBox="1"/>
          <p:nvPr/>
        </p:nvSpPr>
        <p:spPr>
          <a:xfrm>
            <a:off x="1191274" y="1505469"/>
            <a:ext cx="81697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Redundancy = Extra bits due to uneven probability.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8CEAB-EC61-DB03-D9B2-79A76AAFE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757" y="2071854"/>
            <a:ext cx="4370614" cy="5382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7CB160-7826-B906-9DBC-3F99150C423D}"/>
              </a:ext>
            </a:extLst>
          </p:cNvPr>
          <p:cNvSpPr txBox="1"/>
          <p:nvPr/>
        </p:nvSpPr>
        <p:spPr>
          <a:xfrm>
            <a:off x="1594757" y="27127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n = 3 emojis: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D97BB5-57F3-8152-6398-46318D3766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9242" y="2779554"/>
            <a:ext cx="5572903" cy="4001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7A2E1B-F095-D722-985D-DDED794A800F}"/>
              </a:ext>
            </a:extLst>
          </p:cNvPr>
          <p:cNvSpPr txBox="1"/>
          <p:nvPr/>
        </p:nvSpPr>
        <p:spPr>
          <a:xfrm>
            <a:off x="3156145" y="365871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Means you can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save ~0.1 bit per emoji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using compression.</a:t>
            </a:r>
          </a:p>
        </p:txBody>
      </p:sp>
    </p:spTree>
    <p:extLst>
      <p:ext uri="{BB962C8B-B14F-4D97-AF65-F5344CB8AC3E}">
        <p14:creationId xmlns:p14="http://schemas.microsoft.com/office/powerpoint/2010/main" val="2506864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SHARDA  SCH O O L  O F  E N G I N E E R I N G  &amp; T E C H N O L O G 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 P A R T M E N T	O F	C O M P U T E R	S C I E N C E   E N G I N E E R I N 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0" y="1447800"/>
            <a:ext cx="1161237" cy="5445250"/>
          </a:xfrm>
          <a:prstGeom prst="rect">
            <a:avLst/>
          </a:prstGeom>
          <a:solidFill>
            <a:srgbClr val="D5450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Thank you png images | PNGWing">
            <a:extLst>
              <a:ext uri="{FF2B5EF4-FFF2-40B4-BE49-F238E27FC236}">
                <a16:creationId xmlns:a16="http://schemas.microsoft.com/office/drawing/2014/main" id="{06EC04FC-DAEC-E19C-575C-995B348A3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86" y="2705100"/>
            <a:ext cx="34290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9A2052-210C-0035-D641-EE3EA6DA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66"/>
          <a:stretch/>
        </p:blipFill>
        <p:spPr>
          <a:xfrm>
            <a:off x="1141988" y="0"/>
            <a:ext cx="9906597" cy="1397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1138</Words>
  <Application>Microsoft Office PowerPoint</Application>
  <PresentationFormat>Widescreen</PresentationFormat>
  <Paragraphs>94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Gyana Ranjana Panigrahi</cp:lastModifiedBy>
  <cp:revision>30</cp:revision>
  <dcterms:created xsi:type="dcterms:W3CDTF">2021-01-13T03:33:40Z</dcterms:created>
  <dcterms:modified xsi:type="dcterms:W3CDTF">2025-07-15T16:33:32Z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2021-01-13T00:00:00Z</vt:filetime>
  </property>
</Properties>
</file>